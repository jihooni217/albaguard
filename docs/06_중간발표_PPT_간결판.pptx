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① 표지·팀 소개" id="{2b5642da-f734-279c-2c23-57992de2004f}">
          <p14:sldIdLst>
            <p14:sldId id="256"/>
            <p14:sldId id="257"/>
          </p14:sldIdLst>
        </p14:section>
        <p14:section name="② 문제 정의" id="{49eaac62-1412-a21c-7ab3-2f436b8e0a65}">
          <p14:sldIdLst>
            <p14:sldId id="258"/>
            <p14:sldId id="259"/>
          </p14:sldIdLst>
        </p14:section>
        <p14:section name="③ 솔루션·핵심 가치" id="{e80ba63f-473f-7890-f5ab-cdb6fac1eff9}">
          <p14:sldIdLst>
            <p14:sldId id="260"/>
            <p14:sldId id="261"/>
          </p14:sldIdLst>
        </p14:section>
        <p14:section name="④ SW 기술 아키텍처" id="{0003be74-eeeb-f265-a73b-a5c7a419feb4}">
          <p14:sldIdLst>
            <p14:sldId id="262"/>
            <p14:sldId id="263"/>
          </p14:sldIdLst>
        </p14:section>
        <p14:section name="⑤ 개발 현황·MVP 시연" id="{3e2e9669-d842-53f8-4850-27ab95363d88}">
          <p14:sldIdLst>
            <p14:sldId id="264"/>
            <p14:sldId id="265"/>
            <p14:sldId id="266"/>
            <p14:sldId id="267"/>
          </p14:sldIdLst>
        </p14:section>
        <p14:section name="⑥ 시장 분석·비즈니스 모델" id="{9a362f01-2602-0fe3-37c6-67891ca97b58}">
          <p14:sldIdLst>
            <p14:sldId id="268"/>
            <p14:sldId id="269"/>
            <p14:sldId id="270"/>
          </p14:sldIdLst>
        </p14:section>
        <p14:section name="⑦ 초기 시장 검증" id="{36b15884-e700-0acc-d934-35f31034bb51}">
          <p14:sldIdLst>
            <p14:sldId id="271"/>
          </p14:sldIdLst>
        </p14:section>
        <p14:section name="⑧ 향후 계획·팀 역량" id="{c98934a5-cc2e-c641-0003-c0c757a0738a}">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5D636D"/>
                </a:solidFill>
                <a:latin typeface="+mn-lt"/>
              </a:defRPr>
            </a:pPr>
            <a:r>
              <a:rPr sz="1100" b="0" i="0" u="none" strike="noStrike">
                <a:solidFill>
                  <a:srgbClr val="5D636D"/>
                </a:solidFill>
                <a:latin typeface="+mn-lt"/>
              </a:rPr>
              <a:t>임금체불액 (억 원, 고용노동부)</a:t>
            </a:r>
          </a:p>
        </c:rich>
      </c:tx>
      <c:layout/>
      <c:overlay val="0"/>
    </c:title>
    <c:autoTitleDeleted val="0"/>
    <c:plotArea>
      <c:layout/>
      <c:barChart>
        <c:barDir val="col"/>
        <c:grouping val="clustered"/>
        <c:varyColors val="0"/>
        <c:ser>
          <c:idx val="0"/>
          <c:order val="0"/>
          <c:tx>
            <c:strRef>
              <c:f>Sheet1!$B$1</c:f>
              <c:strCache>
                <c:ptCount val="1"/>
                <c:pt idx="0">
                  <c:v>임금체불액 (억 원)</c:v>
                </c:pt>
              </c:strCache>
            </c:strRef>
          </c:tx>
          <c:spPr>
            <a:solidFill>
              <a:srgbClr val="2A3193"/>
            </a:solidFill>
            <a:effectLst/>
          </c:spPr>
          <c:invertIfNegative val="0"/>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17845</c:v>
                </c:pt>
                <c:pt idx="1">
                  <c:v>20448</c:v>
                </c:pt>
                <c:pt idx="2">
                  <c:v>20679</c:v>
                </c:pt>
              </c:numCache>
            </c:numRef>
          </c:val>
        </c:ser>
        <c:dLbls>
          <c:numFmt formatCode="#,##0" sourceLinked="0"/>
          <c:txPr>
            <a:bodyPr/>
            <a:lstStyle/>
            <a:p>
              <a:pPr>
                <a:defRPr b="0" i="0" strike="noStrike" sz="1100" u="none">
                  <a:solidFill>
                    <a:srgbClr val="15171A"/>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5D636D"/>
                </a:solidFill>
                <a:latin typeface="+mn-lt"/>
              </a:defRPr>
            </a:pPr>
            <a:endParaRPr lang="en-US"/>
          </a:p>
        </c:txPr>
        <c:crossAx val="2094734552"/>
        <c:crosses val="autoZero"/>
        <c:auto val="1"/>
        <c:lblAlgn val="ctr"/>
        <c:noMultiLvlLbl val="1"/>
      </c:catAx>
      <c:valAx>
        <c:axId val="2094734552"/>
        <c:scaling>
          <c:orientation val="minMax"/>
          <c:max val="24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4조 발표를 맡은 팀장 이지훈입니다. 혹시 지난달 알바비, 정확히 얼마를 받아야 했는지 아시나요? 아마 정확히 아는 분은 많지 않으실 겁니다. 저희가 만든 앱은 알바가드입니다. 화면에 보이는 금액은 저희 앱 예시 데이터에서 두 달 동안 덜 받은 알바비인데요. 통장에 들어온 총액만 봐서는 잘 안 보이는 돈입니다. 알바가드는 이렇게 놓치기 쉬운 돈을 근무 기록으로 찾아 주는 앱입니다. 알바비를 덜 받아도 모르거나, 알아도 말을 꺼내기 어려운 대학생을 위해 기록, 비교, 요청을 한 앱에 담았습니다.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지금 상태부터 말씀드리겠습니다. 계획했던 기능 8개는 모두 동작하는 상태로 배포까지 했고, 완성도는 평균 80% 정도로 보고 있습니다. 설문은 지금까지 13명이 답해 줬고, 앱을 직접 써 보게 하는 인터뷰는 11월에 진행할 예정입니다. 오른쪽 QR을 찍으시면 앱과 설문을 바로 열 수 있습니다. 설문은 이름 없이 3분이면 끝나니까, 발표가 끝나고 한번 답해 주시면 정말 감사하겠습니다. 오늘은 문제, 해결 방법, 기술과 시연, 시장과 수익, 검증과 일정 순서로 말씀드리겠습니다. 발표는 저와 손유호, 박명진 세 명이 나눠서 진행하겠습니다.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주목한 문제는 세 가지입니다. 화면의 큰 숫자 세 개는 알바천국 설문 결과인데요. 먼저, 얼마를 받아야 하는지부터 어렵습니다. 노동절에 일한 알바생 셋 중 한 명은 수당을 받는지조차 몰랐습니다. 다음은 덜 받아도 잘 모른다는 점입니다. 저희 설문에서도 12명 중 7명이 통장에 들어온 총액만 본다고 했습니다. 마지막으로, 알아도 말을 못 합니다. 최저시급보다 덜 받은 사람 중 절반 가까이가 아무 대응도 하지 않았습니다. 기록이 없으면 "나중에 지어낸 거 아니냐"는 한마디에 할 말이 없어지니까요. (멈춤) 결국 세 문제의 원인은 하나입니다. 근거가 될 기록이 없다는 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그럼 기존 서비스들은 어떨까요? 알바생들이 실제로 제일 많이 쓰는 건 앱보단 메모장이나 카톡이라서 맨 앞 열에 같이 넣었습니다. 표를 다 보실 필요는 없고, 실제 받은 돈과 비교하기, 요청 문구와 증빙 만들기, 수정 이력과 등록 시각, 이 가운데 세 줄만 봐 주시면 됩니다. 이 세 줄은 알바가드에만 O가 있습니다. 다른 서비스는 대부분 예상 급여 계산에서 멈추거나, 사장님이 가입해야 하거나, 증거가 이미 있어야 시작할 수 있습니다. 진정서를 대신 써 주거나 접수하는 건 노무사 같은 전문가가 할 일이라, 저희는 그 앞 단계인 기록, 비교, 요청에 집중하고 진정은 1350과 노동포털로 연결해 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저희는 기록, 비교, 요청 세 단계를 앱 하나로 연결했습니다. 출근과 퇴근은 버튼 하나로 기록하고, 나중에 그 시각을 고치면 원래 시각과 고친 이유가 함께 남습니다. 그다음 받았어야 할 돈과 실제로 받은 돈의 차이를 보여 주고, 덜 받았다면 정중한 메시지부터 내용증명 초안, 진정 절차 안내까지 단계별로 도와줍니다. 사장님 연동이나 로그인은 필요 없고, 근무 내용은 사용자 폰 안에만 저장됩니다.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 차별점은 크게 세 가지입니다. 첫 번째로, 기그와 다르게 사장님 가입 없이 혼자 쓸 수 있습니다. 두 번째로, 실제로 받은 돈과 비교해서 요청 문구와 증빙까지 이어집니다. 세 번째로, 기록할 때마다 확인 번호와 서버 등록 시각이 남습니다. 사유 없이는 기록을 고칠 수 없고, 지워도 흔적이 남고, 고치면 다시 등록됩니다. 이 부분은 다른 앱이 쉽게 따라 하기 어렵다고 생각합니다. (멈춤) 한마디로, 다른 앱은 '얼마 받아야 하나'에서 멈추고, 알바가드는 '덜 받았으면 어떻게 받아내나'까지 갑니다. 물론 한계도 있습니다. 비교 기능 자체는 다른 앱도 충분히 따라올 수 있습니다. 그리고 이 기록이 법적 효력을 보장하지는 않습니다. 통장 내역이나 메시지와 같이 내야 설득력이 생기고, 최종적인 판단은 근로감독관과 법원이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기술 스택입니다. 앱은 폰 안에서 돌아가고, 서버는 꼭 필요한 곳에만 씁니다. 앱은 React(리액트)와 Vite(비트)로 만든 웹앱이라 앱스토어 없이 링크로 바로 설치하고, 홈 화면에 추가하면 인터넷이 없어도 열립니다. 저희가 직접 운영하는 서버는 없고, 외부 서비스인 Supabase(수파베이스)를 확인 번호 등록과 설문 수집에만 씁니다. 이렇게 한 이유는 개인정보와 비용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이건 전체 구성도입니다. 계산과 저장은 모두 왼쪽 폰 안에서 끝납니다. 서버로 가는 건 확인 번호와 기록 번호, 무작위 기기 번호뿐이고, 근무지나 시각, 금액은 보내지 않습니다. 등록 시각은 서버가 직접 찍기 때문에 폰 시계를 바꿔도 소용이 없습니다. 실제로 2000년이라는 가짜 시각을 넣어 보내 봤는데, 서버는 그 시각을 무시하고 받은 순간의 시각으로 저장했습니다. 등록된 기록을 고치거나 지우려고 해도 서버가 막았습니다. 다만 운영자 권한으로는 고칠 수 있어서, 지금 막을 수 있는 건 사용자가 나중에 기록을 고쳐 쓰는 것까지입니다. (멈춤) 다시 말해, 근무 내용은 폰 밖으로 나가지 않고, 서버에는 번호 세 개와 서버가 찍은 등록 시각만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앱 화면입니다. 이 중 캘린더는 영상에 나오지 않아서 먼저 말씀드리면, 예정과 다르게 일한 날, 예를 들어 연장이나 대타를 글자로 따로 표시합니다. 나머지 설정, 증빙 묶음 PDF, 확인 페이지는 잠시 뒤 영상에서 실제로 쓰는 모습으로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이어서 보실 영상은 배포된 앱을 직접 눌러 보면서 녹화한 것입니다. 순서는 화면의 네 단계 그대로이고, 영상 안에 단계마다 자막이 있어서 멈추지 않고 그대로 보여 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(재생 전) 마지막 장면에 나오는 등록 시각을 잘 봐 주세요. 지금도 서버에 그대로 남아 있는 값입니다.
(영상은 멈추지 않고 끝까지 틉니다)
(영상이 끝나면) 이렇게 출근 기록부터 사장님께 보낼 메시지, 확인 페이지까지 앱 하나로 모두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방금 보신 기능을 포함해서, 계획한 8개 기능은 모두 동작합니다. 그래도 100%라고 쓰지는 않았습니다. 오른쪽 동그라미 세 칸은 각각 컴퓨터에서 동작, 실제 폰에서 확인, 사용자 검증인데요. 지금은 첫 번째 칸인 컴퓨터에서 동작하는 것까지만 확인했고, 나머지 두 칸은 11월에 진행할 예정입니다. 그래서 완성도를 평균 80% 정도로 잡았습니다. 지금까지 문제와 해결 방법, 그리고 실제로 동작하는 모습을 보셨습니다. 다음으로 시장과 수익 부분은 손유호 팀원이 이어서 발표하겠습니다.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시장과 수익 부분을 맡은 손유호입니다. 먼저 임금체불 규모를 보면, 2023년 1조 7천억 원대에서 2년 연속 2조 원을 넘었습니다. 작년 체불액만 보면 67.8%가 30인 미만 사업장에서 나왔는데요, 알바생이 많이 일하는 카페, 편의점, 음식점이 대부분 이 규모입니다. 저희 타깃 규모는 대학 재적생 307만 명 중 알바 경험이 있는 사람으로 어림해서, 많아야 210만에서 270만 명 정도로 봤습니다. 지금 알바 중인 사람이나 주 15시간 이상 일하는 사람은 공식 통계가 없어서 설문으로 확인하고 있습니다. 또 작년 9월 임금체불 근절 대책과 10월 개정 근로기준법으로 체불에 대한 제재도 더 강해졌습니다.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경쟁 서비스들의 위치입니다. 가로는 사장님 없이 혼자 쓸 수 있는지, 세로는 계산에서 멈추는지 대응까지 가는지입니다. 앞에서 본 서비스들을 이 위에 놓아 보면, 혼자 쓰면서 대응까지 가는 왼쪽 위 칸에는 알바가드만 있습니다. 가장 가까운 건 혼자 기록할 수 있는 하우머치인데, 하우머치가 비교 기능을 넣으면 따라올 수 있습니다. 그래서 저희는 따라 하기 어려운 기록 등록 쪽을 더 키우려고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비즈니스 모델입니다. 기록, 비교, 요청, 증빙 같은 핵심 화면은 무료이고, 앞으로도 광고를 넣지 않습니다. 사용자가 믿고 써야 하는 화면이기 때문입니다. 1차 수익 가설은 쉬는 틈 게임 화면의 광고입니다. 출퇴근 버튼은 일하는 날마다 누르지만, 돈을 확인하는 건 급여일 한 번뿐입니다. 그래서 그 사이에도 앱을 열 이유로, 출퇴근길 같은 쉬는 틈에 가볍게 할 수 있는 게임을 넣었습니다. 이 게임 화면을 광고 자리로 보고 있습니다. 2차 후보는 폰을 바꿔도 기록이 남는 동기화와 자동 백업 구독입니다. 반대로 정산 문구나 증빙 문서를 돈을 받고 만들어 주면 변호사법이나 공인노무사법 문제가 생길 수 있어서 유료화하지 않습니다. 사용자는 에브리타임, 학과 단톡방, 알바 커뮤니티, 그리고 유튜브 쇼츠나 인스타 릴스 같은 짧은 영상으로 모을 계획입니다. 주 15시간 이상 일하는 사람이 얼마나 되는지는 설문으로 확인하고 있고, 그 결과와 검증 계획은 박명진 팀원이 이어서 설명하겠습니다.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검증 부분을 맡은 박명진입니다. 저희 가설은 이렇습니다. "근무 기록을 근거로 한 요청 문구가 있으면, 알바생이 사장님께 말을 꺼낼 수 있다고 느끼고 실제로 쓸 것이다." 11월에 설문 30명과 인터뷰 5명으로, 이 가설을 표의 다섯 가지로 나눠 확인하려고 합니다. 기준도 정해 뒀습니다. 예를 들어 인터뷰 5명 중 3명이 실제로 보내겠다고 하면 통과이고, 못 미치면 문구와 단계를 다시 짭니다. 자세한 기준은 보고서에 있습니다. 오른쪽 끝 칸은 10월 26일까지 받은 설문 13명의 중간 결과입니다. 매달 받은 금액을 넣겠다는 사람이 13명 중 11명이었고, 게임 화면 광고가 싫다는 사람은 13명 중 4명이었습니다. 다만 아직 지인 위주라 정식 조사라고 보기는 어렵고, 지금 알바 중인 사람이 2명뿐이라 주 15시간 기준은 판단을 미뤘습니다. 저희한테 불리한 결과도 있었습니다. 정산 요청 메시지와 기록 등록을 가장 쓸모 있는 기능으로 고른 사람은 한 명도 없었고, 미니게임은 안 쓸 것 같은 기능 1위였습니다. (멈춤) 정리하면, 비교 기능은 원했지만 요청 기능의 가치는 아직 못 느꼈습니다. 11월 인터뷰에서는 요청 문구와 확인 번호를 직접 보여 주고, 바로 이 부분을 확인하겠습니다.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기말 발표인 12월 15일까지 7주 일정입니다. 빨간 마름모가 주요 마일스톤인데, 크게 세 단계로 보시면 됩니다. 11월 초에는 인터뷰와 설문으로 검증하고, 11월 말까지 그 결과를 반영해 다시 배포하면서 실제 폰에서도 확인합니다. 그동안 팀장은 앞에서 말씀드린 기록 등록 보강, 그러니까 기록 내용으로 확인 번호를 다시 맞춰 보는 기능을 만듭니다. 12월 7일부터는 기능을 더 고치지 않고 보고서와 발표 준비에 집중할 예정입니다. 인터뷰는 손유호 팀원이 3명, 제가 2명을 맡고, 갤럭시 폰 검증도 제가 맡았습니다.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팀원별 역할입니다. 보시는 것처럼 앞으로 맡을 일은 오늘 각자 발표한 부분과 같습니다. 이지훈 팀장은 개발, 손유호 팀원은 시장과 수익, 저는 검증과 일정을 맡습니다. 그럼 마무리는 이지훈 팀장이 하겠습니다.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팀장 마무리: (멈춤) 다시 한번 말씀드리면, 다른 앱은 '얼마 받아야 하나'에서 멈추지만, 알바가드는 '덜 받았으면 어떻게 받아내나'까지 갑니다. 처음에 보여 드린 금액처럼, 통장만 봐서는 보이지 않던 돈을 기록으로 찾아 주려고 만든 앱입니다. 화면의 QR로 설문에 답해 주시면, 기말 발표 결과에 큰 도움이 될 것 같습니다. 이상으로 4조 발표를 마치겠습니다. 들어 주셔서 감사합니다. 질문 받겠습니다.
영상 속 장면 (질문이 나오면): ① 출근 · 퇴근 뒤 출근 시각을 고치면서 사유를 쓰자 수정 이력이 남고, 서버에 3건 등록(출근 · 퇴근 · 수정) ② 받은 금액을 넣으니 덜 받은 돈이 빨간 숫자로 ③ 방금 넣은 9월까지 더해 덜 받은 석 달을 합친 메시지, 3단계 진정 안내는 1350 · 노동포털 연결만, 증빙 PDF 7번 표에 방금 등록한 확인 번호 ④ 확인 페이지에 번호를 넣으면 서버가 찍은 등록 시각
예상 질문 (이름 붙은 사람이 먼저 답하고, 모자라면 팀장이 보탭니다. 답은 짧은 메모이니 말할 때는 "~습니다"로)
· [이지훈] 법적 효력 있나? → 보장하지 않는다. 판단은 감독관 · 법원. 우리는 판단할 자료를 정리하고, 수정 이력으로 무엇을 언제 왜 고쳤는지, 확인 번호로 그 번호가 언제 서버에 들어왔는지 보여 준다(내용과 맞춰 보는 방법은 기말까지). 통장 내역 · 카톡과 함께 내야 한다고 앱에도 적어 뒀다.
· [이지훈] 서버는 여러분이 관리하는데 고치면 그만 아닌가? → 맞다. 공개키로는 넣기 · 읽기만 되고 시각은 서버가 찍는 것까지 확인했지만, 프로젝트 소유자 권한으로는 고칠 수 있다. 한계로 인정한다. 지금 막는 건 "사용자 본인이 나중에 고쳐 쓰기"까지. 운영자까지 못 고치게 하는 외부 공인 시점 확인은 비용 때문에 계획. 서버에는 번호만 있어서 운영자가 서버를 고쳐도 폰의 근무 내용 자체는 못 바꾼다. (확인 페이지에도 "앱에서 고치거나 지울 수 없음, 운영자 권한으로는 가능"이라고 적어 두었다)
· [이지훈] 확인 번호가 그 기록에서 나온 건지 어떻게 아나? → 지금은 번호와 서버 등록 시각까지 보여 주고, 기록 내용에서 번호를 다시 계산해 맞춰 보는 방법은 기말까지 만든다(그래서 70%). 지금은 앱 · 백업 파일을 함께 봐야 한다.
· [이지훈] 본인이 쓴 기록을 믿을 수 있나? → 거짓 기록은 막을 수 없다고 인정. 막는 건 "나중에 고쳐 쓰기". 영세 사업장은 기록이 없는 경우가 많아 알바생 기록이 거의 유일한 자료가 되기 쉽다. 사장에게는 임금대장 · 계약 서류 보존 의무가 있다(근로기준법 48 · 42조).
· [이지훈] 앱 계산이 틀리면 분쟁이 커지는 것 아닌가? 책임은? → 계산을 단정으로 내놓지 않는다. 항목별 · 주별 이유를 펼쳐 보여 주고, 안 넣은 것(연장근로 가산)과 유리하게 본 것(합의 휴무)은 화면에 적었다. 1단계 문구는 청구서가 아니라 "제가 계산을 잘 몰라서 여쭤본다"라는 확인 요청. 법률 자문 아님을 적어 두었고 1350 확인을 안내한다.
· [이지훈] 고객 검증도 전에 왜 먼저 만들었나? → 지적은 맞다. 다만 링크로 배포되는 웹앱이라 빨리 만들 수 있었고, 말로 설명하기보다 화면을 보여 주며 물어야 정확한 답을 듣는다고 봤다. 9월 경쟁 앱 리뷰로 빈자리를 확인하고 10/13 정의서로 범위를 8개로 잘랐다. 설문에 캡처 3장을 넣고 "실제로 있다면 쓰겠나"를 물었더니 13명 중 "안 쓴다"는 0명이었다. 12/7까지는 고치는 기간.
· [박명진] 받은 금액을 매달 직접 넣어야 하는데 넣을까? → 가장 큰 가설이라 검증표 첫 줄. 설문에서는 13명 중 11명이 넣겠다고 했지만 의향이라 인터뷰와 급여일 뒤 실제 입력으로 다시 본다. 첫 화면에서 "9월 급여 받으셨나요?"라고 묻고 넣는 순간 덜 받은 돈이 보이게 했다. 5명 중 3명이 아니면 자동 인식을 앞당긴다.
· [이지훈] 하우머치가 따라 하면? → 비교 기능은 따라올 수 있다. 확인 번호를 서버에 넣는 기술 자체도 어렵지 않다고 인정한다. 어려운 것은 그 번호가 뜻이 있게 기록 구조를 짜는 일이다. 사유 없이 못 고치고, 삭제도 흔적이 남고, 고칠 때마다 다시 등록돼야 "몇 번 고쳤나"가 보인다. 기존 앱이 따라오려면 기록을 마음대로 고치던 방식을 바꿔야 해서 쉽게 따라오지 않는다고 본다. 그래도 따라오면 요청 · 증빙까지 잇는 흐름으로 간다. 우리도 "내용으로 번호 다시 계산"이 남아 70%다.
· [손유호] 급여 앱에 게임이 왜? 근무 중에 게임을 권하나? → 출퇴근은 일하는 날마다 누르지만, 돈을 확인하는 건 급여일에 한 번이라, 그 사이에도 앱을 열 이유로 넣은 것. 처음엔 근무 중에만이었는데 팀원 의견으로 10/25 조건을 풀고 설정에서 숨길 수 있게 했다. 게임 기록은 문서에 안 섞인다. 안 되면 게임을 빼도 기록 → 비교 → 요청은 그대로.
· [박명진] 같은 과 학생 설문이 무슨 의미? 편향 아닌가? → 맞다. "정식 조사 아님"을 적고 사람 수로만 말한다. 중복 응답도 막지 않았다(이름 · 기기 정보를 안 받는 대가). 11월 30명은 학과 밖(동아리 · 에브리타임)까지 넓혀 모으고, 인터뷰 5명으로 이유를 듣는다.
· [이지훈] 법률 서비스 아닌가? → 무료, 본인 기록을 정해진 양식에 채울 뿐, 개별 사안 검토 · 대행 없음, 진정은 1350 · 노동포털로 연결만.
· [손유호] 타깃 210만~270만 명은 어디서? → 교육부 2026 교육기본통계의 고등교육기관 재적학생 307만 명에 알바 경험 설문 두 개의 비율(동국대 200명 67.5%, 알바몬 대학생 1,193명 88.9%)을 곱한 상한 어림값. 재적생에는 전문대 · 대학원 · 휴학생도 들어 있어 "많아야"로 말함. 실제 타깃인 지금 알바 중이면서 주 15시간 이상인 학생은 공식 통계가 없어 설문으로 확인 중
· [손유호] 수익은? → 게임 화면 광고(가설). 운영 비용은 0원. 문서 유료화는 안 한다.
· [이지훈] 정의서를 개발 중에 썼는데 계획 대비가 의미 있나? → 지적은 맞다. 원래 계획은 9월 기획서의 기능 4개(기록 · 비교 · 요청 · 증빙)다. 10/13 정의서는 만들면서 필요해진 것(기록 등록 · 백업)을 더해 8개로 고정하고, 넣지 않을 6개를 정한 문서다. 그 뒤 포함 기능을 늘리지 않았고 뺀 6개는 지금도 없다. 8/8은 "다 했다"가 아니라 "범위를 지켰다"로 읽어 달라.
· [이지훈] 등록 시각이 출근 시각인가? 인터넷이 없을 때 기록하면? → 아니다. 등록 시각은 확인 번호가 서버에 도착한 시각이고, 보여 주는 것은 "늦어도 이 시각에는 이 내용이 있었다"까지다. 인터넷이 없으면 대기열에 있다가 연결될 때 보내지므로 그만큼 늦어진다. "나중에 입력"한 기록도 입력했을 때 등록되고, 기록에는 나중에 입력했다는 표시와 사유가 같이 남는다. 출근 시각 자체를 증명하는 것은 아니다.
· [이지훈] 아무 번호나 넣으면? 두 기록이 같은 번호가 될 수 있나? → 확인 페이지는 앞 16자와 64자 전체를 둘 다 받고, 서버에 없는 번호는 등록된 것이 없다고 나온다. 서버 표에서 번호는 중복을 허용하지 않는다. 재료에 기록 번호와 만든 시각이 들어가서 서로 다른 기록이 같은 번호가 될 일은 사실상 없다.
· [이지훈] 카톡 나에게 보내기로 매일 적으면 같지 않나? → 시각만 보면 카톡이 더 믿을 만하다. 카카오가 찍은 시각이라 우리와 무관하다. 다른 점은 둘이다. 카톡은 고치면 새 메시지가 하나 더 생길 뿐 무엇을 왜 고쳤는지 안 남고, 그 기록으로 계산 · 비교 · 요청 · 증빙 묶음까지 이어지지 않는다. 그래서 카톡에 적던 사람이 첫 타깃이고, 카톡 캡처는 함께 내라고 앱에도 적었다.
· [이지훈] AI는 어디에 썼나? Claude 문구는 실제로 써 봤나? → 앱 기능으로는 정산 요청 문구 생성 하나이고 선택 사항이다. 배포 앱은 API 키 없이 근무 기록과 계산 내역을 채운 정해진 문장으로 만든다. 기본을 끈 이유는 기록 내용이 폰 밖으로 나가면 개인정보 안내와 동의가 먼저 필요해서다. 키가 없어 Claude 문구를 실제로 돌려 본 적은 아직 없다.
· [이지훈] 코드는 누가 짰고 이해하고 있나? → (사실대로. 틀: 개발 도구로 AI 코딩 도우미를 썼다. 기능 범위 8개, 계산 규칙(주휴 · 야간 · 휴게시간 · 연도별 최저임금), 기록 구조(수정 이력, 삭제 흔적, 사유 없이는 저장 안 됨), 법적 문구 원칙은 팀장이 정하고 하나씩 확인하며 올렸다. 서버 권한은 2000년 시각과 수정 · 삭제 요청을 직접 보내 확인했다.)
· [이지훈] 왜 Supabase인가? 설문은 서버에 두면서 근무 기록은 왜 안 두나? → 서버 코드 없이 REST로 표에 넣고 읽을 수 있고, 표 단위 권한(RLS)과 트리거로 "시각은 서버가 찍는다"를 걸 수 있어서다. 일주일 요청이 없으면 멈추는 단점은 알고 있다. 설문은 이름 없는 답 묶음이고 근무 기록은 근무지 · 시각 · 금액이라 민감도가 다르다. 권한 원칙은 두 표가 같다.
· [이지훈] 폰을 바꾸거나 서비스가 없어지면 기록은? → 폰을 바꾸면 백업 파일로 옮긴다(설정 탭). 서비스가 없어져도 폰의 기록, 백업 파일, 저장해 둔 증빙 묶음 PDF는 사용자 손에 남는다. 이 문제를 푸는 것이 2차 구독(동기화 · 자동 백업)이다.
· [이지훈] 개인정보는? 동의는? → 로그인이 없고 서버에는 이름 · 근무지 · 시각 · 금액이 가지 않는다. 가는 것은 확인 번호 · 기록 번호 · 무작위 기기 번호뿐이고, 무엇이 가는지 설정 탭에 적고 끌 수 있게 했다. 설문도 이름 · 연락처를 받지 않는다. 기록 내용을 밖으로 보내는 기능을 켜면 그때 안내와 동의가 필요하다. 단, 등록 시각으로 언제 기록했는지는 짐작할 수 있다(기기 번호는 무작위라 이름과 이어지지 않음). 무엇이 어디에 얼마나 보관되는지는 개인정보 처리방침 페이지(jihooni217.github.io/albaguard/privacy.html)에 적어 두었다.
· [박명진] 왜 설문 30명 · 인터뷰 5명인가? → 9월 기획서는 인터뷰 10~15명이었다. 사람 수는 링크 설문으로 채우고, 앱을 써 보게 하는 20분 인터뷰는 7주 안에 셋이 할 수 있는 5명으로 줄였다. 부족하다고 보시면 인터뷰를 늘린다.
· [손유호] 설문에서 게임을 안 쓰겠다는 사람이 제일 많던데? → 맞다. 13명 중 6명이 "안 쓸 것 같은 기능"으로 골랐다. 광고 자체를 싫다는 사람은 4명이라 광고 자리는 남지만, 게임을 쓰는 사람이 적으면 광고도 약하다. 그래서 11/23에 설문 결과로 광고 실험과 새 게임 중 하나를 정하고, 게임은 설정에서 숨길 수 있게 해 두었다.
· [이지훈] 기록 등록(확인 번호)을 쓸모 있다고 고른 사람이 없던데 차별점이 맞나? → 설문에서는 0명이었고, 안 쓸 것 같다는 사람도 1명뿐이었다. 덜 받은 상황에서 "나중에 지어낸 것 아니냐"라는 말을 들을 때 쓸모가 생기는 기능이라 아직 와닿지 않는다고 본다. 인터뷰에서 그 상황을 설명하고 반응을 본다(검증표 3행). 반응이 약하면 발표 · 홍보에서 앞세우는 순서를 다시 정한다.
· [손유호] 광고 수익이 생기면 "무료라서 괜찮다"가 깨지지 않나? → 광고는 게임 화면에만 나오고 문서 기능과 떼어 놓았다. 문서를 만든 대가로 받는 돈이 아니게 구조를 잡은 것이다. 다만 웹 조사 기준 판단이고 전문가 검토는 아니다.
· [박명진 → 손유호 순으로 각자] 팀원은 뭘 했나? → 개발은 이지훈. 손유호는 수업 시간의 계획서 일부를 썼고(내용은 팀장이 반영), 앞으로 시장 · 설문 · 인터뷰 3명. 박명진은 지금까지 의견을 낸 정도이고, 앞으로 인터뷰 2명 · 갤럭시 테스트 · 일정 · 보고서 편집.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알바가드 · SW기술창업 중간발표 · 4조</a:t>
            </a:r>
            <a:endParaRPr lang="en-US" sz="900" dirty="0"/>
          </a:p>
        </p:txBody>
      </p:sp>
      <p:sp>
        <p:nvSpPr>
          <p:cNvPr id="3" name="Text 1"/>
          <p:cNvSpPr/>
          <p:nvPr>
            <p:ph idx="101" type="body" hasCustomPrompt="1"/>
          </p:nvPr>
        </p:nvSpPr>
        <p:spPr>
          <a:xfrm>
            <a:off x="457200" y="274320"/>
            <a:ext cx="7772400" cy="256032"/>
          </a:xfrm>
          <a:prstGeom prst="rect">
            <a:avLst/>
          </a:prstGeom>
          <a:noFill/>
          <a:ln/>
        </p:spPr>
        <p:txBody>
          <a:bodyPr wrap="square" rtlCol="0"/>
          <a:lstStyle>
            <a:lvl1pPr indent="0" marL="0">
              <a:buNone/>
              <a:defRPr lang="en-US" sz="1050" b="1" dirty="0">
                <a:solidFill>
                  <a:schemeClr val="accent5"/>
                </a:solidFill>
              </a:defRPr>
            </a:lvl1pPr>
          </a:lstStyle>
          <a:p>
            <a:pPr indent="0" marL="0">
              <a:buNone/>
            </a:pPr>
            <a:endParaRPr lang="en-US" sz="1050" dirty="0"/>
          </a:p>
        </p:txBody>
      </p:sp>
      <p:sp>
        <p:nvSpPr>
          <p:cNvPr id="4" name="Text 1"/>
          <p:cNvSpPr/>
          <p:nvPr>
            <p:ph idx="102" type="title" hasCustomPrompt="1"/>
          </p:nvPr>
        </p:nvSpPr>
        <p:spPr>
          <a:xfrm>
            <a:off x="457200" y="502920"/>
            <a:ext cx="8229600" cy="566928"/>
          </a:xfrm>
          <a:prstGeom prst="rect">
            <a:avLst/>
          </a:prstGeom>
          <a:noFill/>
          <a:ln/>
        </p:spPr>
        <p:txBody>
          <a:bodyPr wrap="square" rtlCol="0"/>
          <a:lstStyle>
            <a:lvl1pPr algn="l" indent="0" marL="0">
              <a:buNone/>
              <a:defRPr lang="en-US" sz="2400" b="1" dirty="0">
                <a:solidFill>
                  <a:schemeClr val="tx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2A319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2.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video" Target="../media/media-11-1.mp4"/><Relationship Id="rId2" Type="http://schemas.microsoft.com/office/2007/relationships/media" Target="../media/media-11-1.mp4"/><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3.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앱 아이콘" descr="C:\Users\user\Desktop\albaguard기술창업\public\icon-512.png">    </p:cNvPr>
          <p:cNvPicPr>
            <a:picLocks noChangeAspect="1"/>
          </p:cNvPicPr>
          <p:nvPr/>
        </p:nvPicPr>
        <p:blipFill>
          <a:blip r:embed="rId1"/>
          <a:stretch>
            <a:fillRect/>
          </a:stretch>
        </p:blipFill>
        <p:spPr>
          <a:xfrm>
            <a:off x="548640" y="548640"/>
            <a:ext cx="731520" cy="731520"/>
          </a:xfrm>
          <a:prstGeom prst="rect">
            <a:avLst/>
          </a:prstGeom>
        </p:spPr>
      </p:pic>
      <p:sp>
        <p:nvSpPr>
          <p:cNvPr id="3" name="Text 0"/>
          <p:cNvSpPr txBox="1"/>
          <p:nvPr/>
        </p:nvSpPr>
        <p:spPr>
          <a:xfrm>
            <a:off x="548640" y="1371600"/>
            <a:ext cx="5486400" cy="914400"/>
          </a:xfrm>
          <a:prstGeom prst="rect">
            <a:avLst/>
          </a:prstGeom>
          <a:noFill/>
          <a:ln/>
        </p:spPr>
        <p:txBody>
          <a:bodyPr wrap="square" lIns="0" tIns="0" rIns="0" bIns="0" rtlCol="0" anchor="ctr"/>
          <a:lstStyle/>
          <a:p>
            <a:pPr indent="0" marL="0">
              <a:buNone/>
            </a:pPr>
            <a:r>
              <a:rPr lang="en-US" sz="5400" b="1" dirty="0">
                <a:solidFill>
                  <a:schemeClr val="bg1"/>
                </a:solidFill>
              </a:rPr>
              <a:t>알바가드</a:t>
            </a:r>
            <a:endParaRPr lang="en-US" sz="5400" dirty="0"/>
          </a:p>
        </p:txBody>
      </p:sp>
      <p:sp>
        <p:nvSpPr>
          <p:cNvPr id="4" name="Text 1"/>
          <p:cNvSpPr txBox="1"/>
          <p:nvPr/>
        </p:nvSpPr>
        <p:spPr>
          <a:xfrm>
            <a:off x="548640" y="2331720"/>
            <a:ext cx="5486400" cy="411480"/>
          </a:xfrm>
          <a:prstGeom prst="rect">
            <a:avLst/>
          </a:prstGeom>
          <a:noFill/>
          <a:ln/>
        </p:spPr>
        <p:txBody>
          <a:bodyPr wrap="square" lIns="0" tIns="0" rIns="0" bIns="0" rtlCol="0" anchor="ctr"/>
          <a:lstStyle/>
          <a:p>
            <a:pPr indent="0" marL="0">
              <a:buNone/>
            </a:pPr>
            <a:r>
              <a:rPr lang="en-US" sz="2000" dirty="0">
                <a:solidFill>
                  <a:schemeClr val="bg2"/>
                </a:solidFill>
              </a:rPr>
              <a:t>못 받은 알바비, 기록으로 찾는 앱</a:t>
            </a:r>
            <a:endParaRPr lang="en-US" sz="2000" dirty="0"/>
          </a:p>
        </p:txBody>
      </p:sp>
      <p:sp>
        <p:nvSpPr>
          <p:cNvPr id="5" name="Shape 2"/>
          <p:cNvSpPr/>
          <p:nvPr/>
        </p:nvSpPr>
        <p:spPr>
          <a:xfrm>
            <a:off x="548640" y="3108960"/>
            <a:ext cx="4937760" cy="0"/>
          </a:xfrm>
          <a:prstGeom prst="line">
            <a:avLst/>
          </a:prstGeom>
          <a:noFill/>
          <a:ln w="9525">
            <a:solidFill>
              <a:srgbClr val="FFFFFF">
                <a:alpha val="40000"/>
              </a:srgbClr>
            </a:solidFill>
            <a:prstDash val="solid"/>
          </a:ln>
        </p:spPr>
      </p:sp>
      <p:sp>
        <p:nvSpPr>
          <p:cNvPr id="6" name="Text 3"/>
          <p:cNvSpPr txBox="1"/>
          <p:nvPr/>
        </p:nvSpPr>
        <p:spPr>
          <a:xfrm>
            <a:off x="548640" y="3127248"/>
            <a:ext cx="3108960" cy="457200"/>
          </a:xfrm>
          <a:prstGeom prst="rect">
            <a:avLst/>
          </a:prstGeom>
          <a:noFill/>
          <a:ln/>
        </p:spPr>
        <p:txBody>
          <a:bodyPr wrap="square" lIns="0" tIns="0" rIns="0" bIns="0" rtlCol="0" anchor="ctr"/>
          <a:lstStyle/>
          <a:p>
            <a:pPr indent="0" marL="0">
              <a:buNone/>
            </a:pPr>
            <a:r>
              <a:rPr lang="en-US" sz="1400" dirty="0">
                <a:solidFill>
                  <a:schemeClr val="bg1"/>
                </a:solidFill>
              </a:rPr>
              <a:t>덜 받은 급여 · 2개월</a:t>
            </a:r>
            <a:endParaRPr lang="en-US" sz="1400" dirty="0"/>
          </a:p>
        </p:txBody>
      </p:sp>
      <p:sp>
        <p:nvSpPr>
          <p:cNvPr id="7" name="Text 4"/>
          <p:cNvSpPr txBox="1"/>
          <p:nvPr/>
        </p:nvSpPr>
        <p:spPr>
          <a:xfrm>
            <a:off x="3657600" y="3127248"/>
            <a:ext cx="1828800" cy="457200"/>
          </a:xfrm>
          <a:prstGeom prst="rect">
            <a:avLst/>
          </a:prstGeom>
          <a:noFill/>
          <a:ln/>
        </p:spPr>
        <p:txBody>
          <a:bodyPr wrap="square" lIns="0" tIns="0" rIns="0" bIns="0" rtlCol="0" anchor="ctr"/>
          <a:lstStyle/>
          <a:p>
            <a:pPr algn="r" indent="0" marL="0">
              <a:buNone/>
            </a:pPr>
            <a:r>
              <a:rPr lang="en-US" sz="2000" b="1" dirty="0">
                <a:solidFill>
                  <a:srgbClr val="F5A08F"/>
                </a:solidFill>
              </a:rPr>
              <a:t>269,352원</a:t>
            </a:r>
            <a:endParaRPr lang="en-US" sz="2000" dirty="0"/>
          </a:p>
        </p:txBody>
      </p:sp>
      <p:sp>
        <p:nvSpPr>
          <p:cNvPr id="8" name="Shape 5"/>
          <p:cNvSpPr/>
          <p:nvPr/>
        </p:nvSpPr>
        <p:spPr>
          <a:xfrm>
            <a:off x="548640" y="3602736"/>
            <a:ext cx="4937760" cy="0"/>
          </a:xfrm>
          <a:prstGeom prst="line">
            <a:avLst/>
          </a:prstGeom>
          <a:noFill/>
          <a:ln w="9525">
            <a:solidFill>
              <a:srgbClr val="FFFFFF">
                <a:alpha val="40000"/>
              </a:srgbClr>
            </a:solidFill>
            <a:prstDash val="solid"/>
          </a:ln>
        </p:spPr>
      </p:sp>
      <p:sp>
        <p:nvSpPr>
          <p:cNvPr id="9" name="Text 6"/>
          <p:cNvSpPr txBox="1"/>
          <p:nvPr/>
        </p:nvSpPr>
        <p:spPr>
          <a:xfrm>
            <a:off x="548640" y="3639312"/>
            <a:ext cx="4937760" cy="274320"/>
          </a:xfrm>
          <a:prstGeom prst="rect">
            <a:avLst/>
          </a:prstGeom>
          <a:noFill/>
          <a:ln/>
        </p:spPr>
        <p:txBody>
          <a:bodyPr wrap="square" lIns="0" tIns="0" rIns="0" bIns="0" rtlCol="0" anchor="ctr"/>
          <a:lstStyle/>
          <a:p>
            <a:pPr indent="0" marL="0">
              <a:buNone/>
            </a:pPr>
            <a:r>
              <a:rPr lang="en-US" sz="900" dirty="0">
                <a:solidFill>
                  <a:schemeClr val="bg2"/>
                </a:solidFill>
              </a:rPr>
              <a:t>앱 첫 화면의 알림 줄 (예시 데이터)</a:t>
            </a:r>
            <a:endParaRPr lang="en-US" sz="900" dirty="0"/>
          </a:p>
        </p:txBody>
      </p:sp>
      <p:sp>
        <p:nvSpPr>
          <p:cNvPr id="10" name="Text 7"/>
          <p:cNvSpPr txBox="1"/>
          <p:nvPr/>
        </p:nvSpPr>
        <p:spPr>
          <a:xfrm>
            <a:off x="548640" y="4297680"/>
            <a:ext cx="5486400" cy="320040"/>
          </a:xfrm>
          <a:prstGeom prst="rect">
            <a:avLst/>
          </a:prstGeom>
          <a:noFill/>
          <a:ln/>
        </p:spPr>
        <p:txBody>
          <a:bodyPr wrap="square" lIns="0" tIns="0" rIns="0" bIns="0" rtlCol="0" anchor="ctr"/>
          <a:lstStyle/>
          <a:p>
            <a:pPr indent="0" marL="0">
              <a:buNone/>
            </a:pPr>
            <a:r>
              <a:rPr lang="en-US" sz="1200" dirty="0">
                <a:solidFill>
                  <a:schemeClr val="bg2"/>
                </a:solidFill>
              </a:rPr>
              <a:t>SW기술창업 중간발표 · 4조 · 2026.10.27</a:t>
            </a:r>
            <a:endParaRPr lang="en-US" sz="1200" dirty="0"/>
          </a:p>
        </p:txBody>
      </p:sp>
      <p:sp>
        <p:nvSpPr>
          <p:cNvPr id="11" name="Text 8"/>
          <p:cNvSpPr txBox="1"/>
          <p:nvPr/>
        </p:nvSpPr>
        <p:spPr>
          <a:xfrm>
            <a:off x="6126480" y="141732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팀명</a:t>
            </a:r>
            <a:endParaRPr lang="en-US" sz="1000" dirty="0"/>
          </a:p>
        </p:txBody>
      </p:sp>
      <p:sp>
        <p:nvSpPr>
          <p:cNvPr id="12" name="Text 9"/>
          <p:cNvSpPr txBox="1"/>
          <p:nvPr/>
        </p:nvSpPr>
        <p:spPr>
          <a:xfrm>
            <a:off x="6126480" y="1691640"/>
            <a:ext cx="2560320" cy="548640"/>
          </a:xfrm>
          <a:prstGeom prst="rect">
            <a:avLst/>
          </a:prstGeom>
          <a:noFill/>
          <a:ln/>
        </p:spPr>
        <p:txBody>
          <a:bodyPr wrap="square" lIns="0" tIns="0" rIns="0" bIns="0" rtlCol="0" anchor="ctr"/>
          <a:lstStyle/>
          <a:p>
            <a:pPr indent="0" marL="0">
              <a:buNone/>
            </a:pPr>
            <a:r>
              <a:rPr lang="en-US" sz="2400" b="1" dirty="0">
                <a:solidFill>
                  <a:schemeClr val="bg1"/>
                </a:solidFill>
              </a:rPr>
              <a:t>알바가드</a:t>
            </a:r>
            <a:endParaRPr lang="en-US" sz="2400" dirty="0"/>
          </a:p>
        </p:txBody>
      </p:sp>
      <p:sp>
        <p:nvSpPr>
          <p:cNvPr id="13" name="Text 10"/>
          <p:cNvSpPr txBox="1"/>
          <p:nvPr/>
        </p:nvSpPr>
        <p:spPr>
          <a:xfrm>
            <a:off x="6126480" y="2240280"/>
            <a:ext cx="2560320" cy="274320"/>
          </a:xfrm>
          <a:prstGeom prst="rect">
            <a:avLst/>
          </a:prstGeom>
          <a:noFill/>
          <a:ln/>
        </p:spPr>
        <p:txBody>
          <a:bodyPr wrap="square" lIns="0" tIns="0" rIns="0" bIns="0" rtlCol="0" anchor="ctr"/>
          <a:lstStyle/>
          <a:p>
            <a:pPr indent="0" marL="0">
              <a:buNone/>
            </a:pPr>
            <a:r>
              <a:rPr lang="en-US" sz="950" dirty="0">
                <a:solidFill>
                  <a:schemeClr val="bg2"/>
                </a:solidFill>
              </a:rPr>
              <a:t>4조</a:t>
            </a:r>
            <a:endParaRPr lang="en-US" sz="950" dirty="0"/>
          </a:p>
        </p:txBody>
      </p:sp>
      <p:sp>
        <p:nvSpPr>
          <p:cNvPr id="14" name="Shape 11"/>
          <p:cNvSpPr/>
          <p:nvPr/>
        </p:nvSpPr>
        <p:spPr>
          <a:xfrm>
            <a:off x="6126480" y="2651760"/>
            <a:ext cx="2560320" cy="0"/>
          </a:xfrm>
          <a:prstGeom prst="line">
            <a:avLst/>
          </a:prstGeom>
          <a:noFill/>
          <a:ln w="9525">
            <a:solidFill>
              <a:srgbClr val="FFFFFF">
                <a:alpha val="40000"/>
              </a:srgbClr>
            </a:solidFill>
            <a:prstDash val="solid"/>
          </a:ln>
        </p:spPr>
      </p:sp>
      <p:sp>
        <p:nvSpPr>
          <p:cNvPr id="15" name="Text 12"/>
          <p:cNvSpPr txBox="1"/>
          <p:nvPr/>
        </p:nvSpPr>
        <p:spPr>
          <a:xfrm>
            <a:off x="6126480" y="2743200"/>
            <a:ext cx="2560320" cy="274320"/>
          </a:xfrm>
          <a:prstGeom prst="rect">
            <a:avLst/>
          </a:prstGeom>
          <a:noFill/>
          <a:ln/>
        </p:spPr>
        <p:txBody>
          <a:bodyPr wrap="square" lIns="0" tIns="0" rIns="0" bIns="0" rtlCol="0" anchor="ctr"/>
          <a:lstStyle/>
          <a:p>
            <a:pPr indent="0" marL="0">
              <a:buNone/>
            </a:pPr>
            <a:r>
              <a:rPr lang="en-US" sz="1000" b="1" dirty="0">
                <a:solidFill>
                  <a:schemeClr val="bg2"/>
                </a:solidFill>
              </a:rPr>
              <a:t>팀원</a:t>
            </a:r>
            <a:endParaRPr lang="en-US" sz="1000" dirty="0"/>
          </a:p>
        </p:txBody>
      </p:sp>
      <p:sp>
        <p:nvSpPr>
          <p:cNvPr id="16" name="Text 13"/>
          <p:cNvSpPr txBox="1"/>
          <p:nvPr/>
        </p:nvSpPr>
        <p:spPr>
          <a:xfrm>
            <a:off x="6126480" y="3017520"/>
            <a:ext cx="2560320" cy="1737360"/>
          </a:xfrm>
          <a:prstGeom prst="rect">
            <a:avLst/>
          </a:prstGeom>
          <a:noFill/>
          <a:ln/>
        </p:spPr>
        <p:txBody>
          <a:bodyPr wrap="square" lIns="0" tIns="0" rIns="0" bIns="0" rtlCol="0" anchor="t"/>
          <a:lstStyle/>
          <a:p>
            <a:pPr indent="0" marL="0">
              <a:spcAft>
                <a:spcPts val="200"/>
              </a:spcAft>
              <a:buNone/>
            </a:pPr>
            <a:r>
              <a:rPr lang="en-US" sz="1250" b="1" dirty="0">
                <a:solidFill>
                  <a:schemeClr val="bg1"/>
                </a:solidFill>
              </a:rPr>
              <a:t>팀장 이지훈</a:t>
            </a:r>
            <a:endParaRPr lang="en-US" sz="1250" dirty="0"/>
          </a:p>
          <a:p>
            <a:pPr indent="0" marL="0">
              <a:spcAft>
                <a:spcPts val="200"/>
              </a:spcAft>
              <a:buNone/>
            </a:pPr>
            <a:r>
              <a:rPr lang="en-US" sz="1000" dirty="0">
                <a:solidFill>
                  <a:schemeClr val="bg2"/>
                </a:solidFill>
              </a:rPr>
              <a:t>컴퓨터소프트웨어 22학번</a:t>
            </a:r>
            <a:endParaRPr lang="en-US" sz="1250" dirty="0"/>
          </a:p>
          <a:p>
            <a:pPr indent="0" marL="0">
              <a:spcAft>
                <a:spcPts val="200"/>
              </a:spcAft>
              <a:buNone/>
            </a:pPr>
            <a:r>
              <a:rPr lang="en-US" sz="1250" b="1" dirty="0">
                <a:solidFill>
                  <a:schemeClr val="bg1"/>
                </a:solidFill>
              </a:rPr>
              <a:t>손유호</a:t>
            </a:r>
            <a:endParaRPr lang="en-US" sz="1250" dirty="0"/>
          </a:p>
          <a:p>
            <a:pPr indent="0" marL="0">
              <a:spcAft>
                <a:spcPts val="200"/>
              </a:spcAft>
              <a:buNone/>
            </a:pPr>
            <a:r>
              <a:rPr lang="en-US" sz="1000" dirty="0">
                <a:solidFill>
                  <a:schemeClr val="bg2"/>
                </a:solidFill>
              </a:rPr>
              <a:t>컴퓨터소프트웨어 20학번</a:t>
            </a:r>
            <a:endParaRPr lang="en-US" sz="1250" dirty="0"/>
          </a:p>
          <a:p>
            <a:pPr indent="0" marL="0">
              <a:spcAft>
                <a:spcPts val="200"/>
              </a:spcAft>
              <a:buNone/>
            </a:pPr>
            <a:r>
              <a:rPr lang="en-US" sz="1250" b="1" dirty="0">
                <a:solidFill>
                  <a:schemeClr val="bg1"/>
                </a:solidFill>
              </a:rPr>
              <a:t>박명진</a:t>
            </a:r>
            <a:endParaRPr lang="en-US" sz="1250" dirty="0"/>
          </a:p>
          <a:p>
            <a:pPr indent="0" marL="0">
              <a:spcAft>
                <a:spcPts val="200"/>
              </a:spcAft>
              <a:buNone/>
            </a:pPr>
            <a:r>
              <a:rPr lang="en-US" sz="1000" dirty="0">
                <a:solidFill>
                  <a:schemeClr val="bg2"/>
                </a:solidFill>
              </a:rPr>
              <a:t>컴퓨터소프트웨어 18학번</a:t>
            </a:r>
            <a:endParaRPr lang="en-US" sz="1250" dirty="0"/>
          </a:p>
        </p:txBody>
      </p:sp>
      <p:sp>
        <p:nvSpPr>
          <p:cNvPr id="18"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endParaRPr lang="en-US"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① 오늘 발표</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지금 상태: 앱은 배포, 설문 13명 응답, 인터뷰는 11월</a:t>
            </a:r>
            <a:endParaRPr lang="en-US" sz="2400" dirty="0"/>
          </a:p>
        </p:txBody>
      </p:sp>
      <p:sp>
        <p:nvSpPr>
          <p:cNvPr id="4" name="Text 2"/>
          <p:cNvSpPr txBox="1"/>
          <p:nvPr/>
        </p:nvSpPr>
        <p:spPr>
          <a:xfrm>
            <a:off x="457200" y="1325880"/>
            <a:ext cx="3877056" cy="868680"/>
          </a:xfrm>
          <a:prstGeom prst="rect">
            <a:avLst/>
          </a:prstGeom>
          <a:noFill/>
          <a:ln/>
        </p:spPr>
        <p:txBody>
          <a:bodyPr wrap="square" lIns="0" tIns="0" rIns="0" bIns="0" rtlCol="0" anchor="ctr"/>
          <a:lstStyle/>
          <a:p>
            <a:pPr indent="0" marL="0">
              <a:buNone/>
            </a:pPr>
            <a:r>
              <a:rPr lang="en-US" sz="1500" b="1" dirty="0">
                <a:solidFill>
                  <a:schemeClr val="tx1"/>
                </a:solidFill>
              </a:rPr>
              <a:t>계획한 기능 8개 모두 동작</a:t>
            </a:r>
            <a:endParaRPr lang="en-US" sz="1500" dirty="0"/>
          </a:p>
          <a:p>
            <a:pPr indent="0" marL="0">
              <a:buNone/>
            </a:pPr>
            <a:r>
              <a:rPr lang="en-US" sz="950" dirty="0">
                <a:solidFill>
                  <a:schemeClr val="accent5"/>
                </a:solidFill>
              </a:rPr>
              <a:t>9월 기획서 4개 → 10/13 정의서 8개로 고정. 완성도 평균 약 80%</a:t>
            </a:r>
            <a:endParaRPr lang="en-US" sz="1500" dirty="0"/>
          </a:p>
        </p:txBody>
      </p:sp>
      <p:sp>
        <p:nvSpPr>
          <p:cNvPr id="5" name="Text 3"/>
          <p:cNvSpPr txBox="1"/>
          <p:nvPr/>
        </p:nvSpPr>
        <p:spPr>
          <a:xfrm>
            <a:off x="4334256" y="1325880"/>
            <a:ext cx="969264" cy="868680"/>
          </a:xfrm>
          <a:prstGeom prst="rect">
            <a:avLst/>
          </a:prstGeom>
          <a:noFill/>
          <a:ln/>
        </p:spPr>
        <p:txBody>
          <a:bodyPr wrap="square" lIns="0" tIns="0" rIns="0" bIns="0" rtlCol="0" anchor="ctr"/>
          <a:lstStyle/>
          <a:p>
            <a:pPr algn="r" indent="0" marL="0">
              <a:buNone/>
            </a:pPr>
            <a:r>
              <a:rPr lang="en-US" sz="1500" b="1" dirty="0">
                <a:solidFill>
                  <a:schemeClr val="tx2"/>
                </a:solidFill>
              </a:rPr>
              <a:t>8 / 8</a:t>
            </a:r>
            <a:endParaRPr lang="en-US" sz="1500" dirty="0"/>
          </a:p>
        </p:txBody>
      </p:sp>
      <p:sp>
        <p:nvSpPr>
          <p:cNvPr id="6" name="Shape 4"/>
          <p:cNvSpPr/>
          <p:nvPr/>
        </p:nvSpPr>
        <p:spPr>
          <a:xfrm>
            <a:off x="457200" y="2194560"/>
            <a:ext cx="4846320" cy="0"/>
          </a:xfrm>
          <a:prstGeom prst="line">
            <a:avLst/>
          </a:prstGeom>
          <a:noFill/>
          <a:ln w="9525">
            <a:solidFill>
              <a:srgbClr val="DCD9D0"/>
            </a:solidFill>
            <a:prstDash val="solid"/>
          </a:ln>
        </p:spPr>
      </p:sp>
      <p:sp>
        <p:nvSpPr>
          <p:cNvPr id="7" name="Text 5"/>
          <p:cNvSpPr txBox="1"/>
          <p:nvPr/>
        </p:nvSpPr>
        <p:spPr>
          <a:xfrm>
            <a:off x="457200" y="2194560"/>
            <a:ext cx="3877056" cy="868680"/>
          </a:xfrm>
          <a:prstGeom prst="rect">
            <a:avLst/>
          </a:prstGeom>
          <a:noFill/>
          <a:ln/>
        </p:spPr>
        <p:txBody>
          <a:bodyPr wrap="square" lIns="0" tIns="0" rIns="0" bIns="0" rtlCol="0" anchor="ctr"/>
          <a:lstStyle/>
          <a:p>
            <a:pPr indent="0" marL="0">
              <a:buNone/>
            </a:pPr>
            <a:r>
              <a:rPr lang="en-US" sz="1500" b="1" dirty="0">
                <a:solidFill>
                  <a:schemeClr val="tx1"/>
                </a:solidFill>
              </a:rPr>
              <a:t>사용자 검증</a:t>
            </a:r>
            <a:endParaRPr lang="en-US" sz="1500" dirty="0"/>
          </a:p>
          <a:p>
            <a:pPr indent="0" marL="0">
              <a:buNone/>
            </a:pPr>
            <a:r>
              <a:rPr lang="en-US" sz="950" dirty="0">
                <a:solidFill>
                  <a:schemeClr val="accent5"/>
                </a:solidFill>
              </a:rPr>
              <a:t>링크 설문 30명 · 직접 인터뷰 5명</a:t>
            </a:r>
            <a:endParaRPr lang="en-US" sz="1500" dirty="0"/>
          </a:p>
        </p:txBody>
      </p:sp>
      <p:sp>
        <p:nvSpPr>
          <p:cNvPr id="8" name="Text 6"/>
          <p:cNvSpPr txBox="1"/>
          <p:nvPr/>
        </p:nvSpPr>
        <p:spPr>
          <a:xfrm>
            <a:off x="4334256" y="2194560"/>
            <a:ext cx="969264" cy="868680"/>
          </a:xfrm>
          <a:prstGeom prst="rect">
            <a:avLst/>
          </a:prstGeom>
          <a:noFill/>
          <a:ln/>
        </p:spPr>
        <p:txBody>
          <a:bodyPr wrap="square" lIns="0" tIns="0" rIns="0" bIns="0" rtlCol="0" anchor="ctr"/>
          <a:lstStyle/>
          <a:p>
            <a:pPr algn="r" indent="0" marL="0">
              <a:buNone/>
            </a:pPr>
            <a:r>
              <a:rPr lang="en-US" sz="1500" b="1" dirty="0">
                <a:solidFill>
                  <a:schemeClr val="accent5"/>
                </a:solidFill>
              </a:rPr>
              <a:t>설문 13명</a:t>
            </a:r>
            <a:endParaRPr lang="en-US" sz="1500" dirty="0"/>
          </a:p>
        </p:txBody>
      </p:sp>
      <p:sp>
        <p:nvSpPr>
          <p:cNvPr id="9" name="Shape 7"/>
          <p:cNvSpPr/>
          <p:nvPr/>
        </p:nvSpPr>
        <p:spPr>
          <a:xfrm>
            <a:off x="457200" y="3063240"/>
            <a:ext cx="4846320" cy="0"/>
          </a:xfrm>
          <a:prstGeom prst="line">
            <a:avLst/>
          </a:prstGeom>
          <a:noFill/>
          <a:ln w="9525">
            <a:solidFill>
              <a:srgbClr val="DCD9D0"/>
            </a:solidFill>
            <a:prstDash val="solid"/>
          </a:ln>
        </p:spPr>
      </p:sp>
      <p:pic>
        <p:nvPicPr>
          <p:cNvPr id="10" name="앱 설치" descr="C:\Users\user\Desktop\albaguard기술창업\docs\report_src\qr_app.png">    </p:cNvPr>
          <p:cNvPicPr>
            <a:picLocks noChangeAspect="1"/>
          </p:cNvPicPr>
          <p:nvPr/>
        </p:nvPicPr>
        <p:blipFill>
          <a:blip r:embed="rId1"/>
          <a:stretch>
            <a:fillRect/>
          </a:stretch>
        </p:blipFill>
        <p:spPr>
          <a:xfrm>
            <a:off x="5669280" y="1325880"/>
            <a:ext cx="1417320" cy="1417320"/>
          </a:xfrm>
          <a:prstGeom prst="rect">
            <a:avLst/>
          </a:prstGeom>
        </p:spPr>
      </p:pic>
      <p:sp>
        <p:nvSpPr>
          <p:cNvPr id="11" name="Text 8"/>
          <p:cNvSpPr txBox="1"/>
          <p:nvPr/>
        </p:nvSpPr>
        <p:spPr>
          <a:xfrm>
            <a:off x="553212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앱 설치</a:t>
            </a:r>
            <a:endParaRPr lang="en-US" sz="1100" dirty="0"/>
          </a:p>
        </p:txBody>
      </p:sp>
      <p:sp>
        <p:nvSpPr>
          <p:cNvPr id="12" name="Text 9"/>
          <p:cNvSpPr txBox="1"/>
          <p:nvPr/>
        </p:nvSpPr>
        <p:spPr>
          <a:xfrm>
            <a:off x="544068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폰 브라우저로 열고</a:t>
            </a:r>
            <a:endParaRPr lang="en-US" sz="900" dirty="0"/>
          </a:p>
          <a:p>
            <a:pPr algn="ctr" indent="0" marL="0">
              <a:buNone/>
            </a:pPr>
            <a:r>
              <a:rPr lang="en-US" sz="900" dirty="0">
                <a:solidFill>
                  <a:schemeClr val="accent5"/>
                </a:solidFill>
              </a:rPr>
              <a:t>"홈 화면에 추가"</a:t>
            </a:r>
            <a:endParaRPr lang="en-US" sz="900" dirty="0"/>
          </a:p>
        </p:txBody>
      </p:sp>
      <p:pic>
        <p:nvPicPr>
          <p:cNvPr id="13" name="설문 3분" descr="C:\Users\user\Desktop\albaguard기술창업\docs\report_src\qr_survey.png">    </p:cNvPr>
          <p:cNvPicPr>
            <a:picLocks noChangeAspect="1"/>
          </p:cNvPicPr>
          <p:nvPr/>
        </p:nvPicPr>
        <p:blipFill>
          <a:blip r:embed="rId2"/>
          <a:stretch>
            <a:fillRect/>
          </a:stretch>
        </p:blipFill>
        <p:spPr>
          <a:xfrm>
            <a:off x="7315200" y="1325880"/>
            <a:ext cx="1417320" cy="1417320"/>
          </a:xfrm>
          <a:prstGeom prst="rect">
            <a:avLst/>
          </a:prstGeom>
        </p:spPr>
      </p:pic>
      <p:sp>
        <p:nvSpPr>
          <p:cNvPr id="14" name="Text 10"/>
          <p:cNvSpPr txBox="1"/>
          <p:nvPr/>
        </p:nvSpPr>
        <p:spPr>
          <a:xfrm>
            <a:off x="7178040" y="2788920"/>
            <a:ext cx="1691640" cy="274320"/>
          </a:xfrm>
          <a:prstGeom prst="rect">
            <a:avLst/>
          </a:prstGeom>
          <a:noFill/>
          <a:ln/>
        </p:spPr>
        <p:txBody>
          <a:bodyPr wrap="square" lIns="0" tIns="0" rIns="0" bIns="0" rtlCol="0" anchor="ctr"/>
          <a:lstStyle/>
          <a:p>
            <a:pPr algn="ctr" indent="0" marL="0">
              <a:buNone/>
            </a:pPr>
            <a:r>
              <a:rPr lang="en-US" sz="1100" b="1" dirty="0">
                <a:solidFill>
                  <a:schemeClr val="tx2"/>
                </a:solidFill>
              </a:rPr>
              <a:t>설문 3분</a:t>
            </a:r>
            <a:endParaRPr lang="en-US" sz="1100" dirty="0"/>
          </a:p>
        </p:txBody>
      </p:sp>
      <p:sp>
        <p:nvSpPr>
          <p:cNvPr id="15" name="Text 11"/>
          <p:cNvSpPr txBox="1"/>
          <p:nvPr/>
        </p:nvSpPr>
        <p:spPr>
          <a:xfrm>
            <a:off x="7086600" y="3063240"/>
            <a:ext cx="1874520" cy="457200"/>
          </a:xfrm>
          <a:prstGeom prst="rect">
            <a:avLst/>
          </a:prstGeom>
          <a:noFill/>
          <a:ln/>
        </p:spPr>
        <p:txBody>
          <a:bodyPr wrap="square" lIns="0" tIns="0" rIns="0" bIns="0" rtlCol="0" anchor="t"/>
          <a:lstStyle/>
          <a:p>
            <a:pPr algn="ctr" indent="0" marL="0">
              <a:buNone/>
            </a:pPr>
            <a:r>
              <a:rPr lang="en-US" sz="900" dirty="0">
                <a:solidFill>
                  <a:schemeClr val="accent5"/>
                </a:solidFill>
              </a:rPr>
              <a:t>이름 · 연락처 없음</a:t>
            </a:r>
            <a:endParaRPr lang="en-US" sz="900" dirty="0"/>
          </a:p>
          <a:p>
            <a:pPr algn="ctr" indent="0" marL="0">
              <a:buNone/>
            </a:pPr>
            <a:r>
              <a:rPr lang="en-US" sz="900" dirty="0">
                <a:solidFill>
                  <a:schemeClr val="accent5"/>
                </a:solidFill>
              </a:rPr>
              <a:t>발표 뒤 답해도 됨</a:t>
            </a:r>
            <a:endParaRPr lang="en-US" sz="900" dirty="0"/>
          </a:p>
        </p:txBody>
      </p:sp>
      <p:sp>
        <p:nvSpPr>
          <p:cNvPr id="16" name="Text 12"/>
          <p:cNvSpPr txBox="1"/>
          <p:nvPr/>
        </p:nvSpPr>
        <p:spPr>
          <a:xfrm>
            <a:off x="5486400" y="3611880"/>
            <a:ext cx="3200400" cy="274320"/>
          </a:xfrm>
          <a:prstGeom prst="rect">
            <a:avLst/>
          </a:prstGeom>
          <a:noFill/>
          <a:ln/>
        </p:spPr>
        <p:txBody>
          <a:bodyPr wrap="square" lIns="0" tIns="0" rIns="0" bIns="0" rtlCol="0" anchor="ctr"/>
          <a:lstStyle/>
          <a:p>
            <a:pPr algn="ctr" indent="0" marL="0">
              <a:buNone/>
            </a:pPr>
            <a:r>
              <a:rPr lang="en-US" sz="950" dirty="0">
                <a:solidFill>
                  <a:schemeClr val="accent5"/>
                </a:solidFill>
              </a:rPr>
              <a:t>jihooni217.github.io/albaguard</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페인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세 문제의 원인은 하나: 근거가 될 기록이 없음</a:t>
            </a:r>
            <a:endParaRPr lang="en-US" sz="2400" dirty="0"/>
          </a:p>
        </p:txBody>
      </p:sp>
      <p:sp>
        <p:nvSpPr>
          <p:cNvPr id="4" name="타깃 칸"/>
          <p:cNvSpPr/>
          <p:nvPr/>
        </p:nvSpPr>
        <p:spPr>
          <a:xfrm>
            <a:off x="457200" y="1188720"/>
            <a:ext cx="8229600" cy="566928"/>
          </a:xfrm>
          <a:prstGeom prst="roundRect">
            <a:avLst>
              <a:gd name="adj" fmla="val 16129"/>
            </a:avLst>
          </a:prstGeom>
          <a:solidFill>
            <a:schemeClr val="bg2"/>
          </a:solidFill>
          <a:ln w="12700">
            <a:solidFill>
              <a:schemeClr val="bg2"/>
            </a:solidFill>
            <a:prstDash val="solid"/>
          </a:ln>
        </p:spPr>
      </p:sp>
      <p:sp>
        <p:nvSpPr>
          <p:cNvPr id="5" name="Text 3"/>
          <p:cNvSpPr txBox="1"/>
          <p:nvPr/>
        </p:nvSpPr>
        <p:spPr>
          <a:xfrm>
            <a:off x="640080" y="1188720"/>
            <a:ext cx="7863840" cy="566928"/>
          </a:xfrm>
          <a:prstGeom prst="rect">
            <a:avLst/>
          </a:prstGeom>
          <a:noFill/>
          <a:ln/>
        </p:spPr>
        <p:txBody>
          <a:bodyPr wrap="square" lIns="0" tIns="0" rIns="0" bIns="0" rtlCol="0" anchor="ctr"/>
          <a:lstStyle/>
          <a:p>
            <a:pPr indent="0" marL="0">
              <a:buNone/>
            </a:pPr>
            <a:r>
              <a:rPr lang="en-US" sz="1150" b="1" dirty="0">
                <a:solidFill>
                  <a:schemeClr val="tx2"/>
                </a:solidFill>
              </a:rPr>
              <a:t>타깃  </a:t>
            </a:r>
            <a:pPr indent="0" marL="0">
              <a:buNone/>
            </a:pPr>
            <a:r>
              <a:rPr lang="en-US" sz="1150" dirty="0">
                <a:solidFill>
                  <a:schemeClr val="tx1"/>
                </a:solidFill>
              </a:rPr>
              <a:t>주 15시간 이상 · 만 19~26세 시급제 알바 대학생 · 계약서 없음 · 통장 총액만 확인</a:t>
            </a:r>
            <a:endParaRPr lang="en-US" sz="1150" dirty="0"/>
          </a:p>
        </p:txBody>
      </p:sp>
      <p:sp>
        <p:nvSpPr>
          <p:cNvPr id="6" name="Text 4"/>
          <p:cNvSpPr txBox="1"/>
          <p:nvPr/>
        </p:nvSpPr>
        <p:spPr>
          <a:xfrm>
            <a:off x="45720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33.2%</a:t>
            </a:r>
            <a:endParaRPr lang="en-US" sz="4000" dirty="0"/>
          </a:p>
        </p:txBody>
      </p:sp>
      <p:sp>
        <p:nvSpPr>
          <p:cNvPr id="7" name="Text 5"/>
          <p:cNvSpPr txBox="1"/>
          <p:nvPr/>
        </p:nvSpPr>
        <p:spPr>
          <a:xfrm>
            <a:off x="45720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노동절에 일하고도 수당을 받는지 "안내받지 못해 모르겠다"</a:t>
            </a:r>
            <a:endParaRPr lang="en-US" sz="1050" dirty="0"/>
          </a:p>
        </p:txBody>
      </p:sp>
      <p:sp>
        <p:nvSpPr>
          <p:cNvPr id="8" name="Text 6"/>
          <p:cNvSpPr txBox="1"/>
          <p:nvPr/>
        </p:nvSpPr>
        <p:spPr>
          <a:xfrm>
            <a:off x="45720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노동절 근무 알바생 749명, 알바천국 2026.4</a:t>
            </a:r>
            <a:endParaRPr lang="en-US" sz="850" dirty="0"/>
          </a:p>
        </p:txBody>
      </p:sp>
      <p:sp>
        <p:nvSpPr>
          <p:cNvPr id="9" name="Shape 7"/>
          <p:cNvSpPr/>
          <p:nvPr/>
        </p:nvSpPr>
        <p:spPr>
          <a:xfrm>
            <a:off x="457200" y="3520440"/>
            <a:ext cx="2651760" cy="0"/>
          </a:xfrm>
          <a:prstGeom prst="line">
            <a:avLst/>
          </a:prstGeom>
          <a:noFill/>
          <a:ln w="9525">
            <a:solidFill>
              <a:srgbClr val="DCD9D0"/>
            </a:solidFill>
            <a:prstDash val="solid"/>
          </a:ln>
        </p:spPr>
      </p:sp>
      <p:sp>
        <p:nvSpPr>
          <p:cNvPr id="10" name="번호 1"/>
          <p:cNvSpPr/>
          <p:nvPr/>
        </p:nvSpPr>
        <p:spPr>
          <a:xfrm>
            <a:off x="457200" y="3703320"/>
            <a:ext cx="310896" cy="310896"/>
          </a:xfrm>
          <a:prstGeom prst="ellipse">
            <a:avLst/>
          </a:prstGeom>
          <a:solidFill>
            <a:schemeClr val="accent1"/>
          </a:solidFill>
          <a:ln w="12700">
            <a:solidFill>
              <a:schemeClr val="accent1"/>
            </a:solidFill>
            <a:prstDash val="solid"/>
          </a:ln>
        </p:spPr>
      </p:sp>
      <p:sp>
        <p:nvSpPr>
          <p:cNvPr id="11" name="Text 9"/>
          <p:cNvSpPr txBox="1"/>
          <p:nvPr/>
        </p:nvSpPr>
        <p:spPr>
          <a:xfrm>
            <a:off x="45720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12" name="Text 10"/>
          <p:cNvSpPr txBox="1"/>
          <p:nvPr/>
        </p:nvSpPr>
        <p:spPr>
          <a:xfrm>
            <a:off x="86868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얼마를 받아야 하는지</a:t>
            </a:r>
            <a:endParaRPr lang="en-US" sz="1400" dirty="0"/>
          </a:p>
          <a:p>
            <a:pPr indent="0" marL="0">
              <a:buNone/>
            </a:pPr>
            <a:r>
              <a:rPr lang="en-US" sz="1400" b="1" dirty="0">
                <a:solidFill>
                  <a:schemeClr val="tx2"/>
                </a:solidFill>
              </a:rPr>
              <a:t>계산하기 어려움</a:t>
            </a:r>
            <a:endParaRPr lang="en-US" sz="1400" dirty="0"/>
          </a:p>
        </p:txBody>
      </p:sp>
      <p:sp>
        <p:nvSpPr>
          <p:cNvPr id="13" name="Text 11"/>
          <p:cNvSpPr txBox="1"/>
          <p:nvPr/>
        </p:nvSpPr>
        <p:spPr>
          <a:xfrm>
            <a:off x="324612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48.0%</a:t>
            </a:r>
            <a:endParaRPr lang="en-US" sz="4000" dirty="0"/>
          </a:p>
        </p:txBody>
      </p:sp>
      <p:sp>
        <p:nvSpPr>
          <p:cNvPr id="14" name="Text 12"/>
          <p:cNvSpPr txBox="1"/>
          <p:nvPr/>
        </p:nvSpPr>
        <p:spPr>
          <a:xfrm>
            <a:off x="324612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임금 관련 문제를 겪음 (수당 미지급 · 지연 37.3%)</a:t>
            </a:r>
            <a:endParaRPr lang="en-US" sz="1050" dirty="0"/>
          </a:p>
        </p:txBody>
      </p:sp>
      <p:sp>
        <p:nvSpPr>
          <p:cNvPr id="15" name="Text 13"/>
          <p:cNvSpPr txBox="1"/>
          <p:nvPr/>
        </p:nvSpPr>
        <p:spPr>
          <a:xfrm>
            <a:off x="324612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알바생 2,457명, 알바천국 2025.1</a:t>
            </a:r>
            <a:endParaRPr lang="en-US" sz="850" dirty="0"/>
          </a:p>
          <a:p>
            <a:pPr indent="0" marL="0">
              <a:buNone/>
            </a:pPr>
            <a:r>
              <a:rPr lang="en-US" sz="850" dirty="0">
                <a:solidFill>
                  <a:schemeClr val="accent5"/>
                </a:solidFill>
              </a:rPr>
              <a:t>우리 설문: 통장 총액만 봄 12명 중 7명</a:t>
            </a:r>
            <a:endParaRPr lang="en-US" sz="850" dirty="0"/>
          </a:p>
        </p:txBody>
      </p:sp>
      <p:sp>
        <p:nvSpPr>
          <p:cNvPr id="16" name="Shape 14"/>
          <p:cNvSpPr/>
          <p:nvPr/>
        </p:nvSpPr>
        <p:spPr>
          <a:xfrm>
            <a:off x="3246120" y="3520440"/>
            <a:ext cx="2651760" cy="0"/>
          </a:xfrm>
          <a:prstGeom prst="line">
            <a:avLst/>
          </a:prstGeom>
          <a:noFill/>
          <a:ln w="9525">
            <a:solidFill>
              <a:srgbClr val="DCD9D0"/>
            </a:solidFill>
            <a:prstDash val="solid"/>
          </a:ln>
        </p:spPr>
      </p:sp>
      <p:sp>
        <p:nvSpPr>
          <p:cNvPr id="17" name="번호 2"/>
          <p:cNvSpPr/>
          <p:nvPr/>
        </p:nvSpPr>
        <p:spPr>
          <a:xfrm>
            <a:off x="3246120" y="3703320"/>
            <a:ext cx="310896" cy="310896"/>
          </a:xfrm>
          <a:prstGeom prst="ellipse">
            <a:avLst/>
          </a:prstGeom>
          <a:solidFill>
            <a:schemeClr val="accent1"/>
          </a:solidFill>
          <a:ln w="12700">
            <a:solidFill>
              <a:schemeClr val="accent1"/>
            </a:solidFill>
            <a:prstDash val="solid"/>
          </a:ln>
        </p:spPr>
      </p:sp>
      <p:sp>
        <p:nvSpPr>
          <p:cNvPr id="18" name="Text 16"/>
          <p:cNvSpPr txBox="1"/>
          <p:nvPr/>
        </p:nvSpPr>
        <p:spPr>
          <a:xfrm>
            <a:off x="324612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9" name="Text 17"/>
          <p:cNvSpPr txBox="1"/>
          <p:nvPr/>
        </p:nvSpPr>
        <p:spPr>
          <a:xfrm>
            <a:off x="365760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덜 받아도</a:t>
            </a:r>
            <a:endParaRPr lang="en-US" sz="1400" dirty="0"/>
          </a:p>
          <a:p>
            <a:pPr indent="0" marL="0">
              <a:buNone/>
            </a:pPr>
            <a:r>
              <a:rPr lang="en-US" sz="1400" b="1" dirty="0">
                <a:solidFill>
                  <a:schemeClr val="tx2"/>
                </a:solidFill>
              </a:rPr>
              <a:t>알아채기 어려움</a:t>
            </a:r>
            <a:endParaRPr lang="en-US" sz="1400" dirty="0"/>
          </a:p>
        </p:txBody>
      </p:sp>
      <p:sp>
        <p:nvSpPr>
          <p:cNvPr id="20" name="Text 18"/>
          <p:cNvSpPr txBox="1"/>
          <p:nvPr/>
        </p:nvSpPr>
        <p:spPr>
          <a:xfrm>
            <a:off x="6035040" y="2057400"/>
            <a:ext cx="2651760" cy="685800"/>
          </a:xfrm>
          <a:prstGeom prst="rect">
            <a:avLst/>
          </a:prstGeom>
          <a:noFill/>
          <a:ln/>
        </p:spPr>
        <p:txBody>
          <a:bodyPr wrap="square" lIns="0" tIns="0" rIns="0" bIns="0" rtlCol="0" anchor="b"/>
          <a:lstStyle/>
          <a:p>
            <a:pPr indent="0" marL="0">
              <a:buNone/>
            </a:pPr>
            <a:r>
              <a:rPr lang="en-US" sz="4000" b="1" dirty="0">
                <a:solidFill>
                  <a:schemeClr val="accent3"/>
                </a:solidFill>
              </a:rPr>
              <a:t>49.3%</a:t>
            </a:r>
            <a:endParaRPr lang="en-US" sz="4000" dirty="0"/>
          </a:p>
        </p:txBody>
      </p:sp>
      <p:sp>
        <p:nvSpPr>
          <p:cNvPr id="21" name="Text 19"/>
          <p:cNvSpPr txBox="1"/>
          <p:nvPr/>
        </p:nvSpPr>
        <p:spPr>
          <a:xfrm>
            <a:off x="6035040" y="2761488"/>
            <a:ext cx="2651760" cy="457200"/>
          </a:xfrm>
          <a:prstGeom prst="rect">
            <a:avLst/>
          </a:prstGeom>
          <a:noFill/>
          <a:ln/>
        </p:spPr>
        <p:txBody>
          <a:bodyPr wrap="square" lIns="0" tIns="0" rIns="0" bIns="0" rtlCol="0" anchor="t"/>
          <a:lstStyle/>
          <a:p>
            <a:pPr indent="0" marL="0">
              <a:buNone/>
            </a:pPr>
            <a:r>
              <a:rPr lang="en-US" sz="1050" dirty="0">
                <a:solidFill>
                  <a:schemeClr val="tx1"/>
                </a:solidFill>
              </a:rPr>
              <a:t>최저시급 미달인데 아무 대응도 안 함</a:t>
            </a:r>
            <a:endParaRPr lang="en-US" sz="1050" dirty="0"/>
          </a:p>
        </p:txBody>
      </p:sp>
      <p:sp>
        <p:nvSpPr>
          <p:cNvPr id="22" name="Text 20"/>
          <p:cNvSpPr txBox="1"/>
          <p:nvPr/>
        </p:nvSpPr>
        <p:spPr>
          <a:xfrm>
            <a:off x="6035040" y="3200400"/>
            <a:ext cx="2651760" cy="228600"/>
          </a:xfrm>
          <a:prstGeom prst="rect">
            <a:avLst/>
          </a:prstGeom>
          <a:noFill/>
          <a:ln/>
        </p:spPr>
        <p:txBody>
          <a:bodyPr wrap="square" lIns="0" tIns="0" rIns="0" bIns="0" rtlCol="0" anchor="t"/>
          <a:lstStyle/>
          <a:p>
            <a:pPr indent="0" marL="0">
              <a:buNone/>
            </a:pPr>
            <a:r>
              <a:rPr lang="en-US" sz="850" dirty="0">
                <a:solidFill>
                  <a:schemeClr val="accent5"/>
                </a:solidFill>
              </a:rPr>
              <a:t>미달 경험자 기준 · 알바천국 2026.6 (1,804명)</a:t>
            </a:r>
            <a:endParaRPr lang="en-US" sz="850" dirty="0"/>
          </a:p>
        </p:txBody>
      </p:sp>
      <p:sp>
        <p:nvSpPr>
          <p:cNvPr id="23" name="Shape 21"/>
          <p:cNvSpPr/>
          <p:nvPr/>
        </p:nvSpPr>
        <p:spPr>
          <a:xfrm>
            <a:off x="6035040" y="3520440"/>
            <a:ext cx="2651760" cy="0"/>
          </a:xfrm>
          <a:prstGeom prst="line">
            <a:avLst/>
          </a:prstGeom>
          <a:noFill/>
          <a:ln w="9525">
            <a:solidFill>
              <a:srgbClr val="DCD9D0"/>
            </a:solidFill>
            <a:prstDash val="solid"/>
          </a:ln>
        </p:spPr>
      </p:sp>
      <p:sp>
        <p:nvSpPr>
          <p:cNvPr id="24" name="번호 3"/>
          <p:cNvSpPr/>
          <p:nvPr/>
        </p:nvSpPr>
        <p:spPr>
          <a:xfrm>
            <a:off x="6035040" y="3703320"/>
            <a:ext cx="310896" cy="310896"/>
          </a:xfrm>
          <a:prstGeom prst="ellipse">
            <a:avLst/>
          </a:prstGeom>
          <a:solidFill>
            <a:schemeClr val="accent1"/>
          </a:solidFill>
          <a:ln w="12700">
            <a:solidFill>
              <a:schemeClr val="accent1"/>
            </a:solidFill>
            <a:prstDash val="solid"/>
          </a:ln>
        </p:spPr>
      </p:sp>
      <p:sp>
        <p:nvSpPr>
          <p:cNvPr id="25" name="Text 23"/>
          <p:cNvSpPr txBox="1"/>
          <p:nvPr/>
        </p:nvSpPr>
        <p:spPr>
          <a:xfrm>
            <a:off x="6035040" y="370332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26" name="Text 24"/>
          <p:cNvSpPr txBox="1"/>
          <p:nvPr/>
        </p:nvSpPr>
        <p:spPr>
          <a:xfrm>
            <a:off x="6446520" y="3648456"/>
            <a:ext cx="2240280" cy="603504"/>
          </a:xfrm>
          <a:prstGeom prst="rect">
            <a:avLst/>
          </a:prstGeom>
          <a:noFill/>
          <a:ln/>
        </p:spPr>
        <p:txBody>
          <a:bodyPr wrap="square" lIns="0" tIns="0" rIns="0" bIns="0" rtlCol="0" anchor="t"/>
          <a:lstStyle/>
          <a:p>
            <a:pPr indent="0" marL="0">
              <a:buNone/>
            </a:pPr>
            <a:r>
              <a:rPr lang="en-US" sz="1400" b="1" dirty="0">
                <a:solidFill>
                  <a:schemeClr val="tx2"/>
                </a:solidFill>
              </a:rPr>
              <a:t>알아도</a:t>
            </a:r>
            <a:endParaRPr lang="en-US" sz="1400" dirty="0"/>
          </a:p>
          <a:p>
            <a:pPr indent="0" marL="0">
              <a:buNone/>
            </a:pPr>
            <a:r>
              <a:rPr lang="en-US" sz="1400" b="1" dirty="0">
                <a:solidFill>
                  <a:schemeClr val="tx2"/>
                </a:solidFill>
              </a:rPr>
              <a:t>말을 꺼내기 어려움</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② 문제 정의 · 기존 해결책의 한계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기존 서비스: 계산까지는 있지만, 비교와 대응은 없음</a:t>
            </a:r>
            <a:endParaRPr lang="en-US" sz="2400" dirty="0"/>
          </a:p>
        </p:txBody>
      </p:sp>
      <p:graphicFrame>
        <p:nvGraphicFramePr>
          <p:cNvPr id="5" name="경쟁 서비스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1920240"/>
                <a:gridCol w="1051560"/>
                <a:gridCol w="1051560"/>
                <a:gridCol w="1051560"/>
                <a:gridCol w="1051560"/>
                <a:gridCol w="1051560"/>
                <a:gridCol w="1051560"/>
              </a:tblGrid>
              <a:tr h="365760">
                <a:tc>
                  <a:txBody>
                    <a:bodyPr/>
                    <a:lstStyle/>
                    <a:p>
                      <a:pPr algn="l" indent="0" marL="0">
                        <a:buNone/>
                      </a:pP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메모 · 카톡</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하우머치</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기그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알바천국 ·</a:t>
                      </a:r>
                      <a:endParaRPr lang="en-US" sz="950" dirty="0"/>
                    </a:p>
                    <a:p>
                      <a:pPr algn="ctr" indent="0" marL="0">
                        <a:buNone/>
                      </a:pPr>
                      <a:r>
                        <a:rPr lang="en-US" sz="950" b="1" dirty="0">
                          <a:solidFill>
                            <a:srgbClr val="5D636D"/>
                          </a:solidFill>
                        </a:rPr>
                        <a:t>알바몬 계산기</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5D636D"/>
                          </a:solidFill>
                        </a:rPr>
                        <a:t>진정24 ·</a:t>
                      </a:r>
                      <a:endParaRPr lang="en-US" sz="950" dirty="0"/>
                    </a:p>
                    <a:p>
                      <a:pPr algn="ctr" indent="0" marL="0">
                        <a:buNone/>
                      </a:pPr>
                      <a:r>
                        <a:rPr lang="en-US" sz="950" b="1" dirty="0">
                          <a:solidFill>
                            <a:srgbClr val="5D636D"/>
                          </a:solidFill>
                        </a:rPr>
                        <a:t>노동포털</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algn="ctr" indent="0" marL="0">
                        <a:buNone/>
                      </a:pPr>
                      <a:r>
                        <a:rPr lang="en-US" sz="950" b="1" dirty="0">
                          <a:solidFill>
                            <a:srgbClr val="2A3193"/>
                          </a:solidFill>
                        </a:rPr>
                        <a:t>알바가드</a:t>
                      </a:r>
                      <a:endParaRPr lang="en-US" sz="9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사장 없이 혼자 기록</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사장 가입</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850" b="1" dirty="0">
                          <a:solidFill>
                            <a:srgbClr val="5D636D"/>
                          </a:solidFill>
                        </a:rPr>
                        <a:t>해당 없음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예상 급여 계산</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일회성</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pPr algn="ctr" indent="0" marL="0">
                        <a:buNone/>
                      </a:pPr>
                      <a:r>
                        <a:rPr lang="en-US" sz="900" dirty="0">
                          <a:solidFill>
                            <a:srgbClr val="5D636D"/>
                          </a:solidFill>
                        </a:rPr>
                        <a:t> 주휴 · 야간</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실제 입금액과 비교 · 차액</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요청 문구 · 증빙 묶음</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진정서만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수정 이력 · 등록 시각</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5D636D"/>
                          </a:solidFill>
                        </a:rPr>
                        <a:t>△</a:t>
                      </a:r>
                      <a:pPr algn="ctr" indent="0" marL="0">
                        <a:buNone/>
                      </a:pPr>
                      <a:r>
                        <a:rPr lang="en-US" sz="900" dirty="0">
                          <a:solidFill>
                            <a:srgbClr val="5D636D"/>
                          </a:solidFill>
                        </a:rPr>
                        <a:t> 보낸 시각만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384048">
                <a:tc>
                  <a:txBody>
                    <a:bodyPr/>
                    <a:lstStyle/>
                    <a:p>
                      <a:pPr indent="0" marL="0">
                        <a:buNone/>
                      </a:pPr>
                      <a:r>
                        <a:rPr lang="en-US" sz="1050" b="1" dirty="0">
                          <a:solidFill>
                            <a:srgbClr val="15171A"/>
                          </a:solidFill>
                        </a:rPr>
                        <a:t>진정 접수</a:t>
                      </a:r>
                      <a:endParaRPr lang="en-US" sz="105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0F7A55"/>
                          </a:solidFill>
                        </a:rPr>
                        <a:t>O</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algn="ctr" indent="0" marL="0">
                        <a:buNone/>
                      </a:pPr>
                      <a:r>
                        <a:rPr lang="en-US" sz="1200" b="1" dirty="0">
                          <a:solidFill>
                            <a:srgbClr val="C2331C"/>
                          </a:solidFill>
                        </a:rPr>
                        <a:t>X</a:t>
                      </a:r>
                      <a:pPr algn="ctr" indent="0" marL="0">
                        <a:buNone/>
                      </a:pPr>
                      <a:r>
                        <a:rPr lang="en-US" sz="900" dirty="0">
                          <a:solidFill>
                            <a:srgbClr val="5D636D"/>
                          </a:solidFill>
                        </a:rPr>
                        <a:t> 연결만</a:t>
                      </a:r>
                      <a:endParaRPr lang="en-US" sz="1200" dirty="0"/>
                    </a:p>
                  </a:txBody>
                  <a:tcPr marL="54864" marR="54864" marT="27432" marB="27432"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bl>
          </a:graphicData>
        </a:graphic>
      </p:graphicFrame>
      <p:sp>
        <p:nvSpPr>
          <p:cNvPr id="5" name="결론 칸"/>
          <p:cNvSpPr/>
          <p:nvPr/>
        </p:nvSpPr>
        <p:spPr>
          <a:xfrm>
            <a:off x="457200" y="4005072"/>
            <a:ext cx="8229600" cy="548640"/>
          </a:xfrm>
          <a:prstGeom prst="roundRect">
            <a:avLst>
              <a:gd name="adj" fmla="val 16667"/>
            </a:avLst>
          </a:prstGeom>
          <a:solidFill>
            <a:schemeClr val="bg2"/>
          </a:solidFill>
          <a:ln w="12700">
            <a:solidFill>
              <a:schemeClr val="bg2"/>
            </a:solidFill>
            <a:prstDash val="solid"/>
          </a:ln>
        </p:spPr>
      </p:sp>
      <p:sp>
        <p:nvSpPr>
          <p:cNvPr id="6" name="Text 3"/>
          <p:cNvSpPr txBox="1"/>
          <p:nvPr/>
        </p:nvSpPr>
        <p:spPr>
          <a:xfrm>
            <a:off x="640080" y="4005072"/>
            <a:ext cx="7863840" cy="548640"/>
          </a:xfrm>
          <a:prstGeom prst="rect">
            <a:avLst/>
          </a:prstGeom>
          <a:noFill/>
          <a:ln/>
        </p:spPr>
        <p:txBody>
          <a:bodyPr wrap="square" lIns="0" tIns="0" rIns="0" bIns="0" rtlCol="0" anchor="ctr"/>
          <a:lstStyle/>
          <a:p>
            <a:pPr indent="0" marL="0">
              <a:buNone/>
            </a:pPr>
            <a:r>
              <a:rPr lang="en-US" sz="1150" b="1" dirty="0">
                <a:solidFill>
                  <a:schemeClr val="tx2"/>
                </a:solidFill>
              </a:rPr>
              <a:t>알바가드만 O  </a:t>
            </a:r>
            <a:pPr indent="0" marL="0">
              <a:buNone/>
            </a:pPr>
            <a:r>
              <a:rPr lang="en-US" sz="1150" dirty="0">
                <a:solidFill>
                  <a:schemeClr val="tx1"/>
                </a:solidFill>
              </a:rPr>
              <a:t>가운데 세 줄(비교 · 요청 · 등록 시각)은 알바가드에만 있음. 진정 접수는 일부러 연결만</a:t>
            </a:r>
            <a:endParaRPr lang="en-US" sz="11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서비스 개요   ·   문제 1 · 2는 비교로, 문제 3은 요청으로. 기록이 그 바탕</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기록 → 비교 → 요청, 신고 이전 단계를 채움</a:t>
            </a:r>
            <a:endParaRPr lang="en-US" sz="2400" dirty="0"/>
          </a:p>
        </p:txBody>
      </p:sp>
      <p:sp>
        <p:nvSpPr>
          <p:cNvPr id="4" name="번호 1"/>
          <p:cNvSpPr/>
          <p:nvPr/>
        </p:nvSpPr>
        <p:spPr>
          <a:xfrm>
            <a:off x="457200" y="1261872"/>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6868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기록</a:t>
            </a:r>
            <a:endParaRPr lang="en-US" sz="1800" dirty="0"/>
          </a:p>
        </p:txBody>
      </p:sp>
      <p:sp>
        <p:nvSpPr>
          <p:cNvPr id="7" name="Text 5"/>
          <p:cNvSpPr txBox="1"/>
          <p:nvPr/>
        </p:nvSpPr>
        <p:spPr>
          <a:xfrm>
            <a:off x="45720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출근 · 퇴근 버튼 하나. 고치면 수정 전후와 사유가 남고, 삭제도 흔적이 남음</a:t>
            </a:r>
            <a:endParaRPr lang="en-US" sz="1050" dirty="0"/>
          </a:p>
        </p:txBody>
      </p:sp>
      <p:pic>
        <p:nvPicPr>
          <p:cNvPr id="8" name="기록 화면" descr="C:\Users\user\Desktop\albaguard기술창업\docs\screenshots\phone\1-home.png">    </p:cNvPr>
          <p:cNvPicPr>
            <a:picLocks noChangeAspect="1"/>
          </p:cNvPicPr>
          <p:nvPr/>
        </p:nvPicPr>
        <p:blipFill>
          <a:blip r:embed="rId1"/>
          <a:stretch>
            <a:fillRect/>
          </a:stretch>
        </p:blipFill>
        <p:spPr>
          <a:xfrm>
            <a:off x="1181871" y="2286000"/>
            <a:ext cx="1202419" cy="2414016"/>
          </a:xfrm>
          <a:prstGeom prst="rect">
            <a:avLst/>
          </a:prstGeom>
        </p:spPr>
      </p:pic>
      <p:sp>
        <p:nvSpPr>
          <p:cNvPr id="9" name="Shape 6"/>
          <p:cNvSpPr/>
          <p:nvPr/>
        </p:nvSpPr>
        <p:spPr>
          <a:xfrm>
            <a:off x="3127248" y="1417320"/>
            <a:ext cx="100584" cy="0"/>
          </a:xfrm>
          <a:prstGeom prst="line">
            <a:avLst/>
          </a:prstGeom>
          <a:noFill/>
          <a:ln w="25400">
            <a:solidFill>
              <a:srgbClr val="DCD9D0"/>
            </a:solidFill>
            <a:prstDash val="solid"/>
            <a:tailEnd type="triangle"/>
          </a:ln>
        </p:spPr>
      </p:sp>
      <p:sp>
        <p:nvSpPr>
          <p:cNvPr id="10" name="번호 2"/>
          <p:cNvSpPr/>
          <p:nvPr/>
        </p:nvSpPr>
        <p:spPr>
          <a:xfrm>
            <a:off x="3246120" y="1261872"/>
            <a:ext cx="310896" cy="310896"/>
          </a:xfrm>
          <a:prstGeom prst="ellipse">
            <a:avLst/>
          </a:prstGeom>
          <a:solidFill>
            <a:schemeClr val="accent1"/>
          </a:solidFill>
          <a:ln w="12700">
            <a:solidFill>
              <a:schemeClr val="accent1"/>
            </a:solidFill>
            <a:prstDash val="solid"/>
          </a:ln>
        </p:spPr>
      </p:sp>
      <p:sp>
        <p:nvSpPr>
          <p:cNvPr id="11" name="Text 8"/>
          <p:cNvSpPr txBox="1"/>
          <p:nvPr/>
        </p:nvSpPr>
        <p:spPr>
          <a:xfrm>
            <a:off x="324612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2" name="Text 9"/>
          <p:cNvSpPr txBox="1"/>
          <p:nvPr/>
        </p:nvSpPr>
        <p:spPr>
          <a:xfrm>
            <a:off x="365760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비교</a:t>
            </a:r>
            <a:endParaRPr lang="en-US" sz="1800" dirty="0"/>
          </a:p>
        </p:txBody>
      </p:sp>
      <p:sp>
        <p:nvSpPr>
          <p:cNvPr id="13" name="Text 10"/>
          <p:cNvSpPr txBox="1"/>
          <p:nvPr/>
        </p:nvSpPr>
        <p:spPr>
          <a:xfrm>
            <a:off x="324612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"받았어야 할 돈"(기본급 · 주휴 · 야간)과</a:t>
            </a:r>
            <a:endParaRPr lang="en-US" sz="1050" dirty="0"/>
          </a:p>
          <a:p>
            <a:pPr indent="0" marL="0">
              <a:buNone/>
            </a:pPr>
            <a:r>
              <a:rPr lang="en-US" sz="1050" dirty="0">
                <a:solidFill>
                  <a:schemeClr val="tx1"/>
                </a:solidFill>
              </a:rPr>
              <a:t>실제 받은 돈의 차액 표시</a:t>
            </a:r>
            <a:endParaRPr lang="en-US" sz="1050" dirty="0"/>
          </a:p>
        </p:txBody>
      </p:sp>
      <p:pic>
        <p:nvPicPr>
          <p:cNvPr id="14" name="비교 화면" descr="C:\Users\user\Desktop\albaguard기술창업\docs\screenshots\phone\3-pay.png">    </p:cNvPr>
          <p:cNvPicPr>
            <a:picLocks noChangeAspect="1"/>
          </p:cNvPicPr>
          <p:nvPr/>
        </p:nvPicPr>
        <p:blipFill>
          <a:blip r:embed="rId2"/>
          <a:stretch>
            <a:fillRect/>
          </a:stretch>
        </p:blipFill>
        <p:spPr>
          <a:xfrm>
            <a:off x="3970791" y="2286000"/>
            <a:ext cx="1202419" cy="2414016"/>
          </a:xfrm>
          <a:prstGeom prst="rect">
            <a:avLst/>
          </a:prstGeom>
        </p:spPr>
      </p:pic>
      <p:sp>
        <p:nvSpPr>
          <p:cNvPr id="15" name="Shape 11"/>
          <p:cNvSpPr/>
          <p:nvPr/>
        </p:nvSpPr>
        <p:spPr>
          <a:xfrm>
            <a:off x="5916168" y="1417320"/>
            <a:ext cx="100584" cy="0"/>
          </a:xfrm>
          <a:prstGeom prst="line">
            <a:avLst/>
          </a:prstGeom>
          <a:noFill/>
          <a:ln w="25400">
            <a:solidFill>
              <a:srgbClr val="DCD9D0"/>
            </a:solidFill>
            <a:prstDash val="solid"/>
            <a:tailEnd type="triangle"/>
          </a:ln>
        </p:spPr>
      </p:sp>
      <p:sp>
        <p:nvSpPr>
          <p:cNvPr id="16" name="번호 3"/>
          <p:cNvSpPr/>
          <p:nvPr/>
        </p:nvSpPr>
        <p:spPr>
          <a:xfrm>
            <a:off x="6035040" y="1261872"/>
            <a:ext cx="310896" cy="310896"/>
          </a:xfrm>
          <a:prstGeom prst="ellipse">
            <a:avLst/>
          </a:prstGeom>
          <a:solidFill>
            <a:schemeClr val="accent1"/>
          </a:solidFill>
          <a:ln w="12700">
            <a:solidFill>
              <a:schemeClr val="accent1"/>
            </a:solidFill>
            <a:prstDash val="solid"/>
          </a:ln>
        </p:spPr>
      </p:sp>
      <p:sp>
        <p:nvSpPr>
          <p:cNvPr id="17" name="Text 13"/>
          <p:cNvSpPr txBox="1"/>
          <p:nvPr/>
        </p:nvSpPr>
        <p:spPr>
          <a:xfrm>
            <a:off x="6035040" y="126187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8" name="Text 14"/>
          <p:cNvSpPr txBox="1"/>
          <p:nvPr/>
        </p:nvSpPr>
        <p:spPr>
          <a:xfrm>
            <a:off x="6446520" y="1216152"/>
            <a:ext cx="1371600" cy="411480"/>
          </a:xfrm>
          <a:prstGeom prst="rect">
            <a:avLst/>
          </a:prstGeom>
          <a:noFill/>
          <a:ln/>
        </p:spPr>
        <p:txBody>
          <a:bodyPr wrap="square" lIns="0" tIns="0" rIns="0" bIns="0" rtlCol="0" anchor="ctr"/>
          <a:lstStyle/>
          <a:p>
            <a:pPr indent="0" marL="0">
              <a:buNone/>
            </a:pPr>
            <a:r>
              <a:rPr lang="en-US" sz="1800" b="1" dirty="0">
                <a:solidFill>
                  <a:schemeClr val="tx2"/>
                </a:solidFill>
              </a:rPr>
              <a:t>요청</a:t>
            </a:r>
            <a:endParaRPr lang="en-US" sz="1800" dirty="0"/>
          </a:p>
        </p:txBody>
      </p:sp>
      <p:sp>
        <p:nvSpPr>
          <p:cNvPr id="19" name="Text 15"/>
          <p:cNvSpPr txBox="1"/>
          <p:nvPr/>
        </p:nvSpPr>
        <p:spPr>
          <a:xfrm>
            <a:off x="6035040" y="1691640"/>
            <a:ext cx="2651760" cy="685800"/>
          </a:xfrm>
          <a:prstGeom prst="rect">
            <a:avLst/>
          </a:prstGeom>
          <a:noFill/>
          <a:ln/>
        </p:spPr>
        <p:txBody>
          <a:bodyPr wrap="square" lIns="0" tIns="0" rIns="0" bIns="0" rtlCol="0" anchor="t"/>
          <a:lstStyle/>
          <a:p>
            <a:pPr indent="0" marL="0">
              <a:buNone/>
            </a:pPr>
            <a:r>
              <a:rPr lang="en-US" sz="1050" dirty="0">
                <a:solidFill>
                  <a:schemeClr val="tx1"/>
                </a:solidFill>
              </a:rPr>
              <a:t>정중한 메시지 → 내용증명 → 진정 안내</a:t>
            </a:r>
            <a:endParaRPr lang="en-US" sz="1050" dirty="0"/>
          </a:p>
          <a:p>
            <a:pPr indent="0" marL="0">
              <a:buNone/>
            </a:pPr>
            <a:r>
              <a:rPr lang="en-US" sz="1050" dirty="0">
                <a:solidFill>
                  <a:schemeClr val="tx1"/>
                </a:solidFill>
              </a:rPr>
              <a:t>1350 · 노동포털 연결. 대화로 먼저 해결</a:t>
            </a:r>
            <a:endParaRPr lang="en-US" sz="1050" dirty="0"/>
          </a:p>
        </p:txBody>
      </p:sp>
      <p:pic>
        <p:nvPicPr>
          <p:cNvPr id="20" name="요청 화면" descr="C:\Users\user\Desktop\albaguard기술창업\docs\screenshots\phone\4-request.png">    </p:cNvPr>
          <p:cNvPicPr>
            <a:picLocks noChangeAspect="1"/>
          </p:cNvPicPr>
          <p:nvPr/>
        </p:nvPicPr>
        <p:blipFill>
          <a:blip r:embed="rId3"/>
          <a:stretch>
            <a:fillRect/>
          </a:stretch>
        </p:blipFill>
        <p:spPr>
          <a:xfrm>
            <a:off x="6759711" y="2286000"/>
            <a:ext cx="1202419" cy="2414016"/>
          </a:xfrm>
          <a:prstGeom prst="rect">
            <a:avLst/>
          </a:prstGeom>
        </p:spPr>
      </p:pic>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③ 솔루션 · 차별화 포인트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다른 앱은 계산에서 멈추고, 알바가드는 받아내기까지</a:t>
            </a:r>
            <a:endParaRPr lang="en-US" sz="2400" dirty="0"/>
          </a:p>
        </p:txBody>
      </p:sp>
      <p:sp>
        <p:nvSpPr>
          <p:cNvPr id="4" name="번호 1"/>
          <p:cNvSpPr/>
          <p:nvPr/>
        </p:nvSpPr>
        <p:spPr>
          <a:xfrm>
            <a:off x="457200" y="1325880"/>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25880"/>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914400" y="1280160"/>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사장 연동 없이 혼자 씀</a:t>
            </a:r>
            <a:pPr indent="0" marL="0">
              <a:buNone/>
            </a:pPr>
            <a:r>
              <a:rPr lang="en-US" sz="900" dirty="0">
                <a:solidFill>
                  <a:schemeClr val="accent5"/>
                </a:solidFill>
              </a:rPr>
              <a:t>   사장 협조가 없어도</a:t>
            </a:r>
            <a:endParaRPr lang="en-US" sz="1350" dirty="0"/>
          </a:p>
        </p:txBody>
      </p:sp>
      <p:sp>
        <p:nvSpPr>
          <p:cNvPr id="7" name="Text 5"/>
          <p:cNvSpPr txBox="1"/>
          <p:nvPr/>
        </p:nvSpPr>
        <p:spPr>
          <a:xfrm>
            <a:off x="914400" y="1700784"/>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근무지만 직접 등록. 사장 가입 필요 없음</a:t>
            </a:r>
            <a:endParaRPr lang="en-US" sz="1150" dirty="0"/>
          </a:p>
        </p:txBody>
      </p:sp>
      <p:sp>
        <p:nvSpPr>
          <p:cNvPr id="8" name="Shape 6"/>
          <p:cNvSpPr/>
          <p:nvPr/>
        </p:nvSpPr>
        <p:spPr>
          <a:xfrm>
            <a:off x="457200" y="2267712"/>
            <a:ext cx="4937760" cy="0"/>
          </a:xfrm>
          <a:prstGeom prst="line">
            <a:avLst/>
          </a:prstGeom>
          <a:noFill/>
          <a:ln w="9525">
            <a:solidFill>
              <a:srgbClr val="DCD9D0"/>
            </a:solidFill>
            <a:prstDash val="solid"/>
          </a:ln>
        </p:spPr>
      </p:sp>
      <p:sp>
        <p:nvSpPr>
          <p:cNvPr id="9" name="번호 2"/>
          <p:cNvSpPr/>
          <p:nvPr/>
        </p:nvSpPr>
        <p:spPr>
          <a:xfrm>
            <a:off x="457200" y="2350008"/>
            <a:ext cx="310896" cy="310896"/>
          </a:xfrm>
          <a:prstGeom prst="ellipse">
            <a:avLst/>
          </a:prstGeom>
          <a:solidFill>
            <a:schemeClr val="accent1"/>
          </a:solidFill>
          <a:ln w="12700">
            <a:solidFill>
              <a:schemeClr val="accent1"/>
            </a:solidFill>
            <a:prstDash val="solid"/>
          </a:ln>
        </p:spPr>
      </p:sp>
      <p:sp>
        <p:nvSpPr>
          <p:cNvPr id="10" name="Text 8"/>
          <p:cNvSpPr txBox="1"/>
          <p:nvPr/>
        </p:nvSpPr>
        <p:spPr>
          <a:xfrm>
            <a:off x="457200" y="235000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1" name="Text 9"/>
          <p:cNvSpPr txBox="1"/>
          <p:nvPr/>
        </p:nvSpPr>
        <p:spPr>
          <a:xfrm>
            <a:off x="914400" y="2304288"/>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입금액 비교 → 차액 → 요청 · 증빙까지</a:t>
            </a:r>
            <a:pPr indent="0" marL="0">
              <a:buNone/>
            </a:pPr>
            <a:r>
              <a:rPr lang="en-US" sz="900" dirty="0">
                <a:solidFill>
                  <a:schemeClr val="accent5"/>
                </a:solidFill>
              </a:rPr>
              <a:t>   문제 1 · 2 · 3의 답</a:t>
            </a:r>
            <a:endParaRPr lang="en-US" sz="1350" dirty="0"/>
          </a:p>
        </p:txBody>
      </p:sp>
      <p:sp>
        <p:nvSpPr>
          <p:cNvPr id="12" name="Text 10"/>
          <p:cNvSpPr txBox="1"/>
          <p:nvPr/>
        </p:nvSpPr>
        <p:spPr>
          <a:xfrm>
            <a:off x="914400" y="2724912"/>
            <a:ext cx="4480560" cy="365760"/>
          </a:xfrm>
          <a:prstGeom prst="rect">
            <a:avLst/>
          </a:prstGeom>
          <a:noFill/>
          <a:ln/>
        </p:spPr>
        <p:txBody>
          <a:bodyPr wrap="square" lIns="0" tIns="0" rIns="0" bIns="0" rtlCol="0" anchor="t"/>
          <a:lstStyle/>
          <a:p>
            <a:pPr indent="0" marL="0">
              <a:buNone/>
            </a:pPr>
            <a:r>
              <a:rPr lang="en-US" sz="1150" dirty="0">
                <a:solidFill>
                  <a:schemeClr val="accent5"/>
                </a:solidFill>
              </a:rPr>
              <a:t>실제 받은 돈과 비교해 요청 문구 · 증빙까지. 네 서비스 모두 없음</a:t>
            </a:r>
            <a:endParaRPr lang="en-US" sz="1150" dirty="0"/>
          </a:p>
        </p:txBody>
      </p:sp>
      <p:sp>
        <p:nvSpPr>
          <p:cNvPr id="13" name="Shape 11"/>
          <p:cNvSpPr/>
          <p:nvPr/>
        </p:nvSpPr>
        <p:spPr>
          <a:xfrm>
            <a:off x="457200" y="3291840"/>
            <a:ext cx="4937760" cy="0"/>
          </a:xfrm>
          <a:prstGeom prst="line">
            <a:avLst/>
          </a:prstGeom>
          <a:noFill/>
          <a:ln w="9525">
            <a:solidFill>
              <a:srgbClr val="DCD9D0"/>
            </a:solidFill>
            <a:prstDash val="solid"/>
          </a:ln>
        </p:spPr>
      </p:sp>
      <p:sp>
        <p:nvSpPr>
          <p:cNvPr id="14" name="번호 3"/>
          <p:cNvSpPr/>
          <p:nvPr/>
        </p:nvSpPr>
        <p:spPr>
          <a:xfrm>
            <a:off x="457200" y="3374136"/>
            <a:ext cx="310896" cy="310896"/>
          </a:xfrm>
          <a:prstGeom prst="ellipse">
            <a:avLst/>
          </a:prstGeom>
          <a:solidFill>
            <a:schemeClr val="accent1"/>
          </a:solidFill>
          <a:ln w="12700">
            <a:solidFill>
              <a:schemeClr val="accent1"/>
            </a:solidFill>
            <a:prstDash val="solid"/>
          </a:ln>
        </p:spPr>
      </p:sp>
      <p:sp>
        <p:nvSpPr>
          <p:cNvPr id="15" name="Text 13"/>
          <p:cNvSpPr txBox="1"/>
          <p:nvPr/>
        </p:nvSpPr>
        <p:spPr>
          <a:xfrm>
            <a:off x="457200" y="337413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6" name="Text 14"/>
          <p:cNvSpPr txBox="1"/>
          <p:nvPr/>
        </p:nvSpPr>
        <p:spPr>
          <a:xfrm>
            <a:off x="914400" y="3328416"/>
            <a:ext cx="4480560" cy="384048"/>
          </a:xfrm>
          <a:prstGeom prst="rect">
            <a:avLst/>
          </a:prstGeom>
          <a:noFill/>
          <a:ln/>
        </p:spPr>
        <p:txBody>
          <a:bodyPr wrap="square" lIns="0" tIns="0" rIns="0" bIns="0" rtlCol="0" anchor="ctr"/>
          <a:lstStyle/>
          <a:p>
            <a:pPr indent="0" marL="0">
              <a:buNone/>
            </a:pPr>
            <a:r>
              <a:rPr lang="en-US" sz="1350" b="1" dirty="0">
                <a:solidFill>
                  <a:schemeClr val="tx2"/>
                </a:solidFill>
              </a:rPr>
              <a:t>기록 등록: 확인 번호 + 등록 시각</a:t>
            </a:r>
            <a:pPr indent="0" marL="0">
              <a:buNone/>
            </a:pPr>
            <a:r>
              <a:rPr lang="en-US" sz="900" dirty="0">
                <a:solidFill>
                  <a:schemeClr val="accent5"/>
                </a:solidFill>
              </a:rPr>
              <a:t>   문제 3의 근거</a:t>
            </a:r>
            <a:endParaRPr lang="en-US" sz="1350" dirty="0"/>
          </a:p>
        </p:txBody>
      </p:sp>
      <p:sp>
        <p:nvSpPr>
          <p:cNvPr id="17" name="Text 15"/>
          <p:cNvSpPr txBox="1"/>
          <p:nvPr/>
        </p:nvSpPr>
        <p:spPr>
          <a:xfrm>
            <a:off x="914400" y="3749040"/>
            <a:ext cx="4480560" cy="365760"/>
          </a:xfrm>
          <a:prstGeom prst="rect">
            <a:avLst/>
          </a:prstGeom>
          <a:noFill/>
          <a:ln/>
        </p:spPr>
        <p:txBody>
          <a:bodyPr wrap="square" lIns="0" tIns="0" rIns="0" bIns="0" rtlCol="0" anchor="t"/>
          <a:lstStyle/>
          <a:p>
            <a:pPr indent="0" marL="0">
              <a:buNone/>
            </a:pPr>
            <a:r>
              <a:rPr lang="en-US" sz="1150" dirty="0">
                <a:solidFill>
                  <a:schemeClr val="accent5"/>
                </a:solidFill>
              </a:rPr>
              <a:t>기록할 때마다 확인 번호와 서버 등록 시각이 남음</a:t>
            </a:r>
            <a:endParaRPr lang="en-US" sz="1150" dirty="0"/>
          </a:p>
        </p:txBody>
      </p:sp>
      <p:sp>
        <p:nvSpPr>
          <p:cNvPr id="18" name="Shape 16"/>
          <p:cNvSpPr/>
          <p:nvPr/>
        </p:nvSpPr>
        <p:spPr>
          <a:xfrm>
            <a:off x="457200" y="4315968"/>
            <a:ext cx="4937760" cy="0"/>
          </a:xfrm>
          <a:prstGeom prst="line">
            <a:avLst/>
          </a:prstGeom>
          <a:noFill/>
          <a:ln w="9525">
            <a:solidFill>
              <a:srgbClr val="DCD9D0"/>
            </a:solidFill>
            <a:prstDash val="solid"/>
          </a:ln>
        </p:spPr>
      </p:sp>
      <p:sp>
        <p:nvSpPr>
          <p:cNvPr id="19" name="약점 칸"/>
          <p:cNvSpPr/>
          <p:nvPr/>
        </p:nvSpPr>
        <p:spPr>
          <a:xfrm>
            <a:off x="5852160" y="1280160"/>
            <a:ext cx="2834640" cy="1188720"/>
          </a:xfrm>
          <a:prstGeom prst="roundRect">
            <a:avLst>
              <a:gd name="adj" fmla="val 7692"/>
            </a:avLst>
          </a:prstGeom>
          <a:solidFill>
            <a:schemeClr val="bg2"/>
          </a:solidFill>
          <a:ln w="12700">
            <a:solidFill>
              <a:schemeClr val="bg2"/>
            </a:solidFill>
            <a:prstDash val="solid"/>
          </a:ln>
        </p:spPr>
      </p:sp>
      <p:sp>
        <p:nvSpPr>
          <p:cNvPr id="20" name="Text 18"/>
          <p:cNvSpPr txBox="1"/>
          <p:nvPr/>
        </p:nvSpPr>
        <p:spPr>
          <a:xfrm>
            <a:off x="6080760" y="1417320"/>
            <a:ext cx="2377440" cy="320040"/>
          </a:xfrm>
          <a:prstGeom prst="rect">
            <a:avLst/>
          </a:prstGeom>
          <a:noFill/>
          <a:ln/>
        </p:spPr>
        <p:txBody>
          <a:bodyPr wrap="square" lIns="0" tIns="0" rIns="0" bIns="0" rtlCol="0" anchor="ctr"/>
          <a:lstStyle/>
          <a:p>
            <a:pPr indent="0" marL="0">
              <a:buNone/>
            </a:pPr>
            <a:r>
              <a:rPr lang="en-US" sz="1100" b="1" dirty="0">
                <a:solidFill>
                  <a:schemeClr val="accent3"/>
                </a:solidFill>
              </a:rPr>
              <a:t>한계</a:t>
            </a:r>
            <a:endParaRPr lang="en-US" sz="1100" dirty="0"/>
          </a:p>
        </p:txBody>
      </p:sp>
      <p:sp>
        <p:nvSpPr>
          <p:cNvPr id="21" name="Text 19"/>
          <p:cNvSpPr txBox="1"/>
          <p:nvPr/>
        </p:nvSpPr>
        <p:spPr>
          <a:xfrm>
            <a:off x="6080760" y="1783080"/>
            <a:ext cx="2377440" cy="1005840"/>
          </a:xfrm>
          <a:prstGeom prst="rect">
            <a:avLst/>
          </a:prstGeom>
          <a:noFill/>
          <a:ln/>
        </p:spPr>
        <p:txBody>
          <a:bodyPr wrap="square" lIns="0" tIns="0" rIns="0" bIns="0" rtlCol="0" anchor="t"/>
          <a:lstStyle/>
          <a:p>
            <a:pPr indent="0" marL="0">
              <a:buNone/>
            </a:pPr>
            <a:r>
              <a:rPr lang="en-US" sz="1200" dirty="0">
                <a:solidFill>
                  <a:schemeClr val="tx1"/>
                </a:solidFill>
              </a:rPr>
              <a:t>비교 기능은 하우머치가 칸 하나로 따라올 수 있음. 3번은 기록 구조 자체라 따라오기 어려움</a:t>
            </a:r>
            <a:endParaRPr lang="en-US" sz="1200" dirty="0"/>
          </a:p>
        </p:txBody>
      </p:sp>
      <p:sp>
        <p:nvSpPr>
          <p:cNvPr id="22" name="Text 20"/>
          <p:cNvSpPr txBox="1"/>
          <p:nvPr/>
        </p:nvSpPr>
        <p:spPr>
          <a:xfrm>
            <a:off x="5852160" y="2651760"/>
            <a:ext cx="2834640" cy="640080"/>
          </a:xfrm>
          <a:prstGeom prst="rect">
            <a:avLst/>
          </a:prstGeom>
          <a:noFill/>
          <a:ln/>
        </p:spPr>
        <p:txBody>
          <a:bodyPr wrap="square" lIns="0" tIns="0" rIns="0" bIns="0" rtlCol="0" anchor="t"/>
          <a:lstStyle/>
          <a:p>
            <a:pPr indent="0" marL="0">
              <a:buNone/>
            </a:pPr>
            <a:r>
              <a:rPr lang="en-US" sz="1050" b="1" dirty="0">
                <a:solidFill>
                  <a:schemeClr val="tx2"/>
                </a:solidFill>
              </a:rPr>
              <a:t>통장 내역 · 메시지와 함께 내야 힘이 생김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기술 스택</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기술 스택: 앱은 폰에서, 서버는 확인 번호 · 설문에만</a:t>
            </a:r>
            <a:endParaRPr lang="en-US" sz="2400" dirty="0"/>
          </a:p>
        </p:txBody>
      </p:sp>
      <p:graphicFrame>
        <p:nvGraphicFramePr>
          <p:cNvPr id="8" name="기술 스택 표"/>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914400"/>
        </p:xfrm>
        <a:graphic>
          <a:graphicData uri="http://schemas.openxmlformats.org/drawingml/2006/table">
            <a:tbl>
              <a:tblPr/>
              <a:tblGrid>
                <a:gridCol w="2011680"/>
                <a:gridCol w="6217920"/>
              </a:tblGrid>
              <a:tr h="365760">
                <a:tc>
                  <a:txBody>
                    <a:bodyPr/>
                    <a:lstStyle/>
                    <a:p>
                      <a:pPr indent="0" marL="0">
                        <a:buNone/>
                      </a:pPr>
                      <a:r>
                        <a:rPr lang="en-US" sz="1100" b="1" dirty="0">
                          <a:solidFill>
                            <a:srgbClr val="5D636D"/>
                          </a:solidFill>
                        </a:rPr>
                        <a:t>구분</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선택</a:t>
                      </a:r>
                      <a:endParaRPr lang="en-US" sz="110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57200">
                <a:tc>
                  <a:txBody>
                    <a:bodyPr/>
                    <a:lstStyle/>
                    <a:p>
                      <a:pPr indent="0" marL="0">
                        <a:buNone/>
                      </a:pPr>
                      <a:r>
                        <a:rPr lang="en-US" sz="1250" b="1" dirty="0">
                          <a:solidFill>
                            <a:srgbClr val="15171A"/>
                          </a:solidFill>
                        </a:rPr>
                        <a:t>프런트엔드</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React + Vite, PWA (홈 화면에 추가, 오프라인 실행)</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백엔드</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별도 서버 없음 + Supabase REST</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658368">
                <a:tc>
                  <a:txBody>
                    <a:bodyPr/>
                    <a:lstStyle/>
                    <a:p>
                      <a:pPr indent="0" marL="0">
                        <a:buNone/>
                      </a:pPr>
                      <a:r>
                        <a:rPr lang="en-US" sz="1250" b="1" dirty="0">
                          <a:solidFill>
                            <a:srgbClr val="15171A"/>
                          </a:solidFill>
                        </a:rPr>
                        <a:t>데이터베이스</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폰: localStorage(기록) · IndexedDB(사진)</a:t>
                      </a:r>
                      <a:endParaRPr lang="en-US" sz="1250" dirty="0"/>
                    </a:p>
                    <a:p>
                      <a:pPr indent="0" marL="0">
                        <a:buNone/>
                      </a:pPr>
                      <a:r>
                        <a:rPr lang="en-US" sz="1250" dirty="0">
                          <a:solidFill>
                            <a:srgbClr val="15171A"/>
                          </a:solidFill>
                        </a:rPr>
                        <a:t>서버: Supabase PostgreSQL (stamps · survey)</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클라우드 · 인프라</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GitHub Pages + GitHub Actions</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AI</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Claude API (선택, 개발 환경에서만)</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57200">
                <a:tc>
                  <a:txBody>
                    <a:bodyPr/>
                    <a:lstStyle/>
                    <a:p>
                      <a:pPr indent="0" marL="0">
                        <a:buNone/>
                      </a:pPr>
                      <a:r>
                        <a:rPr lang="en-US" sz="1250" b="1" dirty="0">
                          <a:solidFill>
                            <a:srgbClr val="15171A"/>
                          </a:solidFill>
                        </a:rPr>
                        <a:t>SaaS · 분석</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15171A"/>
                          </a:solidFill>
                        </a:rPr>
                        <a:t>설문 페이지 + 자동 집계 페이지, 직접 인터뷰</a:t>
                      </a:r>
                      <a:endParaRPr lang="en-US" sz="1250" dirty="0"/>
                    </a:p>
                  </a:txBody>
                  <a:tcPr marL="91440" marR="91440" marT="36576" marB="36576"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④ SW 기술 아키텍처 · 시스템 구성도와 데이터 흐름</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근무 내용은 폰 안에, 서버에는 번호와 등록 시각만</a:t>
            </a:r>
            <a:endParaRPr lang="en-US" sz="2400" dirty="0"/>
          </a:p>
        </p:txBody>
      </p:sp>
      <p:sp>
        <p:nvSpPr>
          <p:cNvPr id="4" name="폰 영역"/>
          <p:cNvSpPr/>
          <p:nvPr/>
        </p:nvSpPr>
        <p:spPr>
          <a:xfrm>
            <a:off x="457200" y="1280160"/>
            <a:ext cx="3108960" cy="3154680"/>
          </a:xfrm>
          <a:prstGeom prst="roundRect">
            <a:avLst>
              <a:gd name="adj" fmla="val 3529"/>
            </a:avLst>
          </a:prstGeom>
          <a:solidFill>
            <a:schemeClr val="bg2"/>
          </a:solidFill>
          <a:ln w="12700">
            <a:solidFill>
              <a:schemeClr val="bg2"/>
            </a:solidFill>
            <a:prstDash val="solid"/>
          </a:ln>
        </p:spPr>
      </p:sp>
      <p:sp>
        <p:nvSpPr>
          <p:cNvPr id="5" name="Text 3"/>
          <p:cNvSpPr txBox="1"/>
          <p:nvPr/>
        </p:nvSpPr>
        <p:spPr>
          <a:xfrm>
            <a:off x="640080" y="1371600"/>
            <a:ext cx="2743200" cy="274320"/>
          </a:xfrm>
          <a:prstGeom prst="rect">
            <a:avLst/>
          </a:prstGeom>
          <a:noFill/>
          <a:ln/>
        </p:spPr>
        <p:txBody>
          <a:bodyPr wrap="square" lIns="0" tIns="0" rIns="0" bIns="0" rtlCol="0" anchor="ctr"/>
          <a:lstStyle/>
          <a:p>
            <a:pPr indent="0" marL="0">
              <a:buNone/>
            </a:pPr>
            <a:r>
              <a:rPr lang="en-US" sz="1100" b="1" dirty="0">
                <a:solidFill>
                  <a:schemeClr val="tx2"/>
                </a:solidFill>
              </a:rPr>
              <a:t>폰 (PWA, 홈 화면에 추가)</a:t>
            </a:r>
            <a:endParaRPr lang="en-US" sz="1100" dirty="0"/>
          </a:p>
        </p:txBody>
      </p:sp>
      <p:sp>
        <p:nvSpPr>
          <p:cNvPr id="6" name="화면 상자"/>
          <p:cNvSpPr/>
          <p:nvPr/>
        </p:nvSpPr>
        <p:spPr>
          <a:xfrm>
            <a:off x="640080" y="1737360"/>
            <a:ext cx="2743200" cy="548640"/>
          </a:xfrm>
          <a:prstGeom prst="roundRect">
            <a:avLst>
              <a:gd name="adj" fmla="val 10000"/>
            </a:avLst>
          </a:prstGeom>
          <a:solidFill>
            <a:schemeClr val="bg1"/>
          </a:solidFill>
          <a:ln w="9525">
            <a:solidFill>
              <a:srgbClr val="DCD9D0"/>
            </a:solidFill>
            <a:prstDash val="solid"/>
          </a:ln>
        </p:spPr>
      </p:sp>
      <p:sp>
        <p:nvSpPr>
          <p:cNvPr id="7" name="Text 5"/>
          <p:cNvSpPr txBox="1"/>
          <p:nvPr/>
        </p:nvSpPr>
        <p:spPr>
          <a:xfrm>
            <a:off x="731520" y="1737360"/>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화면 (React)</a:t>
            </a:r>
            <a:endParaRPr lang="en-US" sz="1100" dirty="0"/>
          </a:p>
          <a:p>
            <a:pPr algn="ctr" indent="0" marL="0">
              <a:buNone/>
            </a:pPr>
            <a:r>
              <a:rPr lang="en-US" sz="1000" dirty="0">
                <a:solidFill>
                  <a:schemeClr val="accent5"/>
                </a:solidFill>
              </a:rPr>
              <a:t>기록 · 캘린더 · 비교 · 요청</a:t>
            </a:r>
            <a:endParaRPr lang="en-US" sz="1100" dirty="0"/>
          </a:p>
        </p:txBody>
      </p:sp>
      <p:sp>
        <p:nvSpPr>
          <p:cNvPr id="8" name="Shape 6"/>
          <p:cNvSpPr/>
          <p:nvPr/>
        </p:nvSpPr>
        <p:spPr>
          <a:xfrm>
            <a:off x="2011680" y="2286000"/>
            <a:ext cx="0" cy="201168"/>
          </a:xfrm>
          <a:prstGeom prst="line">
            <a:avLst/>
          </a:prstGeom>
          <a:noFill/>
          <a:ln w="12700">
            <a:solidFill>
              <a:srgbClr val="5D636D"/>
            </a:solidFill>
            <a:prstDash val="solid"/>
            <a:tailEnd type="triangle"/>
          </a:ln>
        </p:spPr>
      </p:sp>
      <p:sp>
        <p:nvSpPr>
          <p:cNvPr id="9" name="계산 상자"/>
          <p:cNvSpPr/>
          <p:nvPr/>
        </p:nvSpPr>
        <p:spPr>
          <a:xfrm>
            <a:off x="640080" y="2487168"/>
            <a:ext cx="2743200" cy="640080"/>
          </a:xfrm>
          <a:prstGeom prst="roundRect">
            <a:avLst>
              <a:gd name="adj" fmla="val 8571"/>
            </a:avLst>
          </a:prstGeom>
          <a:solidFill>
            <a:schemeClr val="bg1"/>
          </a:solidFill>
          <a:ln w="9525">
            <a:solidFill>
              <a:srgbClr val="DCD9D0"/>
            </a:solidFill>
            <a:prstDash val="solid"/>
          </a:ln>
        </p:spPr>
      </p:sp>
      <p:sp>
        <p:nvSpPr>
          <p:cNvPr id="10" name="Text 8"/>
          <p:cNvSpPr txBox="1"/>
          <p:nvPr/>
        </p:nvSpPr>
        <p:spPr>
          <a:xfrm>
            <a:off x="731520" y="2487168"/>
            <a:ext cx="2560320" cy="640080"/>
          </a:xfrm>
          <a:prstGeom prst="rect">
            <a:avLst/>
          </a:prstGeom>
          <a:noFill/>
          <a:ln/>
        </p:spPr>
        <p:txBody>
          <a:bodyPr wrap="square" lIns="0" tIns="0" rIns="0" bIns="0" rtlCol="0" anchor="ctr"/>
          <a:lstStyle/>
          <a:p>
            <a:pPr algn="ctr" indent="0" marL="0">
              <a:buNone/>
            </a:pPr>
            <a:r>
              <a:rPr lang="en-US" sz="1100" b="1" dirty="0">
                <a:solidFill>
                  <a:schemeClr val="tx1"/>
                </a:solidFill>
              </a:rPr>
              <a:t>계산 모듈</a:t>
            </a:r>
            <a:endParaRPr lang="en-US" sz="1100" dirty="0"/>
          </a:p>
          <a:p>
            <a:pPr algn="ctr" indent="0" marL="0">
              <a:buNone/>
            </a:pPr>
            <a:r>
              <a:rPr lang="en-US" sz="1000" dirty="0">
                <a:solidFill>
                  <a:schemeClr val="accent5"/>
                </a:solidFill>
              </a:rPr>
              <a:t>급여 · 요청 문구 · PDF · 확인 번호</a:t>
            </a:r>
            <a:endParaRPr lang="en-US" sz="1100" dirty="0"/>
          </a:p>
        </p:txBody>
      </p:sp>
      <p:sp>
        <p:nvSpPr>
          <p:cNvPr id="11" name="Shape 9"/>
          <p:cNvSpPr/>
          <p:nvPr/>
        </p:nvSpPr>
        <p:spPr>
          <a:xfrm>
            <a:off x="2011680" y="3127248"/>
            <a:ext cx="0" cy="201168"/>
          </a:xfrm>
          <a:prstGeom prst="line">
            <a:avLst/>
          </a:prstGeom>
          <a:noFill/>
          <a:ln w="12700">
            <a:solidFill>
              <a:srgbClr val="5D636D"/>
            </a:solidFill>
            <a:prstDash val="solid"/>
            <a:tailEnd type="triangle"/>
          </a:ln>
        </p:spPr>
      </p:sp>
      <p:sp>
        <p:nvSpPr>
          <p:cNvPr id="12" name="저장 상자"/>
          <p:cNvSpPr/>
          <p:nvPr/>
        </p:nvSpPr>
        <p:spPr>
          <a:xfrm>
            <a:off x="640080" y="3328416"/>
            <a:ext cx="2743200" cy="548640"/>
          </a:xfrm>
          <a:prstGeom prst="roundRect">
            <a:avLst>
              <a:gd name="adj" fmla="val 10000"/>
            </a:avLst>
          </a:prstGeom>
          <a:solidFill>
            <a:schemeClr val="bg1"/>
          </a:solidFill>
          <a:ln w="9525">
            <a:solidFill>
              <a:srgbClr val="DCD9D0"/>
            </a:solidFill>
            <a:prstDash val="solid"/>
          </a:ln>
        </p:spPr>
      </p:sp>
      <p:sp>
        <p:nvSpPr>
          <p:cNvPr id="13" name="Text 11"/>
          <p:cNvSpPr txBox="1"/>
          <p:nvPr/>
        </p:nvSpPr>
        <p:spPr>
          <a:xfrm>
            <a:off x="731520" y="3328416"/>
            <a:ext cx="2560320" cy="548640"/>
          </a:xfrm>
          <a:prstGeom prst="rect">
            <a:avLst/>
          </a:prstGeom>
          <a:noFill/>
          <a:ln/>
        </p:spPr>
        <p:txBody>
          <a:bodyPr wrap="square" lIns="0" tIns="0" rIns="0" bIns="0" rtlCol="0" anchor="ctr"/>
          <a:lstStyle/>
          <a:p>
            <a:pPr algn="ctr" indent="0" marL="0">
              <a:buNone/>
            </a:pPr>
            <a:r>
              <a:rPr lang="en-US" sz="1100" b="1" dirty="0">
                <a:solidFill>
                  <a:schemeClr val="tx1"/>
                </a:solidFill>
              </a:rPr>
              <a:t>저장</a:t>
            </a:r>
            <a:endParaRPr lang="en-US" sz="1100" dirty="0"/>
          </a:p>
          <a:p>
            <a:pPr algn="ctr" indent="0" marL="0">
              <a:buNone/>
            </a:pPr>
            <a:r>
              <a:rPr lang="en-US" sz="1000" dirty="0">
                <a:solidFill>
                  <a:schemeClr val="accent5"/>
                </a:solidFill>
              </a:rPr>
              <a:t>localStorage · IndexedDB</a:t>
            </a:r>
            <a:endParaRPr lang="en-US" sz="1100" dirty="0"/>
          </a:p>
        </p:txBody>
      </p:sp>
      <p:sp>
        <p:nvSpPr>
          <p:cNvPr id="14" name="Text 12"/>
          <p:cNvSpPr txBox="1"/>
          <p:nvPr/>
        </p:nvSpPr>
        <p:spPr>
          <a:xfrm>
            <a:off x="640080" y="3977640"/>
            <a:ext cx="2743200" cy="320040"/>
          </a:xfrm>
          <a:prstGeom prst="rect">
            <a:avLst/>
          </a:prstGeom>
          <a:noFill/>
          <a:ln/>
        </p:spPr>
        <p:txBody>
          <a:bodyPr wrap="square" lIns="0" tIns="0" rIns="0" bIns="0" rtlCol="0" anchor="ctr"/>
          <a:lstStyle/>
          <a:p>
            <a:pPr algn="ctr" indent="0" marL="0">
              <a:buNone/>
            </a:pPr>
            <a:r>
              <a:rPr lang="en-US" sz="950" b="1" dirty="0">
                <a:solidFill>
                  <a:schemeClr val="accent2"/>
                </a:solidFill>
              </a:rPr>
              <a:t>로그인 없음 · 근무 내용은 여기에만</a:t>
            </a:r>
            <a:endParaRPr lang="en-US" sz="950" dirty="0"/>
          </a:p>
        </p:txBody>
      </p:sp>
      <p:sp>
        <p:nvSpPr>
          <p:cNvPr id="15" name="Shape 13"/>
          <p:cNvSpPr/>
          <p:nvPr/>
        </p:nvSpPr>
        <p:spPr>
          <a:xfrm>
            <a:off x="3611880" y="2331720"/>
            <a:ext cx="1463040" cy="0"/>
          </a:xfrm>
          <a:prstGeom prst="line">
            <a:avLst/>
          </a:prstGeom>
          <a:noFill/>
          <a:ln w="22225">
            <a:solidFill>
              <a:srgbClr val="2A3193"/>
            </a:solidFill>
            <a:prstDash val="solid"/>
            <a:tailEnd type="triangle"/>
          </a:ln>
        </p:spPr>
      </p:sp>
      <p:sp>
        <p:nvSpPr>
          <p:cNvPr id="16" name="Text 14"/>
          <p:cNvSpPr txBox="1"/>
          <p:nvPr/>
        </p:nvSpPr>
        <p:spPr>
          <a:xfrm>
            <a:off x="3611880" y="1783080"/>
            <a:ext cx="1417320" cy="521208"/>
          </a:xfrm>
          <a:prstGeom prst="rect">
            <a:avLst/>
          </a:prstGeom>
          <a:noFill/>
          <a:ln/>
        </p:spPr>
        <p:txBody>
          <a:bodyPr wrap="square" lIns="0" tIns="0" rIns="0" bIns="0" rtlCol="0" anchor="b"/>
          <a:lstStyle/>
          <a:p>
            <a:pPr algn="ctr" indent="0" marL="0">
              <a:buNone/>
            </a:pPr>
            <a:r>
              <a:rPr lang="en-US" sz="950" b="1" dirty="0">
                <a:solidFill>
                  <a:schemeClr val="tx2"/>
                </a:solidFill>
              </a:rPr>
              <a:t>확인 번호 · 기록 번호</a:t>
            </a:r>
            <a:endParaRPr lang="en-US" sz="950" dirty="0"/>
          </a:p>
          <a:p>
            <a:pPr algn="ctr" indent="0" marL="0">
              <a:buNone/>
            </a:pPr>
            <a:r>
              <a:rPr lang="en-US" sz="950" b="1" dirty="0">
                <a:solidFill>
                  <a:schemeClr val="tx2"/>
                </a:solidFill>
              </a:rPr>
              <a:t>· 무작위 기기 번호</a:t>
            </a:r>
            <a:endParaRPr lang="en-US" sz="950" dirty="0"/>
          </a:p>
        </p:txBody>
      </p:sp>
      <p:sp>
        <p:nvSpPr>
          <p:cNvPr id="17" name="Text 15"/>
          <p:cNvSpPr txBox="1"/>
          <p:nvPr/>
        </p:nvSpPr>
        <p:spPr>
          <a:xfrm>
            <a:off x="3611880" y="2377440"/>
            <a:ext cx="1417320" cy="502920"/>
          </a:xfrm>
          <a:prstGeom prst="rect">
            <a:avLst/>
          </a:prstGeom>
          <a:noFill/>
          <a:ln/>
        </p:spPr>
        <p:txBody>
          <a:bodyPr wrap="square" lIns="0" tIns="0" rIns="0" bIns="0" rtlCol="0" anchor="t"/>
          <a:lstStyle/>
          <a:p>
            <a:pPr algn="ctr" indent="0" marL="0">
              <a:buNone/>
            </a:pPr>
            <a:r>
              <a:rPr lang="en-US" sz="950" dirty="0">
                <a:solidFill>
                  <a:schemeClr val="accent3"/>
                </a:solidFill>
              </a:rPr>
              <a:t>근무지 · 시각 · 금액은</a:t>
            </a:r>
            <a:endParaRPr lang="en-US" sz="950" dirty="0"/>
          </a:p>
          <a:p>
            <a:pPr algn="ctr" indent="0" marL="0">
              <a:buNone/>
            </a:pPr>
            <a:r>
              <a:rPr lang="en-US" sz="950" dirty="0">
                <a:solidFill>
                  <a:schemeClr val="accent3"/>
                </a:solidFill>
              </a:rPr>
              <a:t>가지 않음</a:t>
            </a:r>
            <a:endParaRPr lang="en-US" sz="950" dirty="0"/>
          </a:p>
        </p:txBody>
      </p:sp>
      <p:sp>
        <p:nvSpPr>
          <p:cNvPr id="18" name="Supabase 상자"/>
          <p:cNvSpPr/>
          <p:nvPr/>
        </p:nvSpPr>
        <p:spPr>
          <a:xfrm>
            <a:off x="5074920" y="1280160"/>
            <a:ext cx="1965960" cy="2194560"/>
          </a:xfrm>
          <a:prstGeom prst="roundRect">
            <a:avLst>
              <a:gd name="adj" fmla="val 4651"/>
            </a:avLst>
          </a:prstGeom>
          <a:solidFill>
            <a:schemeClr val="bg1"/>
          </a:solidFill>
          <a:ln w="19050">
            <a:solidFill>
              <a:srgbClr val="2A3193"/>
            </a:solidFill>
            <a:prstDash val="solid"/>
          </a:ln>
        </p:spPr>
      </p:sp>
      <p:sp>
        <p:nvSpPr>
          <p:cNvPr id="19" name="Text 17"/>
          <p:cNvSpPr txBox="1"/>
          <p:nvPr/>
        </p:nvSpPr>
        <p:spPr>
          <a:xfrm>
            <a:off x="5193792" y="1371600"/>
            <a:ext cx="1737360" cy="2057400"/>
          </a:xfrm>
          <a:prstGeom prst="rect">
            <a:avLst/>
          </a:prstGeom>
          <a:noFill/>
          <a:ln/>
        </p:spPr>
        <p:txBody>
          <a:bodyPr wrap="square" lIns="0" tIns="0" rIns="0" bIns="0" rtlCol="0" anchor="t"/>
          <a:lstStyle/>
          <a:p>
            <a:pPr indent="0" marL="0">
              <a:spcAft>
                <a:spcPts val="200"/>
              </a:spcAft>
              <a:buNone/>
            </a:pPr>
            <a:r>
              <a:rPr lang="en-US" sz="1250" b="1" dirty="0">
                <a:solidFill>
                  <a:schemeClr val="tx2"/>
                </a:solidFill>
              </a:rPr>
              <a:t>Supabase</a:t>
            </a:r>
            <a:endParaRPr lang="en-US" sz="1250" dirty="0"/>
          </a:p>
          <a:p>
            <a:pPr indent="0" marL="0">
              <a:spcAft>
                <a:spcPts val="200"/>
              </a:spcAft>
              <a:buNone/>
            </a:pPr>
            <a:r>
              <a:rPr lang="en-US" sz="1250" b="1" dirty="0">
                <a:solidFill>
                  <a:schemeClr val="tx1"/>
                </a:solidFill>
              </a:rPr>
              <a:t>stamps 표</a:t>
            </a:r>
            <a:endParaRPr lang="en-US" sz="1250" dirty="0"/>
          </a:p>
          <a:p>
            <a:pPr indent="0" marL="0">
              <a:spcAft>
                <a:spcPts val="200"/>
              </a:spcAft>
              <a:buNone/>
            </a:pPr>
            <a:r>
              <a:rPr lang="en-US" sz="1150" dirty="0">
                <a:solidFill>
                  <a:schemeClr val="accent5"/>
                </a:solidFill>
              </a:rPr>
              <a:t>확인 번호 · 등록 시각</a:t>
            </a:r>
            <a:endParaRPr lang="en-US" sz="1250" dirty="0"/>
          </a:p>
          <a:p>
            <a:pPr indent="0" marL="0">
              <a:spcAft>
                <a:spcPts val="200"/>
              </a:spcAft>
              <a:buNone/>
            </a:pPr>
            <a:r>
              <a:rPr lang="en-US" sz="1150" dirty="0">
                <a:solidFill>
                  <a:schemeClr val="accent5"/>
                </a:solidFill>
              </a:rPr>
              <a:t>시각은 서버가 찍음</a:t>
            </a:r>
            <a:endParaRPr lang="en-US" sz="1250" dirty="0"/>
          </a:p>
          <a:p>
            <a:pPr indent="0" marL="0">
              <a:spcAft>
                <a:spcPts val="200"/>
              </a:spcAft>
              <a:buNone/>
            </a:pPr>
            <a:r>
              <a:rPr lang="en-US" sz="1150" b="1" dirty="0">
                <a:solidFill>
                  <a:schemeClr val="accent2"/>
                </a:solidFill>
              </a:rPr>
              <a:t>앱에서 수정 · 삭제 안 됨</a:t>
            </a:r>
            <a:endParaRPr lang="en-US" sz="1250" dirty="0"/>
          </a:p>
        </p:txBody>
      </p:sp>
      <p:sp>
        <p:nvSpPr>
          <p:cNvPr id="20" name="Shape 18"/>
          <p:cNvSpPr/>
          <p:nvPr/>
        </p:nvSpPr>
        <p:spPr>
          <a:xfrm flipV="1">
            <a:off x="6053328" y="3493008"/>
            <a:ext cx="0" cy="164592"/>
          </a:xfrm>
          <a:prstGeom prst="line">
            <a:avLst/>
          </a:prstGeom>
          <a:noFill/>
          <a:ln w="15875">
            <a:solidFill>
              <a:srgbClr val="2A3193"/>
            </a:solidFill>
            <a:prstDash val="solid"/>
            <a:tailEnd type="triangle"/>
          </a:ln>
        </p:spPr>
      </p:sp>
      <p:sp>
        <p:nvSpPr>
          <p:cNvPr id="21" name="Text 19"/>
          <p:cNvSpPr txBox="1"/>
          <p:nvPr/>
        </p:nvSpPr>
        <p:spPr>
          <a:xfrm>
            <a:off x="6144768" y="3429000"/>
            <a:ext cx="1005840" cy="274320"/>
          </a:xfrm>
          <a:prstGeom prst="rect">
            <a:avLst/>
          </a:prstGeom>
          <a:noFill/>
          <a:ln/>
        </p:spPr>
        <p:txBody>
          <a:bodyPr wrap="square" lIns="0" tIns="0" rIns="0" bIns="0" rtlCol="0" anchor="ctr"/>
          <a:lstStyle/>
          <a:p>
            <a:pPr indent="0" marL="0">
              <a:buNone/>
            </a:pPr>
            <a:r>
              <a:rPr lang="en-US" sz="900" dirty="0">
                <a:solidFill>
                  <a:schemeClr val="tx2"/>
                </a:solidFill>
              </a:rPr>
              <a:t>등록 시각 조회</a:t>
            </a:r>
            <a:endParaRPr lang="en-US" sz="900" dirty="0"/>
          </a:p>
        </p:txBody>
      </p:sp>
      <p:sp>
        <p:nvSpPr>
          <p:cNvPr id="22" name="확인 페이지 상자"/>
          <p:cNvSpPr/>
          <p:nvPr/>
        </p:nvSpPr>
        <p:spPr>
          <a:xfrm>
            <a:off x="5074920" y="3657600"/>
            <a:ext cx="1965960" cy="777240"/>
          </a:xfrm>
          <a:prstGeom prst="roundRect">
            <a:avLst>
              <a:gd name="adj" fmla="val 11765"/>
            </a:avLst>
          </a:prstGeom>
          <a:solidFill>
            <a:schemeClr val="bg2"/>
          </a:solidFill>
          <a:ln w="12700">
            <a:solidFill>
              <a:schemeClr val="bg2"/>
            </a:solidFill>
            <a:prstDash val="solid"/>
          </a:ln>
        </p:spPr>
      </p:sp>
      <p:sp>
        <p:nvSpPr>
          <p:cNvPr id="23" name="Text 21"/>
          <p:cNvSpPr txBox="1"/>
          <p:nvPr/>
        </p:nvSpPr>
        <p:spPr>
          <a:xfrm>
            <a:off x="5193792" y="3703320"/>
            <a:ext cx="1737360" cy="713232"/>
          </a:xfrm>
          <a:prstGeom prst="rect">
            <a:avLst/>
          </a:prstGeom>
          <a:noFill/>
          <a:ln/>
        </p:spPr>
        <p:txBody>
          <a:bodyPr wrap="square" lIns="0" tIns="0" rIns="0" bIns="0" rtlCol="0" anchor="ctr"/>
          <a:lstStyle/>
          <a:p>
            <a:pPr indent="0" marL="0">
              <a:buNone/>
            </a:pPr>
            <a:r>
              <a:rPr lang="en-US" sz="1100" b="1" dirty="0">
                <a:solidFill>
                  <a:schemeClr val="tx2"/>
                </a:solidFill>
              </a:rPr>
              <a:t>확인 페이지 (verify.html)</a:t>
            </a:r>
            <a:endParaRPr lang="en-US" sz="1100" dirty="0"/>
          </a:p>
          <a:p>
            <a:pPr indent="0" marL="0">
              <a:buNone/>
            </a:pPr>
            <a:r>
              <a:rPr lang="en-US" sz="1000" dirty="0">
                <a:solidFill>
                  <a:schemeClr val="accent5"/>
                </a:solidFill>
              </a:rPr>
              <a:t>누구나 번호로 등록 시각 확인</a:t>
            </a:r>
            <a:endParaRPr lang="en-US" sz="1100" dirty="0"/>
          </a:p>
        </p:txBody>
      </p:sp>
      <p:sp>
        <p:nvSpPr>
          <p:cNvPr id="24" name="Text 22"/>
          <p:cNvSpPr txBox="1"/>
          <p:nvPr/>
        </p:nvSpPr>
        <p:spPr>
          <a:xfrm>
            <a:off x="7223760" y="1280160"/>
            <a:ext cx="1554480" cy="274320"/>
          </a:xfrm>
          <a:prstGeom prst="rect">
            <a:avLst/>
          </a:prstGeom>
          <a:noFill/>
          <a:ln/>
        </p:spPr>
        <p:txBody>
          <a:bodyPr wrap="square" lIns="0" tIns="0" rIns="0" bIns="0" rtlCol="0" anchor="ctr"/>
          <a:lstStyle/>
          <a:p>
            <a:pPr indent="0" marL="0">
              <a:buNone/>
            </a:pPr>
            <a:r>
              <a:rPr lang="en-US" sz="1050" b="1" dirty="0">
                <a:solidFill>
                  <a:schemeClr val="tx2"/>
                </a:solidFill>
              </a:rPr>
              <a:t>기록 하나가 남을 때</a:t>
            </a:r>
            <a:endParaRPr lang="en-US" sz="1050" dirty="0"/>
          </a:p>
        </p:txBody>
      </p:sp>
      <p:sp>
        <p:nvSpPr>
          <p:cNvPr id="25" name="번호 1"/>
          <p:cNvSpPr/>
          <p:nvPr/>
        </p:nvSpPr>
        <p:spPr>
          <a:xfrm>
            <a:off x="7223760" y="1664208"/>
            <a:ext cx="237744" cy="237744"/>
          </a:xfrm>
          <a:prstGeom prst="ellipse">
            <a:avLst/>
          </a:prstGeom>
          <a:solidFill>
            <a:schemeClr val="accent1"/>
          </a:solidFill>
          <a:ln w="12700">
            <a:solidFill>
              <a:schemeClr val="accent1"/>
            </a:solidFill>
            <a:prstDash val="solid"/>
          </a:ln>
        </p:spPr>
      </p:sp>
      <p:sp>
        <p:nvSpPr>
          <p:cNvPr id="26" name="Text 24"/>
          <p:cNvSpPr txBox="1"/>
          <p:nvPr/>
        </p:nvSpPr>
        <p:spPr>
          <a:xfrm>
            <a:off x="7223760" y="166420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1</a:t>
            </a:r>
            <a:endParaRPr lang="en-US" sz="900" dirty="0"/>
          </a:p>
        </p:txBody>
      </p:sp>
      <p:sp>
        <p:nvSpPr>
          <p:cNvPr id="27" name="Text 25"/>
          <p:cNvSpPr txBox="1"/>
          <p:nvPr/>
        </p:nvSpPr>
        <p:spPr>
          <a:xfrm>
            <a:off x="7516368" y="1609344"/>
            <a:ext cx="1234440" cy="777240"/>
          </a:xfrm>
          <a:prstGeom prst="rect">
            <a:avLst/>
          </a:prstGeom>
          <a:noFill/>
          <a:ln/>
        </p:spPr>
        <p:txBody>
          <a:bodyPr wrap="square" lIns="0" tIns="0" rIns="0" bIns="0" rtlCol="0" anchor="t"/>
          <a:lstStyle/>
          <a:p>
            <a:pPr indent="0" marL="0">
              <a:buNone/>
            </a:pPr>
            <a:r>
              <a:rPr lang="en-US" sz="1000" dirty="0">
                <a:solidFill>
                  <a:schemeClr val="tx1"/>
                </a:solidFill>
              </a:rPr>
              <a:t>출근 · 퇴근마다 등록</a:t>
            </a:r>
            <a:endParaRPr lang="en-US" sz="1000" dirty="0"/>
          </a:p>
        </p:txBody>
      </p:sp>
      <p:sp>
        <p:nvSpPr>
          <p:cNvPr id="28" name="번호 2"/>
          <p:cNvSpPr/>
          <p:nvPr/>
        </p:nvSpPr>
        <p:spPr>
          <a:xfrm>
            <a:off x="7223760" y="2532888"/>
            <a:ext cx="237744" cy="237744"/>
          </a:xfrm>
          <a:prstGeom prst="ellipse">
            <a:avLst/>
          </a:prstGeom>
          <a:solidFill>
            <a:schemeClr val="accent1"/>
          </a:solidFill>
          <a:ln w="12700">
            <a:solidFill>
              <a:schemeClr val="accent1"/>
            </a:solidFill>
            <a:prstDash val="solid"/>
          </a:ln>
        </p:spPr>
      </p:sp>
      <p:sp>
        <p:nvSpPr>
          <p:cNvPr id="29" name="Text 27"/>
          <p:cNvSpPr txBox="1"/>
          <p:nvPr/>
        </p:nvSpPr>
        <p:spPr>
          <a:xfrm>
            <a:off x="7223760" y="253288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2</a:t>
            </a:r>
            <a:endParaRPr lang="en-US" sz="900" dirty="0"/>
          </a:p>
        </p:txBody>
      </p:sp>
      <p:sp>
        <p:nvSpPr>
          <p:cNvPr id="30" name="Text 28"/>
          <p:cNvSpPr txBox="1"/>
          <p:nvPr/>
        </p:nvSpPr>
        <p:spPr>
          <a:xfrm>
            <a:off x="7516368" y="2478024"/>
            <a:ext cx="1234440" cy="777240"/>
          </a:xfrm>
          <a:prstGeom prst="rect">
            <a:avLst/>
          </a:prstGeom>
          <a:noFill/>
          <a:ln/>
        </p:spPr>
        <p:txBody>
          <a:bodyPr wrap="square" lIns="0" tIns="0" rIns="0" bIns="0" rtlCol="0" anchor="t"/>
          <a:lstStyle/>
          <a:p>
            <a:pPr indent="0" marL="0">
              <a:buNone/>
            </a:pPr>
            <a:r>
              <a:rPr lang="en-US" sz="1000" dirty="0">
                <a:solidFill>
                  <a:schemeClr val="tx1"/>
                </a:solidFill>
              </a:rPr>
              <a:t>고치면 다시 등록</a:t>
            </a:r>
            <a:endParaRPr lang="en-US" sz="1000" dirty="0"/>
          </a:p>
        </p:txBody>
      </p:sp>
      <p:sp>
        <p:nvSpPr>
          <p:cNvPr id="31" name="번호 3"/>
          <p:cNvSpPr/>
          <p:nvPr/>
        </p:nvSpPr>
        <p:spPr>
          <a:xfrm>
            <a:off x="7223760" y="3401568"/>
            <a:ext cx="237744" cy="237744"/>
          </a:xfrm>
          <a:prstGeom prst="ellipse">
            <a:avLst/>
          </a:prstGeom>
          <a:solidFill>
            <a:schemeClr val="accent1"/>
          </a:solidFill>
          <a:ln w="12700">
            <a:solidFill>
              <a:schemeClr val="accent1"/>
            </a:solidFill>
            <a:prstDash val="solid"/>
          </a:ln>
        </p:spPr>
      </p:sp>
      <p:sp>
        <p:nvSpPr>
          <p:cNvPr id="32" name="Text 30"/>
          <p:cNvSpPr txBox="1"/>
          <p:nvPr/>
        </p:nvSpPr>
        <p:spPr>
          <a:xfrm>
            <a:off x="7223760" y="3401568"/>
            <a:ext cx="237744" cy="237744"/>
          </a:xfrm>
          <a:prstGeom prst="rect">
            <a:avLst/>
          </a:prstGeom>
          <a:noFill/>
          <a:ln/>
        </p:spPr>
        <p:txBody>
          <a:bodyPr wrap="square" lIns="0" tIns="0" rIns="0" bIns="0" rtlCol="0" anchor="ctr"/>
          <a:lstStyle/>
          <a:p>
            <a:pPr algn="ctr" indent="0" marL="0">
              <a:buNone/>
            </a:pPr>
            <a:r>
              <a:rPr lang="en-US" sz="900" b="1" dirty="0">
                <a:solidFill>
                  <a:schemeClr val="bg1"/>
                </a:solidFill>
              </a:rPr>
              <a:t>3</a:t>
            </a:r>
            <a:endParaRPr lang="en-US" sz="900" dirty="0"/>
          </a:p>
        </p:txBody>
      </p:sp>
      <p:sp>
        <p:nvSpPr>
          <p:cNvPr id="33" name="Text 31"/>
          <p:cNvSpPr txBox="1"/>
          <p:nvPr/>
        </p:nvSpPr>
        <p:spPr>
          <a:xfrm>
            <a:off x="7516368" y="3346704"/>
            <a:ext cx="1234440" cy="777240"/>
          </a:xfrm>
          <a:prstGeom prst="rect">
            <a:avLst/>
          </a:prstGeom>
          <a:noFill/>
          <a:ln/>
        </p:spPr>
        <p:txBody>
          <a:bodyPr wrap="square" lIns="0" tIns="0" rIns="0" bIns="0" rtlCol="0" anchor="t"/>
          <a:lstStyle/>
          <a:p>
            <a:pPr indent="0" marL="0">
              <a:buNone/>
            </a:pPr>
            <a:r>
              <a:rPr lang="en-US" sz="1000" dirty="0">
                <a:solidFill>
                  <a:schemeClr val="tx1"/>
                </a:solidFill>
              </a:rPr>
              <a:t>끊기면 나중에 전송</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MVP 화면   ·   예시 데이터, 2026.10.27 기준. 모두 배포 주소에서 바로 열림</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네 화면: 캘린더, 설정, 증빙 묶음 PDF, 확인 페이지</a:t>
            </a:r>
            <a:endParaRPr lang="en-US" sz="2400" dirty="0"/>
          </a:p>
        </p:txBody>
      </p:sp>
      <p:pic>
        <p:nvPicPr>
          <p:cNvPr id="4" name="캘린더" descr="C:\Users\user\Desktop\albaguard기술창업\docs\screenshots\phone\2-calendar.png">    </p:cNvPr>
          <p:cNvPicPr>
            <a:picLocks noChangeAspect="1"/>
          </p:cNvPicPr>
          <p:nvPr/>
        </p:nvPicPr>
        <p:blipFill>
          <a:blip r:embed="rId1"/>
          <a:stretch>
            <a:fillRect/>
          </a:stretch>
        </p:blipFill>
        <p:spPr>
          <a:xfrm>
            <a:off x="339124" y="1143000"/>
            <a:ext cx="1503023" cy="3017520"/>
          </a:xfrm>
          <a:prstGeom prst="rect">
            <a:avLst/>
          </a:prstGeom>
        </p:spPr>
      </p:pic>
      <p:sp>
        <p:nvSpPr>
          <p:cNvPr id="5" name="Text 2"/>
          <p:cNvSpPr txBox="1"/>
          <p:nvPr/>
        </p:nvSpPr>
        <p:spPr>
          <a:xfrm>
            <a:off x="274320"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캘린더</a:t>
            </a:r>
            <a:endParaRPr lang="en-US" sz="1150" dirty="0"/>
          </a:p>
        </p:txBody>
      </p:sp>
      <p:sp>
        <p:nvSpPr>
          <p:cNvPr id="6" name="Text 3"/>
          <p:cNvSpPr txBox="1"/>
          <p:nvPr/>
        </p:nvSpPr>
        <p:spPr>
          <a:xfrm>
            <a:off x="228600"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예정과 다른 날만 글자로</a:t>
            </a:r>
            <a:endParaRPr lang="en-US" sz="900" dirty="0"/>
          </a:p>
          <a:p>
            <a:pPr algn="ctr" indent="0" marL="0">
              <a:buNone/>
            </a:pPr>
            <a:r>
              <a:rPr lang="en-US" sz="900" dirty="0">
                <a:solidFill>
                  <a:schemeClr val="accent5"/>
                </a:solidFill>
              </a:rPr>
              <a:t>(연장 · 대타 · 단축)</a:t>
            </a:r>
            <a:endParaRPr lang="en-US" sz="900" dirty="0"/>
          </a:p>
        </p:txBody>
      </p:sp>
      <p:pic>
        <p:nvPicPr>
          <p:cNvPr id="7" name="설정" descr="C:\Users\user\Desktop\albaguard기술창업\docs\screenshots\phone\10-settings.png">    </p:cNvPr>
          <p:cNvPicPr>
            <a:picLocks noChangeAspect="1"/>
          </p:cNvPicPr>
          <p:nvPr/>
        </p:nvPicPr>
        <p:blipFill>
          <a:blip r:embed="rId2"/>
          <a:stretch>
            <a:fillRect/>
          </a:stretch>
        </p:blipFill>
        <p:spPr>
          <a:xfrm>
            <a:off x="2660034" y="1143000"/>
            <a:ext cx="1503023" cy="3017520"/>
          </a:xfrm>
          <a:prstGeom prst="rect">
            <a:avLst/>
          </a:prstGeom>
        </p:spPr>
      </p:pic>
      <p:sp>
        <p:nvSpPr>
          <p:cNvPr id="8" name="Text 4"/>
          <p:cNvSpPr txBox="1"/>
          <p:nvPr/>
        </p:nvSpPr>
        <p:spPr>
          <a:xfrm>
            <a:off x="259522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설정</a:t>
            </a:r>
            <a:endParaRPr lang="en-US" sz="1150" dirty="0"/>
          </a:p>
        </p:txBody>
      </p:sp>
      <p:sp>
        <p:nvSpPr>
          <p:cNvPr id="9" name="Text 5"/>
          <p:cNvSpPr txBox="1"/>
          <p:nvPr/>
        </p:nvSpPr>
        <p:spPr>
          <a:xfrm>
            <a:off x="254950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등록 건수 · 백업</a:t>
            </a:r>
            <a:endParaRPr lang="en-US" sz="900" dirty="0"/>
          </a:p>
          <a:p>
            <a:pPr algn="ctr" indent="0" marL="0">
              <a:buNone/>
            </a:pPr>
            <a:r>
              <a:rPr lang="en-US" sz="900" dirty="0">
                <a:solidFill>
                  <a:schemeClr val="accent5"/>
                </a:solidFill>
              </a:rPr>
              <a:t>무엇이 서버로 가는지</a:t>
            </a:r>
            <a:endParaRPr lang="en-US" sz="900" dirty="0"/>
          </a:p>
        </p:txBody>
      </p:sp>
      <p:pic>
        <p:nvPicPr>
          <p:cNvPr id="10" name="증빙 묶음 PDF" descr="C:\Users\user\Desktop\albaguard기술창업\docs\screenshots\phone\8-evidence.png">    </p:cNvPr>
          <p:cNvPicPr>
            <a:picLocks noChangeAspect="1"/>
          </p:cNvPicPr>
          <p:nvPr/>
        </p:nvPicPr>
        <p:blipFill>
          <a:blip r:embed="rId3"/>
          <a:stretch>
            <a:fillRect/>
          </a:stretch>
        </p:blipFill>
        <p:spPr>
          <a:xfrm>
            <a:off x="4980943" y="1143000"/>
            <a:ext cx="1503023" cy="3017520"/>
          </a:xfrm>
          <a:prstGeom prst="rect">
            <a:avLst/>
          </a:prstGeom>
        </p:spPr>
      </p:pic>
      <p:sp>
        <p:nvSpPr>
          <p:cNvPr id="11" name="Text 6"/>
          <p:cNvSpPr txBox="1"/>
          <p:nvPr/>
        </p:nvSpPr>
        <p:spPr>
          <a:xfrm>
            <a:off x="4916139"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증빙 묶음 PDF</a:t>
            </a:r>
            <a:endParaRPr lang="en-US" sz="1150" dirty="0"/>
          </a:p>
        </p:txBody>
      </p:sp>
      <p:sp>
        <p:nvSpPr>
          <p:cNvPr id="12" name="Text 7"/>
          <p:cNvSpPr txBox="1"/>
          <p:nvPr/>
        </p:nvSpPr>
        <p:spPr>
          <a:xfrm>
            <a:off x="4870419"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기록 · 수정 이력 · 계산</a:t>
            </a:r>
            <a:endParaRPr lang="en-US" sz="900" dirty="0"/>
          </a:p>
          <a:p>
            <a:pPr algn="ctr" indent="0" marL="0">
              <a:buNone/>
            </a:pPr>
            <a:r>
              <a:rPr lang="en-US" sz="900" dirty="0">
                <a:solidFill>
                  <a:schemeClr val="accent5"/>
                </a:solidFill>
              </a:rPr>
              <a:t>입금 · 사진 · 등록 확인</a:t>
            </a:r>
            <a:endParaRPr lang="en-US" sz="900" dirty="0"/>
          </a:p>
        </p:txBody>
      </p:sp>
      <p:pic>
        <p:nvPicPr>
          <p:cNvPr id="13" name="확인 페이지" descr="C:\Users\user\Desktop\albaguard기술창업\docs\screenshots\phone\9-verify.png">    </p:cNvPr>
          <p:cNvPicPr>
            <a:picLocks noChangeAspect="1"/>
          </p:cNvPicPr>
          <p:nvPr/>
        </p:nvPicPr>
        <p:blipFill>
          <a:blip r:embed="rId4"/>
          <a:stretch>
            <a:fillRect/>
          </a:stretch>
        </p:blipFill>
        <p:spPr>
          <a:xfrm>
            <a:off x="7301852" y="1143000"/>
            <a:ext cx="1503023" cy="3017520"/>
          </a:xfrm>
          <a:prstGeom prst="rect">
            <a:avLst/>
          </a:prstGeom>
        </p:spPr>
      </p:pic>
      <p:sp>
        <p:nvSpPr>
          <p:cNvPr id="14" name="Text 8"/>
          <p:cNvSpPr txBox="1"/>
          <p:nvPr/>
        </p:nvSpPr>
        <p:spPr>
          <a:xfrm>
            <a:off x="7237048" y="4114800"/>
            <a:ext cx="1632632" cy="274320"/>
          </a:xfrm>
          <a:prstGeom prst="rect">
            <a:avLst/>
          </a:prstGeom>
          <a:noFill/>
          <a:ln/>
        </p:spPr>
        <p:txBody>
          <a:bodyPr wrap="square" lIns="0" tIns="0" rIns="0" bIns="0" rtlCol="0" anchor="ctr"/>
          <a:lstStyle/>
          <a:p>
            <a:pPr algn="ctr" indent="0" marL="0">
              <a:buNone/>
            </a:pPr>
            <a:r>
              <a:rPr lang="en-US" sz="1150" b="1" dirty="0">
                <a:solidFill>
                  <a:schemeClr val="tx2"/>
                </a:solidFill>
              </a:rPr>
              <a:t>확인 페이지</a:t>
            </a:r>
            <a:endParaRPr lang="en-US" sz="1150" dirty="0"/>
          </a:p>
        </p:txBody>
      </p:sp>
      <p:sp>
        <p:nvSpPr>
          <p:cNvPr id="15" name="Text 9"/>
          <p:cNvSpPr txBox="1"/>
          <p:nvPr/>
        </p:nvSpPr>
        <p:spPr>
          <a:xfrm>
            <a:off x="7191328" y="4370832"/>
            <a:ext cx="1724072" cy="384048"/>
          </a:xfrm>
          <a:prstGeom prst="rect">
            <a:avLst/>
          </a:prstGeom>
          <a:noFill/>
          <a:ln/>
        </p:spPr>
        <p:txBody>
          <a:bodyPr wrap="square" lIns="0" tIns="0" rIns="0" bIns="0" rtlCol="0" anchor="t"/>
          <a:lstStyle/>
          <a:p>
            <a:pPr algn="ctr" indent="0" marL="0">
              <a:buNone/>
            </a:pPr>
            <a:r>
              <a:rPr lang="en-US" sz="900" dirty="0">
                <a:solidFill>
                  <a:schemeClr val="accent5"/>
                </a:solidFill>
              </a:rPr>
              <a:t>확인 번호 → 서버 등록 시각</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MVP 시연</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시연 순서: 배포된 앱을 녹화한 영상</a:t>
            </a:r>
            <a:endParaRPr lang="en-US" sz="2400" dirty="0"/>
          </a:p>
        </p:txBody>
      </p:sp>
      <p:sp>
        <p:nvSpPr>
          <p:cNvPr id="4" name="번호 1"/>
          <p:cNvSpPr/>
          <p:nvPr/>
        </p:nvSpPr>
        <p:spPr>
          <a:xfrm>
            <a:off x="457200" y="1380744"/>
            <a:ext cx="310896" cy="310896"/>
          </a:xfrm>
          <a:prstGeom prst="ellipse">
            <a:avLst/>
          </a:prstGeom>
          <a:solidFill>
            <a:schemeClr val="accent1"/>
          </a:solidFill>
          <a:ln w="12700">
            <a:solidFill>
              <a:schemeClr val="accent1"/>
            </a:solidFill>
            <a:prstDash val="solid"/>
          </a:ln>
        </p:spPr>
      </p:sp>
      <p:sp>
        <p:nvSpPr>
          <p:cNvPr id="5" name="Text 3"/>
          <p:cNvSpPr txBox="1"/>
          <p:nvPr/>
        </p:nvSpPr>
        <p:spPr>
          <a:xfrm>
            <a:off x="457200" y="1380744"/>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1</a:t>
            </a:r>
            <a:endParaRPr lang="en-US" sz="1100" dirty="0"/>
          </a:p>
        </p:txBody>
      </p:sp>
      <p:sp>
        <p:nvSpPr>
          <p:cNvPr id="6" name="Text 4"/>
          <p:cNvSpPr txBox="1"/>
          <p:nvPr/>
        </p:nvSpPr>
        <p:spPr>
          <a:xfrm>
            <a:off x="896112" y="1325880"/>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출근 · 퇴근 → 사유를 써서 수정 → 설정에서 "3건 등록됨"</a:t>
            </a:r>
            <a:endParaRPr lang="en-US" sz="1300" dirty="0"/>
          </a:p>
        </p:txBody>
      </p:sp>
      <p:sp>
        <p:nvSpPr>
          <p:cNvPr id="7" name="Text 5"/>
          <p:cNvSpPr txBox="1"/>
          <p:nvPr/>
        </p:nvSpPr>
        <p:spPr>
          <a:xfrm>
            <a:off x="896112" y="1691640"/>
            <a:ext cx="7772400" cy="365760"/>
          </a:xfrm>
          <a:prstGeom prst="rect">
            <a:avLst/>
          </a:prstGeom>
          <a:noFill/>
          <a:ln/>
        </p:spPr>
        <p:txBody>
          <a:bodyPr wrap="square" lIns="0" tIns="0" rIns="0" bIns="0" rtlCol="0" anchor="t"/>
          <a:lstStyle/>
          <a:p>
            <a:pPr indent="0" marL="0">
              <a:buNone/>
            </a:pPr>
            <a:r>
              <a:rPr lang="en-US" sz="1000" dirty="0">
                <a:solidFill>
                  <a:schemeClr val="accent5"/>
                </a:solidFill>
              </a:rPr>
              <a:t>기록하거나 고칠 때마다 서버에 확인 번호가 남음. 예시 데이터는 등록되지 않아 시연 중 남긴 3건만 보임</a:t>
            </a:r>
            <a:endParaRPr lang="en-US" sz="1000" dirty="0"/>
          </a:p>
        </p:txBody>
      </p:sp>
      <p:sp>
        <p:nvSpPr>
          <p:cNvPr id="8" name="번호 2"/>
          <p:cNvSpPr/>
          <p:nvPr/>
        </p:nvSpPr>
        <p:spPr>
          <a:xfrm>
            <a:off x="457200" y="2167128"/>
            <a:ext cx="310896" cy="310896"/>
          </a:xfrm>
          <a:prstGeom prst="ellipse">
            <a:avLst/>
          </a:prstGeom>
          <a:solidFill>
            <a:schemeClr val="accent1"/>
          </a:solidFill>
          <a:ln w="12700">
            <a:solidFill>
              <a:schemeClr val="accent1"/>
            </a:solidFill>
            <a:prstDash val="solid"/>
          </a:ln>
        </p:spPr>
      </p:sp>
      <p:sp>
        <p:nvSpPr>
          <p:cNvPr id="9" name="Text 7"/>
          <p:cNvSpPr txBox="1"/>
          <p:nvPr/>
        </p:nvSpPr>
        <p:spPr>
          <a:xfrm>
            <a:off x="457200" y="2167128"/>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2</a:t>
            </a:r>
            <a:endParaRPr lang="en-US" sz="1100" dirty="0"/>
          </a:p>
        </p:txBody>
      </p:sp>
      <p:sp>
        <p:nvSpPr>
          <p:cNvPr id="10" name="Text 8"/>
          <p:cNvSpPr txBox="1"/>
          <p:nvPr/>
        </p:nvSpPr>
        <p:spPr>
          <a:xfrm>
            <a:off x="896112" y="2112264"/>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첫 화면 "9월 급여 받으셨나요?" → 받은 금액 입력</a:t>
            </a:r>
            <a:endParaRPr lang="en-US" sz="1300" dirty="0"/>
          </a:p>
        </p:txBody>
      </p:sp>
      <p:sp>
        <p:nvSpPr>
          <p:cNvPr id="11" name="Text 9"/>
          <p:cNvSpPr txBox="1"/>
          <p:nvPr/>
        </p:nvSpPr>
        <p:spPr>
          <a:xfrm>
            <a:off x="896112" y="2478024"/>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덜 받은 돈이 빨간 숫자로 바뀜</a:t>
            </a:r>
            <a:endParaRPr lang="en-US" sz="1000" dirty="0"/>
          </a:p>
        </p:txBody>
      </p:sp>
      <p:sp>
        <p:nvSpPr>
          <p:cNvPr id="12" name="번호 3"/>
          <p:cNvSpPr/>
          <p:nvPr/>
        </p:nvSpPr>
        <p:spPr>
          <a:xfrm>
            <a:off x="457200" y="2953512"/>
            <a:ext cx="310896" cy="310896"/>
          </a:xfrm>
          <a:prstGeom prst="ellipse">
            <a:avLst/>
          </a:prstGeom>
          <a:solidFill>
            <a:schemeClr val="accent1"/>
          </a:solidFill>
          <a:ln w="12700">
            <a:solidFill>
              <a:schemeClr val="accent1"/>
            </a:solidFill>
            <a:prstDash val="solid"/>
          </a:ln>
        </p:spPr>
      </p:sp>
      <p:sp>
        <p:nvSpPr>
          <p:cNvPr id="13" name="Text 11"/>
          <p:cNvSpPr txBox="1"/>
          <p:nvPr/>
        </p:nvSpPr>
        <p:spPr>
          <a:xfrm>
            <a:off x="457200" y="2953512"/>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3</a:t>
            </a:r>
            <a:endParaRPr lang="en-US" sz="1100" dirty="0"/>
          </a:p>
        </p:txBody>
      </p:sp>
      <p:sp>
        <p:nvSpPr>
          <p:cNvPr id="14" name="Text 12"/>
          <p:cNvSpPr txBox="1"/>
          <p:nvPr/>
        </p:nvSpPr>
        <p:spPr>
          <a:xfrm>
            <a:off x="896112" y="2898648"/>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요청 메시지 (3개월 합계) → 진정 안내 → 증빙 묶음 PDF</a:t>
            </a:r>
            <a:endParaRPr lang="en-US" sz="1300" dirty="0"/>
          </a:p>
        </p:txBody>
      </p:sp>
      <p:sp>
        <p:nvSpPr>
          <p:cNvPr id="15" name="Text 13"/>
          <p:cNvSpPr txBox="1"/>
          <p:nvPr/>
        </p:nvSpPr>
        <p:spPr>
          <a:xfrm>
            <a:off x="896112" y="3264408"/>
            <a:ext cx="7772400" cy="365760"/>
          </a:xfrm>
          <a:prstGeom prst="rect">
            <a:avLst/>
          </a:prstGeom>
          <a:noFill/>
          <a:ln/>
        </p:spPr>
        <p:txBody>
          <a:bodyPr wrap="square" lIns="0" tIns="0" rIns="0" bIns="0" rtlCol="0" anchor="t"/>
          <a:lstStyle/>
          <a:p>
            <a:pPr indent="0" marL="0">
              <a:buNone/>
            </a:pPr>
            <a:r>
              <a:rPr lang="en-US" sz="1000" dirty="0">
                <a:solidFill>
                  <a:schemeClr val="accent5"/>
                </a:solidFill>
              </a:rPr>
              <a:t>날짜별 기록과 계산 근거가 들어간 정중한 문구. 진정은 1350 · 노동포털로 연결만. PDF 7번 표에 확인 번호</a:t>
            </a:r>
            <a:endParaRPr lang="en-US" sz="1000" dirty="0"/>
          </a:p>
        </p:txBody>
      </p:sp>
      <p:sp>
        <p:nvSpPr>
          <p:cNvPr id="16" name="번호 4"/>
          <p:cNvSpPr/>
          <p:nvPr/>
        </p:nvSpPr>
        <p:spPr>
          <a:xfrm>
            <a:off x="457200" y="3739896"/>
            <a:ext cx="310896" cy="310896"/>
          </a:xfrm>
          <a:prstGeom prst="ellipse">
            <a:avLst/>
          </a:prstGeom>
          <a:solidFill>
            <a:schemeClr val="accent1"/>
          </a:solidFill>
          <a:ln w="12700">
            <a:solidFill>
              <a:schemeClr val="accent1"/>
            </a:solidFill>
            <a:prstDash val="solid"/>
          </a:ln>
        </p:spPr>
      </p:sp>
      <p:sp>
        <p:nvSpPr>
          <p:cNvPr id="17" name="Text 15"/>
          <p:cNvSpPr txBox="1"/>
          <p:nvPr/>
        </p:nvSpPr>
        <p:spPr>
          <a:xfrm>
            <a:off x="457200" y="3739896"/>
            <a:ext cx="310896" cy="310896"/>
          </a:xfrm>
          <a:prstGeom prst="rect">
            <a:avLst/>
          </a:prstGeom>
          <a:noFill/>
          <a:ln/>
        </p:spPr>
        <p:txBody>
          <a:bodyPr wrap="square" lIns="0" tIns="0" rIns="0" bIns="0" rtlCol="0" anchor="ctr"/>
          <a:lstStyle/>
          <a:p>
            <a:pPr algn="ctr" indent="0" marL="0">
              <a:buNone/>
            </a:pPr>
            <a:r>
              <a:rPr lang="en-US" sz="1100" b="1" dirty="0">
                <a:solidFill>
                  <a:schemeClr val="bg1"/>
                </a:solidFill>
              </a:rPr>
              <a:t>4</a:t>
            </a:r>
            <a:endParaRPr lang="en-US" sz="1100" dirty="0"/>
          </a:p>
        </p:txBody>
      </p:sp>
      <p:sp>
        <p:nvSpPr>
          <p:cNvPr id="18" name="Text 16"/>
          <p:cNvSpPr txBox="1"/>
          <p:nvPr/>
        </p:nvSpPr>
        <p:spPr>
          <a:xfrm>
            <a:off x="896112" y="3685032"/>
            <a:ext cx="7772400" cy="384048"/>
          </a:xfrm>
          <a:prstGeom prst="rect">
            <a:avLst/>
          </a:prstGeom>
          <a:noFill/>
          <a:ln/>
        </p:spPr>
        <p:txBody>
          <a:bodyPr wrap="square" lIns="0" tIns="0" rIns="0" bIns="0" rtlCol="0" anchor="ctr"/>
          <a:lstStyle/>
          <a:p>
            <a:pPr indent="0" marL="0">
              <a:buNone/>
            </a:pPr>
            <a:r>
              <a:rPr lang="en-US" sz="1300" b="1" dirty="0">
                <a:solidFill>
                  <a:schemeClr val="tx2"/>
                </a:solidFill>
              </a:rPr>
              <a:t>확인 페이지에 확인 번호 → 서버 등록 시각</a:t>
            </a:r>
            <a:endParaRPr lang="en-US" sz="1300" dirty="0"/>
          </a:p>
        </p:txBody>
      </p:sp>
      <p:sp>
        <p:nvSpPr>
          <p:cNvPr id="19" name="Text 17"/>
          <p:cNvSpPr txBox="1"/>
          <p:nvPr/>
        </p:nvSpPr>
        <p:spPr>
          <a:xfrm>
            <a:off x="896112" y="4050792"/>
            <a:ext cx="7772400" cy="365760"/>
          </a:xfrm>
          <a:prstGeom prst="rect">
            <a:avLst/>
          </a:prstGeom>
          <a:noFill/>
          <a:ln/>
        </p:spPr>
        <p:txBody>
          <a:bodyPr wrap="square" lIns="0" tIns="0" rIns="0" bIns="0" rtlCol="0" anchor="t"/>
          <a:lstStyle/>
          <a:p>
            <a:pPr indent="0" marL="0">
              <a:buNone/>
            </a:pPr>
            <a:r>
              <a:rPr lang="en-US" sz="1000" dirty="0">
                <a:solidFill>
                  <a:schemeClr val="accent5"/>
                </a:solidFill>
              </a:rPr>
              <a:t>앱 밖의 별도 페이지. 제3자도 열 수 있음</a:t>
            </a:r>
            <a:endParaRPr lang="en-US" sz="10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3" name="시연 영상">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0" y="0"/>
            <a:ext cx="9144000" cy="5143500"/>
          </a:xfrm>
          <a:prstGeom prst="rect">
            <a:avLst/>
          </a:prstGeom>
        </p:spPr>
      </p:pic>
      <p:sp>
        <p:nvSpPr>
          <p:cNvPr id="4"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endParaRPr lang="en-US" sz="1050" dirty="0"/>
          </a:p>
        </p:txBody>
      </p:sp>
      <p:sp>
        <p:nvSpPr>
          <p:cNvPr id="5"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endParaRPr lang="en-US" sz="2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⑤ 개발 현황 · 구현된 기능과 계획 대비 비율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MVP 기능 8개 모두 동작, 완성도 평균 약 80%</a:t>
            </a:r>
            <a:endParaRPr lang="en-US" sz="2400" dirty="0"/>
          </a:p>
        </p:txBody>
      </p:sp>
      <p:sp>
        <p:nvSpPr>
          <p:cNvPr id="4" name="Text 2"/>
          <p:cNvSpPr txBox="1"/>
          <p:nvPr/>
        </p:nvSpPr>
        <p:spPr>
          <a:xfrm>
            <a:off x="5788152"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동작</a:t>
            </a:r>
            <a:endParaRPr lang="en-US" sz="900" dirty="0"/>
          </a:p>
        </p:txBody>
      </p:sp>
      <p:sp>
        <p:nvSpPr>
          <p:cNvPr id="5" name="Text 3"/>
          <p:cNvSpPr txBox="1"/>
          <p:nvPr/>
        </p:nvSpPr>
        <p:spPr>
          <a:xfrm>
            <a:off x="6080760"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폰</a:t>
            </a:r>
            <a:endParaRPr lang="en-US" sz="900" dirty="0"/>
          </a:p>
        </p:txBody>
      </p:sp>
      <p:sp>
        <p:nvSpPr>
          <p:cNvPr id="6" name="Text 4"/>
          <p:cNvSpPr txBox="1"/>
          <p:nvPr/>
        </p:nvSpPr>
        <p:spPr>
          <a:xfrm>
            <a:off x="6373368" y="1024128"/>
            <a:ext cx="603504" cy="237744"/>
          </a:xfrm>
          <a:prstGeom prst="rect">
            <a:avLst/>
          </a:prstGeom>
          <a:noFill/>
          <a:ln/>
        </p:spPr>
        <p:txBody>
          <a:bodyPr wrap="square" lIns="0" tIns="0" rIns="0" bIns="0" rtlCol="0" anchor="ctr"/>
          <a:lstStyle/>
          <a:p>
            <a:pPr algn="ctr" indent="0" marL="0">
              <a:buNone/>
            </a:pPr>
            <a:r>
              <a:rPr lang="en-US" sz="900" b="1" dirty="0">
                <a:solidFill>
                  <a:schemeClr val="accent5"/>
                </a:solidFill>
              </a:rPr>
              <a:t>사용자</a:t>
            </a:r>
            <a:endParaRPr lang="en-US" sz="900" dirty="0"/>
          </a:p>
        </p:txBody>
      </p:sp>
      <p:sp>
        <p:nvSpPr>
          <p:cNvPr id="7" name="Text 5"/>
          <p:cNvSpPr txBox="1"/>
          <p:nvPr/>
        </p:nvSpPr>
        <p:spPr>
          <a:xfrm>
            <a:off x="6903720" y="1024128"/>
            <a:ext cx="1783080" cy="237744"/>
          </a:xfrm>
          <a:prstGeom prst="rect">
            <a:avLst/>
          </a:prstGeom>
          <a:noFill/>
          <a:ln/>
        </p:spPr>
        <p:txBody>
          <a:bodyPr wrap="square" lIns="0" tIns="0" rIns="0" bIns="0" rtlCol="0" anchor="ctr"/>
          <a:lstStyle/>
          <a:p>
            <a:pPr indent="0" marL="0">
              <a:buNone/>
            </a:pPr>
            <a:r>
              <a:rPr lang="en-US" sz="900" b="1" dirty="0">
                <a:solidFill>
                  <a:schemeClr val="accent5"/>
                </a:solidFill>
              </a:rPr>
              <a:t>남은 일</a:t>
            </a:r>
            <a:endParaRPr lang="en-US" sz="900" dirty="0"/>
          </a:p>
        </p:txBody>
      </p:sp>
      <p:sp>
        <p:nvSpPr>
          <p:cNvPr id="8" name="Text 6"/>
          <p:cNvSpPr txBox="1"/>
          <p:nvPr/>
        </p:nvSpPr>
        <p:spPr>
          <a:xfrm>
            <a:off x="457200" y="1298448"/>
            <a:ext cx="3383280" cy="384048"/>
          </a:xfrm>
          <a:prstGeom prst="rect">
            <a:avLst/>
          </a:prstGeom>
          <a:noFill/>
          <a:ln/>
        </p:spPr>
        <p:txBody>
          <a:bodyPr wrap="square" lIns="0" tIns="0" rIns="0" bIns="0" rtlCol="0" anchor="ctr"/>
          <a:lstStyle/>
          <a:p>
            <a:pPr indent="0" marL="0">
              <a:buNone/>
            </a:pPr>
            <a:r>
              <a:rPr lang="en-US" sz="1150" dirty="0">
                <a:solidFill>
                  <a:schemeClr val="tx1"/>
                </a:solidFill>
              </a:rPr>
              <a:t>근무 기록 (수정 이력 · 퇴근 누락 보호)</a:t>
            </a:r>
            <a:endParaRPr lang="en-US" sz="1150" dirty="0"/>
          </a:p>
        </p:txBody>
      </p:sp>
      <p:sp>
        <p:nvSpPr>
          <p:cNvPr id="9" name="근무 기록 (수정 이력 · 퇴근 누락 보호) 바탕"/>
          <p:cNvSpPr/>
          <p:nvPr/>
        </p:nvSpPr>
        <p:spPr>
          <a:xfrm>
            <a:off x="3931920" y="1426464"/>
            <a:ext cx="1371600" cy="128016"/>
          </a:xfrm>
          <a:prstGeom prst="roundRect">
            <a:avLst>
              <a:gd name="adj" fmla="val 50000"/>
            </a:avLst>
          </a:prstGeom>
          <a:solidFill>
            <a:schemeClr val="bg2"/>
          </a:solidFill>
          <a:ln w="12700">
            <a:solidFill>
              <a:schemeClr val="bg2"/>
            </a:solidFill>
            <a:prstDash val="solid"/>
          </a:ln>
        </p:spPr>
      </p:sp>
      <p:sp>
        <p:nvSpPr>
          <p:cNvPr id="10" name="근무 기록 (수정 이력 · 퇴근 누락 보호) 진행"/>
          <p:cNvSpPr/>
          <p:nvPr/>
        </p:nvSpPr>
        <p:spPr>
          <a:xfrm>
            <a:off x="3931920" y="1426464"/>
            <a:ext cx="1234440" cy="128016"/>
          </a:xfrm>
          <a:prstGeom prst="roundRect">
            <a:avLst>
              <a:gd name="adj" fmla="val 50000"/>
            </a:avLst>
          </a:prstGeom>
          <a:solidFill>
            <a:schemeClr val="accent1"/>
          </a:solidFill>
          <a:ln w="12700">
            <a:solidFill>
              <a:schemeClr val="accent1"/>
            </a:solidFill>
            <a:prstDash val="solid"/>
          </a:ln>
        </p:spPr>
      </p:sp>
      <p:sp>
        <p:nvSpPr>
          <p:cNvPr id="11" name="Text 9"/>
          <p:cNvSpPr txBox="1"/>
          <p:nvPr/>
        </p:nvSpPr>
        <p:spPr>
          <a:xfrm>
            <a:off x="5358384" y="129844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90%</a:t>
            </a:r>
            <a:endParaRPr lang="en-US" sz="1100" dirty="0"/>
          </a:p>
        </p:txBody>
      </p:sp>
      <p:sp>
        <p:nvSpPr>
          <p:cNvPr id="12" name="근무 기록 (수정 이력 · 퇴근 누락 보호) 확인 0"/>
          <p:cNvSpPr/>
          <p:nvPr/>
        </p:nvSpPr>
        <p:spPr>
          <a:xfrm>
            <a:off x="5998464" y="1399032"/>
            <a:ext cx="182880" cy="182880"/>
          </a:xfrm>
          <a:prstGeom prst="ellipse">
            <a:avLst/>
          </a:prstGeom>
          <a:solidFill>
            <a:schemeClr val="accent1"/>
          </a:solidFill>
          <a:ln w="9525">
            <a:solidFill>
              <a:schemeClr val="accent1"/>
            </a:solidFill>
            <a:prstDash val="solid"/>
          </a:ln>
        </p:spPr>
      </p:sp>
      <p:sp>
        <p:nvSpPr>
          <p:cNvPr id="13" name="근무 기록 (수정 이력 · 퇴근 누락 보호) 확인 1"/>
          <p:cNvSpPr/>
          <p:nvPr/>
        </p:nvSpPr>
        <p:spPr>
          <a:xfrm>
            <a:off x="6291072" y="1399032"/>
            <a:ext cx="182880" cy="182880"/>
          </a:xfrm>
          <a:prstGeom prst="ellipse">
            <a:avLst/>
          </a:prstGeom>
          <a:solidFill>
            <a:schemeClr val="bg1"/>
          </a:solidFill>
          <a:ln w="9525">
            <a:solidFill>
              <a:srgbClr val="5D636D"/>
            </a:solidFill>
            <a:prstDash val="solid"/>
          </a:ln>
        </p:spPr>
      </p:sp>
      <p:sp>
        <p:nvSpPr>
          <p:cNvPr id="14" name="근무 기록 (수정 이력 · 퇴근 누락 보호) 확인 2"/>
          <p:cNvSpPr/>
          <p:nvPr/>
        </p:nvSpPr>
        <p:spPr>
          <a:xfrm>
            <a:off x="6583680" y="1399032"/>
            <a:ext cx="182880" cy="182880"/>
          </a:xfrm>
          <a:prstGeom prst="ellipse">
            <a:avLst/>
          </a:prstGeom>
          <a:solidFill>
            <a:schemeClr val="bg1"/>
          </a:solidFill>
          <a:ln w="9525">
            <a:solidFill>
              <a:srgbClr val="5D636D"/>
            </a:solidFill>
            <a:prstDash val="solid"/>
          </a:ln>
        </p:spPr>
      </p:sp>
      <p:sp>
        <p:nvSpPr>
          <p:cNvPr id="15" name="Text 13"/>
          <p:cNvSpPr txBox="1"/>
          <p:nvPr/>
        </p:nvSpPr>
        <p:spPr>
          <a:xfrm>
            <a:off x="6903720" y="129844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실제 폰 장기 사용</a:t>
            </a:r>
            <a:endParaRPr lang="en-US" sz="1050" dirty="0"/>
          </a:p>
        </p:txBody>
      </p:sp>
      <p:sp>
        <p:nvSpPr>
          <p:cNvPr id="16" name="Shape 14"/>
          <p:cNvSpPr/>
          <p:nvPr/>
        </p:nvSpPr>
        <p:spPr>
          <a:xfrm>
            <a:off x="457200" y="1682496"/>
            <a:ext cx="8229600" cy="0"/>
          </a:xfrm>
          <a:prstGeom prst="line">
            <a:avLst/>
          </a:prstGeom>
          <a:noFill/>
          <a:ln w="9525">
            <a:solidFill>
              <a:srgbClr val="DCD9D0"/>
            </a:solidFill>
            <a:prstDash val="solid"/>
          </a:ln>
        </p:spPr>
      </p:sp>
      <p:sp>
        <p:nvSpPr>
          <p:cNvPr id="17" name="Text 15"/>
          <p:cNvSpPr txBox="1"/>
          <p:nvPr/>
        </p:nvSpPr>
        <p:spPr>
          <a:xfrm>
            <a:off x="457200" y="1682496"/>
            <a:ext cx="3383280" cy="384048"/>
          </a:xfrm>
          <a:prstGeom prst="rect">
            <a:avLst/>
          </a:prstGeom>
          <a:noFill/>
          <a:ln/>
        </p:spPr>
        <p:txBody>
          <a:bodyPr wrap="square" lIns="0" tIns="0" rIns="0" bIns="0" rtlCol="0" anchor="ctr"/>
          <a:lstStyle/>
          <a:p>
            <a:pPr indent="0" marL="0">
              <a:buNone/>
            </a:pPr>
            <a:r>
              <a:rPr lang="en-US" sz="1150" dirty="0">
                <a:solidFill>
                  <a:schemeClr val="tx1"/>
                </a:solidFill>
              </a:rPr>
              <a:t>캘린더 (예정 vs 실제, 연장 · 대타)</a:t>
            </a:r>
            <a:endParaRPr lang="en-US" sz="1150" dirty="0"/>
          </a:p>
        </p:txBody>
      </p:sp>
      <p:sp>
        <p:nvSpPr>
          <p:cNvPr id="18" name="캘린더 (예정 vs 실제, 연장 · 대타) 바탕"/>
          <p:cNvSpPr/>
          <p:nvPr/>
        </p:nvSpPr>
        <p:spPr>
          <a:xfrm>
            <a:off x="3931920" y="1810512"/>
            <a:ext cx="1371600" cy="128016"/>
          </a:xfrm>
          <a:prstGeom prst="roundRect">
            <a:avLst>
              <a:gd name="adj" fmla="val 50000"/>
            </a:avLst>
          </a:prstGeom>
          <a:solidFill>
            <a:schemeClr val="bg2"/>
          </a:solidFill>
          <a:ln w="12700">
            <a:solidFill>
              <a:schemeClr val="bg2"/>
            </a:solidFill>
            <a:prstDash val="solid"/>
          </a:ln>
        </p:spPr>
      </p:sp>
      <p:sp>
        <p:nvSpPr>
          <p:cNvPr id="19" name="캘린더 (예정 vs 실제, 연장 · 대타) 진행"/>
          <p:cNvSpPr/>
          <p:nvPr/>
        </p:nvSpPr>
        <p:spPr>
          <a:xfrm>
            <a:off x="3931920" y="1810512"/>
            <a:ext cx="1165860" cy="128016"/>
          </a:xfrm>
          <a:prstGeom prst="roundRect">
            <a:avLst>
              <a:gd name="adj" fmla="val 50000"/>
            </a:avLst>
          </a:prstGeom>
          <a:solidFill>
            <a:schemeClr val="accent1"/>
          </a:solidFill>
          <a:ln w="12700">
            <a:solidFill>
              <a:schemeClr val="accent1"/>
            </a:solidFill>
            <a:prstDash val="solid"/>
          </a:ln>
        </p:spPr>
      </p:sp>
      <p:sp>
        <p:nvSpPr>
          <p:cNvPr id="20" name="Text 18"/>
          <p:cNvSpPr txBox="1"/>
          <p:nvPr/>
        </p:nvSpPr>
        <p:spPr>
          <a:xfrm>
            <a:off x="5358384" y="168249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21" name="캘린더 (예정 vs 실제, 연장 · 대타) 확인 0"/>
          <p:cNvSpPr/>
          <p:nvPr/>
        </p:nvSpPr>
        <p:spPr>
          <a:xfrm>
            <a:off x="5998464" y="1783080"/>
            <a:ext cx="182880" cy="182880"/>
          </a:xfrm>
          <a:prstGeom prst="ellipse">
            <a:avLst/>
          </a:prstGeom>
          <a:solidFill>
            <a:schemeClr val="accent1"/>
          </a:solidFill>
          <a:ln w="9525">
            <a:solidFill>
              <a:schemeClr val="accent1"/>
            </a:solidFill>
            <a:prstDash val="solid"/>
          </a:ln>
        </p:spPr>
      </p:sp>
      <p:sp>
        <p:nvSpPr>
          <p:cNvPr id="22" name="캘린더 (예정 vs 실제, 연장 · 대타) 확인 1"/>
          <p:cNvSpPr/>
          <p:nvPr/>
        </p:nvSpPr>
        <p:spPr>
          <a:xfrm>
            <a:off x="6291072" y="1783080"/>
            <a:ext cx="182880" cy="182880"/>
          </a:xfrm>
          <a:prstGeom prst="ellipse">
            <a:avLst/>
          </a:prstGeom>
          <a:solidFill>
            <a:schemeClr val="bg1"/>
          </a:solidFill>
          <a:ln w="9525">
            <a:solidFill>
              <a:srgbClr val="5D636D"/>
            </a:solidFill>
            <a:prstDash val="solid"/>
          </a:ln>
        </p:spPr>
      </p:sp>
      <p:sp>
        <p:nvSpPr>
          <p:cNvPr id="23" name="캘린더 (예정 vs 실제, 연장 · 대타) 확인 2"/>
          <p:cNvSpPr/>
          <p:nvPr/>
        </p:nvSpPr>
        <p:spPr>
          <a:xfrm>
            <a:off x="6583680" y="1783080"/>
            <a:ext cx="182880" cy="182880"/>
          </a:xfrm>
          <a:prstGeom prst="ellipse">
            <a:avLst/>
          </a:prstGeom>
          <a:solidFill>
            <a:schemeClr val="bg1"/>
          </a:solidFill>
          <a:ln w="9525">
            <a:solidFill>
              <a:srgbClr val="5D636D"/>
            </a:solidFill>
            <a:prstDash val="solid"/>
          </a:ln>
        </p:spPr>
      </p:sp>
      <p:sp>
        <p:nvSpPr>
          <p:cNvPr id="24" name="Text 22"/>
          <p:cNvSpPr txBox="1"/>
          <p:nvPr/>
        </p:nvSpPr>
        <p:spPr>
          <a:xfrm>
            <a:off x="6903720" y="168249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반복 스케줄 입력</a:t>
            </a:r>
            <a:endParaRPr lang="en-US" sz="1050" dirty="0"/>
          </a:p>
        </p:txBody>
      </p:sp>
      <p:sp>
        <p:nvSpPr>
          <p:cNvPr id="25" name="Shape 23"/>
          <p:cNvSpPr/>
          <p:nvPr/>
        </p:nvSpPr>
        <p:spPr>
          <a:xfrm>
            <a:off x="457200" y="2066544"/>
            <a:ext cx="8229600" cy="0"/>
          </a:xfrm>
          <a:prstGeom prst="line">
            <a:avLst/>
          </a:prstGeom>
          <a:noFill/>
          <a:ln w="9525">
            <a:solidFill>
              <a:srgbClr val="DCD9D0"/>
            </a:solidFill>
            <a:prstDash val="solid"/>
          </a:ln>
        </p:spPr>
      </p:sp>
      <p:sp>
        <p:nvSpPr>
          <p:cNvPr id="26" name="Text 24"/>
          <p:cNvSpPr txBox="1"/>
          <p:nvPr/>
        </p:nvSpPr>
        <p:spPr>
          <a:xfrm>
            <a:off x="457200" y="206654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급여 계산 (주휴 · 야간 · 최저임금)</a:t>
            </a:r>
            <a:endParaRPr lang="en-US" sz="1150" dirty="0"/>
          </a:p>
        </p:txBody>
      </p:sp>
      <p:sp>
        <p:nvSpPr>
          <p:cNvPr id="27" name="급여 계산 (주휴 · 야간 · 최저임금) 바탕"/>
          <p:cNvSpPr/>
          <p:nvPr/>
        </p:nvSpPr>
        <p:spPr>
          <a:xfrm>
            <a:off x="3931920" y="2194560"/>
            <a:ext cx="1371600" cy="128016"/>
          </a:xfrm>
          <a:prstGeom prst="roundRect">
            <a:avLst>
              <a:gd name="adj" fmla="val 50000"/>
            </a:avLst>
          </a:prstGeom>
          <a:solidFill>
            <a:schemeClr val="bg2"/>
          </a:solidFill>
          <a:ln w="12700">
            <a:solidFill>
              <a:schemeClr val="bg2"/>
            </a:solidFill>
            <a:prstDash val="solid"/>
          </a:ln>
        </p:spPr>
      </p:sp>
      <p:sp>
        <p:nvSpPr>
          <p:cNvPr id="28" name="급여 계산 (주휴 · 야간 · 최저임금) 진행"/>
          <p:cNvSpPr/>
          <p:nvPr/>
        </p:nvSpPr>
        <p:spPr>
          <a:xfrm>
            <a:off x="3931920" y="2194560"/>
            <a:ext cx="1165860" cy="128016"/>
          </a:xfrm>
          <a:prstGeom prst="roundRect">
            <a:avLst>
              <a:gd name="adj" fmla="val 50000"/>
            </a:avLst>
          </a:prstGeom>
          <a:solidFill>
            <a:schemeClr val="accent1"/>
          </a:solidFill>
          <a:ln w="12700">
            <a:solidFill>
              <a:schemeClr val="accent1"/>
            </a:solidFill>
            <a:prstDash val="solid"/>
          </a:ln>
        </p:spPr>
      </p:sp>
      <p:sp>
        <p:nvSpPr>
          <p:cNvPr id="29" name="Text 27"/>
          <p:cNvSpPr txBox="1"/>
          <p:nvPr/>
        </p:nvSpPr>
        <p:spPr>
          <a:xfrm>
            <a:off x="5358384" y="206654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85%</a:t>
            </a:r>
            <a:endParaRPr lang="en-US" sz="1100" dirty="0"/>
          </a:p>
        </p:txBody>
      </p:sp>
      <p:sp>
        <p:nvSpPr>
          <p:cNvPr id="30" name="급여 계산 (주휴 · 야간 · 최저임금) 확인 0"/>
          <p:cNvSpPr/>
          <p:nvPr/>
        </p:nvSpPr>
        <p:spPr>
          <a:xfrm>
            <a:off x="5998464" y="2167128"/>
            <a:ext cx="182880" cy="182880"/>
          </a:xfrm>
          <a:prstGeom prst="ellipse">
            <a:avLst/>
          </a:prstGeom>
          <a:solidFill>
            <a:schemeClr val="accent1"/>
          </a:solidFill>
          <a:ln w="9525">
            <a:solidFill>
              <a:schemeClr val="accent1"/>
            </a:solidFill>
            <a:prstDash val="solid"/>
          </a:ln>
        </p:spPr>
      </p:sp>
      <p:sp>
        <p:nvSpPr>
          <p:cNvPr id="31" name="급여 계산 (주휴 · 야간 · 최저임금) 확인 1"/>
          <p:cNvSpPr/>
          <p:nvPr/>
        </p:nvSpPr>
        <p:spPr>
          <a:xfrm>
            <a:off x="6291072" y="2167128"/>
            <a:ext cx="182880" cy="182880"/>
          </a:xfrm>
          <a:prstGeom prst="ellipse">
            <a:avLst/>
          </a:prstGeom>
          <a:solidFill>
            <a:schemeClr val="bg1"/>
          </a:solidFill>
          <a:ln w="9525">
            <a:solidFill>
              <a:srgbClr val="5D636D"/>
            </a:solidFill>
            <a:prstDash val="solid"/>
          </a:ln>
        </p:spPr>
      </p:sp>
      <p:sp>
        <p:nvSpPr>
          <p:cNvPr id="32" name="급여 계산 (주휴 · 야간 · 최저임금) 확인 2"/>
          <p:cNvSpPr/>
          <p:nvPr/>
        </p:nvSpPr>
        <p:spPr>
          <a:xfrm>
            <a:off x="6583680" y="2167128"/>
            <a:ext cx="182880" cy="182880"/>
          </a:xfrm>
          <a:prstGeom prst="ellipse">
            <a:avLst/>
          </a:prstGeom>
          <a:solidFill>
            <a:schemeClr val="bg1"/>
          </a:solidFill>
          <a:ln w="9525">
            <a:solidFill>
              <a:srgbClr val="5D636D"/>
            </a:solidFill>
            <a:prstDash val="solid"/>
          </a:ln>
        </p:spPr>
      </p:sp>
      <p:sp>
        <p:nvSpPr>
          <p:cNvPr id="33" name="Text 31"/>
          <p:cNvSpPr txBox="1"/>
          <p:nvPr/>
        </p:nvSpPr>
        <p:spPr>
          <a:xfrm>
            <a:off x="6903720" y="206654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연장근로 가산</a:t>
            </a:r>
            <a:endParaRPr lang="en-US" sz="1050" dirty="0"/>
          </a:p>
        </p:txBody>
      </p:sp>
      <p:sp>
        <p:nvSpPr>
          <p:cNvPr id="34" name="Shape 32"/>
          <p:cNvSpPr/>
          <p:nvPr/>
        </p:nvSpPr>
        <p:spPr>
          <a:xfrm>
            <a:off x="457200" y="2450592"/>
            <a:ext cx="8229600" cy="0"/>
          </a:xfrm>
          <a:prstGeom prst="line">
            <a:avLst/>
          </a:prstGeom>
          <a:noFill/>
          <a:ln w="9525">
            <a:solidFill>
              <a:srgbClr val="DCD9D0"/>
            </a:solidFill>
            <a:prstDash val="solid"/>
          </a:ln>
        </p:spPr>
      </p:sp>
      <p:sp>
        <p:nvSpPr>
          <p:cNvPr id="35" name="Text 33"/>
          <p:cNvSpPr txBox="1"/>
          <p:nvPr/>
        </p:nvSpPr>
        <p:spPr>
          <a:xfrm>
            <a:off x="457200" y="2450592"/>
            <a:ext cx="3383280" cy="384048"/>
          </a:xfrm>
          <a:prstGeom prst="rect">
            <a:avLst/>
          </a:prstGeom>
          <a:noFill/>
          <a:ln/>
        </p:spPr>
        <p:txBody>
          <a:bodyPr wrap="square" lIns="0" tIns="0" rIns="0" bIns="0" rtlCol="0" anchor="ctr"/>
          <a:lstStyle/>
          <a:p>
            <a:pPr indent="0" marL="0">
              <a:buNone/>
            </a:pPr>
            <a:r>
              <a:rPr lang="en-US" sz="1150" dirty="0">
                <a:solidFill>
                  <a:schemeClr val="tx1"/>
                </a:solidFill>
              </a:rPr>
              <a:t>입금액 비교 · 차액 알림</a:t>
            </a:r>
            <a:endParaRPr lang="en-US" sz="1150" dirty="0"/>
          </a:p>
        </p:txBody>
      </p:sp>
      <p:sp>
        <p:nvSpPr>
          <p:cNvPr id="36" name="입금액 비교 · 차액 알림 바탕"/>
          <p:cNvSpPr/>
          <p:nvPr/>
        </p:nvSpPr>
        <p:spPr>
          <a:xfrm>
            <a:off x="3931920" y="2578608"/>
            <a:ext cx="1371600" cy="128016"/>
          </a:xfrm>
          <a:prstGeom prst="roundRect">
            <a:avLst>
              <a:gd name="adj" fmla="val 50000"/>
            </a:avLst>
          </a:prstGeom>
          <a:solidFill>
            <a:schemeClr val="bg2"/>
          </a:solidFill>
          <a:ln w="12700">
            <a:solidFill>
              <a:schemeClr val="bg2"/>
            </a:solidFill>
            <a:prstDash val="solid"/>
          </a:ln>
        </p:spPr>
      </p:sp>
      <p:sp>
        <p:nvSpPr>
          <p:cNvPr id="37" name="입금액 비교 · 차액 알림 진행"/>
          <p:cNvSpPr/>
          <p:nvPr/>
        </p:nvSpPr>
        <p:spPr>
          <a:xfrm>
            <a:off x="3931920" y="2578608"/>
            <a:ext cx="1097280" cy="128016"/>
          </a:xfrm>
          <a:prstGeom prst="roundRect">
            <a:avLst>
              <a:gd name="adj" fmla="val 50000"/>
            </a:avLst>
          </a:prstGeom>
          <a:solidFill>
            <a:schemeClr val="accent1"/>
          </a:solidFill>
          <a:ln w="12700">
            <a:solidFill>
              <a:schemeClr val="accent1"/>
            </a:solidFill>
            <a:prstDash val="solid"/>
          </a:ln>
        </p:spPr>
      </p:sp>
      <p:sp>
        <p:nvSpPr>
          <p:cNvPr id="38" name="Text 36"/>
          <p:cNvSpPr txBox="1"/>
          <p:nvPr/>
        </p:nvSpPr>
        <p:spPr>
          <a:xfrm>
            <a:off x="5358384" y="2450592"/>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39" name="입금액 비교 · 차액 알림 확인 0"/>
          <p:cNvSpPr/>
          <p:nvPr/>
        </p:nvSpPr>
        <p:spPr>
          <a:xfrm>
            <a:off x="5998464" y="2551176"/>
            <a:ext cx="182880" cy="182880"/>
          </a:xfrm>
          <a:prstGeom prst="ellipse">
            <a:avLst/>
          </a:prstGeom>
          <a:solidFill>
            <a:schemeClr val="accent1"/>
          </a:solidFill>
          <a:ln w="9525">
            <a:solidFill>
              <a:schemeClr val="accent1"/>
            </a:solidFill>
            <a:prstDash val="solid"/>
          </a:ln>
        </p:spPr>
      </p:sp>
      <p:sp>
        <p:nvSpPr>
          <p:cNvPr id="40" name="입금액 비교 · 차액 알림 확인 1"/>
          <p:cNvSpPr/>
          <p:nvPr/>
        </p:nvSpPr>
        <p:spPr>
          <a:xfrm>
            <a:off x="6291072" y="2551176"/>
            <a:ext cx="182880" cy="182880"/>
          </a:xfrm>
          <a:prstGeom prst="ellipse">
            <a:avLst/>
          </a:prstGeom>
          <a:solidFill>
            <a:schemeClr val="bg1"/>
          </a:solidFill>
          <a:ln w="9525">
            <a:solidFill>
              <a:srgbClr val="5D636D"/>
            </a:solidFill>
            <a:prstDash val="solid"/>
          </a:ln>
        </p:spPr>
      </p:sp>
      <p:sp>
        <p:nvSpPr>
          <p:cNvPr id="41" name="입금액 비교 · 차액 알림 확인 2"/>
          <p:cNvSpPr/>
          <p:nvPr/>
        </p:nvSpPr>
        <p:spPr>
          <a:xfrm>
            <a:off x="6583680" y="2551176"/>
            <a:ext cx="182880" cy="182880"/>
          </a:xfrm>
          <a:prstGeom prst="ellipse">
            <a:avLst/>
          </a:prstGeom>
          <a:solidFill>
            <a:schemeClr val="bg1"/>
          </a:solidFill>
          <a:ln w="9525">
            <a:solidFill>
              <a:srgbClr val="5D636D"/>
            </a:solidFill>
            <a:prstDash val="solid"/>
          </a:ln>
        </p:spPr>
      </p:sp>
      <p:sp>
        <p:nvSpPr>
          <p:cNvPr id="42" name="Text 40"/>
          <p:cNvSpPr txBox="1"/>
          <p:nvPr/>
        </p:nvSpPr>
        <p:spPr>
          <a:xfrm>
            <a:off x="6903720" y="2450592"/>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매달 넣을지 검증(16장 1행)</a:t>
            </a:r>
            <a:endParaRPr lang="en-US" sz="1050" dirty="0"/>
          </a:p>
        </p:txBody>
      </p:sp>
      <p:sp>
        <p:nvSpPr>
          <p:cNvPr id="43" name="Shape 41"/>
          <p:cNvSpPr/>
          <p:nvPr/>
        </p:nvSpPr>
        <p:spPr>
          <a:xfrm>
            <a:off x="457200" y="2834640"/>
            <a:ext cx="8229600" cy="0"/>
          </a:xfrm>
          <a:prstGeom prst="line">
            <a:avLst/>
          </a:prstGeom>
          <a:noFill/>
          <a:ln w="9525">
            <a:solidFill>
              <a:srgbClr val="DCD9D0"/>
            </a:solidFill>
            <a:prstDash val="solid"/>
          </a:ln>
        </p:spPr>
      </p:sp>
      <p:sp>
        <p:nvSpPr>
          <p:cNvPr id="44" name="Text 42"/>
          <p:cNvSpPr txBox="1"/>
          <p:nvPr/>
        </p:nvSpPr>
        <p:spPr>
          <a:xfrm>
            <a:off x="457200" y="2834640"/>
            <a:ext cx="3383280" cy="384048"/>
          </a:xfrm>
          <a:prstGeom prst="rect">
            <a:avLst/>
          </a:prstGeom>
          <a:noFill/>
          <a:ln/>
        </p:spPr>
        <p:txBody>
          <a:bodyPr wrap="square" lIns="0" tIns="0" rIns="0" bIns="0" rtlCol="0" anchor="ctr"/>
          <a:lstStyle/>
          <a:p>
            <a:pPr indent="0" marL="0">
              <a:buNone/>
            </a:pPr>
            <a:r>
              <a:rPr lang="en-US" sz="1150" dirty="0">
                <a:solidFill>
                  <a:schemeClr val="tx1"/>
                </a:solidFill>
              </a:rPr>
              <a:t>단계별 정산 요청</a:t>
            </a:r>
            <a:endParaRPr lang="en-US" sz="1150" dirty="0"/>
          </a:p>
        </p:txBody>
      </p:sp>
      <p:sp>
        <p:nvSpPr>
          <p:cNvPr id="45" name="단계별 정산 요청 바탕"/>
          <p:cNvSpPr/>
          <p:nvPr/>
        </p:nvSpPr>
        <p:spPr>
          <a:xfrm>
            <a:off x="3931920" y="2962656"/>
            <a:ext cx="1371600" cy="128016"/>
          </a:xfrm>
          <a:prstGeom prst="roundRect">
            <a:avLst>
              <a:gd name="adj" fmla="val 50000"/>
            </a:avLst>
          </a:prstGeom>
          <a:solidFill>
            <a:schemeClr val="bg2"/>
          </a:solidFill>
          <a:ln w="12700">
            <a:solidFill>
              <a:schemeClr val="bg2"/>
            </a:solidFill>
            <a:prstDash val="solid"/>
          </a:ln>
        </p:spPr>
      </p:sp>
      <p:sp>
        <p:nvSpPr>
          <p:cNvPr id="46" name="단계별 정산 요청 진행"/>
          <p:cNvSpPr/>
          <p:nvPr/>
        </p:nvSpPr>
        <p:spPr>
          <a:xfrm>
            <a:off x="3931920" y="2962656"/>
            <a:ext cx="1028700" cy="128016"/>
          </a:xfrm>
          <a:prstGeom prst="roundRect">
            <a:avLst>
              <a:gd name="adj" fmla="val 50000"/>
            </a:avLst>
          </a:prstGeom>
          <a:solidFill>
            <a:schemeClr val="accent1"/>
          </a:solidFill>
          <a:ln w="12700">
            <a:solidFill>
              <a:schemeClr val="accent1"/>
            </a:solidFill>
            <a:prstDash val="solid"/>
          </a:ln>
        </p:spPr>
      </p:sp>
      <p:sp>
        <p:nvSpPr>
          <p:cNvPr id="47" name="Text 45"/>
          <p:cNvSpPr txBox="1"/>
          <p:nvPr/>
        </p:nvSpPr>
        <p:spPr>
          <a:xfrm>
            <a:off x="5358384" y="2834640"/>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75%</a:t>
            </a:r>
            <a:endParaRPr lang="en-US" sz="1100" dirty="0"/>
          </a:p>
        </p:txBody>
      </p:sp>
      <p:sp>
        <p:nvSpPr>
          <p:cNvPr id="48" name="단계별 정산 요청 확인 0"/>
          <p:cNvSpPr/>
          <p:nvPr/>
        </p:nvSpPr>
        <p:spPr>
          <a:xfrm>
            <a:off x="5998464" y="2935224"/>
            <a:ext cx="182880" cy="182880"/>
          </a:xfrm>
          <a:prstGeom prst="ellipse">
            <a:avLst/>
          </a:prstGeom>
          <a:solidFill>
            <a:schemeClr val="accent1"/>
          </a:solidFill>
          <a:ln w="9525">
            <a:solidFill>
              <a:schemeClr val="accent1"/>
            </a:solidFill>
            <a:prstDash val="solid"/>
          </a:ln>
        </p:spPr>
      </p:sp>
      <p:sp>
        <p:nvSpPr>
          <p:cNvPr id="49" name="단계별 정산 요청 확인 1"/>
          <p:cNvSpPr/>
          <p:nvPr/>
        </p:nvSpPr>
        <p:spPr>
          <a:xfrm>
            <a:off x="6291072" y="2935224"/>
            <a:ext cx="182880" cy="182880"/>
          </a:xfrm>
          <a:prstGeom prst="ellipse">
            <a:avLst/>
          </a:prstGeom>
          <a:solidFill>
            <a:schemeClr val="bg1"/>
          </a:solidFill>
          <a:ln w="9525">
            <a:solidFill>
              <a:srgbClr val="5D636D"/>
            </a:solidFill>
            <a:prstDash val="solid"/>
          </a:ln>
        </p:spPr>
      </p:sp>
      <p:sp>
        <p:nvSpPr>
          <p:cNvPr id="50" name="단계별 정산 요청 확인 2"/>
          <p:cNvSpPr/>
          <p:nvPr/>
        </p:nvSpPr>
        <p:spPr>
          <a:xfrm>
            <a:off x="6583680" y="2935224"/>
            <a:ext cx="182880" cy="182880"/>
          </a:xfrm>
          <a:prstGeom prst="ellipse">
            <a:avLst/>
          </a:prstGeom>
          <a:solidFill>
            <a:schemeClr val="bg1"/>
          </a:solidFill>
          <a:ln w="9525">
            <a:solidFill>
              <a:srgbClr val="5D636D"/>
            </a:solidFill>
            <a:prstDash val="solid"/>
          </a:ln>
        </p:spPr>
      </p:sp>
      <p:sp>
        <p:nvSpPr>
          <p:cNvPr id="51" name="Text 49"/>
          <p:cNvSpPr txBox="1"/>
          <p:nvPr/>
        </p:nvSpPr>
        <p:spPr>
          <a:xfrm>
            <a:off x="6903720" y="2834640"/>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문구 톤 사용자 검증</a:t>
            </a:r>
            <a:endParaRPr lang="en-US" sz="1050" dirty="0"/>
          </a:p>
        </p:txBody>
      </p:sp>
      <p:sp>
        <p:nvSpPr>
          <p:cNvPr id="52" name="Shape 50"/>
          <p:cNvSpPr/>
          <p:nvPr/>
        </p:nvSpPr>
        <p:spPr>
          <a:xfrm>
            <a:off x="457200" y="3218688"/>
            <a:ext cx="8229600" cy="0"/>
          </a:xfrm>
          <a:prstGeom prst="line">
            <a:avLst/>
          </a:prstGeom>
          <a:noFill/>
          <a:ln w="9525">
            <a:solidFill>
              <a:srgbClr val="DCD9D0"/>
            </a:solidFill>
            <a:prstDash val="solid"/>
          </a:ln>
        </p:spPr>
      </p:sp>
      <p:sp>
        <p:nvSpPr>
          <p:cNvPr id="53" name="Text 51"/>
          <p:cNvSpPr txBox="1"/>
          <p:nvPr/>
        </p:nvSpPr>
        <p:spPr>
          <a:xfrm>
            <a:off x="457200" y="3218688"/>
            <a:ext cx="3383280" cy="384048"/>
          </a:xfrm>
          <a:prstGeom prst="rect">
            <a:avLst/>
          </a:prstGeom>
          <a:noFill/>
          <a:ln/>
        </p:spPr>
        <p:txBody>
          <a:bodyPr wrap="square" lIns="0" tIns="0" rIns="0" bIns="0" rtlCol="0" anchor="ctr"/>
          <a:lstStyle/>
          <a:p>
            <a:pPr indent="0" marL="0">
              <a:buNone/>
            </a:pPr>
            <a:r>
              <a:rPr lang="en-US" sz="1150" dirty="0">
                <a:solidFill>
                  <a:schemeClr val="tx1"/>
                </a:solidFill>
              </a:rPr>
              <a:t>증빙 묶음 PDF</a:t>
            </a:r>
            <a:endParaRPr lang="en-US" sz="1150" dirty="0"/>
          </a:p>
        </p:txBody>
      </p:sp>
      <p:sp>
        <p:nvSpPr>
          <p:cNvPr id="54" name="증빙 묶음 PDF 바탕"/>
          <p:cNvSpPr/>
          <p:nvPr/>
        </p:nvSpPr>
        <p:spPr>
          <a:xfrm>
            <a:off x="3931920" y="3346704"/>
            <a:ext cx="1371600" cy="128016"/>
          </a:xfrm>
          <a:prstGeom prst="roundRect">
            <a:avLst>
              <a:gd name="adj" fmla="val 50000"/>
            </a:avLst>
          </a:prstGeom>
          <a:solidFill>
            <a:schemeClr val="bg2"/>
          </a:solidFill>
          <a:ln w="12700">
            <a:solidFill>
              <a:schemeClr val="bg2"/>
            </a:solidFill>
            <a:prstDash val="solid"/>
          </a:ln>
        </p:spPr>
      </p:sp>
      <p:sp>
        <p:nvSpPr>
          <p:cNvPr id="55" name="증빙 묶음 PDF 진행"/>
          <p:cNvSpPr/>
          <p:nvPr/>
        </p:nvSpPr>
        <p:spPr>
          <a:xfrm>
            <a:off x="3931920" y="3346704"/>
            <a:ext cx="1097280" cy="128016"/>
          </a:xfrm>
          <a:prstGeom prst="roundRect">
            <a:avLst>
              <a:gd name="adj" fmla="val 50000"/>
            </a:avLst>
          </a:prstGeom>
          <a:solidFill>
            <a:schemeClr val="accent1"/>
          </a:solidFill>
          <a:ln w="12700">
            <a:solidFill>
              <a:schemeClr val="accent1"/>
            </a:solidFill>
            <a:prstDash val="solid"/>
          </a:ln>
        </p:spPr>
      </p:sp>
      <p:sp>
        <p:nvSpPr>
          <p:cNvPr id="56" name="Text 54"/>
          <p:cNvSpPr txBox="1"/>
          <p:nvPr/>
        </p:nvSpPr>
        <p:spPr>
          <a:xfrm>
            <a:off x="5358384" y="3218688"/>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57" name="증빙 묶음 PDF 확인 0"/>
          <p:cNvSpPr/>
          <p:nvPr/>
        </p:nvSpPr>
        <p:spPr>
          <a:xfrm>
            <a:off x="5998464" y="3319272"/>
            <a:ext cx="182880" cy="182880"/>
          </a:xfrm>
          <a:prstGeom prst="ellipse">
            <a:avLst/>
          </a:prstGeom>
          <a:solidFill>
            <a:schemeClr val="accent1"/>
          </a:solidFill>
          <a:ln w="9525">
            <a:solidFill>
              <a:schemeClr val="accent1"/>
            </a:solidFill>
            <a:prstDash val="solid"/>
          </a:ln>
        </p:spPr>
      </p:sp>
      <p:sp>
        <p:nvSpPr>
          <p:cNvPr id="58" name="증빙 묶음 PDF 확인 1"/>
          <p:cNvSpPr/>
          <p:nvPr/>
        </p:nvSpPr>
        <p:spPr>
          <a:xfrm>
            <a:off x="6291072" y="3319272"/>
            <a:ext cx="182880" cy="182880"/>
          </a:xfrm>
          <a:prstGeom prst="ellipse">
            <a:avLst/>
          </a:prstGeom>
          <a:solidFill>
            <a:schemeClr val="bg1"/>
          </a:solidFill>
          <a:ln w="9525">
            <a:solidFill>
              <a:srgbClr val="5D636D"/>
            </a:solidFill>
            <a:prstDash val="solid"/>
          </a:ln>
        </p:spPr>
      </p:sp>
      <p:sp>
        <p:nvSpPr>
          <p:cNvPr id="59" name="증빙 묶음 PDF 확인 2"/>
          <p:cNvSpPr/>
          <p:nvPr/>
        </p:nvSpPr>
        <p:spPr>
          <a:xfrm>
            <a:off x="6583680" y="3319272"/>
            <a:ext cx="182880" cy="182880"/>
          </a:xfrm>
          <a:prstGeom prst="ellipse">
            <a:avLst/>
          </a:prstGeom>
          <a:solidFill>
            <a:schemeClr val="bg1"/>
          </a:solidFill>
          <a:ln w="9525">
            <a:solidFill>
              <a:srgbClr val="5D636D"/>
            </a:solidFill>
            <a:prstDash val="solid"/>
          </a:ln>
        </p:spPr>
      </p:sp>
      <p:sp>
        <p:nvSpPr>
          <p:cNvPr id="60" name="Text 58"/>
          <p:cNvSpPr txBox="1"/>
          <p:nvPr/>
        </p:nvSpPr>
        <p:spPr>
          <a:xfrm>
            <a:off x="6903720" y="3218688"/>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PDF 저장</a:t>
            </a:r>
            <a:endParaRPr lang="en-US" sz="1050" dirty="0"/>
          </a:p>
        </p:txBody>
      </p:sp>
      <p:sp>
        <p:nvSpPr>
          <p:cNvPr id="61" name="Shape 59"/>
          <p:cNvSpPr/>
          <p:nvPr/>
        </p:nvSpPr>
        <p:spPr>
          <a:xfrm>
            <a:off x="457200" y="3602736"/>
            <a:ext cx="8229600" cy="0"/>
          </a:xfrm>
          <a:prstGeom prst="line">
            <a:avLst/>
          </a:prstGeom>
          <a:noFill/>
          <a:ln w="9525">
            <a:solidFill>
              <a:srgbClr val="DCD9D0"/>
            </a:solidFill>
            <a:prstDash val="solid"/>
          </a:ln>
        </p:spPr>
      </p:sp>
      <p:sp>
        <p:nvSpPr>
          <p:cNvPr id="62" name="Text 60"/>
          <p:cNvSpPr txBox="1"/>
          <p:nvPr/>
        </p:nvSpPr>
        <p:spPr>
          <a:xfrm>
            <a:off x="457200" y="3602736"/>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등록 (확인 번호 · 등록 시각)</a:t>
            </a:r>
            <a:endParaRPr lang="en-US" sz="1150" dirty="0"/>
          </a:p>
        </p:txBody>
      </p:sp>
      <p:sp>
        <p:nvSpPr>
          <p:cNvPr id="63" name="기록 등록 (확인 번호 · 등록 시각) 바탕"/>
          <p:cNvSpPr/>
          <p:nvPr/>
        </p:nvSpPr>
        <p:spPr>
          <a:xfrm>
            <a:off x="3931920" y="3730752"/>
            <a:ext cx="1371600" cy="128016"/>
          </a:xfrm>
          <a:prstGeom prst="roundRect">
            <a:avLst>
              <a:gd name="adj" fmla="val 50000"/>
            </a:avLst>
          </a:prstGeom>
          <a:solidFill>
            <a:schemeClr val="bg2"/>
          </a:solidFill>
          <a:ln w="12700">
            <a:solidFill>
              <a:schemeClr val="bg2"/>
            </a:solidFill>
            <a:prstDash val="solid"/>
          </a:ln>
        </p:spPr>
      </p:sp>
      <p:sp>
        <p:nvSpPr>
          <p:cNvPr id="64" name="기록 등록 (확인 번호 · 등록 시각) 진행"/>
          <p:cNvSpPr/>
          <p:nvPr/>
        </p:nvSpPr>
        <p:spPr>
          <a:xfrm>
            <a:off x="3931920" y="3730752"/>
            <a:ext cx="960120" cy="128016"/>
          </a:xfrm>
          <a:prstGeom prst="roundRect">
            <a:avLst>
              <a:gd name="adj" fmla="val 50000"/>
            </a:avLst>
          </a:prstGeom>
          <a:solidFill>
            <a:schemeClr val="accent1"/>
          </a:solidFill>
          <a:ln w="12700">
            <a:solidFill>
              <a:schemeClr val="accent1"/>
            </a:solidFill>
            <a:prstDash val="solid"/>
          </a:ln>
        </p:spPr>
      </p:sp>
      <p:sp>
        <p:nvSpPr>
          <p:cNvPr id="65" name="Text 63"/>
          <p:cNvSpPr txBox="1"/>
          <p:nvPr/>
        </p:nvSpPr>
        <p:spPr>
          <a:xfrm>
            <a:off x="5358384" y="3602736"/>
            <a:ext cx="457200" cy="384048"/>
          </a:xfrm>
          <a:prstGeom prst="rect">
            <a:avLst/>
          </a:prstGeom>
          <a:noFill/>
          <a:ln/>
        </p:spPr>
        <p:txBody>
          <a:bodyPr wrap="square" lIns="0" tIns="0" rIns="0" bIns="0" rtlCol="0" anchor="ctr"/>
          <a:lstStyle/>
          <a:p>
            <a:pPr indent="0" marL="0">
              <a:buNone/>
            </a:pPr>
            <a:r>
              <a:rPr lang="en-US" sz="1100" b="1" dirty="0">
                <a:solidFill>
                  <a:schemeClr val="tx2"/>
                </a:solidFill>
              </a:rPr>
              <a:t>70%</a:t>
            </a:r>
            <a:endParaRPr lang="en-US" sz="1100" dirty="0"/>
          </a:p>
        </p:txBody>
      </p:sp>
      <p:sp>
        <p:nvSpPr>
          <p:cNvPr id="66" name="기록 등록 (확인 번호 · 등록 시각) 확인 0"/>
          <p:cNvSpPr/>
          <p:nvPr/>
        </p:nvSpPr>
        <p:spPr>
          <a:xfrm>
            <a:off x="5998464" y="3703320"/>
            <a:ext cx="182880" cy="182880"/>
          </a:xfrm>
          <a:prstGeom prst="ellipse">
            <a:avLst/>
          </a:prstGeom>
          <a:solidFill>
            <a:schemeClr val="accent1"/>
          </a:solidFill>
          <a:ln w="9525">
            <a:solidFill>
              <a:schemeClr val="accent1"/>
            </a:solidFill>
            <a:prstDash val="solid"/>
          </a:ln>
        </p:spPr>
      </p:sp>
      <p:sp>
        <p:nvSpPr>
          <p:cNvPr id="67" name="기록 등록 (확인 번호 · 등록 시각) 확인 1"/>
          <p:cNvSpPr/>
          <p:nvPr/>
        </p:nvSpPr>
        <p:spPr>
          <a:xfrm>
            <a:off x="6291072" y="3703320"/>
            <a:ext cx="182880" cy="182880"/>
          </a:xfrm>
          <a:prstGeom prst="ellipse">
            <a:avLst/>
          </a:prstGeom>
          <a:solidFill>
            <a:schemeClr val="bg1"/>
          </a:solidFill>
          <a:ln w="9525">
            <a:solidFill>
              <a:srgbClr val="5D636D"/>
            </a:solidFill>
            <a:prstDash val="solid"/>
          </a:ln>
        </p:spPr>
      </p:sp>
      <p:sp>
        <p:nvSpPr>
          <p:cNvPr id="68" name="기록 등록 (확인 번호 · 등록 시각) 확인 2"/>
          <p:cNvSpPr/>
          <p:nvPr/>
        </p:nvSpPr>
        <p:spPr>
          <a:xfrm>
            <a:off x="6583680" y="3703320"/>
            <a:ext cx="182880" cy="182880"/>
          </a:xfrm>
          <a:prstGeom prst="ellipse">
            <a:avLst/>
          </a:prstGeom>
          <a:solidFill>
            <a:schemeClr val="bg1"/>
          </a:solidFill>
          <a:ln w="9525">
            <a:solidFill>
              <a:srgbClr val="5D636D"/>
            </a:solidFill>
            <a:prstDash val="solid"/>
          </a:ln>
        </p:spPr>
      </p:sp>
      <p:sp>
        <p:nvSpPr>
          <p:cNvPr id="69" name="Text 67"/>
          <p:cNvSpPr txBox="1"/>
          <p:nvPr/>
        </p:nvSpPr>
        <p:spPr>
          <a:xfrm>
            <a:off x="6903720" y="3602736"/>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내용으로 번호 다시 계산</a:t>
            </a:r>
            <a:endParaRPr lang="en-US" sz="1050" dirty="0"/>
          </a:p>
        </p:txBody>
      </p:sp>
      <p:sp>
        <p:nvSpPr>
          <p:cNvPr id="70" name="Shape 68"/>
          <p:cNvSpPr/>
          <p:nvPr/>
        </p:nvSpPr>
        <p:spPr>
          <a:xfrm>
            <a:off x="457200" y="3986784"/>
            <a:ext cx="8229600" cy="0"/>
          </a:xfrm>
          <a:prstGeom prst="line">
            <a:avLst/>
          </a:prstGeom>
          <a:noFill/>
          <a:ln w="9525">
            <a:solidFill>
              <a:srgbClr val="DCD9D0"/>
            </a:solidFill>
            <a:prstDash val="solid"/>
          </a:ln>
        </p:spPr>
      </p:sp>
      <p:sp>
        <p:nvSpPr>
          <p:cNvPr id="71" name="Text 69"/>
          <p:cNvSpPr txBox="1"/>
          <p:nvPr/>
        </p:nvSpPr>
        <p:spPr>
          <a:xfrm>
            <a:off x="457200" y="3986784"/>
            <a:ext cx="3383280" cy="384048"/>
          </a:xfrm>
          <a:prstGeom prst="rect">
            <a:avLst/>
          </a:prstGeom>
          <a:noFill/>
          <a:ln/>
        </p:spPr>
        <p:txBody>
          <a:bodyPr wrap="square" lIns="0" tIns="0" rIns="0" bIns="0" rtlCol="0" anchor="ctr"/>
          <a:lstStyle/>
          <a:p>
            <a:pPr indent="0" marL="0">
              <a:buNone/>
            </a:pPr>
            <a:r>
              <a:rPr lang="en-US" sz="1150" dirty="0">
                <a:solidFill>
                  <a:schemeClr val="tx1"/>
                </a:solidFill>
              </a:rPr>
              <a:t>기록 백업 · 불러오기</a:t>
            </a:r>
            <a:endParaRPr lang="en-US" sz="1150" dirty="0"/>
          </a:p>
        </p:txBody>
      </p:sp>
      <p:sp>
        <p:nvSpPr>
          <p:cNvPr id="72" name="기록 백업 · 불러오기 바탕"/>
          <p:cNvSpPr/>
          <p:nvPr/>
        </p:nvSpPr>
        <p:spPr>
          <a:xfrm>
            <a:off x="3931920" y="4114800"/>
            <a:ext cx="1371600" cy="128016"/>
          </a:xfrm>
          <a:prstGeom prst="roundRect">
            <a:avLst>
              <a:gd name="adj" fmla="val 50000"/>
            </a:avLst>
          </a:prstGeom>
          <a:solidFill>
            <a:schemeClr val="bg2"/>
          </a:solidFill>
          <a:ln w="12700">
            <a:solidFill>
              <a:schemeClr val="bg2"/>
            </a:solidFill>
            <a:prstDash val="solid"/>
          </a:ln>
        </p:spPr>
      </p:sp>
      <p:sp>
        <p:nvSpPr>
          <p:cNvPr id="73" name="기록 백업 · 불러오기 진행"/>
          <p:cNvSpPr/>
          <p:nvPr/>
        </p:nvSpPr>
        <p:spPr>
          <a:xfrm>
            <a:off x="3931920" y="4114800"/>
            <a:ext cx="1097280" cy="128016"/>
          </a:xfrm>
          <a:prstGeom prst="roundRect">
            <a:avLst>
              <a:gd name="adj" fmla="val 50000"/>
            </a:avLst>
          </a:prstGeom>
          <a:solidFill>
            <a:schemeClr val="accent1"/>
          </a:solidFill>
          <a:ln w="12700">
            <a:solidFill>
              <a:schemeClr val="accent1"/>
            </a:solidFill>
            <a:prstDash val="solid"/>
          </a:ln>
        </p:spPr>
      </p:sp>
      <p:sp>
        <p:nvSpPr>
          <p:cNvPr id="74" name="Text 72"/>
          <p:cNvSpPr txBox="1"/>
          <p:nvPr/>
        </p:nvSpPr>
        <p:spPr>
          <a:xfrm>
            <a:off x="5358384" y="3986784"/>
            <a:ext cx="457200" cy="384048"/>
          </a:xfrm>
          <a:prstGeom prst="rect">
            <a:avLst/>
          </a:prstGeom>
          <a:noFill/>
          <a:ln/>
        </p:spPr>
        <p:txBody>
          <a:bodyPr wrap="square" lIns="0" tIns="0" rIns="0" bIns="0" rtlCol="0" anchor="ctr"/>
          <a:lstStyle/>
          <a:p>
            <a:pPr indent="0" marL="0">
              <a:buNone/>
            </a:pPr>
            <a:r>
              <a:rPr lang="en-US" sz="1100" b="1" dirty="0">
                <a:solidFill>
                  <a:schemeClr val="tx2"/>
                </a:solidFill>
              </a:rPr>
              <a:t>80%</a:t>
            </a:r>
            <a:endParaRPr lang="en-US" sz="1100" dirty="0"/>
          </a:p>
        </p:txBody>
      </p:sp>
      <p:sp>
        <p:nvSpPr>
          <p:cNvPr id="75" name="기록 백업 · 불러오기 확인 0"/>
          <p:cNvSpPr/>
          <p:nvPr/>
        </p:nvSpPr>
        <p:spPr>
          <a:xfrm>
            <a:off x="5998464" y="4087368"/>
            <a:ext cx="182880" cy="182880"/>
          </a:xfrm>
          <a:prstGeom prst="ellipse">
            <a:avLst/>
          </a:prstGeom>
          <a:solidFill>
            <a:schemeClr val="accent1"/>
          </a:solidFill>
          <a:ln w="9525">
            <a:solidFill>
              <a:schemeClr val="accent1"/>
            </a:solidFill>
            <a:prstDash val="solid"/>
          </a:ln>
        </p:spPr>
      </p:sp>
      <p:sp>
        <p:nvSpPr>
          <p:cNvPr id="76" name="기록 백업 · 불러오기 확인 1"/>
          <p:cNvSpPr/>
          <p:nvPr/>
        </p:nvSpPr>
        <p:spPr>
          <a:xfrm>
            <a:off x="6291072" y="4087368"/>
            <a:ext cx="182880" cy="182880"/>
          </a:xfrm>
          <a:prstGeom prst="ellipse">
            <a:avLst/>
          </a:prstGeom>
          <a:solidFill>
            <a:schemeClr val="bg1"/>
          </a:solidFill>
          <a:ln w="9525">
            <a:solidFill>
              <a:srgbClr val="5D636D"/>
            </a:solidFill>
            <a:prstDash val="solid"/>
          </a:ln>
        </p:spPr>
      </p:sp>
      <p:sp>
        <p:nvSpPr>
          <p:cNvPr id="77" name="기록 백업 · 불러오기 확인 2"/>
          <p:cNvSpPr/>
          <p:nvPr/>
        </p:nvSpPr>
        <p:spPr>
          <a:xfrm>
            <a:off x="6583680" y="4087368"/>
            <a:ext cx="182880" cy="182880"/>
          </a:xfrm>
          <a:prstGeom prst="ellipse">
            <a:avLst/>
          </a:prstGeom>
          <a:solidFill>
            <a:schemeClr val="bg1"/>
          </a:solidFill>
          <a:ln w="9525">
            <a:solidFill>
              <a:srgbClr val="5D636D"/>
            </a:solidFill>
            <a:prstDash val="solid"/>
          </a:ln>
        </p:spPr>
      </p:sp>
      <p:sp>
        <p:nvSpPr>
          <p:cNvPr id="78" name="Text 76"/>
          <p:cNvSpPr txBox="1"/>
          <p:nvPr/>
        </p:nvSpPr>
        <p:spPr>
          <a:xfrm>
            <a:off x="6903720" y="3986784"/>
            <a:ext cx="1783080" cy="384048"/>
          </a:xfrm>
          <a:prstGeom prst="rect">
            <a:avLst/>
          </a:prstGeom>
          <a:noFill/>
          <a:ln/>
        </p:spPr>
        <p:txBody>
          <a:bodyPr wrap="square" lIns="0" tIns="0" rIns="0" bIns="0" rtlCol="0" anchor="ctr"/>
          <a:lstStyle/>
          <a:p>
            <a:pPr indent="0" marL="0">
              <a:buNone/>
            </a:pPr>
            <a:r>
              <a:rPr lang="en-US" sz="1050" dirty="0">
                <a:solidFill>
                  <a:schemeClr val="accent5"/>
                </a:solidFill>
              </a:rPr>
              <a:t>폰에서 파일 저장</a:t>
            </a:r>
            <a:endParaRPr lang="en-US" sz="1050" dirty="0"/>
          </a:p>
        </p:txBody>
      </p:sp>
      <p:sp>
        <p:nvSpPr>
          <p:cNvPr id="79" name="Shape 77"/>
          <p:cNvSpPr/>
          <p:nvPr/>
        </p:nvSpPr>
        <p:spPr>
          <a:xfrm>
            <a:off x="457200" y="4370832"/>
            <a:ext cx="8229600" cy="0"/>
          </a:xfrm>
          <a:prstGeom prst="line">
            <a:avLst/>
          </a:prstGeom>
          <a:noFill/>
          <a:ln w="9525">
            <a:solidFill>
              <a:srgbClr val="DCD9D0"/>
            </a:solidFill>
            <a:prstDash val="solid"/>
          </a:ln>
        </p:spPr>
      </p:sp>
      <p:sp>
        <p:nvSpPr>
          <p:cNvPr id="80" name="Text 78"/>
          <p:cNvSpPr txBox="1"/>
          <p:nvPr/>
        </p:nvSpPr>
        <p:spPr>
          <a:xfrm>
            <a:off x="457200" y="4434840"/>
            <a:ext cx="8229600" cy="292608"/>
          </a:xfrm>
          <a:prstGeom prst="rect">
            <a:avLst/>
          </a:prstGeom>
          <a:noFill/>
          <a:ln/>
        </p:spPr>
        <p:txBody>
          <a:bodyPr wrap="square" lIns="0" tIns="0" rIns="0" bIns="0" rtlCol="0" anchor="ctr"/>
          <a:lstStyle/>
          <a:p>
            <a:pPr indent="0" marL="0">
              <a:buNone/>
            </a:pPr>
            <a:r>
              <a:rPr lang="en-US" sz="1050" b="1" dirty="0">
                <a:solidFill>
                  <a:schemeClr val="tx2"/>
                </a:solidFill>
              </a:rPr>
              <a:t>계획 기준  </a:t>
            </a:r>
            <a:pPr indent="0" marL="0">
              <a:buNone/>
            </a:pPr>
            <a:r>
              <a:rPr lang="en-US" sz="1050" dirty="0">
                <a:solidFill>
                  <a:schemeClr val="tx1"/>
                </a:solidFill>
              </a:rPr>
              <a:t>정의서 기능 8개      </a:t>
            </a:r>
            <a:pPr indent="0" marL="0">
              <a:buNone/>
            </a:pPr>
            <a:r>
              <a:rPr lang="en-US" sz="1050" b="1" dirty="0">
                <a:solidFill>
                  <a:schemeClr val="tx2"/>
                </a:solidFill>
              </a:rPr>
              <a:t>% 기준  </a:t>
            </a:r>
            <a:pPr indent="0" marL="0">
              <a:buNone/>
            </a:pPr>
            <a:r>
              <a:rPr lang="en-US" sz="1050" dirty="0">
                <a:solidFill>
                  <a:schemeClr val="tx1"/>
                </a:solidFill>
              </a:rPr>
              <a:t>남은 일만큼 뺀 자체 평가</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시장 규모</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임금체불 2년 연속 2조 원, 30인 미만 사업장에 집중</a:t>
            </a:r>
            <a:endParaRPr lang="en-US" sz="2400" dirty="0"/>
          </a:p>
        </p:txBody>
      </p:sp>
      <p:graphicFrame>
        <p:nvGraphicFramePr>
          <p:cNvPr id="4" name="Chart 0" descr=""/>
          <p:cNvGraphicFramePr/>
          <p:nvPr/>
        </p:nvGraphicFramePr>
        <p:xfrm>
          <a:off x="457200" y="1234440"/>
          <a:ext cx="3840480" cy="28803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663440" y="1234440"/>
            <a:ext cx="4023360" cy="457200"/>
          </a:xfrm>
          <a:prstGeom prst="rect">
            <a:avLst/>
          </a:prstGeom>
          <a:noFill/>
          <a:ln/>
        </p:spPr>
        <p:txBody>
          <a:bodyPr wrap="square" lIns="0" tIns="0" rIns="0" bIns="0" rtlCol="0" anchor="b"/>
          <a:lstStyle/>
          <a:p>
            <a:pPr indent="0" marL="0">
              <a:buNone/>
            </a:pPr>
            <a:r>
              <a:rPr lang="en-US" sz="2000" b="1" dirty="0">
                <a:solidFill>
                  <a:schemeClr val="tx2"/>
                </a:solidFill>
              </a:rPr>
              <a:t>26만 2,304명</a:t>
            </a:r>
            <a:endParaRPr lang="en-US" sz="2000" dirty="0"/>
          </a:p>
        </p:txBody>
      </p:sp>
      <p:sp>
        <p:nvSpPr>
          <p:cNvPr id="6" name="Text 3"/>
          <p:cNvSpPr txBox="1"/>
          <p:nvPr/>
        </p:nvSpPr>
        <p:spPr>
          <a:xfrm>
            <a:off x="4663440" y="1691640"/>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 피해 노동자</a:t>
            </a:r>
            <a:endParaRPr lang="en-US" sz="1000" dirty="0"/>
          </a:p>
        </p:txBody>
      </p:sp>
      <p:sp>
        <p:nvSpPr>
          <p:cNvPr id="7" name="Shape 4"/>
          <p:cNvSpPr/>
          <p:nvPr/>
        </p:nvSpPr>
        <p:spPr>
          <a:xfrm>
            <a:off x="4663440" y="2148840"/>
            <a:ext cx="4023360" cy="0"/>
          </a:xfrm>
          <a:prstGeom prst="line">
            <a:avLst/>
          </a:prstGeom>
          <a:noFill/>
          <a:ln w="9525">
            <a:solidFill>
              <a:srgbClr val="DCD9D0"/>
            </a:solidFill>
            <a:prstDash val="solid"/>
          </a:ln>
        </p:spPr>
      </p:sp>
      <p:sp>
        <p:nvSpPr>
          <p:cNvPr id="8" name="Text 5"/>
          <p:cNvSpPr txBox="1"/>
          <p:nvPr/>
        </p:nvSpPr>
        <p:spPr>
          <a:xfrm>
            <a:off x="4663440" y="2221992"/>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67.8%</a:t>
            </a:r>
            <a:endParaRPr lang="en-US" sz="2000" dirty="0"/>
          </a:p>
        </p:txBody>
      </p:sp>
      <p:sp>
        <p:nvSpPr>
          <p:cNvPr id="9" name="Text 6"/>
          <p:cNvSpPr txBox="1"/>
          <p:nvPr/>
        </p:nvSpPr>
        <p:spPr>
          <a:xfrm>
            <a:off x="4663440" y="2679192"/>
            <a:ext cx="4023360" cy="411480"/>
          </a:xfrm>
          <a:prstGeom prst="rect">
            <a:avLst/>
          </a:prstGeom>
          <a:noFill/>
          <a:ln/>
        </p:spPr>
        <p:txBody>
          <a:bodyPr wrap="square" lIns="0" tIns="0" rIns="0" bIns="0" rtlCol="0" anchor="t"/>
          <a:lstStyle/>
          <a:p>
            <a:pPr indent="0" marL="0">
              <a:buNone/>
            </a:pPr>
            <a:r>
              <a:rPr lang="en-US" sz="1000" dirty="0">
                <a:solidFill>
                  <a:schemeClr val="accent5"/>
                </a:solidFill>
              </a:rPr>
              <a:t>2025년 체불액 중 30인 미만 사업장 (1조 4,012억 원). 카페 · 편의점 · 음식점은 대개 여기 속함. 알바생 몫은 따로 알 수 없음</a:t>
            </a:r>
            <a:endParaRPr lang="en-US" sz="1000" dirty="0"/>
          </a:p>
        </p:txBody>
      </p:sp>
      <p:sp>
        <p:nvSpPr>
          <p:cNvPr id="10" name="Shape 7"/>
          <p:cNvSpPr/>
          <p:nvPr/>
        </p:nvSpPr>
        <p:spPr>
          <a:xfrm>
            <a:off x="4663440" y="3136392"/>
            <a:ext cx="4023360" cy="0"/>
          </a:xfrm>
          <a:prstGeom prst="line">
            <a:avLst/>
          </a:prstGeom>
          <a:noFill/>
          <a:ln w="9525">
            <a:solidFill>
              <a:srgbClr val="DCD9D0"/>
            </a:solidFill>
            <a:prstDash val="solid"/>
          </a:ln>
        </p:spPr>
      </p:sp>
      <p:sp>
        <p:nvSpPr>
          <p:cNvPr id="11" name="Text 8"/>
          <p:cNvSpPr txBox="1"/>
          <p:nvPr/>
        </p:nvSpPr>
        <p:spPr>
          <a:xfrm>
            <a:off x="4663440" y="3209544"/>
            <a:ext cx="4023360" cy="457200"/>
          </a:xfrm>
          <a:prstGeom prst="rect">
            <a:avLst/>
          </a:prstGeom>
          <a:noFill/>
          <a:ln/>
        </p:spPr>
        <p:txBody>
          <a:bodyPr wrap="square" lIns="0" tIns="0" rIns="0" bIns="0" rtlCol="0" anchor="b"/>
          <a:lstStyle/>
          <a:p>
            <a:pPr indent="0" marL="0">
              <a:buNone/>
            </a:pPr>
            <a:r>
              <a:rPr lang="en-US" sz="2000" b="1" dirty="0">
                <a:solidFill>
                  <a:schemeClr val="accent3"/>
                </a:solidFill>
              </a:rPr>
              <a:t>31.9%</a:t>
            </a:r>
            <a:endParaRPr lang="en-US" sz="2000" dirty="0"/>
          </a:p>
        </p:txBody>
      </p:sp>
      <p:sp>
        <p:nvSpPr>
          <p:cNvPr id="12" name="Text 9"/>
          <p:cNvSpPr txBox="1"/>
          <p:nvPr/>
        </p:nvSpPr>
        <p:spPr>
          <a:xfrm>
            <a:off x="4663440" y="3666744"/>
            <a:ext cx="4023360" cy="411480"/>
          </a:xfrm>
          <a:prstGeom prst="rect">
            <a:avLst/>
          </a:prstGeom>
          <a:noFill/>
          <a:ln/>
        </p:spPr>
        <p:txBody>
          <a:bodyPr wrap="square" lIns="0" tIns="0" rIns="0" bIns="0" rtlCol="0" anchor="t"/>
          <a:lstStyle/>
          <a:p>
            <a:pPr indent="0" marL="0">
              <a:buNone/>
            </a:pPr>
            <a:r>
              <a:rPr lang="en-US" sz="1000" dirty="0">
                <a:solidFill>
                  <a:schemeClr val="accent5"/>
                </a:solidFill>
              </a:rPr>
              <a:t>알바 경험자 중 최저시급 미달 경험 (알바천국, 1,804명, 2026.6)</a:t>
            </a:r>
            <a:endParaRPr lang="en-US" sz="1000" dirty="0"/>
          </a:p>
        </p:txBody>
      </p:sp>
      <p:sp>
        <p:nvSpPr>
          <p:cNvPr id="13" name="Shape 10"/>
          <p:cNvSpPr/>
          <p:nvPr/>
        </p:nvSpPr>
        <p:spPr>
          <a:xfrm>
            <a:off x="4663440" y="4123944"/>
            <a:ext cx="4023360" cy="0"/>
          </a:xfrm>
          <a:prstGeom prst="line">
            <a:avLst/>
          </a:prstGeom>
          <a:noFill/>
          <a:ln w="9525">
            <a:solidFill>
              <a:srgbClr val="DCD9D0"/>
            </a:solidFill>
            <a:prstDash val="solid"/>
          </a:ln>
        </p:spPr>
      </p:sp>
      <p:sp>
        <p:nvSpPr>
          <p:cNvPr id="14" name="Text 11"/>
          <p:cNvSpPr txBox="1"/>
          <p:nvPr/>
        </p:nvSpPr>
        <p:spPr>
          <a:xfrm>
            <a:off x="457200" y="4224528"/>
            <a:ext cx="8229600" cy="530352"/>
          </a:xfrm>
          <a:prstGeom prst="rect">
            <a:avLst/>
          </a:prstGeom>
          <a:noFill/>
          <a:ln/>
        </p:spPr>
        <p:txBody>
          <a:bodyPr wrap="square" lIns="0" tIns="0" rIns="0" bIns="0" rtlCol="0" anchor="t"/>
          <a:lstStyle/>
          <a:p>
            <a:pPr indent="0" marL="0">
              <a:spcAft>
                <a:spcPts val="100"/>
              </a:spcAft>
              <a:buNone/>
            </a:pPr>
            <a:r>
              <a:rPr lang="en-US" sz="1050" b="1" dirty="0">
                <a:solidFill>
                  <a:schemeClr val="tx2"/>
                </a:solidFill>
              </a:rPr>
              <a:t>타깃 규모(어림)  </a:t>
            </a:r>
            <a:pPr indent="0" marL="0">
              <a:spcAft>
                <a:spcPts val="100"/>
              </a:spcAft>
              <a:buNone/>
            </a:pPr>
            <a:r>
              <a:rPr lang="en-US" sz="1050" dirty="0">
                <a:solidFill>
                  <a:schemeClr val="tx1"/>
                </a:solidFill>
              </a:rPr>
              <a:t>재적학생 307만 명 → 알바 경험 67~89% → 상한 약 210~270만 명</a:t>
            </a:r>
            <a:endParaRPr lang="en-US" sz="1050" dirty="0"/>
          </a:p>
          <a:p>
            <a:pPr indent="0" marL="0">
              <a:spcAft>
                <a:spcPts val="100"/>
              </a:spcAft>
              <a:buNone/>
            </a:pPr>
            <a:r>
              <a:rPr lang="en-US" sz="1050" b="1" dirty="0">
                <a:solidFill>
                  <a:schemeClr val="tx2"/>
                </a:solidFill>
              </a:rPr>
              <a:t>타이밍  </a:t>
            </a:r>
            <a:pPr indent="0" marL="0">
              <a:spcAft>
                <a:spcPts val="100"/>
              </a:spcAft>
              <a:buNone/>
            </a:pPr>
            <a:r>
              <a:rPr lang="en-US" sz="1050" dirty="0">
                <a:solidFill>
                  <a:schemeClr val="tx1"/>
                </a:solidFill>
              </a:rPr>
              <a:t>2025.9 근절 대책 · 2025.10.23 개정 근로기준법 시행</a:t>
            </a:r>
            <a:endParaRPr lang="en-US" sz="10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시장 분석 · 경쟁사</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혼자 쓰면서 대응까지 가는 서비스는 알바가드뿐</a:t>
            </a:r>
            <a:endParaRPr lang="en-US" sz="2400" dirty="0"/>
          </a:p>
        </p:txBody>
      </p:sp>
      <p:sp>
        <p:nvSpPr>
          <p:cNvPr id="4" name="포지션 바탕"/>
          <p:cNvSpPr/>
          <p:nvPr/>
        </p:nvSpPr>
        <p:spPr>
          <a:xfrm>
            <a:off x="914400" y="1298448"/>
            <a:ext cx="4846320" cy="3063240"/>
          </a:xfrm>
          <a:prstGeom prst="rect">
            <a:avLst/>
          </a:prstGeom>
          <a:solidFill>
            <a:schemeClr val="bg2"/>
          </a:solidFill>
          <a:ln w="12700">
            <a:solidFill>
              <a:schemeClr val="bg2"/>
            </a:solidFill>
            <a:prstDash val="solid"/>
          </a:ln>
        </p:spPr>
      </p:sp>
      <p:sp>
        <p:nvSpPr>
          <p:cNvPr id="5" name="알바가드 칸"/>
          <p:cNvSpPr/>
          <p:nvPr/>
        </p:nvSpPr>
        <p:spPr>
          <a:xfrm>
            <a:off x="914400" y="1298448"/>
            <a:ext cx="2423160" cy="1531620"/>
          </a:xfrm>
          <a:prstGeom prst="rect">
            <a:avLst/>
          </a:prstGeom>
          <a:solidFill>
            <a:schemeClr val="accent1">
              <a:alpha val="12000"/>
            </a:schemeClr>
          </a:solidFill>
          <a:ln w="12700">
            <a:solidFill>
              <a:schemeClr val="accent1"/>
            </a:solidFill>
            <a:prstDash val="solid"/>
          </a:ln>
        </p:spPr>
      </p:sp>
      <p:sp>
        <p:nvSpPr>
          <p:cNvPr id="6" name="Shape 4"/>
          <p:cNvSpPr/>
          <p:nvPr/>
        </p:nvSpPr>
        <p:spPr>
          <a:xfrm>
            <a:off x="3337560" y="1298448"/>
            <a:ext cx="0" cy="3063240"/>
          </a:xfrm>
          <a:prstGeom prst="line">
            <a:avLst/>
          </a:prstGeom>
          <a:noFill/>
          <a:ln w="12700">
            <a:solidFill>
              <a:srgbClr val="DCD9D0"/>
            </a:solidFill>
            <a:prstDash val="solid"/>
          </a:ln>
        </p:spPr>
      </p:sp>
      <p:sp>
        <p:nvSpPr>
          <p:cNvPr id="7" name="Shape 5"/>
          <p:cNvSpPr/>
          <p:nvPr/>
        </p:nvSpPr>
        <p:spPr>
          <a:xfrm>
            <a:off x="914400" y="2830068"/>
            <a:ext cx="4846320" cy="0"/>
          </a:xfrm>
          <a:prstGeom prst="line">
            <a:avLst/>
          </a:prstGeom>
          <a:noFill/>
          <a:ln w="12700">
            <a:solidFill>
              <a:srgbClr val="DCD9D0"/>
            </a:solidFill>
            <a:prstDash val="solid"/>
          </a:ln>
        </p:spPr>
      </p:sp>
      <p:sp>
        <p:nvSpPr>
          <p:cNvPr id="8" name="Text 6"/>
          <p:cNvSpPr txBox="1"/>
          <p:nvPr/>
        </p:nvSpPr>
        <p:spPr>
          <a:xfrm>
            <a:off x="914400" y="4416552"/>
            <a:ext cx="2194560" cy="256032"/>
          </a:xfrm>
          <a:prstGeom prst="rect">
            <a:avLst/>
          </a:prstGeom>
          <a:noFill/>
          <a:ln/>
        </p:spPr>
        <p:txBody>
          <a:bodyPr wrap="square" lIns="0" tIns="0" rIns="0" bIns="0" rtlCol="0" anchor="ctr"/>
          <a:lstStyle/>
          <a:p>
            <a:pPr indent="0" marL="0">
              <a:buNone/>
            </a:pPr>
            <a:r>
              <a:rPr lang="en-US" sz="1000" b="1" dirty="0">
                <a:solidFill>
                  <a:schemeClr val="accent5"/>
                </a:solidFill>
              </a:rPr>
              <a:t>← 혼자 씀</a:t>
            </a:r>
            <a:endParaRPr lang="en-US" sz="1000" dirty="0"/>
          </a:p>
        </p:txBody>
      </p:sp>
      <p:sp>
        <p:nvSpPr>
          <p:cNvPr id="9" name="Text 7"/>
          <p:cNvSpPr txBox="1"/>
          <p:nvPr/>
        </p:nvSpPr>
        <p:spPr>
          <a:xfrm>
            <a:off x="3383280" y="4416552"/>
            <a:ext cx="2377440" cy="256032"/>
          </a:xfrm>
          <a:prstGeom prst="rect">
            <a:avLst/>
          </a:prstGeom>
          <a:noFill/>
          <a:ln/>
        </p:spPr>
        <p:txBody>
          <a:bodyPr wrap="square" lIns="0" tIns="0" rIns="0" bIns="0" rtlCol="0" anchor="ctr"/>
          <a:lstStyle/>
          <a:p>
            <a:pPr algn="r" indent="0" marL="0">
              <a:buNone/>
            </a:pPr>
            <a:r>
              <a:rPr lang="en-US" sz="1000" b="1" dirty="0">
                <a:solidFill>
                  <a:schemeClr val="accent5"/>
                </a:solidFill>
              </a:rPr>
              <a:t>사장 가입 · 증거가 먼저 →</a:t>
            </a:r>
            <a:endParaRPr lang="en-US" sz="1000" dirty="0"/>
          </a:p>
        </p:txBody>
      </p:sp>
      <p:sp>
        <p:nvSpPr>
          <p:cNvPr id="10" name="Text 8"/>
          <p:cNvSpPr txBox="1"/>
          <p:nvPr/>
        </p:nvSpPr>
        <p:spPr>
          <a:xfrm rot="16200000">
            <a:off x="45720" y="1865376"/>
            <a:ext cx="1463040" cy="274320"/>
          </a:xfrm>
          <a:prstGeom prst="rect">
            <a:avLst/>
          </a:prstGeom>
          <a:noFill/>
          <a:ln/>
        </p:spPr>
        <p:txBody>
          <a:bodyPr wrap="square" lIns="0" tIns="0" rIns="0" bIns="0" rtlCol="0" anchor="ctr"/>
          <a:lstStyle/>
          <a:p>
            <a:pPr algn="ctr" indent="0" marL="0">
              <a:buNone/>
            </a:pPr>
            <a:r>
              <a:rPr lang="en-US" sz="1000" b="1" dirty="0">
                <a:solidFill>
                  <a:schemeClr val="accent5"/>
                </a:solidFill>
              </a:rPr>
              <a:t>대응까지</a:t>
            </a:r>
            <a:endParaRPr lang="en-US" sz="1000" dirty="0"/>
          </a:p>
        </p:txBody>
      </p:sp>
      <p:sp>
        <p:nvSpPr>
          <p:cNvPr id="11" name="Text 9"/>
          <p:cNvSpPr txBox="1"/>
          <p:nvPr/>
        </p:nvSpPr>
        <p:spPr>
          <a:xfrm rot="16200000">
            <a:off x="45720" y="3520440"/>
            <a:ext cx="1463040" cy="274320"/>
          </a:xfrm>
          <a:prstGeom prst="rect">
            <a:avLst/>
          </a:prstGeom>
          <a:noFill/>
          <a:ln/>
        </p:spPr>
        <p:txBody>
          <a:bodyPr wrap="square" lIns="0" tIns="0" rIns="0" bIns="0" rtlCol="0" anchor="ctr"/>
          <a:lstStyle/>
          <a:p>
            <a:pPr algn="ctr" indent="0" marL="0">
              <a:buNone/>
            </a:pPr>
            <a:r>
              <a:rPr lang="en-US" sz="1000" b="1" dirty="0">
                <a:solidFill>
                  <a:schemeClr val="accent5"/>
                </a:solidFill>
              </a:rPr>
              <a:t>계산까지</a:t>
            </a:r>
            <a:endParaRPr lang="en-US" sz="1000" dirty="0"/>
          </a:p>
        </p:txBody>
      </p:sp>
      <p:sp>
        <p:nvSpPr>
          <p:cNvPr id="12" name="알바가드 칩"/>
          <p:cNvSpPr/>
          <p:nvPr/>
        </p:nvSpPr>
        <p:spPr>
          <a:xfrm>
            <a:off x="1234440" y="1682496"/>
            <a:ext cx="1783080" cy="585216"/>
          </a:xfrm>
          <a:prstGeom prst="roundRect">
            <a:avLst>
              <a:gd name="adj" fmla="val 12500"/>
            </a:avLst>
          </a:prstGeom>
          <a:solidFill>
            <a:schemeClr val="accent1"/>
          </a:solidFill>
          <a:ln w="12700">
            <a:solidFill>
              <a:schemeClr val="accent1"/>
            </a:solidFill>
            <a:prstDash val="solid"/>
          </a:ln>
        </p:spPr>
      </p:sp>
      <p:sp>
        <p:nvSpPr>
          <p:cNvPr id="13" name="Text 11"/>
          <p:cNvSpPr txBox="1"/>
          <p:nvPr/>
        </p:nvSpPr>
        <p:spPr>
          <a:xfrm>
            <a:off x="1307592" y="1682496"/>
            <a:ext cx="1636776" cy="585216"/>
          </a:xfrm>
          <a:prstGeom prst="rect">
            <a:avLst/>
          </a:prstGeom>
          <a:noFill/>
          <a:ln/>
        </p:spPr>
        <p:txBody>
          <a:bodyPr wrap="square" lIns="0" tIns="0" rIns="0" bIns="0" rtlCol="0" anchor="ctr"/>
          <a:lstStyle/>
          <a:p>
            <a:pPr algn="ctr" indent="0" marL="0">
              <a:buNone/>
            </a:pPr>
            <a:r>
              <a:rPr lang="en-US" sz="1200" b="1" dirty="0">
                <a:solidFill>
                  <a:schemeClr val="bg1"/>
                </a:solidFill>
              </a:rPr>
              <a:t>알바가드</a:t>
            </a:r>
            <a:endParaRPr lang="en-US" sz="1200" dirty="0"/>
          </a:p>
          <a:p>
            <a:pPr algn="ctr" indent="0" marL="0">
              <a:buNone/>
            </a:pPr>
            <a:r>
              <a:rPr lang="en-US" sz="900" dirty="0">
                <a:solidFill>
                  <a:schemeClr val="bg2"/>
                </a:solidFill>
              </a:rPr>
              <a:t>기록 → 비교 → 요청 → 증빙</a:t>
            </a:r>
            <a:endParaRPr lang="en-US" sz="1200" dirty="0"/>
          </a:p>
        </p:txBody>
      </p:sp>
      <p:sp>
        <p:nvSpPr>
          <p:cNvPr id="14" name="진정24 · 노동포털 칩"/>
          <p:cNvSpPr/>
          <p:nvPr/>
        </p:nvSpPr>
        <p:spPr>
          <a:xfrm>
            <a:off x="3703320" y="1682496"/>
            <a:ext cx="1737360" cy="585216"/>
          </a:xfrm>
          <a:prstGeom prst="roundRect">
            <a:avLst>
              <a:gd name="adj" fmla="val 12500"/>
            </a:avLst>
          </a:prstGeom>
          <a:solidFill>
            <a:schemeClr val="bg1"/>
          </a:solidFill>
          <a:ln w="12700">
            <a:solidFill>
              <a:srgbClr val="DCD9D0"/>
            </a:solidFill>
            <a:prstDash val="solid"/>
          </a:ln>
        </p:spPr>
      </p:sp>
      <p:sp>
        <p:nvSpPr>
          <p:cNvPr id="15" name="Text 13"/>
          <p:cNvSpPr txBox="1"/>
          <p:nvPr/>
        </p:nvSpPr>
        <p:spPr>
          <a:xfrm>
            <a:off x="3776472" y="1682496"/>
            <a:ext cx="1591056" cy="585216"/>
          </a:xfrm>
          <a:prstGeom prst="rect">
            <a:avLst/>
          </a:prstGeom>
          <a:noFill/>
          <a:ln/>
        </p:spPr>
        <p:txBody>
          <a:bodyPr wrap="square" lIns="0" tIns="0" rIns="0" bIns="0" rtlCol="0" anchor="ctr"/>
          <a:lstStyle/>
          <a:p>
            <a:pPr algn="ctr" indent="0" marL="0">
              <a:buNone/>
            </a:pPr>
            <a:r>
              <a:rPr lang="en-US" sz="1050" b="1" dirty="0">
                <a:solidFill>
                  <a:schemeClr val="tx1"/>
                </a:solidFill>
              </a:rPr>
              <a:t>진정24 · 노동포털</a:t>
            </a:r>
            <a:endParaRPr lang="en-US" sz="1050" dirty="0"/>
          </a:p>
          <a:p>
            <a:pPr algn="ctr" indent="0" marL="0">
              <a:buNone/>
            </a:pPr>
            <a:r>
              <a:rPr lang="en-US" sz="900" dirty="0">
                <a:solidFill>
                  <a:schemeClr val="accent5"/>
                </a:solidFill>
              </a:rPr>
              <a:t>증거가 있어야 시작</a:t>
            </a:r>
            <a:endParaRPr lang="en-US" sz="1050" dirty="0"/>
          </a:p>
        </p:txBody>
      </p:sp>
      <p:sp>
        <p:nvSpPr>
          <p:cNvPr id="16" name="하우머치 칩"/>
          <p:cNvSpPr/>
          <p:nvPr/>
        </p:nvSpPr>
        <p:spPr>
          <a:xfrm>
            <a:off x="1234440" y="2990088"/>
            <a:ext cx="1783080" cy="585216"/>
          </a:xfrm>
          <a:prstGeom prst="roundRect">
            <a:avLst>
              <a:gd name="adj" fmla="val 12500"/>
            </a:avLst>
          </a:prstGeom>
          <a:solidFill>
            <a:schemeClr val="bg1"/>
          </a:solidFill>
          <a:ln w="12700">
            <a:solidFill>
              <a:srgbClr val="DCD9D0"/>
            </a:solidFill>
            <a:prstDash val="solid"/>
          </a:ln>
        </p:spPr>
      </p:sp>
      <p:sp>
        <p:nvSpPr>
          <p:cNvPr id="17" name="Text 15"/>
          <p:cNvSpPr txBox="1"/>
          <p:nvPr/>
        </p:nvSpPr>
        <p:spPr>
          <a:xfrm>
            <a:off x="1307592" y="2990088"/>
            <a:ext cx="1636776" cy="585216"/>
          </a:xfrm>
          <a:prstGeom prst="rect">
            <a:avLst/>
          </a:prstGeom>
          <a:noFill/>
          <a:ln/>
        </p:spPr>
        <p:txBody>
          <a:bodyPr wrap="square" lIns="0" tIns="0" rIns="0" bIns="0" rtlCol="0" anchor="ctr"/>
          <a:lstStyle/>
          <a:p>
            <a:pPr algn="ctr" indent="0" marL="0">
              <a:buNone/>
            </a:pPr>
            <a:r>
              <a:rPr lang="en-US" sz="1050" b="1" dirty="0">
                <a:solidFill>
                  <a:schemeClr val="tx1"/>
                </a:solidFill>
              </a:rPr>
              <a:t>하우머치</a:t>
            </a:r>
            <a:endParaRPr lang="en-US" sz="1050" dirty="0"/>
          </a:p>
          <a:p>
            <a:pPr algn="ctr" indent="0" marL="0">
              <a:buNone/>
            </a:pPr>
            <a:r>
              <a:rPr lang="en-US" sz="900" dirty="0">
                <a:solidFill>
                  <a:schemeClr val="accent5"/>
                </a:solidFill>
              </a:rPr>
              <a:t>혼자 기록, 예상 급여까지</a:t>
            </a:r>
            <a:endParaRPr lang="en-US" sz="1050" dirty="0"/>
          </a:p>
        </p:txBody>
      </p:sp>
      <p:sp>
        <p:nvSpPr>
          <p:cNvPr id="18" name="기그 칩"/>
          <p:cNvSpPr/>
          <p:nvPr/>
        </p:nvSpPr>
        <p:spPr>
          <a:xfrm>
            <a:off x="3703320" y="3310128"/>
            <a:ext cx="1737360" cy="585216"/>
          </a:xfrm>
          <a:prstGeom prst="roundRect">
            <a:avLst>
              <a:gd name="adj" fmla="val 12500"/>
            </a:avLst>
          </a:prstGeom>
          <a:solidFill>
            <a:schemeClr val="bg1"/>
          </a:solidFill>
          <a:ln w="12700">
            <a:solidFill>
              <a:srgbClr val="DCD9D0"/>
            </a:solidFill>
            <a:prstDash val="solid"/>
          </a:ln>
        </p:spPr>
      </p:sp>
      <p:sp>
        <p:nvSpPr>
          <p:cNvPr id="19" name="Text 17"/>
          <p:cNvSpPr txBox="1"/>
          <p:nvPr/>
        </p:nvSpPr>
        <p:spPr>
          <a:xfrm>
            <a:off x="3776472" y="3310128"/>
            <a:ext cx="1591056" cy="585216"/>
          </a:xfrm>
          <a:prstGeom prst="rect">
            <a:avLst/>
          </a:prstGeom>
          <a:noFill/>
          <a:ln/>
        </p:spPr>
        <p:txBody>
          <a:bodyPr wrap="square" lIns="0" tIns="0" rIns="0" bIns="0" rtlCol="0" anchor="ctr"/>
          <a:lstStyle/>
          <a:p>
            <a:pPr algn="ctr" indent="0" marL="0">
              <a:buNone/>
            </a:pPr>
            <a:r>
              <a:rPr lang="en-US" sz="1050" b="1" dirty="0">
                <a:solidFill>
                  <a:schemeClr val="tx1"/>
                </a:solidFill>
              </a:rPr>
              <a:t>기그</a:t>
            </a:r>
            <a:endParaRPr lang="en-US" sz="1050" dirty="0"/>
          </a:p>
          <a:p>
            <a:pPr algn="ctr" indent="0" marL="0">
              <a:buNone/>
            </a:pPr>
            <a:r>
              <a:rPr lang="en-US" sz="900" dirty="0">
                <a:solidFill>
                  <a:schemeClr val="accent5"/>
                </a:solidFill>
              </a:rPr>
              <a:t>사장 연동 필요</a:t>
            </a:r>
            <a:endParaRPr lang="en-US" sz="1050" dirty="0"/>
          </a:p>
        </p:txBody>
      </p:sp>
      <p:sp>
        <p:nvSpPr>
          <p:cNvPr id="20" name="알바천국 · 알바몬 계산기 칩"/>
          <p:cNvSpPr/>
          <p:nvPr/>
        </p:nvSpPr>
        <p:spPr>
          <a:xfrm>
            <a:off x="1188720" y="3657600"/>
            <a:ext cx="1874520" cy="585216"/>
          </a:xfrm>
          <a:prstGeom prst="roundRect">
            <a:avLst>
              <a:gd name="adj" fmla="val 12500"/>
            </a:avLst>
          </a:prstGeom>
          <a:solidFill>
            <a:schemeClr val="bg1"/>
          </a:solidFill>
          <a:ln w="12700">
            <a:solidFill>
              <a:srgbClr val="DCD9D0"/>
            </a:solidFill>
            <a:prstDash val="solid"/>
          </a:ln>
        </p:spPr>
      </p:sp>
      <p:sp>
        <p:nvSpPr>
          <p:cNvPr id="21" name="Text 19"/>
          <p:cNvSpPr txBox="1"/>
          <p:nvPr/>
        </p:nvSpPr>
        <p:spPr>
          <a:xfrm>
            <a:off x="1261872" y="3657600"/>
            <a:ext cx="1728216" cy="585216"/>
          </a:xfrm>
          <a:prstGeom prst="rect">
            <a:avLst/>
          </a:prstGeom>
          <a:noFill/>
          <a:ln/>
        </p:spPr>
        <p:txBody>
          <a:bodyPr wrap="square" lIns="0" tIns="0" rIns="0" bIns="0" rtlCol="0" anchor="ctr"/>
          <a:lstStyle/>
          <a:p>
            <a:pPr algn="ctr" indent="0" marL="0">
              <a:buNone/>
            </a:pPr>
            <a:r>
              <a:rPr lang="en-US" sz="1050" b="1" dirty="0">
                <a:solidFill>
                  <a:schemeClr val="tx1"/>
                </a:solidFill>
              </a:rPr>
              <a:t>알바천국 · 알바몬 계산기</a:t>
            </a:r>
            <a:endParaRPr lang="en-US" sz="1050" dirty="0"/>
          </a:p>
          <a:p>
            <a:pPr algn="ctr" indent="0" marL="0">
              <a:buNone/>
            </a:pPr>
            <a:r>
              <a:rPr lang="en-US" sz="900" dirty="0">
                <a:solidFill>
                  <a:schemeClr val="accent5"/>
                </a:solidFill>
              </a:rPr>
              <a:t>일회성 계산, 기록 없음</a:t>
            </a:r>
            <a:endParaRPr lang="en-US" sz="1050" dirty="0"/>
          </a:p>
        </p:txBody>
      </p:sp>
      <p:sp>
        <p:nvSpPr>
          <p:cNvPr id="22" name="따라올 길"/>
          <p:cNvSpPr/>
          <p:nvPr/>
        </p:nvSpPr>
        <p:spPr>
          <a:xfrm flipV="1">
            <a:off x="2121408" y="2304288"/>
            <a:ext cx="0" cy="658368"/>
          </a:xfrm>
          <a:prstGeom prst="line">
            <a:avLst/>
          </a:prstGeom>
          <a:noFill/>
          <a:ln w="19050">
            <a:solidFill>
              <a:srgbClr val="0F7A55"/>
            </a:solidFill>
            <a:prstDash val="dash"/>
            <a:tailEnd type="triangle"/>
          </a:ln>
        </p:spPr>
      </p:sp>
      <p:sp>
        <p:nvSpPr>
          <p:cNvPr id="23" name="Text 21"/>
          <p:cNvSpPr txBox="1"/>
          <p:nvPr/>
        </p:nvSpPr>
        <p:spPr>
          <a:xfrm>
            <a:off x="2212848" y="2468880"/>
            <a:ext cx="1188720" cy="274320"/>
          </a:xfrm>
          <a:prstGeom prst="rect">
            <a:avLst/>
          </a:prstGeom>
          <a:noFill/>
          <a:ln/>
        </p:spPr>
        <p:txBody>
          <a:bodyPr wrap="square" lIns="0" tIns="0" rIns="0" bIns="0" rtlCol="0" anchor="ctr"/>
          <a:lstStyle/>
          <a:p>
            <a:pPr indent="0" marL="0">
              <a:buNone/>
            </a:pPr>
            <a:r>
              <a:rPr lang="en-US" sz="900" b="1" dirty="0">
                <a:solidFill>
                  <a:schemeClr val="accent2"/>
                </a:solidFill>
              </a:rPr>
              <a:t>비교 기능을 넣으면?</a:t>
            </a:r>
            <a:endParaRPr lang="en-US" sz="900" dirty="0"/>
          </a:p>
        </p:txBody>
      </p:sp>
      <p:sp>
        <p:nvSpPr>
          <p:cNvPr id="24" name="Text 22"/>
          <p:cNvSpPr txBox="1"/>
          <p:nvPr/>
        </p:nvSpPr>
        <p:spPr>
          <a:xfrm>
            <a:off x="6263640" y="1325880"/>
            <a:ext cx="2560320" cy="274320"/>
          </a:xfrm>
          <a:prstGeom prst="rect">
            <a:avLst/>
          </a:prstGeom>
          <a:noFill/>
          <a:ln/>
        </p:spPr>
        <p:txBody>
          <a:bodyPr wrap="square" lIns="0" tIns="0" rIns="0" bIns="0" rtlCol="0" anchor="ctr"/>
          <a:lstStyle/>
          <a:p>
            <a:pPr indent="0" marL="0">
              <a:buNone/>
            </a:pPr>
            <a:r>
              <a:rPr lang="en-US" sz="1000" b="1" dirty="0">
                <a:solidFill>
                  <a:schemeClr val="accent5"/>
                </a:solidFill>
              </a:rPr>
              <a:t>가장 가까운 경쟁자</a:t>
            </a:r>
            <a:endParaRPr lang="en-US" sz="1000" dirty="0"/>
          </a:p>
        </p:txBody>
      </p:sp>
      <p:sp>
        <p:nvSpPr>
          <p:cNvPr id="25" name="Text 23"/>
          <p:cNvSpPr txBox="1"/>
          <p:nvPr/>
        </p:nvSpPr>
        <p:spPr>
          <a:xfrm>
            <a:off x="6263640" y="1600200"/>
            <a:ext cx="2560320" cy="457200"/>
          </a:xfrm>
          <a:prstGeom prst="rect">
            <a:avLst/>
          </a:prstGeom>
          <a:noFill/>
          <a:ln/>
        </p:spPr>
        <p:txBody>
          <a:bodyPr wrap="square" lIns="0" tIns="0" rIns="0" bIns="0" rtlCol="0" anchor="ctr"/>
          <a:lstStyle/>
          <a:p>
            <a:pPr indent="0" marL="0">
              <a:buNone/>
            </a:pPr>
            <a:r>
              <a:rPr lang="en-US" sz="2000" b="1" dirty="0">
                <a:solidFill>
                  <a:schemeClr val="tx1"/>
                </a:solidFill>
              </a:rPr>
              <a:t>하우머치</a:t>
            </a:r>
            <a:endParaRPr lang="en-US" sz="2000" dirty="0"/>
          </a:p>
        </p:txBody>
      </p:sp>
      <p:sp>
        <p:nvSpPr>
          <p:cNvPr id="26" name="Shape 24"/>
          <p:cNvSpPr/>
          <p:nvPr/>
        </p:nvSpPr>
        <p:spPr>
          <a:xfrm>
            <a:off x="6263640" y="2148840"/>
            <a:ext cx="2468880" cy="0"/>
          </a:xfrm>
          <a:prstGeom prst="line">
            <a:avLst/>
          </a:prstGeom>
          <a:noFill/>
          <a:ln w="12700">
            <a:solidFill>
              <a:srgbClr val="DCD9D0"/>
            </a:solidFill>
            <a:prstDash val="solid"/>
          </a:ln>
        </p:spPr>
      </p:sp>
      <p:sp>
        <p:nvSpPr>
          <p:cNvPr id="27" name="Text 25"/>
          <p:cNvSpPr txBox="1"/>
          <p:nvPr/>
        </p:nvSpPr>
        <p:spPr>
          <a:xfrm>
            <a:off x="6263640" y="2240280"/>
            <a:ext cx="2514600" cy="914400"/>
          </a:xfrm>
          <a:prstGeom prst="rect">
            <a:avLst/>
          </a:prstGeom>
          <a:noFill/>
          <a:ln/>
        </p:spPr>
        <p:txBody>
          <a:bodyPr wrap="square" lIns="0" tIns="0" rIns="0" bIns="0" rtlCol="0" anchor="t"/>
          <a:lstStyle/>
          <a:p>
            <a:pPr indent="0" marL="0">
              <a:spcAft>
                <a:spcPts val="600"/>
              </a:spcAft>
              <a:buNone/>
            </a:pPr>
            <a:r>
              <a:rPr lang="en-US" sz="1100" dirty="0">
                <a:solidFill>
                  <a:schemeClr val="tx1"/>
                </a:solidFill>
              </a:rPr>
              <a:t>혼자 기록하고 예상 급여까지 보여 줌</a:t>
            </a:r>
            <a:endParaRPr lang="en-US" sz="1100" dirty="0"/>
          </a:p>
          <a:p>
            <a:pPr indent="0" marL="0">
              <a:spcAft>
                <a:spcPts val="600"/>
              </a:spcAft>
              <a:buNone/>
            </a:pPr>
            <a:r>
              <a:rPr lang="en-US" sz="1100" dirty="0">
                <a:solidFill>
                  <a:schemeClr val="tx1"/>
                </a:solidFill>
              </a:rPr>
              <a:t>실제 받은 돈 비교 칸만 넣으면</a:t>
            </a:r>
            <a:endParaRPr lang="en-US" sz="1100" dirty="0"/>
          </a:p>
          <a:p>
            <a:pPr indent="0" marL="0">
              <a:spcAft>
                <a:spcPts val="600"/>
              </a:spcAft>
              <a:buNone/>
            </a:pPr>
            <a:r>
              <a:rPr lang="en-US" sz="1100" dirty="0">
                <a:solidFill>
                  <a:schemeClr val="tx1"/>
                </a:solidFill>
              </a:rPr>
              <a:t>따라올 수 있음</a:t>
            </a:r>
            <a:endParaRPr lang="en-US" sz="1100" dirty="0"/>
          </a:p>
        </p:txBody>
      </p:sp>
      <p:sp>
        <p:nvSpPr>
          <p:cNvPr id="28" name="Shape 26"/>
          <p:cNvSpPr/>
          <p:nvPr/>
        </p:nvSpPr>
        <p:spPr>
          <a:xfrm>
            <a:off x="6263640" y="3246120"/>
            <a:ext cx="54864" cy="731520"/>
          </a:xfrm>
          <a:prstGeom prst="rect">
            <a:avLst/>
          </a:prstGeom>
          <a:solidFill>
            <a:schemeClr val="accent1"/>
          </a:solidFill>
          <a:ln w="12700">
            <a:solidFill>
              <a:schemeClr val="accent1"/>
            </a:solidFill>
            <a:prstDash val="solid"/>
          </a:ln>
        </p:spPr>
      </p:sp>
      <p:sp>
        <p:nvSpPr>
          <p:cNvPr id="29" name="Text 27"/>
          <p:cNvSpPr txBox="1"/>
          <p:nvPr/>
        </p:nvSpPr>
        <p:spPr>
          <a:xfrm>
            <a:off x="6428232" y="3246120"/>
            <a:ext cx="2377440" cy="822960"/>
          </a:xfrm>
          <a:prstGeom prst="rect">
            <a:avLst/>
          </a:prstGeom>
          <a:noFill/>
          <a:ln/>
        </p:spPr>
        <p:txBody>
          <a:bodyPr wrap="square" lIns="0" tIns="0" rIns="0" bIns="0" rtlCol="0" anchor="t"/>
          <a:lstStyle/>
          <a:p>
            <a:pPr indent="0" marL="0">
              <a:buNone/>
            </a:pPr>
            <a:r>
              <a:rPr lang="en-US" sz="1100" b="1" dirty="0">
                <a:solidFill>
                  <a:schemeClr val="accent1"/>
                </a:solidFill>
              </a:rPr>
              <a:t>그래서 키우는 것</a:t>
            </a:r>
            <a:endParaRPr lang="en-US" sz="1100" dirty="0"/>
          </a:p>
          <a:p>
            <a:pPr indent="0" marL="0">
              <a:buNone/>
            </a:pPr>
            <a:r>
              <a:rPr lang="en-US" sz="1100" dirty="0">
                <a:solidFill>
                  <a:schemeClr val="tx1"/>
                </a:solidFill>
              </a:rPr>
              <a:t>따라 하기 어려운 기록 등록</a:t>
            </a:r>
            <a:endParaRPr lang="en-US" sz="1100" dirty="0"/>
          </a:p>
          <a:p>
            <a:pPr indent="0" marL="0">
              <a:buNone/>
            </a:pPr>
            <a:r>
              <a:rPr lang="en-US" sz="1100" dirty="0">
                <a:solidFill>
                  <a:schemeClr val="tx1"/>
                </a:solidFill>
              </a:rPr>
              <a:t>(확인 번호 · 등록 시각)</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⑥ 비즈니스 모델 · 유저 확보 전략</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핵심 화면은 무료, 수익은 게임 화면에서</a:t>
            </a:r>
            <a:endParaRPr lang="en-US" sz="2400" dirty="0"/>
          </a:p>
        </p:txBody>
      </p:sp>
      <p:sp>
        <p:nvSpPr>
          <p:cNvPr id="4" name="Text 2"/>
          <p:cNvSpPr txBox="1"/>
          <p:nvPr/>
        </p:nvSpPr>
        <p:spPr>
          <a:xfrm>
            <a:off x="457200" y="1170432"/>
            <a:ext cx="8229600" cy="292608"/>
          </a:xfrm>
          <a:prstGeom prst="rect">
            <a:avLst/>
          </a:prstGeom>
          <a:noFill/>
          <a:ln/>
        </p:spPr>
        <p:txBody>
          <a:bodyPr wrap="square" lIns="0" tIns="0" rIns="0" bIns="0" rtlCol="0" anchor="ctr"/>
          <a:lstStyle/>
          <a:p>
            <a:pPr indent="0" marL="0">
              <a:buNone/>
            </a:pPr>
            <a:r>
              <a:rPr lang="en-US" sz="1100" dirty="0">
                <a:solidFill>
                  <a:schemeClr val="tx1"/>
                </a:solidFill>
              </a:rPr>
              <a:t>출퇴근은 일하는 날마다, 돈 확인은 급여일에 한 번. 그 사이 열 이유로 게임 = 광고 자리</a:t>
            </a:r>
            <a:endParaRPr lang="en-US" sz="1100" dirty="0"/>
          </a:p>
        </p:txBody>
      </p:sp>
      <p:sp>
        <p:nvSpPr>
          <p:cNvPr id="5" name="Text 3"/>
          <p:cNvSpPr txBox="1"/>
          <p:nvPr/>
        </p:nvSpPr>
        <p:spPr>
          <a:xfrm>
            <a:off x="457200" y="1508760"/>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핵심 화면: 기록 · 비교 · 요청 · 증빙</a:t>
            </a:r>
            <a:endParaRPr lang="en-US" sz="1400" dirty="0"/>
          </a:p>
        </p:txBody>
      </p:sp>
      <p:sp>
        <p:nvSpPr>
          <p:cNvPr id="6" name="Text 4"/>
          <p:cNvSpPr txBox="1"/>
          <p:nvPr/>
        </p:nvSpPr>
        <p:spPr>
          <a:xfrm>
            <a:off x="7040880" y="1508760"/>
            <a:ext cx="1645920" cy="512064"/>
          </a:xfrm>
          <a:prstGeom prst="rect">
            <a:avLst/>
          </a:prstGeom>
          <a:noFill/>
          <a:ln/>
        </p:spPr>
        <p:txBody>
          <a:bodyPr wrap="square" lIns="0" tIns="0" rIns="0" bIns="0" rtlCol="0" anchor="ctr"/>
          <a:lstStyle/>
          <a:p>
            <a:pPr algn="r" indent="0" marL="0">
              <a:buNone/>
            </a:pPr>
            <a:r>
              <a:rPr lang="en-US" sz="1400" b="1" dirty="0">
                <a:solidFill>
                  <a:schemeClr val="accent2"/>
                </a:solidFill>
              </a:rPr>
              <a:t>무료 · 광고 없음</a:t>
            </a:r>
            <a:endParaRPr lang="en-US" sz="1400" dirty="0"/>
          </a:p>
        </p:txBody>
      </p:sp>
      <p:sp>
        <p:nvSpPr>
          <p:cNvPr id="7" name="Shape 5"/>
          <p:cNvSpPr/>
          <p:nvPr/>
        </p:nvSpPr>
        <p:spPr>
          <a:xfrm>
            <a:off x="457200" y="2020824"/>
            <a:ext cx="8229600" cy="0"/>
          </a:xfrm>
          <a:prstGeom prst="line">
            <a:avLst/>
          </a:prstGeom>
          <a:noFill/>
          <a:ln w="9525">
            <a:solidFill>
              <a:srgbClr val="DCD9D0"/>
            </a:solidFill>
            <a:prstDash val="solid"/>
          </a:ln>
        </p:spPr>
      </p:sp>
      <p:sp>
        <p:nvSpPr>
          <p:cNvPr id="8" name="Text 6"/>
          <p:cNvSpPr txBox="1"/>
          <p:nvPr/>
        </p:nvSpPr>
        <p:spPr>
          <a:xfrm>
            <a:off x="457200" y="2020824"/>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1차 (가설): 쉬는 틈 게임 화면 광고</a:t>
            </a:r>
            <a:endParaRPr lang="en-US" sz="1400" dirty="0"/>
          </a:p>
        </p:txBody>
      </p:sp>
      <p:sp>
        <p:nvSpPr>
          <p:cNvPr id="9" name="Text 7"/>
          <p:cNvSpPr txBox="1"/>
          <p:nvPr/>
        </p:nvSpPr>
        <p:spPr>
          <a:xfrm>
            <a:off x="7040880" y="2020824"/>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게임 화면만</a:t>
            </a:r>
            <a:endParaRPr lang="en-US" sz="1400" dirty="0"/>
          </a:p>
        </p:txBody>
      </p:sp>
      <p:sp>
        <p:nvSpPr>
          <p:cNvPr id="10" name="Shape 8"/>
          <p:cNvSpPr/>
          <p:nvPr/>
        </p:nvSpPr>
        <p:spPr>
          <a:xfrm>
            <a:off x="457200" y="2532888"/>
            <a:ext cx="8229600" cy="0"/>
          </a:xfrm>
          <a:prstGeom prst="line">
            <a:avLst/>
          </a:prstGeom>
          <a:noFill/>
          <a:ln w="9525">
            <a:solidFill>
              <a:srgbClr val="DCD9D0"/>
            </a:solidFill>
            <a:prstDash val="solid"/>
          </a:ln>
        </p:spPr>
      </p:sp>
      <p:sp>
        <p:nvSpPr>
          <p:cNvPr id="11" name="Text 9"/>
          <p:cNvSpPr txBox="1"/>
          <p:nvPr/>
        </p:nvSpPr>
        <p:spPr>
          <a:xfrm>
            <a:off x="457200" y="2532888"/>
            <a:ext cx="6583680" cy="512064"/>
          </a:xfrm>
          <a:prstGeom prst="rect">
            <a:avLst/>
          </a:prstGeom>
          <a:noFill/>
          <a:ln/>
        </p:spPr>
        <p:txBody>
          <a:bodyPr wrap="square" lIns="0" tIns="0" rIns="0" bIns="0" rtlCol="0" anchor="ctr"/>
          <a:lstStyle/>
          <a:p>
            <a:pPr indent="0" marL="0">
              <a:buNone/>
            </a:pPr>
            <a:r>
              <a:rPr lang="en-US" sz="1400" b="1" dirty="0">
                <a:solidFill>
                  <a:schemeClr val="tx1"/>
                </a:solidFill>
              </a:rPr>
              <a:t>2차 (후보): 동기화 · 자동 백업 구독</a:t>
            </a:r>
            <a:endParaRPr lang="en-US" sz="1400" dirty="0"/>
          </a:p>
        </p:txBody>
      </p:sp>
      <p:sp>
        <p:nvSpPr>
          <p:cNvPr id="12" name="Text 10"/>
          <p:cNvSpPr txBox="1"/>
          <p:nvPr/>
        </p:nvSpPr>
        <p:spPr>
          <a:xfrm>
            <a:off x="7040880" y="2532888"/>
            <a:ext cx="1645920" cy="512064"/>
          </a:xfrm>
          <a:prstGeom prst="rect">
            <a:avLst/>
          </a:prstGeom>
          <a:noFill/>
          <a:ln/>
        </p:spPr>
        <p:txBody>
          <a:bodyPr wrap="square" lIns="0" tIns="0" rIns="0" bIns="0" rtlCol="0" anchor="ctr"/>
          <a:lstStyle/>
          <a:p>
            <a:pPr algn="r" indent="0" marL="0">
              <a:buNone/>
            </a:pPr>
            <a:r>
              <a:rPr lang="en-US" sz="1400" b="1" dirty="0">
                <a:solidFill>
                  <a:schemeClr val="tx2"/>
                </a:solidFill>
              </a:rPr>
              <a:t>구독</a:t>
            </a:r>
            <a:endParaRPr lang="en-US" sz="1400" dirty="0"/>
          </a:p>
        </p:txBody>
      </p:sp>
      <p:sp>
        <p:nvSpPr>
          <p:cNvPr id="13" name="Shape 11"/>
          <p:cNvSpPr/>
          <p:nvPr/>
        </p:nvSpPr>
        <p:spPr>
          <a:xfrm>
            <a:off x="457200" y="3044952"/>
            <a:ext cx="8229600" cy="0"/>
          </a:xfrm>
          <a:prstGeom prst="line">
            <a:avLst/>
          </a:prstGeom>
          <a:noFill/>
          <a:ln w="9525">
            <a:solidFill>
              <a:srgbClr val="DCD9D0"/>
            </a:solidFill>
            <a:prstDash val="solid"/>
          </a:ln>
        </p:spPr>
      </p:sp>
      <p:sp>
        <p:nvSpPr>
          <p:cNvPr id="14" name="Text 12"/>
          <p:cNvSpPr txBox="1"/>
          <p:nvPr/>
        </p:nvSpPr>
        <p:spPr>
          <a:xfrm>
            <a:off x="457200" y="3044952"/>
            <a:ext cx="6583680" cy="512064"/>
          </a:xfrm>
          <a:prstGeom prst="rect">
            <a:avLst/>
          </a:prstGeom>
          <a:noFill/>
          <a:ln/>
        </p:spPr>
        <p:txBody>
          <a:bodyPr wrap="square" lIns="0" tIns="0" rIns="0" bIns="0" rtlCol="0" anchor="ctr"/>
          <a:lstStyle/>
          <a:p>
            <a:pPr indent="0" marL="0">
              <a:buNone/>
            </a:pPr>
            <a:r>
              <a:rPr lang="en-US" sz="1400" b="1" dirty="0">
                <a:solidFill>
                  <a:schemeClr val="accent3"/>
                </a:solidFill>
              </a:rPr>
              <a:t>하지 않는 것: 정산 문구 · 내용증명 · 증빙 묶음 유료화</a:t>
            </a:r>
            <a:endParaRPr lang="en-US" sz="1400" dirty="0"/>
          </a:p>
        </p:txBody>
      </p:sp>
      <p:sp>
        <p:nvSpPr>
          <p:cNvPr id="15" name="Text 13"/>
          <p:cNvSpPr txBox="1"/>
          <p:nvPr/>
        </p:nvSpPr>
        <p:spPr>
          <a:xfrm>
            <a:off x="7040880" y="3044952"/>
            <a:ext cx="1645920" cy="512064"/>
          </a:xfrm>
          <a:prstGeom prst="rect">
            <a:avLst/>
          </a:prstGeom>
          <a:noFill/>
          <a:ln/>
        </p:spPr>
        <p:txBody>
          <a:bodyPr wrap="square" lIns="0" tIns="0" rIns="0" bIns="0" rtlCol="0" anchor="ctr"/>
          <a:lstStyle/>
          <a:p>
            <a:pPr algn="r" indent="0" marL="0">
              <a:buNone/>
            </a:pPr>
            <a:r>
              <a:rPr lang="en-US" sz="1400" b="1" dirty="0">
                <a:solidFill>
                  <a:schemeClr val="accent3"/>
                </a:solidFill>
              </a:rPr>
              <a:t>유료화 안 함</a:t>
            </a:r>
            <a:endParaRPr lang="en-US" sz="1400" dirty="0"/>
          </a:p>
        </p:txBody>
      </p:sp>
      <p:sp>
        <p:nvSpPr>
          <p:cNvPr id="16" name="Shape 14"/>
          <p:cNvSpPr/>
          <p:nvPr/>
        </p:nvSpPr>
        <p:spPr>
          <a:xfrm>
            <a:off x="457200" y="3557016"/>
            <a:ext cx="8229600" cy="0"/>
          </a:xfrm>
          <a:prstGeom prst="line">
            <a:avLst/>
          </a:prstGeom>
          <a:noFill/>
          <a:ln w="9525">
            <a:solidFill>
              <a:srgbClr val="DCD9D0"/>
            </a:solidFill>
            <a:prstDash val="solid"/>
          </a:ln>
        </p:spPr>
      </p:sp>
      <p:sp>
        <p:nvSpPr>
          <p:cNvPr id="17" name="Text 15"/>
          <p:cNvSpPr txBox="1"/>
          <p:nvPr/>
        </p:nvSpPr>
        <p:spPr>
          <a:xfrm>
            <a:off x="457200" y="379476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유저 확보</a:t>
            </a:r>
            <a:endParaRPr lang="en-US" sz="1050" dirty="0"/>
          </a:p>
        </p:txBody>
      </p:sp>
      <p:sp>
        <p:nvSpPr>
          <p:cNvPr id="18" name="Text 16"/>
          <p:cNvSpPr txBox="1"/>
          <p:nvPr/>
        </p:nvSpPr>
        <p:spPr>
          <a:xfrm>
            <a:off x="1645920" y="3794760"/>
            <a:ext cx="7040880" cy="347472"/>
          </a:xfrm>
          <a:prstGeom prst="rect">
            <a:avLst/>
          </a:prstGeom>
          <a:noFill/>
          <a:ln/>
        </p:spPr>
        <p:txBody>
          <a:bodyPr wrap="square" lIns="0" tIns="0" rIns="0" bIns="0" rtlCol="0" anchor="t"/>
          <a:lstStyle/>
          <a:p>
            <a:pPr indent="0" marL="0">
              <a:buNone/>
            </a:pPr>
            <a:r>
              <a:rPr lang="en-US" sz="1100" dirty="0">
                <a:solidFill>
                  <a:schemeClr val="tx1"/>
                </a:solidFill>
              </a:rPr>
              <a:t>에브리타임 · 학과 단톡 · 알바 커뮤니티에 링크, 쇼츠 · 릴스(짧은 영상)</a:t>
            </a:r>
            <a:endParaRPr lang="en-US" sz="1100" dirty="0"/>
          </a:p>
        </p:txBody>
      </p:sp>
      <p:sp>
        <p:nvSpPr>
          <p:cNvPr id="19" name="Text 17"/>
          <p:cNvSpPr txBox="1"/>
          <p:nvPr/>
        </p:nvSpPr>
        <p:spPr>
          <a:xfrm>
            <a:off x="457200" y="4206240"/>
            <a:ext cx="1188720" cy="320040"/>
          </a:xfrm>
          <a:prstGeom prst="rect">
            <a:avLst/>
          </a:prstGeom>
          <a:noFill/>
          <a:ln/>
        </p:spPr>
        <p:txBody>
          <a:bodyPr wrap="square" lIns="0" tIns="0" rIns="0" bIns="0" rtlCol="0" anchor="ctr"/>
          <a:lstStyle/>
          <a:p>
            <a:pPr indent="0" marL="0">
              <a:buNone/>
            </a:pPr>
            <a:r>
              <a:rPr lang="en-US" sz="1050" b="1" dirty="0">
                <a:solidFill>
                  <a:schemeClr val="tx2"/>
                </a:solidFill>
              </a:rPr>
              <a:t>지표 (앞으로)</a:t>
            </a:r>
            <a:endParaRPr lang="en-US" sz="1050" dirty="0"/>
          </a:p>
        </p:txBody>
      </p:sp>
      <p:sp>
        <p:nvSpPr>
          <p:cNvPr id="20" name="Text 18"/>
          <p:cNvSpPr txBox="1"/>
          <p:nvPr/>
        </p:nvSpPr>
        <p:spPr>
          <a:xfrm>
            <a:off x="1645920" y="4206240"/>
            <a:ext cx="7040880" cy="320040"/>
          </a:xfrm>
          <a:prstGeom prst="rect">
            <a:avLst/>
          </a:prstGeom>
          <a:noFill/>
          <a:ln/>
        </p:spPr>
        <p:txBody>
          <a:bodyPr wrap="square" lIns="0" tIns="0" rIns="0" bIns="0" rtlCol="0" anchor="t"/>
          <a:lstStyle/>
          <a:p>
            <a:pPr indent="0" marL="0">
              <a:buNone/>
            </a:pPr>
            <a:r>
              <a:rPr lang="en-US" sz="1100" b="1" dirty="0">
                <a:solidFill>
                  <a:schemeClr val="tx2"/>
                </a:solidFill>
              </a:rPr>
              <a:t>홈 화면 추가 → 첫 기록 → 받은 금액 입력 → 차액 발견 → 요청 보냄 → 실제로 받음 (인터뷰)</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⑦ 초기 시장 검증 성과와 계획</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검증: 설문 13명 중간 결과, 11월에 다섯 가지 확인</a:t>
            </a:r>
            <a:endParaRPr lang="en-US" sz="2400" dirty="0"/>
          </a:p>
        </p:txBody>
      </p:sp>
      <p:sp>
        <p:nvSpPr>
          <p:cNvPr id="4" name="Text 2"/>
          <p:cNvSpPr txBox="1"/>
          <p:nvPr/>
        </p:nvSpPr>
        <p:spPr>
          <a:xfrm>
            <a:off x="457200" y="1188720"/>
            <a:ext cx="8229600" cy="320040"/>
          </a:xfrm>
          <a:prstGeom prst="rect">
            <a:avLst/>
          </a:prstGeom>
          <a:noFill/>
          <a:ln/>
        </p:spPr>
        <p:txBody>
          <a:bodyPr wrap="square" lIns="0" tIns="0" rIns="0" bIns="0" rtlCol="0" anchor="ctr"/>
          <a:lstStyle/>
          <a:p>
            <a:pPr indent="0" marL="0">
              <a:buNone/>
            </a:pPr>
            <a:r>
              <a:rPr lang="en-US" sz="1100" b="1" dirty="0">
                <a:solidFill>
                  <a:schemeClr val="tx2"/>
                </a:solidFill>
              </a:rPr>
              <a:t>가설  </a:t>
            </a:r>
            <a:pPr indent="0" marL="0">
              <a:buNone/>
            </a:pPr>
            <a:r>
              <a:rPr lang="en-US" sz="1100" dirty="0">
                <a:solidFill>
                  <a:schemeClr val="tx1"/>
                </a:solidFill>
              </a:rPr>
              <a:t>알바생은 자신의 근무 기록을 근거로 한 정산 요청 문구가 있으면, 사장에게 말을 꺼낼 수 있다고 느끼고 쓸 것</a:t>
            </a:r>
            <a:endParaRPr lang="en-US" sz="1100" dirty="0"/>
          </a:p>
        </p:txBody>
      </p:sp>
      <p:graphicFrame>
        <p:nvGraphicFramePr>
          <p:cNvPr id="17" name="검증 계획 표"/>
          <p:cNvGraphicFramePr>
            <a:graphicFrameLocks noGrp="1"/>
          </p:cNvGraphicFramePr>
          <p:nvPr>
            <p:extLst>
              <p:ext uri="{D42A27DB-BD31-4B8C-83A1-F6EECF244321}">
                <p14:modId xmlns:p14="http://schemas.microsoft.com/office/powerpoint/2010/main" val="1579011935"/>
              </p:ext>
            </p:extLst>
          </p:nvPr>
        </p:nvGraphicFramePr>
        <p:xfrm>
          <a:off x="457200" y="1691640"/>
          <a:ext cx="8229600" cy="914400"/>
        </p:xfrm>
        <a:graphic>
          <a:graphicData uri="http://schemas.openxmlformats.org/drawingml/2006/table">
            <a:tbl>
              <a:tblPr/>
              <a:tblGrid>
                <a:gridCol w="4754880"/>
                <a:gridCol w="3474720"/>
              </a:tblGrid>
              <a:tr h="384048">
                <a:tc>
                  <a:txBody>
                    <a:bodyPr/>
                    <a:lstStyle/>
                    <a:p>
                      <a:pPr indent="0" marL="0">
                        <a:buNone/>
                      </a:pPr>
                      <a:r>
                        <a:rPr lang="en-US" sz="1100" b="1" dirty="0">
                          <a:solidFill>
                            <a:srgbClr val="5D636D"/>
                          </a:solidFill>
                        </a:rPr>
                        <a:t>11월에 확인할 것 (설문 30명 · 인터뷰 5명)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c>
                  <a:txBody>
                    <a:bodyPr/>
                    <a:lstStyle/>
                    <a:p>
                      <a:pPr indent="0" marL="0">
                        <a:buNone/>
                      </a:pPr>
                      <a:r>
                        <a:rPr lang="en-US" sz="1100" b="1" dirty="0">
                          <a:solidFill>
                            <a:srgbClr val="5D636D"/>
                          </a:solidFill>
                        </a:rPr>
                        <a:t>중간 결과 (설문 13명)</a:t>
                      </a:r>
                      <a:endParaRPr lang="en-US" sz="110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solidFill>
                      <a:srgbClr val="F4F3EF"/>
                    </a:solidFill>
                  </a:tcPr>
                </a:tc>
              </a:tr>
              <a:tr h="475488">
                <a:tc>
                  <a:txBody>
                    <a:bodyPr/>
                    <a:lstStyle/>
                    <a:p>
                      <a:pPr indent="0" marL="0">
                        <a:buNone/>
                      </a:pPr>
                      <a:r>
                        <a:rPr lang="en-US" sz="1250" b="1" dirty="0">
                          <a:solidFill>
                            <a:srgbClr val="15171A"/>
                          </a:solidFill>
                        </a:rPr>
                        <a:t>매달 받은 금액을 직접 넣음</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b="1" dirty="0">
                          <a:solidFill>
                            <a:srgbClr val="0F7A55"/>
                          </a:solidFill>
                        </a:rPr>
                        <a:t>11명 "넣겠다"</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요청 문구를 실제로 보낼 수 있음</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가장 쓸모 0명</a:t>
                      </a:r>
                      <a:endParaRPr lang="en-US" sz="1250" dirty="0"/>
                    </a:p>
                    <a:p>
                      <a:pPr indent="0" marL="0">
                        <a:buNone/>
                      </a:pPr>
                      <a:r>
                        <a:rPr lang="en-US" sz="1250" dirty="0">
                          <a:solidFill>
                            <a:srgbClr val="5D636D"/>
                          </a:solidFill>
                        </a:rPr>
                        <a:t>11월 인터뷰</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확인 번호 설명이 이해됨</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가장 쓸모 0명</a:t>
                      </a:r>
                      <a:endParaRPr lang="en-US" sz="1250" dirty="0"/>
                    </a:p>
                    <a:p>
                      <a:pPr indent="0" marL="0">
                        <a:buNone/>
                      </a:pPr>
                      <a:r>
                        <a:rPr lang="en-US" sz="1250" dirty="0">
                          <a:solidFill>
                            <a:srgbClr val="5D636D"/>
                          </a:solidFill>
                        </a:rPr>
                        <a:t>11월 인터뷰</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타깃 중 주 15시간 이상이 다수</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dirty="0">
                          <a:solidFill>
                            <a:srgbClr val="5D636D"/>
                          </a:solidFill>
                        </a:rPr>
                        <a:t>알바 중 2명, 보류</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r h="475488">
                <a:tc>
                  <a:txBody>
                    <a:bodyPr/>
                    <a:lstStyle/>
                    <a:p>
                      <a:pPr indent="0" marL="0">
                        <a:buNone/>
                      </a:pPr>
                      <a:r>
                        <a:rPr lang="en-US" sz="1250" b="1" dirty="0">
                          <a:solidFill>
                            <a:srgbClr val="15171A"/>
                          </a:solidFill>
                        </a:rPr>
                        <a:t>게임 화면 광고를 받아들임</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c>
                  <a:txBody>
                    <a:bodyPr/>
                    <a:lstStyle/>
                    <a:p>
                      <a:pPr indent="0" marL="0">
                        <a:buNone/>
                      </a:pPr>
                      <a:r>
                        <a:rPr lang="en-US" sz="1250" b="1" dirty="0">
                          <a:solidFill>
                            <a:srgbClr val="0F7A55"/>
                          </a:solidFill>
                        </a:rPr>
                        <a:t>"싫다" 4명</a:t>
                      </a:r>
                      <a:endParaRPr lang="en-US" sz="1250" dirty="0"/>
                    </a:p>
                    <a:p>
                      <a:pPr indent="0" marL="0">
                        <a:buNone/>
                      </a:pPr>
                      <a:r>
                        <a:rPr lang="en-US" sz="1250" b="1" dirty="0">
                          <a:solidFill>
                            <a:srgbClr val="0F7A55"/>
                          </a:solidFill>
                        </a:rPr>
                        <a:t>안 쓸 기능 1위(6명)</a:t>
                      </a:r>
                      <a:endParaRPr lang="en-US" sz="1250" dirty="0"/>
                    </a:p>
                  </a:txBody>
                  <a:tcPr marL="73152" marR="73152" marT="18288" marB="18288" anchor="ctr">
                    <a:lnL w="6350" cap="flat" cmpd="sng" algn="ctr">
                      <a:solidFill>
                        <a:srgbClr val="DCD9D0"/>
                      </a:solidFill>
                      <a:prstDash val="solid"/>
                      <a:round/>
                      <a:headEnd type="none" w="med" len="med"/>
                      <a:tailEnd type="none" w="med" len="med"/>
                    </a:lnL>
                    <a:lnR w="6350" cap="flat" cmpd="sng" algn="ctr">
                      <a:solidFill>
                        <a:srgbClr val="DCD9D0"/>
                      </a:solidFill>
                      <a:prstDash val="solid"/>
                      <a:round/>
                      <a:headEnd type="none" w="med" len="med"/>
                      <a:tailEnd type="none" w="med" len="med"/>
                    </a:lnR>
                    <a:lnT w="6350" cap="flat" cmpd="sng" algn="ctr">
                      <a:solidFill>
                        <a:srgbClr val="DCD9D0"/>
                      </a:solidFill>
                      <a:prstDash val="solid"/>
                      <a:round/>
                      <a:headEnd type="none" w="med" len="med"/>
                      <a:tailEnd type="none" w="med" len="med"/>
                    </a:lnT>
                    <a:lnB w="6350" cap="flat" cmpd="sng" algn="ctr">
                      <a:solidFill>
                        <a:srgbClr val="DCD9D0"/>
                      </a:solidFill>
                      <a:prstDash val="solid"/>
                      <a:round/>
                      <a:headEnd type="none" w="med" len="med"/>
                      <a:tailEnd type="none" w="med" len="med"/>
                    </a:lnB>
                  </a:tcPr>
                </a:tc>
              </a:tr>
            </a:tbl>
          </a:graphicData>
        </a:graphic>
      </p:graphicFrame>
      <p:sp>
        <p:nvSpPr>
          <p:cNvPr id="6" name="Text 3"/>
          <p:cNvSpPr txBox="1"/>
          <p:nvPr/>
        </p:nvSpPr>
        <p:spPr>
          <a:xfrm>
            <a:off x="457200" y="4526280"/>
            <a:ext cx="8229600" cy="228600"/>
          </a:xfrm>
          <a:prstGeom prst="rect">
            <a:avLst/>
          </a:prstGeom>
          <a:noFill/>
          <a:ln/>
        </p:spPr>
        <p:txBody>
          <a:bodyPr wrap="square" lIns="0" tIns="0" rIns="0" bIns="0" rtlCol="0" anchor="ctr"/>
          <a:lstStyle/>
          <a:p>
            <a:pPr indent="0" marL="0">
              <a:buNone/>
            </a:pPr>
            <a:r>
              <a:rPr lang="en-US" sz="950" dirty="0">
                <a:solidFill>
                  <a:schemeClr val="accent5"/>
                </a:solidFill>
              </a:rPr>
              <a:t>10/26 기준 · 지금 알바 중 2 · 예전에 했음 10 · 한 적 없음 1 · 지인 중심이라 정식 조사 아님 · 사람 수로만 표기</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body" hasCustomPrompt="1"/>
          </p:nvPr>
        </p:nvSpPr>
        <p:spPr>
          <a:xfrm>
            <a:off x="457200" y="274320"/>
            <a:ext cx="7772400" cy="256032"/>
          </a:xfrm>
          <a:prstGeom prst="rect">
            <a:avLst/>
          </a:prstGeom>
          <a:noFill/>
          <a:ln/>
        </p:spPr>
        <p:txBody>
          <a:bodyPr wrap="square" lIns="0" tIns="0" rIns="0" bIns="0" rtlCol="0"/>
          <a:lstStyle/>
          <a:p>
            <a:pPr indent="0" marL="0">
              <a:buNone/>
            </a:pPr>
            <a:r>
              <a:rPr lang="en-US" sz="1050" b="1" dirty="0">
                <a:solidFill>
                  <a:schemeClr val="accent5"/>
                </a:solidFill>
              </a:rPr>
              <a:t>⑧ 향후 계획 · 간트 차트</a:t>
            </a:r>
            <a:endParaRPr lang="en-US" sz="1050" dirty="0"/>
          </a:p>
        </p:txBody>
      </p:sp>
      <p:sp>
        <p:nvSpPr>
          <p:cNvPr id="3" name="Text 1"/>
          <p:cNvSpPr/>
          <p:nvPr>
            <p:ph idx="102" type="title" hasCustomPrompt="1"/>
          </p:nvPr>
        </p:nvSpPr>
        <p:spPr>
          <a:xfrm>
            <a:off x="457200" y="502920"/>
            <a:ext cx="8229600" cy="566928"/>
          </a:xfrm>
          <a:prstGeom prst="rect">
            <a:avLst/>
          </a:prstGeom>
          <a:noFill/>
          <a:ln/>
        </p:spPr>
        <p:txBody>
          <a:bodyPr wrap="square" lIns="0" tIns="0" rIns="0" bIns="0" rtlCol="0" anchor="t"/>
          <a:lstStyle/>
          <a:p>
            <a:pPr algn="l" indent="0" marL="0">
              <a:buNone/>
            </a:pPr>
            <a:r>
              <a:rPr lang="en-US" sz="2400" b="1" dirty="0">
                <a:solidFill>
                  <a:schemeClr val="tx2"/>
                </a:solidFill>
              </a:rPr>
              <a:t>기말(12/15)까지 일정</a:t>
            </a:r>
            <a:endParaRPr lang="en-US" sz="2400" dirty="0"/>
          </a:p>
        </p:txBody>
      </p:sp>
      <p:sp>
        <p:nvSpPr>
          <p:cNvPr id="4" name="Shape 2"/>
          <p:cNvSpPr/>
          <p:nvPr/>
        </p:nvSpPr>
        <p:spPr>
          <a:xfrm>
            <a:off x="4343400" y="1682496"/>
            <a:ext cx="4343400" cy="0"/>
          </a:xfrm>
          <a:prstGeom prst="line">
            <a:avLst/>
          </a:prstGeom>
          <a:noFill/>
          <a:ln w="6350">
            <a:solidFill>
              <a:srgbClr val="DCD9D0"/>
            </a:solidFill>
            <a:prstDash val="dash"/>
          </a:ln>
        </p:spPr>
      </p:sp>
      <p:sp>
        <p:nvSpPr>
          <p:cNvPr id="5" name="마일스톤 1"/>
          <p:cNvSpPr/>
          <p:nvPr/>
        </p:nvSpPr>
        <p:spPr>
          <a:xfrm>
            <a:off x="5520363" y="1618488"/>
            <a:ext cx="128016" cy="128016"/>
          </a:xfrm>
          <a:prstGeom prst="diamond">
            <a:avLst/>
          </a:prstGeom>
          <a:solidFill>
            <a:schemeClr val="accent3"/>
          </a:solidFill>
          <a:ln w="12700">
            <a:solidFill>
              <a:schemeClr val="accent3"/>
            </a:solidFill>
            <a:prstDash val="solid"/>
          </a:ln>
        </p:spPr>
      </p:sp>
      <p:sp>
        <p:nvSpPr>
          <p:cNvPr id="6" name="Text 4"/>
          <p:cNvSpPr txBox="1"/>
          <p:nvPr/>
        </p:nvSpPr>
        <p:spPr>
          <a:xfrm>
            <a:off x="4898571"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11/9 인터뷰 · 설문 1차</a:t>
            </a:r>
            <a:endParaRPr lang="en-US" sz="900" dirty="0"/>
          </a:p>
        </p:txBody>
      </p:sp>
      <p:sp>
        <p:nvSpPr>
          <p:cNvPr id="7" name="마일스톤 2"/>
          <p:cNvSpPr/>
          <p:nvPr/>
        </p:nvSpPr>
        <p:spPr>
          <a:xfrm>
            <a:off x="6761335" y="1618488"/>
            <a:ext cx="128016" cy="128016"/>
          </a:xfrm>
          <a:prstGeom prst="diamond">
            <a:avLst/>
          </a:prstGeom>
          <a:solidFill>
            <a:schemeClr val="accent3"/>
          </a:solidFill>
          <a:ln w="12700">
            <a:solidFill>
              <a:schemeClr val="accent3"/>
            </a:solidFill>
            <a:prstDash val="solid"/>
          </a:ln>
        </p:spPr>
      </p:sp>
      <p:sp>
        <p:nvSpPr>
          <p:cNvPr id="8" name="Text 6"/>
          <p:cNvSpPr txBox="1"/>
          <p:nvPr/>
        </p:nvSpPr>
        <p:spPr>
          <a:xfrm>
            <a:off x="6139543"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11/23 반영 배포</a:t>
            </a:r>
            <a:endParaRPr lang="en-US" sz="900" dirty="0"/>
          </a:p>
        </p:txBody>
      </p:sp>
      <p:sp>
        <p:nvSpPr>
          <p:cNvPr id="9" name="마일스톤 3"/>
          <p:cNvSpPr/>
          <p:nvPr/>
        </p:nvSpPr>
        <p:spPr>
          <a:xfrm>
            <a:off x="7381821" y="1618488"/>
            <a:ext cx="128016" cy="128016"/>
          </a:xfrm>
          <a:prstGeom prst="diamond">
            <a:avLst/>
          </a:prstGeom>
          <a:solidFill>
            <a:schemeClr val="accent3"/>
          </a:solidFill>
          <a:ln w="12700">
            <a:solidFill>
              <a:schemeClr val="accent3"/>
            </a:solidFill>
            <a:prstDash val="solid"/>
          </a:ln>
        </p:spPr>
      </p:sp>
      <p:sp>
        <p:nvSpPr>
          <p:cNvPr id="10" name="Text 8"/>
          <p:cNvSpPr txBox="1"/>
          <p:nvPr/>
        </p:nvSpPr>
        <p:spPr>
          <a:xfrm>
            <a:off x="6760029"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11/30 폰 검증</a:t>
            </a:r>
            <a:endParaRPr lang="en-US" sz="900" dirty="0"/>
          </a:p>
        </p:txBody>
      </p:sp>
      <p:sp>
        <p:nvSpPr>
          <p:cNvPr id="11" name="마일스톤 4"/>
          <p:cNvSpPr/>
          <p:nvPr/>
        </p:nvSpPr>
        <p:spPr>
          <a:xfrm>
            <a:off x="8002306" y="1618488"/>
            <a:ext cx="128016" cy="128016"/>
          </a:xfrm>
          <a:prstGeom prst="diamond">
            <a:avLst/>
          </a:prstGeom>
          <a:solidFill>
            <a:schemeClr val="accent3"/>
          </a:solidFill>
          <a:ln w="12700">
            <a:solidFill>
              <a:schemeClr val="accent3"/>
            </a:solidFill>
            <a:prstDash val="solid"/>
          </a:ln>
        </p:spPr>
      </p:sp>
      <p:sp>
        <p:nvSpPr>
          <p:cNvPr id="12" name="Text 10"/>
          <p:cNvSpPr txBox="1"/>
          <p:nvPr/>
        </p:nvSpPr>
        <p:spPr>
          <a:xfrm>
            <a:off x="7380514" y="1920240"/>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12/7 동결</a:t>
            </a:r>
            <a:endParaRPr lang="en-US" sz="900" dirty="0"/>
          </a:p>
        </p:txBody>
      </p:sp>
      <p:sp>
        <p:nvSpPr>
          <p:cNvPr id="13" name="마일스톤 5"/>
          <p:cNvSpPr/>
          <p:nvPr/>
        </p:nvSpPr>
        <p:spPr>
          <a:xfrm>
            <a:off x="8622792" y="1618488"/>
            <a:ext cx="128016" cy="128016"/>
          </a:xfrm>
          <a:prstGeom prst="diamond">
            <a:avLst/>
          </a:prstGeom>
          <a:solidFill>
            <a:schemeClr val="accent3"/>
          </a:solidFill>
          <a:ln w="12700">
            <a:solidFill>
              <a:schemeClr val="accent3"/>
            </a:solidFill>
            <a:prstDash val="solid"/>
          </a:ln>
        </p:spPr>
      </p:sp>
      <p:sp>
        <p:nvSpPr>
          <p:cNvPr id="14" name="Text 12"/>
          <p:cNvSpPr txBox="1"/>
          <p:nvPr/>
        </p:nvSpPr>
        <p:spPr>
          <a:xfrm>
            <a:off x="8001000" y="1746504"/>
            <a:ext cx="1371600" cy="182880"/>
          </a:xfrm>
          <a:prstGeom prst="rect">
            <a:avLst/>
          </a:prstGeom>
          <a:noFill/>
          <a:ln/>
        </p:spPr>
        <p:txBody>
          <a:bodyPr wrap="square" lIns="0" tIns="0" rIns="0" bIns="0" rtlCol="0" anchor="t"/>
          <a:lstStyle/>
          <a:p>
            <a:pPr algn="ctr" indent="0" marL="0">
              <a:buNone/>
            </a:pPr>
            <a:r>
              <a:rPr lang="en-US" sz="900" b="1" dirty="0">
                <a:solidFill>
                  <a:schemeClr val="accent3"/>
                </a:solidFill>
              </a:rPr>
              <a:t>12/15 기말</a:t>
            </a:r>
            <a:endParaRPr lang="en-US" sz="900" dirty="0"/>
          </a:p>
        </p:txBody>
      </p:sp>
      <p:sp>
        <p:nvSpPr>
          <p:cNvPr id="15" name="Text 13"/>
          <p:cNvSpPr txBox="1"/>
          <p:nvPr/>
        </p:nvSpPr>
        <p:spPr>
          <a:xfrm>
            <a:off x="457200" y="1572768"/>
            <a:ext cx="1371600" cy="228600"/>
          </a:xfrm>
          <a:prstGeom prst="rect">
            <a:avLst/>
          </a:prstGeom>
          <a:noFill/>
          <a:ln/>
        </p:spPr>
        <p:txBody>
          <a:bodyPr wrap="square" lIns="0" tIns="0" rIns="0" bIns="0" rtlCol="0" anchor="ctr"/>
          <a:lstStyle/>
          <a:p>
            <a:pPr indent="0" marL="0">
              <a:buNone/>
            </a:pPr>
            <a:r>
              <a:rPr lang="en-US" sz="950" b="1" dirty="0">
                <a:solidFill>
                  <a:schemeClr val="accent3"/>
                </a:solidFill>
              </a:rPr>
              <a:t>마일스톤</a:t>
            </a:r>
            <a:endParaRPr lang="en-US" sz="950" dirty="0"/>
          </a:p>
        </p:txBody>
      </p:sp>
      <p:sp>
        <p:nvSpPr>
          <p:cNvPr id="16" name="Text 14"/>
          <p:cNvSpPr txBox="1"/>
          <p:nvPr/>
        </p:nvSpPr>
        <p:spPr>
          <a:xfrm>
            <a:off x="4343400"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10/27</a:t>
            </a:r>
            <a:endParaRPr lang="en-US" sz="1000" dirty="0"/>
          </a:p>
        </p:txBody>
      </p:sp>
      <p:sp>
        <p:nvSpPr>
          <p:cNvPr id="17" name="Text 15"/>
          <p:cNvSpPr txBox="1"/>
          <p:nvPr/>
        </p:nvSpPr>
        <p:spPr>
          <a:xfrm>
            <a:off x="4963886"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11/3</a:t>
            </a:r>
            <a:endParaRPr lang="en-US" sz="1000" dirty="0"/>
          </a:p>
        </p:txBody>
      </p:sp>
      <p:sp>
        <p:nvSpPr>
          <p:cNvPr id="18" name="Text 16"/>
          <p:cNvSpPr txBox="1"/>
          <p:nvPr/>
        </p:nvSpPr>
        <p:spPr>
          <a:xfrm>
            <a:off x="5584371"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11/10</a:t>
            </a:r>
            <a:endParaRPr lang="en-US" sz="1000" dirty="0"/>
          </a:p>
        </p:txBody>
      </p:sp>
      <p:sp>
        <p:nvSpPr>
          <p:cNvPr id="19" name="Text 17"/>
          <p:cNvSpPr txBox="1"/>
          <p:nvPr/>
        </p:nvSpPr>
        <p:spPr>
          <a:xfrm>
            <a:off x="6204857"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11/17</a:t>
            </a:r>
            <a:endParaRPr lang="en-US" sz="1000" dirty="0"/>
          </a:p>
        </p:txBody>
      </p:sp>
      <p:sp>
        <p:nvSpPr>
          <p:cNvPr id="20" name="Text 18"/>
          <p:cNvSpPr txBox="1"/>
          <p:nvPr/>
        </p:nvSpPr>
        <p:spPr>
          <a:xfrm>
            <a:off x="6825343"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11/24</a:t>
            </a:r>
            <a:endParaRPr lang="en-US" sz="1000" dirty="0"/>
          </a:p>
        </p:txBody>
      </p:sp>
      <p:sp>
        <p:nvSpPr>
          <p:cNvPr id="21" name="Text 19"/>
          <p:cNvSpPr txBox="1"/>
          <p:nvPr/>
        </p:nvSpPr>
        <p:spPr>
          <a:xfrm>
            <a:off x="7445829"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12/1</a:t>
            </a:r>
            <a:endParaRPr lang="en-US" sz="1000" dirty="0"/>
          </a:p>
        </p:txBody>
      </p:sp>
      <p:sp>
        <p:nvSpPr>
          <p:cNvPr id="22" name="Text 20"/>
          <p:cNvSpPr txBox="1"/>
          <p:nvPr/>
        </p:nvSpPr>
        <p:spPr>
          <a:xfrm>
            <a:off x="8066314" y="1234440"/>
            <a:ext cx="620486" cy="274320"/>
          </a:xfrm>
          <a:prstGeom prst="rect">
            <a:avLst/>
          </a:prstGeom>
          <a:noFill/>
          <a:ln/>
        </p:spPr>
        <p:txBody>
          <a:bodyPr wrap="square" lIns="0" tIns="0" rIns="0" bIns="0" rtlCol="0" anchor="ctr"/>
          <a:lstStyle/>
          <a:p>
            <a:pPr algn="ctr" indent="0" marL="0">
              <a:buNone/>
            </a:pPr>
            <a:r>
              <a:rPr lang="en-US" sz="1000" b="1" dirty="0">
                <a:solidFill>
                  <a:schemeClr val="accent5"/>
                </a:solidFill>
              </a:rPr>
              <a:t>12/8</a:t>
            </a:r>
            <a:endParaRPr lang="en-US" sz="1000" dirty="0"/>
          </a:p>
        </p:txBody>
      </p:sp>
      <p:sp>
        <p:nvSpPr>
          <p:cNvPr id="23" name="Text 21"/>
          <p:cNvSpPr txBox="1"/>
          <p:nvPr/>
        </p:nvSpPr>
        <p:spPr>
          <a:xfrm>
            <a:off x="3200400" y="1234440"/>
            <a:ext cx="1097280" cy="274320"/>
          </a:xfrm>
          <a:prstGeom prst="rect">
            <a:avLst/>
          </a:prstGeom>
          <a:noFill/>
          <a:ln/>
        </p:spPr>
        <p:txBody>
          <a:bodyPr wrap="square" lIns="0" tIns="0" rIns="0" bIns="0" rtlCol="0" anchor="ctr"/>
          <a:lstStyle/>
          <a:p>
            <a:pPr indent="0" marL="0">
              <a:buNone/>
            </a:pPr>
            <a:r>
              <a:rPr lang="en-US" sz="1000" b="1" dirty="0">
                <a:solidFill>
                  <a:schemeClr val="accent5"/>
                </a:solidFill>
              </a:rPr>
              <a:t>담당</a:t>
            </a:r>
            <a:endParaRPr lang="en-US" sz="1000" dirty="0"/>
          </a:p>
        </p:txBody>
      </p:sp>
      <p:sp>
        <p:nvSpPr>
          <p:cNvPr id="24" name="Shape 22"/>
          <p:cNvSpPr/>
          <p:nvPr/>
        </p:nvSpPr>
        <p:spPr>
          <a:xfrm>
            <a:off x="457200" y="1527048"/>
            <a:ext cx="8229600" cy="0"/>
          </a:xfrm>
          <a:prstGeom prst="line">
            <a:avLst/>
          </a:prstGeom>
          <a:noFill/>
          <a:ln w="9525">
            <a:solidFill>
              <a:srgbClr val="DCD9D0"/>
            </a:solidFill>
            <a:prstDash val="solid"/>
          </a:ln>
        </p:spPr>
      </p:sp>
      <p:sp>
        <p:nvSpPr>
          <p:cNvPr id="25" name="Text 23"/>
          <p:cNvSpPr txBox="1"/>
          <p:nvPr/>
        </p:nvSpPr>
        <p:spPr>
          <a:xfrm>
            <a:off x="457200" y="2103120"/>
            <a:ext cx="2697480" cy="347472"/>
          </a:xfrm>
          <a:prstGeom prst="rect">
            <a:avLst/>
          </a:prstGeom>
          <a:noFill/>
          <a:ln/>
        </p:spPr>
        <p:txBody>
          <a:bodyPr wrap="square" lIns="0" tIns="0" rIns="0" bIns="0" rtlCol="0" anchor="ctr"/>
          <a:lstStyle/>
          <a:p>
            <a:pPr indent="0" marL="0">
              <a:buNone/>
            </a:pPr>
            <a:r>
              <a:rPr lang="en-US" sz="1100" dirty="0">
                <a:solidFill>
                  <a:schemeClr val="tx1"/>
                </a:solidFill>
              </a:rPr>
              <a:t>설문 30명 수집 · 집계</a:t>
            </a:r>
            <a:endParaRPr lang="en-US" sz="1100" dirty="0"/>
          </a:p>
        </p:txBody>
      </p:sp>
      <p:sp>
        <p:nvSpPr>
          <p:cNvPr id="26" name="Text 24"/>
          <p:cNvSpPr txBox="1"/>
          <p:nvPr/>
        </p:nvSpPr>
        <p:spPr>
          <a:xfrm>
            <a:off x="3200400" y="210312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a:t>
            </a:r>
            <a:endParaRPr lang="en-US" sz="950" dirty="0"/>
          </a:p>
        </p:txBody>
      </p:sp>
      <p:sp>
        <p:nvSpPr>
          <p:cNvPr id="27" name="Shape 25"/>
          <p:cNvSpPr/>
          <p:nvPr/>
        </p:nvSpPr>
        <p:spPr>
          <a:xfrm>
            <a:off x="4343400" y="2103120"/>
            <a:ext cx="0" cy="347472"/>
          </a:xfrm>
          <a:prstGeom prst="line">
            <a:avLst/>
          </a:prstGeom>
          <a:noFill/>
          <a:ln w="6350">
            <a:solidFill>
              <a:srgbClr val="DCD9D0"/>
            </a:solidFill>
            <a:prstDash val="solid"/>
          </a:ln>
        </p:spPr>
      </p:sp>
      <p:sp>
        <p:nvSpPr>
          <p:cNvPr id="28" name="Shape 26"/>
          <p:cNvSpPr/>
          <p:nvPr/>
        </p:nvSpPr>
        <p:spPr>
          <a:xfrm>
            <a:off x="4963886" y="2103120"/>
            <a:ext cx="0" cy="347472"/>
          </a:xfrm>
          <a:prstGeom prst="line">
            <a:avLst/>
          </a:prstGeom>
          <a:noFill/>
          <a:ln w="6350">
            <a:solidFill>
              <a:srgbClr val="DCD9D0"/>
            </a:solidFill>
            <a:prstDash val="solid"/>
          </a:ln>
        </p:spPr>
      </p:sp>
      <p:sp>
        <p:nvSpPr>
          <p:cNvPr id="29" name="Shape 27"/>
          <p:cNvSpPr/>
          <p:nvPr/>
        </p:nvSpPr>
        <p:spPr>
          <a:xfrm>
            <a:off x="5584371" y="2103120"/>
            <a:ext cx="0" cy="347472"/>
          </a:xfrm>
          <a:prstGeom prst="line">
            <a:avLst/>
          </a:prstGeom>
          <a:noFill/>
          <a:ln w="6350">
            <a:solidFill>
              <a:srgbClr val="DCD9D0"/>
            </a:solidFill>
            <a:prstDash val="solid"/>
          </a:ln>
        </p:spPr>
      </p:sp>
      <p:sp>
        <p:nvSpPr>
          <p:cNvPr id="30" name="Shape 28"/>
          <p:cNvSpPr/>
          <p:nvPr/>
        </p:nvSpPr>
        <p:spPr>
          <a:xfrm>
            <a:off x="6204857" y="2103120"/>
            <a:ext cx="0" cy="347472"/>
          </a:xfrm>
          <a:prstGeom prst="line">
            <a:avLst/>
          </a:prstGeom>
          <a:noFill/>
          <a:ln w="6350">
            <a:solidFill>
              <a:srgbClr val="DCD9D0"/>
            </a:solidFill>
            <a:prstDash val="solid"/>
          </a:ln>
        </p:spPr>
      </p:sp>
      <p:sp>
        <p:nvSpPr>
          <p:cNvPr id="31" name="Shape 29"/>
          <p:cNvSpPr/>
          <p:nvPr/>
        </p:nvSpPr>
        <p:spPr>
          <a:xfrm>
            <a:off x="6825343" y="2103120"/>
            <a:ext cx="0" cy="347472"/>
          </a:xfrm>
          <a:prstGeom prst="line">
            <a:avLst/>
          </a:prstGeom>
          <a:noFill/>
          <a:ln w="6350">
            <a:solidFill>
              <a:srgbClr val="DCD9D0"/>
            </a:solidFill>
            <a:prstDash val="solid"/>
          </a:ln>
        </p:spPr>
      </p:sp>
      <p:sp>
        <p:nvSpPr>
          <p:cNvPr id="32" name="Shape 30"/>
          <p:cNvSpPr/>
          <p:nvPr/>
        </p:nvSpPr>
        <p:spPr>
          <a:xfrm>
            <a:off x="7445829" y="2103120"/>
            <a:ext cx="0" cy="347472"/>
          </a:xfrm>
          <a:prstGeom prst="line">
            <a:avLst/>
          </a:prstGeom>
          <a:noFill/>
          <a:ln w="6350">
            <a:solidFill>
              <a:srgbClr val="DCD9D0"/>
            </a:solidFill>
            <a:prstDash val="solid"/>
          </a:ln>
        </p:spPr>
      </p:sp>
      <p:sp>
        <p:nvSpPr>
          <p:cNvPr id="33" name="Shape 31"/>
          <p:cNvSpPr/>
          <p:nvPr/>
        </p:nvSpPr>
        <p:spPr>
          <a:xfrm>
            <a:off x="8066314" y="2103120"/>
            <a:ext cx="0" cy="347472"/>
          </a:xfrm>
          <a:prstGeom prst="line">
            <a:avLst/>
          </a:prstGeom>
          <a:noFill/>
          <a:ln w="6350">
            <a:solidFill>
              <a:srgbClr val="DCD9D0"/>
            </a:solidFill>
            <a:prstDash val="solid"/>
          </a:ln>
        </p:spPr>
      </p:sp>
      <p:sp>
        <p:nvSpPr>
          <p:cNvPr id="34" name="설문 30명 수집 · 집계 막대"/>
          <p:cNvSpPr/>
          <p:nvPr/>
        </p:nvSpPr>
        <p:spPr>
          <a:xfrm>
            <a:off x="4389120" y="2212848"/>
            <a:ext cx="1770017" cy="128016"/>
          </a:xfrm>
          <a:prstGeom prst="roundRect">
            <a:avLst>
              <a:gd name="adj" fmla="val 42857"/>
            </a:avLst>
          </a:prstGeom>
          <a:solidFill>
            <a:schemeClr val="accent1"/>
          </a:solidFill>
          <a:ln w="12700">
            <a:solidFill>
              <a:schemeClr val="accent1"/>
            </a:solidFill>
            <a:prstDash val="solid"/>
          </a:ln>
        </p:spPr>
      </p:sp>
      <p:sp>
        <p:nvSpPr>
          <p:cNvPr id="35" name="Shape 33"/>
          <p:cNvSpPr/>
          <p:nvPr/>
        </p:nvSpPr>
        <p:spPr>
          <a:xfrm>
            <a:off x="457200" y="2450592"/>
            <a:ext cx="8229600" cy="0"/>
          </a:xfrm>
          <a:prstGeom prst="line">
            <a:avLst/>
          </a:prstGeom>
          <a:noFill/>
          <a:ln w="9525">
            <a:solidFill>
              <a:srgbClr val="DCD9D0"/>
            </a:solidFill>
            <a:prstDash val="solid"/>
          </a:ln>
        </p:spPr>
      </p:sp>
      <p:sp>
        <p:nvSpPr>
          <p:cNvPr id="36" name="Text 34"/>
          <p:cNvSpPr txBox="1"/>
          <p:nvPr/>
        </p:nvSpPr>
        <p:spPr>
          <a:xfrm>
            <a:off x="457200" y="2450592"/>
            <a:ext cx="2697480" cy="347472"/>
          </a:xfrm>
          <a:prstGeom prst="rect">
            <a:avLst/>
          </a:prstGeom>
          <a:noFill/>
          <a:ln/>
        </p:spPr>
        <p:txBody>
          <a:bodyPr wrap="square" lIns="0" tIns="0" rIns="0" bIns="0" rtlCol="0" anchor="ctr"/>
          <a:lstStyle/>
          <a:p>
            <a:pPr indent="0" marL="0">
              <a:buNone/>
            </a:pPr>
            <a:r>
              <a:rPr lang="en-US" sz="1100" dirty="0">
                <a:solidFill>
                  <a:schemeClr val="tx1"/>
                </a:solidFill>
              </a:rPr>
              <a:t>직접 인터뷰 5명</a:t>
            </a:r>
            <a:endParaRPr lang="en-US" sz="1100" dirty="0"/>
          </a:p>
        </p:txBody>
      </p:sp>
      <p:sp>
        <p:nvSpPr>
          <p:cNvPr id="37" name="Text 35"/>
          <p:cNvSpPr txBox="1"/>
          <p:nvPr/>
        </p:nvSpPr>
        <p:spPr>
          <a:xfrm>
            <a:off x="3200400" y="245059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3 · 박명진 2</a:t>
            </a:r>
            <a:endParaRPr lang="en-US" sz="950" dirty="0"/>
          </a:p>
        </p:txBody>
      </p:sp>
      <p:sp>
        <p:nvSpPr>
          <p:cNvPr id="38" name="Shape 36"/>
          <p:cNvSpPr/>
          <p:nvPr/>
        </p:nvSpPr>
        <p:spPr>
          <a:xfrm>
            <a:off x="4343400" y="2450592"/>
            <a:ext cx="0" cy="347472"/>
          </a:xfrm>
          <a:prstGeom prst="line">
            <a:avLst/>
          </a:prstGeom>
          <a:noFill/>
          <a:ln w="6350">
            <a:solidFill>
              <a:srgbClr val="DCD9D0"/>
            </a:solidFill>
            <a:prstDash val="solid"/>
          </a:ln>
        </p:spPr>
      </p:sp>
      <p:sp>
        <p:nvSpPr>
          <p:cNvPr id="39" name="Shape 37"/>
          <p:cNvSpPr/>
          <p:nvPr/>
        </p:nvSpPr>
        <p:spPr>
          <a:xfrm>
            <a:off x="4963886" y="2450592"/>
            <a:ext cx="0" cy="347472"/>
          </a:xfrm>
          <a:prstGeom prst="line">
            <a:avLst/>
          </a:prstGeom>
          <a:noFill/>
          <a:ln w="6350">
            <a:solidFill>
              <a:srgbClr val="DCD9D0"/>
            </a:solidFill>
            <a:prstDash val="solid"/>
          </a:ln>
        </p:spPr>
      </p:sp>
      <p:sp>
        <p:nvSpPr>
          <p:cNvPr id="40" name="Shape 38"/>
          <p:cNvSpPr/>
          <p:nvPr/>
        </p:nvSpPr>
        <p:spPr>
          <a:xfrm>
            <a:off x="5584371" y="2450592"/>
            <a:ext cx="0" cy="347472"/>
          </a:xfrm>
          <a:prstGeom prst="line">
            <a:avLst/>
          </a:prstGeom>
          <a:noFill/>
          <a:ln w="6350">
            <a:solidFill>
              <a:srgbClr val="DCD9D0"/>
            </a:solidFill>
            <a:prstDash val="solid"/>
          </a:ln>
        </p:spPr>
      </p:sp>
      <p:sp>
        <p:nvSpPr>
          <p:cNvPr id="41" name="Shape 39"/>
          <p:cNvSpPr/>
          <p:nvPr/>
        </p:nvSpPr>
        <p:spPr>
          <a:xfrm>
            <a:off x="6204857" y="2450592"/>
            <a:ext cx="0" cy="347472"/>
          </a:xfrm>
          <a:prstGeom prst="line">
            <a:avLst/>
          </a:prstGeom>
          <a:noFill/>
          <a:ln w="6350">
            <a:solidFill>
              <a:srgbClr val="DCD9D0"/>
            </a:solidFill>
            <a:prstDash val="solid"/>
          </a:ln>
        </p:spPr>
      </p:sp>
      <p:sp>
        <p:nvSpPr>
          <p:cNvPr id="42" name="Shape 40"/>
          <p:cNvSpPr/>
          <p:nvPr/>
        </p:nvSpPr>
        <p:spPr>
          <a:xfrm>
            <a:off x="6825343" y="2450592"/>
            <a:ext cx="0" cy="347472"/>
          </a:xfrm>
          <a:prstGeom prst="line">
            <a:avLst/>
          </a:prstGeom>
          <a:noFill/>
          <a:ln w="6350">
            <a:solidFill>
              <a:srgbClr val="DCD9D0"/>
            </a:solidFill>
            <a:prstDash val="solid"/>
          </a:ln>
        </p:spPr>
      </p:sp>
      <p:sp>
        <p:nvSpPr>
          <p:cNvPr id="43" name="Shape 41"/>
          <p:cNvSpPr/>
          <p:nvPr/>
        </p:nvSpPr>
        <p:spPr>
          <a:xfrm>
            <a:off x="7445829" y="2450592"/>
            <a:ext cx="0" cy="347472"/>
          </a:xfrm>
          <a:prstGeom prst="line">
            <a:avLst/>
          </a:prstGeom>
          <a:noFill/>
          <a:ln w="6350">
            <a:solidFill>
              <a:srgbClr val="DCD9D0"/>
            </a:solidFill>
            <a:prstDash val="solid"/>
          </a:ln>
        </p:spPr>
      </p:sp>
      <p:sp>
        <p:nvSpPr>
          <p:cNvPr id="44" name="Shape 42"/>
          <p:cNvSpPr/>
          <p:nvPr/>
        </p:nvSpPr>
        <p:spPr>
          <a:xfrm>
            <a:off x="8066314" y="2450592"/>
            <a:ext cx="0" cy="347472"/>
          </a:xfrm>
          <a:prstGeom prst="line">
            <a:avLst/>
          </a:prstGeom>
          <a:noFill/>
          <a:ln w="6350">
            <a:solidFill>
              <a:srgbClr val="DCD9D0"/>
            </a:solidFill>
            <a:prstDash val="solid"/>
          </a:ln>
        </p:spPr>
      </p:sp>
      <p:sp>
        <p:nvSpPr>
          <p:cNvPr id="45" name="직접 인터뷰 5명 막대"/>
          <p:cNvSpPr/>
          <p:nvPr/>
        </p:nvSpPr>
        <p:spPr>
          <a:xfrm>
            <a:off x="5009606" y="2560320"/>
            <a:ext cx="529046" cy="128016"/>
          </a:xfrm>
          <a:prstGeom prst="roundRect">
            <a:avLst>
              <a:gd name="adj" fmla="val 42857"/>
            </a:avLst>
          </a:prstGeom>
          <a:solidFill>
            <a:schemeClr val="accent1"/>
          </a:solidFill>
          <a:ln w="12700">
            <a:solidFill>
              <a:schemeClr val="accent1"/>
            </a:solidFill>
            <a:prstDash val="solid"/>
          </a:ln>
        </p:spPr>
      </p:sp>
      <p:sp>
        <p:nvSpPr>
          <p:cNvPr id="46" name="Shape 44"/>
          <p:cNvSpPr/>
          <p:nvPr/>
        </p:nvSpPr>
        <p:spPr>
          <a:xfrm>
            <a:off x="457200" y="2798064"/>
            <a:ext cx="8229600" cy="0"/>
          </a:xfrm>
          <a:prstGeom prst="line">
            <a:avLst/>
          </a:prstGeom>
          <a:noFill/>
          <a:ln w="9525">
            <a:solidFill>
              <a:srgbClr val="DCD9D0"/>
            </a:solidFill>
            <a:prstDash val="solid"/>
          </a:ln>
        </p:spPr>
      </p:sp>
      <p:sp>
        <p:nvSpPr>
          <p:cNvPr id="47" name="Text 45"/>
          <p:cNvSpPr txBox="1"/>
          <p:nvPr/>
        </p:nvSpPr>
        <p:spPr>
          <a:xfrm>
            <a:off x="457200" y="2798064"/>
            <a:ext cx="2697480" cy="347472"/>
          </a:xfrm>
          <a:prstGeom prst="rect">
            <a:avLst/>
          </a:prstGeom>
          <a:noFill/>
          <a:ln/>
        </p:spPr>
        <p:txBody>
          <a:bodyPr wrap="square" lIns="0" tIns="0" rIns="0" bIns="0" rtlCol="0" anchor="ctr"/>
          <a:lstStyle/>
          <a:p>
            <a:pPr indent="0" marL="0">
              <a:buNone/>
            </a:pPr>
            <a:r>
              <a:rPr lang="en-US" sz="1100" dirty="0">
                <a:solidFill>
                  <a:schemeClr val="tx1"/>
                </a:solidFill>
              </a:rPr>
              <a:t>피드백 반영 1차</a:t>
            </a:r>
            <a:endParaRPr lang="en-US" sz="1100" dirty="0"/>
          </a:p>
        </p:txBody>
      </p:sp>
      <p:sp>
        <p:nvSpPr>
          <p:cNvPr id="48" name="Text 46"/>
          <p:cNvSpPr txBox="1"/>
          <p:nvPr/>
        </p:nvSpPr>
        <p:spPr>
          <a:xfrm>
            <a:off x="3200400" y="2798064"/>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49" name="Shape 47"/>
          <p:cNvSpPr/>
          <p:nvPr/>
        </p:nvSpPr>
        <p:spPr>
          <a:xfrm>
            <a:off x="4343400" y="2798064"/>
            <a:ext cx="0" cy="347472"/>
          </a:xfrm>
          <a:prstGeom prst="line">
            <a:avLst/>
          </a:prstGeom>
          <a:noFill/>
          <a:ln w="6350">
            <a:solidFill>
              <a:srgbClr val="DCD9D0"/>
            </a:solidFill>
            <a:prstDash val="solid"/>
          </a:ln>
        </p:spPr>
      </p:sp>
      <p:sp>
        <p:nvSpPr>
          <p:cNvPr id="50" name="Shape 48"/>
          <p:cNvSpPr/>
          <p:nvPr/>
        </p:nvSpPr>
        <p:spPr>
          <a:xfrm>
            <a:off x="4963886" y="2798064"/>
            <a:ext cx="0" cy="347472"/>
          </a:xfrm>
          <a:prstGeom prst="line">
            <a:avLst/>
          </a:prstGeom>
          <a:noFill/>
          <a:ln w="6350">
            <a:solidFill>
              <a:srgbClr val="DCD9D0"/>
            </a:solidFill>
            <a:prstDash val="solid"/>
          </a:ln>
        </p:spPr>
      </p:sp>
      <p:sp>
        <p:nvSpPr>
          <p:cNvPr id="51" name="Shape 49"/>
          <p:cNvSpPr/>
          <p:nvPr/>
        </p:nvSpPr>
        <p:spPr>
          <a:xfrm>
            <a:off x="5584371" y="2798064"/>
            <a:ext cx="0" cy="347472"/>
          </a:xfrm>
          <a:prstGeom prst="line">
            <a:avLst/>
          </a:prstGeom>
          <a:noFill/>
          <a:ln w="6350">
            <a:solidFill>
              <a:srgbClr val="DCD9D0"/>
            </a:solidFill>
            <a:prstDash val="solid"/>
          </a:ln>
        </p:spPr>
      </p:sp>
      <p:sp>
        <p:nvSpPr>
          <p:cNvPr id="52" name="Shape 50"/>
          <p:cNvSpPr/>
          <p:nvPr/>
        </p:nvSpPr>
        <p:spPr>
          <a:xfrm>
            <a:off x="6204857" y="2798064"/>
            <a:ext cx="0" cy="347472"/>
          </a:xfrm>
          <a:prstGeom prst="line">
            <a:avLst/>
          </a:prstGeom>
          <a:noFill/>
          <a:ln w="6350">
            <a:solidFill>
              <a:srgbClr val="DCD9D0"/>
            </a:solidFill>
            <a:prstDash val="solid"/>
          </a:ln>
        </p:spPr>
      </p:sp>
      <p:sp>
        <p:nvSpPr>
          <p:cNvPr id="53" name="Shape 51"/>
          <p:cNvSpPr/>
          <p:nvPr/>
        </p:nvSpPr>
        <p:spPr>
          <a:xfrm>
            <a:off x="6825343" y="2798064"/>
            <a:ext cx="0" cy="347472"/>
          </a:xfrm>
          <a:prstGeom prst="line">
            <a:avLst/>
          </a:prstGeom>
          <a:noFill/>
          <a:ln w="6350">
            <a:solidFill>
              <a:srgbClr val="DCD9D0"/>
            </a:solidFill>
            <a:prstDash val="solid"/>
          </a:ln>
        </p:spPr>
      </p:sp>
      <p:sp>
        <p:nvSpPr>
          <p:cNvPr id="54" name="Shape 52"/>
          <p:cNvSpPr/>
          <p:nvPr/>
        </p:nvSpPr>
        <p:spPr>
          <a:xfrm>
            <a:off x="7445829" y="2798064"/>
            <a:ext cx="0" cy="347472"/>
          </a:xfrm>
          <a:prstGeom prst="line">
            <a:avLst/>
          </a:prstGeom>
          <a:noFill/>
          <a:ln w="6350">
            <a:solidFill>
              <a:srgbClr val="DCD9D0"/>
            </a:solidFill>
            <a:prstDash val="solid"/>
          </a:ln>
        </p:spPr>
      </p:sp>
      <p:sp>
        <p:nvSpPr>
          <p:cNvPr id="55" name="Shape 53"/>
          <p:cNvSpPr/>
          <p:nvPr/>
        </p:nvSpPr>
        <p:spPr>
          <a:xfrm>
            <a:off x="8066314" y="2798064"/>
            <a:ext cx="0" cy="347472"/>
          </a:xfrm>
          <a:prstGeom prst="line">
            <a:avLst/>
          </a:prstGeom>
          <a:noFill/>
          <a:ln w="6350">
            <a:solidFill>
              <a:srgbClr val="DCD9D0"/>
            </a:solidFill>
            <a:prstDash val="solid"/>
          </a:ln>
        </p:spPr>
      </p:sp>
      <p:sp>
        <p:nvSpPr>
          <p:cNvPr id="56" name="피드백 반영 1차 막대"/>
          <p:cNvSpPr/>
          <p:nvPr/>
        </p:nvSpPr>
        <p:spPr>
          <a:xfrm>
            <a:off x="5630091" y="2907792"/>
            <a:ext cx="1149531" cy="128016"/>
          </a:xfrm>
          <a:prstGeom prst="roundRect">
            <a:avLst>
              <a:gd name="adj" fmla="val 42857"/>
            </a:avLst>
          </a:prstGeom>
          <a:solidFill>
            <a:schemeClr val="accent1"/>
          </a:solidFill>
          <a:ln w="12700">
            <a:solidFill>
              <a:schemeClr val="accent1"/>
            </a:solidFill>
            <a:prstDash val="solid"/>
          </a:ln>
        </p:spPr>
      </p:sp>
      <p:sp>
        <p:nvSpPr>
          <p:cNvPr id="57" name="Shape 55"/>
          <p:cNvSpPr/>
          <p:nvPr/>
        </p:nvSpPr>
        <p:spPr>
          <a:xfrm>
            <a:off x="457200" y="3145536"/>
            <a:ext cx="8229600" cy="0"/>
          </a:xfrm>
          <a:prstGeom prst="line">
            <a:avLst/>
          </a:prstGeom>
          <a:noFill/>
          <a:ln w="9525">
            <a:solidFill>
              <a:srgbClr val="DCD9D0"/>
            </a:solidFill>
            <a:prstDash val="solid"/>
          </a:ln>
        </p:spPr>
      </p:sp>
      <p:sp>
        <p:nvSpPr>
          <p:cNvPr id="58" name="Text 56"/>
          <p:cNvSpPr txBox="1"/>
          <p:nvPr/>
        </p:nvSpPr>
        <p:spPr>
          <a:xfrm>
            <a:off x="457200" y="3145536"/>
            <a:ext cx="2697480" cy="347472"/>
          </a:xfrm>
          <a:prstGeom prst="rect">
            <a:avLst/>
          </a:prstGeom>
          <a:noFill/>
          <a:ln/>
        </p:spPr>
        <p:txBody>
          <a:bodyPr wrap="square" lIns="0" tIns="0" rIns="0" bIns="0" rtlCol="0" anchor="ctr"/>
          <a:lstStyle/>
          <a:p>
            <a:pPr indent="0" marL="0">
              <a:buNone/>
            </a:pPr>
            <a:r>
              <a:rPr lang="en-US" sz="1100" dirty="0">
                <a:solidFill>
                  <a:schemeClr val="tx1"/>
                </a:solidFill>
              </a:rPr>
              <a:t>실제 폰 검증 (아이폰 · 갤럭시)</a:t>
            </a:r>
            <a:endParaRPr lang="en-US" sz="1100" dirty="0"/>
          </a:p>
        </p:txBody>
      </p:sp>
      <p:sp>
        <p:nvSpPr>
          <p:cNvPr id="59" name="Text 57"/>
          <p:cNvSpPr txBox="1"/>
          <p:nvPr/>
        </p:nvSpPr>
        <p:spPr>
          <a:xfrm>
            <a:off x="3200400" y="3145536"/>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 · 박명진</a:t>
            </a:r>
            <a:endParaRPr lang="en-US" sz="950" dirty="0"/>
          </a:p>
        </p:txBody>
      </p:sp>
      <p:sp>
        <p:nvSpPr>
          <p:cNvPr id="60" name="Shape 58"/>
          <p:cNvSpPr/>
          <p:nvPr/>
        </p:nvSpPr>
        <p:spPr>
          <a:xfrm>
            <a:off x="4343400" y="3145536"/>
            <a:ext cx="0" cy="347472"/>
          </a:xfrm>
          <a:prstGeom prst="line">
            <a:avLst/>
          </a:prstGeom>
          <a:noFill/>
          <a:ln w="6350">
            <a:solidFill>
              <a:srgbClr val="DCD9D0"/>
            </a:solidFill>
            <a:prstDash val="solid"/>
          </a:ln>
        </p:spPr>
      </p:sp>
      <p:sp>
        <p:nvSpPr>
          <p:cNvPr id="61" name="Shape 59"/>
          <p:cNvSpPr/>
          <p:nvPr/>
        </p:nvSpPr>
        <p:spPr>
          <a:xfrm>
            <a:off x="4963886" y="3145536"/>
            <a:ext cx="0" cy="347472"/>
          </a:xfrm>
          <a:prstGeom prst="line">
            <a:avLst/>
          </a:prstGeom>
          <a:noFill/>
          <a:ln w="6350">
            <a:solidFill>
              <a:srgbClr val="DCD9D0"/>
            </a:solidFill>
            <a:prstDash val="solid"/>
          </a:ln>
        </p:spPr>
      </p:sp>
      <p:sp>
        <p:nvSpPr>
          <p:cNvPr id="62" name="Shape 60"/>
          <p:cNvSpPr/>
          <p:nvPr/>
        </p:nvSpPr>
        <p:spPr>
          <a:xfrm>
            <a:off x="5584371" y="3145536"/>
            <a:ext cx="0" cy="347472"/>
          </a:xfrm>
          <a:prstGeom prst="line">
            <a:avLst/>
          </a:prstGeom>
          <a:noFill/>
          <a:ln w="6350">
            <a:solidFill>
              <a:srgbClr val="DCD9D0"/>
            </a:solidFill>
            <a:prstDash val="solid"/>
          </a:ln>
        </p:spPr>
      </p:sp>
      <p:sp>
        <p:nvSpPr>
          <p:cNvPr id="63" name="Shape 61"/>
          <p:cNvSpPr/>
          <p:nvPr/>
        </p:nvSpPr>
        <p:spPr>
          <a:xfrm>
            <a:off x="6204857" y="3145536"/>
            <a:ext cx="0" cy="347472"/>
          </a:xfrm>
          <a:prstGeom prst="line">
            <a:avLst/>
          </a:prstGeom>
          <a:noFill/>
          <a:ln w="6350">
            <a:solidFill>
              <a:srgbClr val="DCD9D0"/>
            </a:solidFill>
            <a:prstDash val="solid"/>
          </a:ln>
        </p:spPr>
      </p:sp>
      <p:sp>
        <p:nvSpPr>
          <p:cNvPr id="64" name="Shape 62"/>
          <p:cNvSpPr/>
          <p:nvPr/>
        </p:nvSpPr>
        <p:spPr>
          <a:xfrm>
            <a:off x="6825343" y="3145536"/>
            <a:ext cx="0" cy="347472"/>
          </a:xfrm>
          <a:prstGeom prst="line">
            <a:avLst/>
          </a:prstGeom>
          <a:noFill/>
          <a:ln w="6350">
            <a:solidFill>
              <a:srgbClr val="DCD9D0"/>
            </a:solidFill>
            <a:prstDash val="solid"/>
          </a:ln>
        </p:spPr>
      </p:sp>
      <p:sp>
        <p:nvSpPr>
          <p:cNvPr id="65" name="Shape 63"/>
          <p:cNvSpPr/>
          <p:nvPr/>
        </p:nvSpPr>
        <p:spPr>
          <a:xfrm>
            <a:off x="7445829" y="3145536"/>
            <a:ext cx="0" cy="347472"/>
          </a:xfrm>
          <a:prstGeom prst="line">
            <a:avLst/>
          </a:prstGeom>
          <a:noFill/>
          <a:ln w="6350">
            <a:solidFill>
              <a:srgbClr val="DCD9D0"/>
            </a:solidFill>
            <a:prstDash val="solid"/>
          </a:ln>
        </p:spPr>
      </p:sp>
      <p:sp>
        <p:nvSpPr>
          <p:cNvPr id="66" name="Shape 64"/>
          <p:cNvSpPr/>
          <p:nvPr/>
        </p:nvSpPr>
        <p:spPr>
          <a:xfrm>
            <a:off x="8066314" y="3145536"/>
            <a:ext cx="0" cy="347472"/>
          </a:xfrm>
          <a:prstGeom prst="line">
            <a:avLst/>
          </a:prstGeom>
          <a:noFill/>
          <a:ln w="6350">
            <a:solidFill>
              <a:srgbClr val="DCD9D0"/>
            </a:solidFill>
            <a:prstDash val="solid"/>
          </a:ln>
        </p:spPr>
      </p:sp>
      <p:sp>
        <p:nvSpPr>
          <p:cNvPr id="67" name="실제 폰 검증 (아이폰 · 갤럭시) 막대"/>
          <p:cNvSpPr/>
          <p:nvPr/>
        </p:nvSpPr>
        <p:spPr>
          <a:xfrm>
            <a:off x="5630091" y="3255264"/>
            <a:ext cx="1770017" cy="128016"/>
          </a:xfrm>
          <a:prstGeom prst="roundRect">
            <a:avLst>
              <a:gd name="adj" fmla="val 42857"/>
            </a:avLst>
          </a:prstGeom>
          <a:solidFill>
            <a:schemeClr val="accent1"/>
          </a:solidFill>
          <a:ln w="12700">
            <a:solidFill>
              <a:schemeClr val="accent1"/>
            </a:solidFill>
            <a:prstDash val="solid"/>
          </a:ln>
        </p:spPr>
      </p:sp>
      <p:sp>
        <p:nvSpPr>
          <p:cNvPr id="68" name="Shape 66"/>
          <p:cNvSpPr/>
          <p:nvPr/>
        </p:nvSpPr>
        <p:spPr>
          <a:xfrm>
            <a:off x="457200" y="3493008"/>
            <a:ext cx="8229600" cy="0"/>
          </a:xfrm>
          <a:prstGeom prst="line">
            <a:avLst/>
          </a:prstGeom>
          <a:noFill/>
          <a:ln w="9525">
            <a:solidFill>
              <a:srgbClr val="DCD9D0"/>
            </a:solidFill>
            <a:prstDash val="solid"/>
          </a:ln>
        </p:spPr>
      </p:sp>
      <p:sp>
        <p:nvSpPr>
          <p:cNvPr id="69" name="Text 67"/>
          <p:cNvSpPr txBox="1"/>
          <p:nvPr/>
        </p:nvSpPr>
        <p:spPr>
          <a:xfrm>
            <a:off x="457200" y="3493008"/>
            <a:ext cx="2697480" cy="347472"/>
          </a:xfrm>
          <a:prstGeom prst="rect">
            <a:avLst/>
          </a:prstGeom>
          <a:noFill/>
          <a:ln/>
        </p:spPr>
        <p:txBody>
          <a:bodyPr wrap="square" lIns="0" tIns="0" rIns="0" bIns="0" rtlCol="0" anchor="ctr"/>
          <a:lstStyle/>
          <a:p>
            <a:pPr indent="0" marL="0">
              <a:buNone/>
            </a:pPr>
            <a:r>
              <a:rPr lang="en-US" sz="1100" dirty="0">
                <a:solidFill>
                  <a:schemeClr val="tx1"/>
                </a:solidFill>
              </a:rPr>
              <a:t>기록 등록 보강</a:t>
            </a:r>
            <a:endParaRPr lang="en-US" sz="1100" dirty="0"/>
          </a:p>
        </p:txBody>
      </p:sp>
      <p:sp>
        <p:nvSpPr>
          <p:cNvPr id="70" name="Text 68"/>
          <p:cNvSpPr txBox="1"/>
          <p:nvPr/>
        </p:nvSpPr>
        <p:spPr>
          <a:xfrm>
            <a:off x="3200400" y="3493008"/>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이지훈</a:t>
            </a:r>
            <a:endParaRPr lang="en-US" sz="950" dirty="0"/>
          </a:p>
        </p:txBody>
      </p:sp>
      <p:sp>
        <p:nvSpPr>
          <p:cNvPr id="71" name="Shape 69"/>
          <p:cNvSpPr/>
          <p:nvPr/>
        </p:nvSpPr>
        <p:spPr>
          <a:xfrm>
            <a:off x="4343400" y="3493008"/>
            <a:ext cx="0" cy="347472"/>
          </a:xfrm>
          <a:prstGeom prst="line">
            <a:avLst/>
          </a:prstGeom>
          <a:noFill/>
          <a:ln w="6350">
            <a:solidFill>
              <a:srgbClr val="DCD9D0"/>
            </a:solidFill>
            <a:prstDash val="solid"/>
          </a:ln>
        </p:spPr>
      </p:sp>
      <p:sp>
        <p:nvSpPr>
          <p:cNvPr id="72" name="Shape 70"/>
          <p:cNvSpPr/>
          <p:nvPr/>
        </p:nvSpPr>
        <p:spPr>
          <a:xfrm>
            <a:off x="4963886" y="3493008"/>
            <a:ext cx="0" cy="347472"/>
          </a:xfrm>
          <a:prstGeom prst="line">
            <a:avLst/>
          </a:prstGeom>
          <a:noFill/>
          <a:ln w="6350">
            <a:solidFill>
              <a:srgbClr val="DCD9D0"/>
            </a:solidFill>
            <a:prstDash val="solid"/>
          </a:ln>
        </p:spPr>
      </p:sp>
      <p:sp>
        <p:nvSpPr>
          <p:cNvPr id="73" name="Shape 71"/>
          <p:cNvSpPr/>
          <p:nvPr/>
        </p:nvSpPr>
        <p:spPr>
          <a:xfrm>
            <a:off x="5584371" y="3493008"/>
            <a:ext cx="0" cy="347472"/>
          </a:xfrm>
          <a:prstGeom prst="line">
            <a:avLst/>
          </a:prstGeom>
          <a:noFill/>
          <a:ln w="6350">
            <a:solidFill>
              <a:srgbClr val="DCD9D0"/>
            </a:solidFill>
            <a:prstDash val="solid"/>
          </a:ln>
        </p:spPr>
      </p:sp>
      <p:sp>
        <p:nvSpPr>
          <p:cNvPr id="74" name="Shape 72"/>
          <p:cNvSpPr/>
          <p:nvPr/>
        </p:nvSpPr>
        <p:spPr>
          <a:xfrm>
            <a:off x="6204857" y="3493008"/>
            <a:ext cx="0" cy="347472"/>
          </a:xfrm>
          <a:prstGeom prst="line">
            <a:avLst/>
          </a:prstGeom>
          <a:noFill/>
          <a:ln w="6350">
            <a:solidFill>
              <a:srgbClr val="DCD9D0"/>
            </a:solidFill>
            <a:prstDash val="solid"/>
          </a:ln>
        </p:spPr>
      </p:sp>
      <p:sp>
        <p:nvSpPr>
          <p:cNvPr id="75" name="Shape 73"/>
          <p:cNvSpPr/>
          <p:nvPr/>
        </p:nvSpPr>
        <p:spPr>
          <a:xfrm>
            <a:off x="6825343" y="3493008"/>
            <a:ext cx="0" cy="347472"/>
          </a:xfrm>
          <a:prstGeom prst="line">
            <a:avLst/>
          </a:prstGeom>
          <a:noFill/>
          <a:ln w="6350">
            <a:solidFill>
              <a:srgbClr val="DCD9D0"/>
            </a:solidFill>
            <a:prstDash val="solid"/>
          </a:ln>
        </p:spPr>
      </p:sp>
      <p:sp>
        <p:nvSpPr>
          <p:cNvPr id="76" name="Shape 74"/>
          <p:cNvSpPr/>
          <p:nvPr/>
        </p:nvSpPr>
        <p:spPr>
          <a:xfrm>
            <a:off x="7445829" y="3493008"/>
            <a:ext cx="0" cy="347472"/>
          </a:xfrm>
          <a:prstGeom prst="line">
            <a:avLst/>
          </a:prstGeom>
          <a:noFill/>
          <a:ln w="6350">
            <a:solidFill>
              <a:srgbClr val="DCD9D0"/>
            </a:solidFill>
            <a:prstDash val="solid"/>
          </a:ln>
        </p:spPr>
      </p:sp>
      <p:sp>
        <p:nvSpPr>
          <p:cNvPr id="77" name="Shape 75"/>
          <p:cNvSpPr/>
          <p:nvPr/>
        </p:nvSpPr>
        <p:spPr>
          <a:xfrm>
            <a:off x="8066314" y="3493008"/>
            <a:ext cx="0" cy="347472"/>
          </a:xfrm>
          <a:prstGeom prst="line">
            <a:avLst/>
          </a:prstGeom>
          <a:noFill/>
          <a:ln w="6350">
            <a:solidFill>
              <a:srgbClr val="DCD9D0"/>
            </a:solidFill>
            <a:prstDash val="solid"/>
          </a:ln>
        </p:spPr>
      </p:sp>
      <p:sp>
        <p:nvSpPr>
          <p:cNvPr id="78" name="기록 등록 보강 막대"/>
          <p:cNvSpPr/>
          <p:nvPr/>
        </p:nvSpPr>
        <p:spPr>
          <a:xfrm>
            <a:off x="6250577" y="3602736"/>
            <a:ext cx="1770017" cy="128016"/>
          </a:xfrm>
          <a:prstGeom prst="roundRect">
            <a:avLst>
              <a:gd name="adj" fmla="val 42857"/>
            </a:avLst>
          </a:prstGeom>
          <a:solidFill>
            <a:schemeClr val="accent1"/>
          </a:solidFill>
          <a:ln w="12700">
            <a:solidFill>
              <a:schemeClr val="accent1"/>
            </a:solidFill>
            <a:prstDash val="solid"/>
          </a:ln>
        </p:spPr>
      </p:sp>
      <p:sp>
        <p:nvSpPr>
          <p:cNvPr id="79" name="Shape 77"/>
          <p:cNvSpPr/>
          <p:nvPr/>
        </p:nvSpPr>
        <p:spPr>
          <a:xfrm>
            <a:off x="457200" y="3840480"/>
            <a:ext cx="8229600" cy="0"/>
          </a:xfrm>
          <a:prstGeom prst="line">
            <a:avLst/>
          </a:prstGeom>
          <a:noFill/>
          <a:ln w="9525">
            <a:solidFill>
              <a:srgbClr val="DCD9D0"/>
            </a:solidFill>
            <a:prstDash val="solid"/>
          </a:ln>
        </p:spPr>
      </p:sp>
      <p:sp>
        <p:nvSpPr>
          <p:cNvPr id="80" name="Text 78"/>
          <p:cNvSpPr txBox="1"/>
          <p:nvPr/>
        </p:nvSpPr>
        <p:spPr>
          <a:xfrm>
            <a:off x="457200" y="3840480"/>
            <a:ext cx="2697480" cy="347472"/>
          </a:xfrm>
          <a:prstGeom prst="rect">
            <a:avLst/>
          </a:prstGeom>
          <a:noFill/>
          <a:ln/>
        </p:spPr>
        <p:txBody>
          <a:bodyPr wrap="square" lIns="0" tIns="0" rIns="0" bIns="0" rtlCol="0" anchor="ctr"/>
          <a:lstStyle/>
          <a:p>
            <a:pPr indent="0" marL="0">
              <a:buNone/>
            </a:pPr>
            <a:r>
              <a:rPr lang="en-US" sz="1100" dirty="0">
                <a:solidFill>
                  <a:schemeClr val="tx1"/>
                </a:solidFill>
              </a:rPr>
              <a:t>광고 실험 또는 새 게임 (11/23 결정)</a:t>
            </a:r>
            <a:endParaRPr lang="en-US" sz="1100" dirty="0"/>
          </a:p>
        </p:txBody>
      </p:sp>
      <p:sp>
        <p:nvSpPr>
          <p:cNvPr id="81" name="Text 79"/>
          <p:cNvSpPr txBox="1"/>
          <p:nvPr/>
        </p:nvSpPr>
        <p:spPr>
          <a:xfrm>
            <a:off x="3200400" y="3840480"/>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손유호 · 이지훈</a:t>
            </a:r>
            <a:endParaRPr lang="en-US" sz="950" dirty="0"/>
          </a:p>
        </p:txBody>
      </p:sp>
      <p:sp>
        <p:nvSpPr>
          <p:cNvPr id="82" name="Shape 80"/>
          <p:cNvSpPr/>
          <p:nvPr/>
        </p:nvSpPr>
        <p:spPr>
          <a:xfrm>
            <a:off x="4343400" y="3840480"/>
            <a:ext cx="0" cy="347472"/>
          </a:xfrm>
          <a:prstGeom prst="line">
            <a:avLst/>
          </a:prstGeom>
          <a:noFill/>
          <a:ln w="6350">
            <a:solidFill>
              <a:srgbClr val="DCD9D0"/>
            </a:solidFill>
            <a:prstDash val="solid"/>
          </a:ln>
        </p:spPr>
      </p:sp>
      <p:sp>
        <p:nvSpPr>
          <p:cNvPr id="83" name="Shape 81"/>
          <p:cNvSpPr/>
          <p:nvPr/>
        </p:nvSpPr>
        <p:spPr>
          <a:xfrm>
            <a:off x="4963886" y="3840480"/>
            <a:ext cx="0" cy="347472"/>
          </a:xfrm>
          <a:prstGeom prst="line">
            <a:avLst/>
          </a:prstGeom>
          <a:noFill/>
          <a:ln w="6350">
            <a:solidFill>
              <a:srgbClr val="DCD9D0"/>
            </a:solidFill>
            <a:prstDash val="solid"/>
          </a:ln>
        </p:spPr>
      </p:sp>
      <p:sp>
        <p:nvSpPr>
          <p:cNvPr id="84" name="Shape 82"/>
          <p:cNvSpPr/>
          <p:nvPr/>
        </p:nvSpPr>
        <p:spPr>
          <a:xfrm>
            <a:off x="5584371" y="3840480"/>
            <a:ext cx="0" cy="347472"/>
          </a:xfrm>
          <a:prstGeom prst="line">
            <a:avLst/>
          </a:prstGeom>
          <a:noFill/>
          <a:ln w="6350">
            <a:solidFill>
              <a:srgbClr val="DCD9D0"/>
            </a:solidFill>
            <a:prstDash val="solid"/>
          </a:ln>
        </p:spPr>
      </p:sp>
      <p:sp>
        <p:nvSpPr>
          <p:cNvPr id="85" name="Shape 83"/>
          <p:cNvSpPr/>
          <p:nvPr/>
        </p:nvSpPr>
        <p:spPr>
          <a:xfrm>
            <a:off x="6204857" y="3840480"/>
            <a:ext cx="0" cy="347472"/>
          </a:xfrm>
          <a:prstGeom prst="line">
            <a:avLst/>
          </a:prstGeom>
          <a:noFill/>
          <a:ln w="6350">
            <a:solidFill>
              <a:srgbClr val="DCD9D0"/>
            </a:solidFill>
            <a:prstDash val="solid"/>
          </a:ln>
        </p:spPr>
      </p:sp>
      <p:sp>
        <p:nvSpPr>
          <p:cNvPr id="86" name="Shape 84"/>
          <p:cNvSpPr/>
          <p:nvPr/>
        </p:nvSpPr>
        <p:spPr>
          <a:xfrm>
            <a:off x="6825343" y="3840480"/>
            <a:ext cx="0" cy="347472"/>
          </a:xfrm>
          <a:prstGeom prst="line">
            <a:avLst/>
          </a:prstGeom>
          <a:noFill/>
          <a:ln w="6350">
            <a:solidFill>
              <a:srgbClr val="DCD9D0"/>
            </a:solidFill>
            <a:prstDash val="solid"/>
          </a:ln>
        </p:spPr>
      </p:sp>
      <p:sp>
        <p:nvSpPr>
          <p:cNvPr id="87" name="Shape 85"/>
          <p:cNvSpPr/>
          <p:nvPr/>
        </p:nvSpPr>
        <p:spPr>
          <a:xfrm>
            <a:off x="7445829" y="3840480"/>
            <a:ext cx="0" cy="347472"/>
          </a:xfrm>
          <a:prstGeom prst="line">
            <a:avLst/>
          </a:prstGeom>
          <a:noFill/>
          <a:ln w="6350">
            <a:solidFill>
              <a:srgbClr val="DCD9D0"/>
            </a:solidFill>
            <a:prstDash val="solid"/>
          </a:ln>
        </p:spPr>
      </p:sp>
      <p:sp>
        <p:nvSpPr>
          <p:cNvPr id="88" name="Shape 86"/>
          <p:cNvSpPr/>
          <p:nvPr/>
        </p:nvSpPr>
        <p:spPr>
          <a:xfrm>
            <a:off x="8066314" y="3840480"/>
            <a:ext cx="0" cy="347472"/>
          </a:xfrm>
          <a:prstGeom prst="line">
            <a:avLst/>
          </a:prstGeom>
          <a:noFill/>
          <a:ln w="6350">
            <a:solidFill>
              <a:srgbClr val="DCD9D0"/>
            </a:solidFill>
            <a:prstDash val="solid"/>
          </a:ln>
        </p:spPr>
      </p:sp>
      <p:sp>
        <p:nvSpPr>
          <p:cNvPr id="89" name="광고 실험 또는 새 게임 (11/23 결정) 막대"/>
          <p:cNvSpPr/>
          <p:nvPr/>
        </p:nvSpPr>
        <p:spPr>
          <a:xfrm>
            <a:off x="6871063" y="3950208"/>
            <a:ext cx="1149531" cy="128016"/>
          </a:xfrm>
          <a:prstGeom prst="roundRect">
            <a:avLst>
              <a:gd name="adj" fmla="val 42857"/>
            </a:avLst>
          </a:prstGeom>
          <a:solidFill>
            <a:schemeClr val="accent1"/>
          </a:solidFill>
          <a:ln w="12700">
            <a:solidFill>
              <a:schemeClr val="accent1"/>
            </a:solidFill>
            <a:prstDash val="solid"/>
          </a:ln>
        </p:spPr>
      </p:sp>
      <p:sp>
        <p:nvSpPr>
          <p:cNvPr id="90" name="Shape 88"/>
          <p:cNvSpPr/>
          <p:nvPr/>
        </p:nvSpPr>
        <p:spPr>
          <a:xfrm>
            <a:off x="457200" y="4187952"/>
            <a:ext cx="8229600" cy="0"/>
          </a:xfrm>
          <a:prstGeom prst="line">
            <a:avLst/>
          </a:prstGeom>
          <a:noFill/>
          <a:ln w="9525">
            <a:solidFill>
              <a:srgbClr val="DCD9D0"/>
            </a:solidFill>
            <a:prstDash val="solid"/>
          </a:ln>
        </p:spPr>
      </p:sp>
      <p:sp>
        <p:nvSpPr>
          <p:cNvPr id="91" name="Text 89"/>
          <p:cNvSpPr txBox="1"/>
          <p:nvPr/>
        </p:nvSpPr>
        <p:spPr>
          <a:xfrm>
            <a:off x="457200" y="4187952"/>
            <a:ext cx="2697480" cy="347472"/>
          </a:xfrm>
          <a:prstGeom prst="rect">
            <a:avLst/>
          </a:prstGeom>
          <a:noFill/>
          <a:ln/>
        </p:spPr>
        <p:txBody>
          <a:bodyPr wrap="square" lIns="0" tIns="0" rIns="0" bIns="0" rtlCol="0" anchor="ctr"/>
          <a:lstStyle/>
          <a:p>
            <a:pPr indent="0" marL="0">
              <a:buNone/>
            </a:pPr>
            <a:r>
              <a:rPr lang="en-US" sz="1100" dirty="0">
                <a:solidFill>
                  <a:schemeClr val="tx1"/>
                </a:solidFill>
              </a:rPr>
              <a:t>최종 보고서 · 발표 준비</a:t>
            </a:r>
            <a:endParaRPr lang="en-US" sz="1100" dirty="0"/>
          </a:p>
        </p:txBody>
      </p:sp>
      <p:sp>
        <p:nvSpPr>
          <p:cNvPr id="92" name="Text 90"/>
          <p:cNvSpPr txBox="1"/>
          <p:nvPr/>
        </p:nvSpPr>
        <p:spPr>
          <a:xfrm>
            <a:off x="3200400" y="4187952"/>
            <a:ext cx="1097280" cy="347472"/>
          </a:xfrm>
          <a:prstGeom prst="rect">
            <a:avLst/>
          </a:prstGeom>
          <a:noFill/>
          <a:ln/>
        </p:spPr>
        <p:txBody>
          <a:bodyPr wrap="square" lIns="0" tIns="0" rIns="0" bIns="0" rtlCol="0" anchor="ctr"/>
          <a:lstStyle/>
          <a:p>
            <a:pPr indent="0" marL="0">
              <a:buNone/>
            </a:pPr>
            <a:r>
              <a:rPr lang="en-US" sz="950" dirty="0">
                <a:solidFill>
                  <a:schemeClr val="accent5"/>
                </a:solidFill>
              </a:rPr>
              <a:t>전원</a:t>
            </a:r>
            <a:endParaRPr lang="en-US" sz="950" dirty="0"/>
          </a:p>
        </p:txBody>
      </p:sp>
      <p:sp>
        <p:nvSpPr>
          <p:cNvPr id="93" name="Shape 91"/>
          <p:cNvSpPr/>
          <p:nvPr/>
        </p:nvSpPr>
        <p:spPr>
          <a:xfrm>
            <a:off x="4343400" y="4187952"/>
            <a:ext cx="0" cy="347472"/>
          </a:xfrm>
          <a:prstGeom prst="line">
            <a:avLst/>
          </a:prstGeom>
          <a:noFill/>
          <a:ln w="6350">
            <a:solidFill>
              <a:srgbClr val="DCD9D0"/>
            </a:solidFill>
            <a:prstDash val="solid"/>
          </a:ln>
        </p:spPr>
      </p:sp>
      <p:sp>
        <p:nvSpPr>
          <p:cNvPr id="94" name="Shape 92"/>
          <p:cNvSpPr/>
          <p:nvPr/>
        </p:nvSpPr>
        <p:spPr>
          <a:xfrm>
            <a:off x="4963886" y="4187952"/>
            <a:ext cx="0" cy="347472"/>
          </a:xfrm>
          <a:prstGeom prst="line">
            <a:avLst/>
          </a:prstGeom>
          <a:noFill/>
          <a:ln w="6350">
            <a:solidFill>
              <a:srgbClr val="DCD9D0"/>
            </a:solidFill>
            <a:prstDash val="solid"/>
          </a:ln>
        </p:spPr>
      </p:sp>
      <p:sp>
        <p:nvSpPr>
          <p:cNvPr id="95" name="Shape 93"/>
          <p:cNvSpPr/>
          <p:nvPr/>
        </p:nvSpPr>
        <p:spPr>
          <a:xfrm>
            <a:off x="5584371" y="4187952"/>
            <a:ext cx="0" cy="347472"/>
          </a:xfrm>
          <a:prstGeom prst="line">
            <a:avLst/>
          </a:prstGeom>
          <a:noFill/>
          <a:ln w="6350">
            <a:solidFill>
              <a:srgbClr val="DCD9D0"/>
            </a:solidFill>
            <a:prstDash val="solid"/>
          </a:ln>
        </p:spPr>
      </p:sp>
      <p:sp>
        <p:nvSpPr>
          <p:cNvPr id="96" name="Shape 94"/>
          <p:cNvSpPr/>
          <p:nvPr/>
        </p:nvSpPr>
        <p:spPr>
          <a:xfrm>
            <a:off x="6204857" y="4187952"/>
            <a:ext cx="0" cy="347472"/>
          </a:xfrm>
          <a:prstGeom prst="line">
            <a:avLst/>
          </a:prstGeom>
          <a:noFill/>
          <a:ln w="6350">
            <a:solidFill>
              <a:srgbClr val="DCD9D0"/>
            </a:solidFill>
            <a:prstDash val="solid"/>
          </a:ln>
        </p:spPr>
      </p:sp>
      <p:sp>
        <p:nvSpPr>
          <p:cNvPr id="97" name="Shape 95"/>
          <p:cNvSpPr/>
          <p:nvPr/>
        </p:nvSpPr>
        <p:spPr>
          <a:xfrm>
            <a:off x="6825343" y="4187952"/>
            <a:ext cx="0" cy="347472"/>
          </a:xfrm>
          <a:prstGeom prst="line">
            <a:avLst/>
          </a:prstGeom>
          <a:noFill/>
          <a:ln w="6350">
            <a:solidFill>
              <a:srgbClr val="DCD9D0"/>
            </a:solidFill>
            <a:prstDash val="solid"/>
          </a:ln>
        </p:spPr>
      </p:sp>
      <p:sp>
        <p:nvSpPr>
          <p:cNvPr id="98" name="Shape 96"/>
          <p:cNvSpPr/>
          <p:nvPr/>
        </p:nvSpPr>
        <p:spPr>
          <a:xfrm>
            <a:off x="7445829" y="4187952"/>
            <a:ext cx="0" cy="347472"/>
          </a:xfrm>
          <a:prstGeom prst="line">
            <a:avLst/>
          </a:prstGeom>
          <a:noFill/>
          <a:ln w="6350">
            <a:solidFill>
              <a:srgbClr val="DCD9D0"/>
            </a:solidFill>
            <a:prstDash val="solid"/>
          </a:ln>
        </p:spPr>
      </p:sp>
      <p:sp>
        <p:nvSpPr>
          <p:cNvPr id="99" name="Shape 97"/>
          <p:cNvSpPr/>
          <p:nvPr/>
        </p:nvSpPr>
        <p:spPr>
          <a:xfrm>
            <a:off x="8066314" y="4187952"/>
            <a:ext cx="0" cy="347472"/>
          </a:xfrm>
          <a:prstGeom prst="line">
            <a:avLst/>
          </a:prstGeom>
          <a:noFill/>
          <a:ln w="6350">
            <a:solidFill>
              <a:srgbClr val="DCD9D0"/>
            </a:solidFill>
            <a:prstDash val="solid"/>
          </a:ln>
        </p:spPr>
      </p:sp>
      <p:sp>
        <p:nvSpPr>
          <p:cNvPr id="100" name="최종 보고서 · 발표 준비 막대"/>
          <p:cNvSpPr/>
          <p:nvPr/>
        </p:nvSpPr>
        <p:spPr>
          <a:xfrm>
            <a:off x="7491549" y="4297680"/>
            <a:ext cx="1149531" cy="128016"/>
          </a:xfrm>
          <a:prstGeom prst="roundRect">
            <a:avLst>
              <a:gd name="adj" fmla="val 42857"/>
            </a:avLst>
          </a:prstGeom>
          <a:solidFill>
            <a:schemeClr val="accent2"/>
          </a:solidFill>
          <a:ln w="12700">
            <a:solidFill>
              <a:schemeClr val="accent2"/>
            </a:solidFill>
            <a:prstDash val="solid"/>
          </a:ln>
        </p:spPr>
      </p:sp>
      <p:sp>
        <p:nvSpPr>
          <p:cNvPr id="101" name="Shape 99"/>
          <p:cNvSpPr/>
          <p:nvPr/>
        </p:nvSpPr>
        <p:spPr>
          <a:xfrm>
            <a:off x="457200" y="4535424"/>
            <a:ext cx="8229600" cy="0"/>
          </a:xfrm>
          <a:prstGeom prst="line">
            <a:avLst/>
          </a:prstGeom>
          <a:noFill/>
          <a:ln w="9525">
            <a:solidFill>
              <a:srgbClr val="DCD9D0"/>
            </a:solidFill>
            <a:prstDash val="solid"/>
          </a:ln>
        </p:spPr>
      </p:sp>
      <p:sp>
        <p:nvSpPr>
          <p:cNvPr id="102" name="Text 100"/>
          <p:cNvSpPr txBox="1"/>
          <p:nvPr/>
        </p:nvSpPr>
        <p:spPr>
          <a:xfrm>
            <a:off x="457200" y="4553712"/>
            <a:ext cx="8229600" cy="219456"/>
          </a:xfrm>
          <a:prstGeom prst="rect">
            <a:avLst/>
          </a:prstGeom>
          <a:noFill/>
          <a:ln/>
        </p:spPr>
        <p:txBody>
          <a:bodyPr wrap="square" lIns="0" tIns="0" rIns="0" bIns="0" rtlCol="0" anchor="ctr"/>
          <a:lstStyle/>
          <a:p>
            <a:pPr indent="0" marL="0">
              <a:buNone/>
            </a:pPr>
            <a:r>
              <a:rPr lang="en-US" sz="950" dirty="0">
                <a:solidFill>
                  <a:schemeClr val="accent5"/>
                </a:solidFill>
              </a:rPr>
              <a:t>중간발표 10/27 (화) → 기말 발표 12/15 (화) 예정</a:t>
            </a:r>
            <a:endParaRPr lang="en-US" sz="95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⑧ 팀원별 R&amp;R</a:t>
            </a:r>
            <a:endParaRPr lang="en-US" sz="3000" dirty="0"/>
          </a:p>
        </p:txBody>
      </p:sp>
      <p:sp>
        <p:nvSpPr>
          <p:cNvPr id="3" name="Text 1"/>
          <p:cNvSpPr txBox="1"/>
          <p:nvPr/>
        </p:nvSpPr>
        <p:spPr>
          <a:xfrm>
            <a:off x="5486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이지훈</a:t>
            </a:r>
            <a:pPr indent="0" marL="0">
              <a:buNone/>
            </a:pPr>
            <a:r>
              <a:rPr lang="en-US" sz="1000" dirty="0">
                <a:solidFill>
                  <a:schemeClr val="bg2"/>
                </a:solidFill>
              </a:rPr>
              <a:t>  팀장 · 개발</a:t>
            </a:r>
            <a:endParaRPr lang="en-US" sz="1800" dirty="0"/>
          </a:p>
        </p:txBody>
      </p:sp>
      <p:sp>
        <p:nvSpPr>
          <p:cNvPr id="4" name="Text 2"/>
          <p:cNvSpPr txBox="1"/>
          <p:nvPr/>
        </p:nvSpPr>
        <p:spPr>
          <a:xfrm>
            <a:off x="5486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기획 · 개발 · 배포</a:t>
            </a:r>
            <a:endParaRPr lang="en-US" sz="1150" dirty="0"/>
          </a:p>
          <a:p>
            <a:pPr marL="152400" indent="-152400">
              <a:spcAft>
                <a:spcPts val="400"/>
              </a:spcAft>
              <a:buSzPct val="100000"/>
              <a:buChar char="•"/>
            </a:pPr>
            <a:r>
              <a:rPr lang="en-US" sz="1150" dirty="0">
                <a:solidFill>
                  <a:schemeClr val="bg1"/>
                </a:solidFill>
              </a:rPr>
              <a:t>기록 등록 보강, 아이폰 검증</a:t>
            </a:r>
            <a:endParaRPr lang="en-US" sz="1150" dirty="0"/>
          </a:p>
          <a:p>
            <a:pPr marL="152400" indent="-152400">
              <a:spcAft>
                <a:spcPts val="400"/>
              </a:spcAft>
              <a:buSzPct val="100000"/>
              <a:buChar char="•"/>
            </a:pPr>
            <a:r>
              <a:rPr lang="en-US" sz="1150" dirty="0">
                <a:solidFill>
                  <a:schemeClr val="bg1"/>
                </a:solidFill>
              </a:rPr>
              <a:t>기술 · 법적 효력 질의응답</a:t>
            </a:r>
            <a:endParaRPr lang="en-US" sz="1150" dirty="0"/>
          </a:p>
        </p:txBody>
      </p:sp>
      <p:sp>
        <p:nvSpPr>
          <p:cNvPr id="5" name="Shape 3"/>
          <p:cNvSpPr/>
          <p:nvPr/>
        </p:nvSpPr>
        <p:spPr>
          <a:xfrm>
            <a:off x="3108960" y="1417320"/>
            <a:ext cx="0" cy="1737360"/>
          </a:xfrm>
          <a:prstGeom prst="line">
            <a:avLst/>
          </a:prstGeom>
          <a:noFill/>
          <a:ln w="9525">
            <a:solidFill>
              <a:srgbClr val="FFFFFF">
                <a:alpha val="40000"/>
              </a:srgbClr>
            </a:solidFill>
            <a:prstDash val="solid"/>
          </a:ln>
        </p:spPr>
      </p:sp>
      <p:sp>
        <p:nvSpPr>
          <p:cNvPr id="6" name="Text 4"/>
          <p:cNvSpPr txBox="1"/>
          <p:nvPr/>
        </p:nvSpPr>
        <p:spPr>
          <a:xfrm>
            <a:off x="32918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손유호</a:t>
            </a:r>
            <a:pPr indent="0" marL="0">
              <a:buNone/>
            </a:pPr>
            <a:r>
              <a:rPr lang="en-US" sz="1000" dirty="0">
                <a:solidFill>
                  <a:schemeClr val="bg2"/>
                </a:solidFill>
              </a:rPr>
              <a:t>  시장 · 수익</a:t>
            </a:r>
            <a:endParaRPr lang="en-US" sz="1800" dirty="0"/>
          </a:p>
        </p:txBody>
      </p:sp>
      <p:sp>
        <p:nvSpPr>
          <p:cNvPr id="7" name="Text 5"/>
          <p:cNvSpPr txBox="1"/>
          <p:nvPr/>
        </p:nvSpPr>
        <p:spPr>
          <a:xfrm>
            <a:off x="32918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설문 30명 · 집계, 인터뷰 3명</a:t>
            </a:r>
            <a:endParaRPr lang="en-US" sz="1150" dirty="0"/>
          </a:p>
          <a:p>
            <a:pPr marL="152400" indent="-152400">
              <a:spcAft>
                <a:spcPts val="400"/>
              </a:spcAft>
              <a:buSzPct val="100000"/>
              <a:buChar char="•"/>
            </a:pPr>
            <a:r>
              <a:rPr lang="en-US" sz="1150" dirty="0">
                <a:solidFill>
                  <a:schemeClr val="bg1"/>
                </a:solidFill>
              </a:rPr>
              <a:t>비즈니스 모델, 광고 승인 신청</a:t>
            </a:r>
            <a:endParaRPr lang="en-US" sz="1150" dirty="0"/>
          </a:p>
          <a:p>
            <a:pPr marL="152400" indent="-152400">
              <a:spcAft>
                <a:spcPts val="400"/>
              </a:spcAft>
              <a:buSzPct val="100000"/>
              <a:buChar char="•"/>
            </a:pPr>
            <a:r>
              <a:rPr lang="en-US" sz="1150" dirty="0">
                <a:solidFill>
                  <a:schemeClr val="bg1"/>
                </a:solidFill>
              </a:rPr>
              <a:t>시장 · 경쟁사 조사</a:t>
            </a:r>
            <a:endParaRPr lang="en-US" sz="1150" dirty="0"/>
          </a:p>
        </p:txBody>
      </p:sp>
      <p:sp>
        <p:nvSpPr>
          <p:cNvPr id="8" name="Shape 6"/>
          <p:cNvSpPr/>
          <p:nvPr/>
        </p:nvSpPr>
        <p:spPr>
          <a:xfrm>
            <a:off x="5852160" y="1417320"/>
            <a:ext cx="0" cy="1737360"/>
          </a:xfrm>
          <a:prstGeom prst="line">
            <a:avLst/>
          </a:prstGeom>
          <a:noFill/>
          <a:ln w="9525">
            <a:solidFill>
              <a:srgbClr val="FFFFFF">
                <a:alpha val="40000"/>
              </a:srgbClr>
            </a:solidFill>
            <a:prstDash val="solid"/>
          </a:ln>
        </p:spPr>
      </p:sp>
      <p:sp>
        <p:nvSpPr>
          <p:cNvPr id="9" name="Text 7"/>
          <p:cNvSpPr txBox="1"/>
          <p:nvPr/>
        </p:nvSpPr>
        <p:spPr>
          <a:xfrm>
            <a:off x="6035040" y="1371600"/>
            <a:ext cx="2377440" cy="411480"/>
          </a:xfrm>
          <a:prstGeom prst="rect">
            <a:avLst/>
          </a:prstGeom>
          <a:noFill/>
          <a:ln/>
        </p:spPr>
        <p:txBody>
          <a:bodyPr wrap="square" lIns="0" tIns="0" rIns="0" bIns="0" rtlCol="0" anchor="ctr"/>
          <a:lstStyle/>
          <a:p>
            <a:pPr indent="0" marL="0">
              <a:buNone/>
            </a:pPr>
            <a:r>
              <a:rPr lang="en-US" sz="1800" b="1" dirty="0">
                <a:solidFill>
                  <a:schemeClr val="bg1"/>
                </a:solidFill>
              </a:rPr>
              <a:t>박명진</a:t>
            </a:r>
            <a:pPr indent="0" marL="0">
              <a:buNone/>
            </a:pPr>
            <a:r>
              <a:rPr lang="en-US" sz="1000" dirty="0">
                <a:solidFill>
                  <a:schemeClr val="bg2"/>
                </a:solidFill>
              </a:rPr>
              <a:t>  검증 · 일정</a:t>
            </a:r>
            <a:endParaRPr lang="en-US" sz="1800" dirty="0"/>
          </a:p>
        </p:txBody>
      </p:sp>
      <p:sp>
        <p:nvSpPr>
          <p:cNvPr id="10" name="Text 8"/>
          <p:cNvSpPr txBox="1"/>
          <p:nvPr/>
        </p:nvSpPr>
        <p:spPr>
          <a:xfrm>
            <a:off x="6035040" y="1874520"/>
            <a:ext cx="2377440" cy="1554480"/>
          </a:xfrm>
          <a:prstGeom prst="rect">
            <a:avLst/>
          </a:prstGeom>
          <a:noFill/>
          <a:ln/>
        </p:spPr>
        <p:txBody>
          <a:bodyPr wrap="square" lIns="0" tIns="0" rIns="0" bIns="0" rtlCol="0" anchor="t"/>
          <a:lstStyle/>
          <a:p>
            <a:pPr marL="152400" indent="-152400">
              <a:spcAft>
                <a:spcPts val="400"/>
              </a:spcAft>
              <a:buSzPct val="100000"/>
              <a:buChar char="•"/>
            </a:pPr>
            <a:r>
              <a:rPr lang="en-US" sz="1150" dirty="0">
                <a:solidFill>
                  <a:schemeClr val="bg1"/>
                </a:solidFill>
              </a:rPr>
              <a:t>인터뷰 2명, 갤럭시 설치 · 테스트</a:t>
            </a:r>
            <a:endParaRPr lang="en-US" sz="1150" dirty="0"/>
          </a:p>
          <a:p>
            <a:pPr marL="152400" indent="-152400">
              <a:spcAft>
                <a:spcPts val="400"/>
              </a:spcAft>
              <a:buSzPct val="100000"/>
              <a:buChar char="•"/>
            </a:pPr>
            <a:r>
              <a:rPr lang="en-US" sz="1150" dirty="0">
                <a:solidFill>
                  <a:schemeClr val="bg1"/>
                </a:solidFill>
              </a:rPr>
              <a:t>일정 관리, 마일스톤 점검</a:t>
            </a:r>
            <a:endParaRPr lang="en-US" sz="1150" dirty="0"/>
          </a:p>
          <a:p>
            <a:pPr marL="152400" indent="-152400">
              <a:spcAft>
                <a:spcPts val="400"/>
              </a:spcAft>
              <a:buSzPct val="100000"/>
              <a:buChar char="•"/>
            </a:pPr>
            <a:r>
              <a:rPr lang="en-US" sz="1150" dirty="0">
                <a:solidFill>
                  <a:schemeClr val="bg1"/>
                </a:solidFill>
              </a:rPr>
              <a:t>보고서 편집</a:t>
            </a:r>
            <a:endParaRPr lang="en-US" sz="1150" dirty="0"/>
          </a:p>
        </p:txBody>
      </p:sp>
      <p:sp>
        <p:nvSpPr>
          <p:cNvPr id="11" name="Text 9"/>
          <p:cNvSpPr txBox="1"/>
          <p:nvPr/>
        </p:nvSpPr>
        <p:spPr>
          <a:xfrm>
            <a:off x="548640" y="3931920"/>
            <a:ext cx="8046720" cy="365760"/>
          </a:xfrm>
          <a:prstGeom prst="rect">
            <a:avLst/>
          </a:prstGeom>
          <a:noFill/>
          <a:ln/>
        </p:spPr>
        <p:txBody>
          <a:bodyPr wrap="square" lIns="0" tIns="0" rIns="0" bIns="0" rtlCol="0" anchor="ctr"/>
          <a:lstStyle/>
          <a:p>
            <a:pPr indent="0" marL="0">
              <a:buNone/>
            </a:pPr>
            <a:r>
              <a:rPr lang="en-US" sz="1200" dirty="0">
                <a:solidFill>
                  <a:schemeClr val="bg2"/>
                </a:solidFill>
              </a:rPr>
              <a:t>앞으로 맡을 일은 오늘 각자 발표한 부분과 같음</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8046720" cy="731520"/>
          </a:xfrm>
          <a:prstGeom prst="rect">
            <a:avLst/>
          </a:prstGeom>
          <a:noFill/>
          <a:ln/>
        </p:spPr>
        <p:txBody>
          <a:bodyPr wrap="square" lIns="0" tIns="0" rIns="0" bIns="0" rtlCol="0" anchor="t"/>
          <a:lstStyle/>
          <a:p>
            <a:pPr algn="l" indent="0" marL="0">
              <a:buNone/>
            </a:pPr>
            <a:r>
              <a:rPr lang="en-US" sz="3000" b="1" dirty="0">
                <a:solidFill>
                  <a:schemeClr val="bg1"/>
                </a:solidFill>
              </a:rPr>
              <a:t>못 받은 알바비, 기록으로 찾는 앱</a:t>
            </a:r>
            <a:endParaRPr lang="en-US" sz="3000" dirty="0"/>
          </a:p>
        </p:txBody>
      </p:sp>
      <p:sp>
        <p:nvSpPr>
          <p:cNvPr id="3" name="Shape 1"/>
          <p:cNvSpPr/>
          <p:nvPr/>
        </p:nvSpPr>
        <p:spPr>
          <a:xfrm>
            <a:off x="548640" y="1463040"/>
            <a:ext cx="4754880" cy="0"/>
          </a:xfrm>
          <a:prstGeom prst="line">
            <a:avLst/>
          </a:prstGeom>
          <a:noFill/>
          <a:ln w="9525">
            <a:solidFill>
              <a:srgbClr val="FFFFFF">
                <a:alpha val="40000"/>
              </a:srgbClr>
            </a:solidFill>
            <a:prstDash val="solid"/>
          </a:ln>
        </p:spPr>
      </p:sp>
      <p:sp>
        <p:nvSpPr>
          <p:cNvPr id="4" name="Text 2"/>
          <p:cNvSpPr txBox="1"/>
          <p:nvPr/>
        </p:nvSpPr>
        <p:spPr>
          <a:xfrm>
            <a:off x="548640" y="1508760"/>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배포됨</a:t>
            </a:r>
            <a:endParaRPr lang="en-US" sz="1600" dirty="0"/>
          </a:p>
        </p:txBody>
      </p:sp>
      <p:sp>
        <p:nvSpPr>
          <p:cNvPr id="5" name="Text 3"/>
          <p:cNvSpPr txBox="1"/>
          <p:nvPr/>
        </p:nvSpPr>
        <p:spPr>
          <a:xfrm>
            <a:off x="2560320" y="1508760"/>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jihooni217.github.io/albaguard</a:t>
            </a:r>
            <a:endParaRPr lang="en-US" sz="1100" dirty="0"/>
          </a:p>
          <a:p>
            <a:pPr algn="r" indent="0" marL="0">
              <a:buNone/>
            </a:pPr>
            <a:r>
              <a:rPr lang="en-US" sz="1100" dirty="0">
                <a:solidFill>
                  <a:schemeClr val="bg2"/>
                </a:solidFill>
              </a:rPr>
              <a:t>시연 기록 확인 번호 289ad066f1632c51</a:t>
            </a:r>
            <a:endParaRPr lang="en-US" sz="1100" dirty="0"/>
          </a:p>
        </p:txBody>
      </p:sp>
      <p:sp>
        <p:nvSpPr>
          <p:cNvPr id="6" name="Shape 4"/>
          <p:cNvSpPr/>
          <p:nvPr/>
        </p:nvSpPr>
        <p:spPr>
          <a:xfrm>
            <a:off x="548640" y="2121408"/>
            <a:ext cx="4754880" cy="0"/>
          </a:xfrm>
          <a:prstGeom prst="line">
            <a:avLst/>
          </a:prstGeom>
          <a:noFill/>
          <a:ln w="9525">
            <a:solidFill>
              <a:srgbClr val="FFFFFF">
                <a:alpha val="40000"/>
              </a:srgbClr>
            </a:solidFill>
            <a:prstDash val="solid"/>
          </a:ln>
        </p:spPr>
      </p:sp>
      <p:sp>
        <p:nvSpPr>
          <p:cNvPr id="7" name="Text 5"/>
          <p:cNvSpPr txBox="1"/>
          <p:nvPr/>
        </p:nvSpPr>
        <p:spPr>
          <a:xfrm>
            <a:off x="548640" y="2167128"/>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기능 8 / 8 동작</a:t>
            </a:r>
            <a:endParaRPr lang="en-US" sz="1600" dirty="0"/>
          </a:p>
        </p:txBody>
      </p:sp>
      <p:sp>
        <p:nvSpPr>
          <p:cNvPr id="8" name="Text 6"/>
          <p:cNvSpPr txBox="1"/>
          <p:nvPr/>
        </p:nvSpPr>
        <p:spPr>
          <a:xfrm>
            <a:off x="2560320" y="2167128"/>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완성도 평균 약 80% · 설문 13명 응답</a:t>
            </a:r>
            <a:endParaRPr lang="en-US" sz="1100" dirty="0"/>
          </a:p>
        </p:txBody>
      </p:sp>
      <p:sp>
        <p:nvSpPr>
          <p:cNvPr id="9" name="Shape 7"/>
          <p:cNvSpPr/>
          <p:nvPr/>
        </p:nvSpPr>
        <p:spPr>
          <a:xfrm>
            <a:off x="548640" y="2779776"/>
            <a:ext cx="4754880" cy="0"/>
          </a:xfrm>
          <a:prstGeom prst="line">
            <a:avLst/>
          </a:prstGeom>
          <a:noFill/>
          <a:ln w="9525">
            <a:solidFill>
              <a:srgbClr val="FFFFFF">
                <a:alpha val="40000"/>
              </a:srgbClr>
            </a:solidFill>
            <a:prstDash val="solid"/>
          </a:ln>
        </p:spPr>
      </p:sp>
      <p:sp>
        <p:nvSpPr>
          <p:cNvPr id="10" name="Text 8"/>
          <p:cNvSpPr txBox="1"/>
          <p:nvPr/>
        </p:nvSpPr>
        <p:spPr>
          <a:xfrm>
            <a:off x="548640" y="2825496"/>
            <a:ext cx="2011680" cy="548640"/>
          </a:xfrm>
          <a:prstGeom prst="rect">
            <a:avLst/>
          </a:prstGeom>
          <a:noFill/>
          <a:ln/>
        </p:spPr>
        <p:txBody>
          <a:bodyPr wrap="square" lIns="0" tIns="0" rIns="0" bIns="0" rtlCol="0" anchor="ctr"/>
          <a:lstStyle/>
          <a:p>
            <a:pPr indent="0" marL="0">
              <a:buNone/>
            </a:pPr>
            <a:r>
              <a:rPr lang="en-US" sz="1600" b="1" dirty="0">
                <a:solidFill>
                  <a:schemeClr val="bg1"/>
                </a:solidFill>
              </a:rPr>
              <a:t>11월</a:t>
            </a:r>
            <a:endParaRPr lang="en-US" sz="1600" dirty="0"/>
          </a:p>
        </p:txBody>
      </p:sp>
      <p:sp>
        <p:nvSpPr>
          <p:cNvPr id="11" name="Text 9"/>
          <p:cNvSpPr txBox="1"/>
          <p:nvPr/>
        </p:nvSpPr>
        <p:spPr>
          <a:xfrm>
            <a:off x="2560320" y="2825496"/>
            <a:ext cx="2743200" cy="548640"/>
          </a:xfrm>
          <a:prstGeom prst="rect">
            <a:avLst/>
          </a:prstGeom>
          <a:noFill/>
          <a:ln/>
        </p:spPr>
        <p:txBody>
          <a:bodyPr wrap="square" lIns="0" tIns="0" rIns="0" bIns="0" rtlCol="0" anchor="ctr"/>
          <a:lstStyle/>
          <a:p>
            <a:pPr algn="r" indent="0" marL="0">
              <a:buNone/>
            </a:pPr>
            <a:r>
              <a:rPr lang="en-US" sz="1100" dirty="0">
                <a:solidFill>
                  <a:schemeClr val="bg2"/>
                </a:solidFill>
              </a:rPr>
              <a:t>링크 설문 30명 + 직접 인터뷰 5명</a:t>
            </a:r>
            <a:endParaRPr lang="en-US" sz="1100" dirty="0"/>
          </a:p>
        </p:txBody>
      </p:sp>
      <p:sp>
        <p:nvSpPr>
          <p:cNvPr id="12" name="Shape 10"/>
          <p:cNvSpPr/>
          <p:nvPr/>
        </p:nvSpPr>
        <p:spPr>
          <a:xfrm>
            <a:off x="548640" y="3438144"/>
            <a:ext cx="4754880" cy="0"/>
          </a:xfrm>
          <a:prstGeom prst="line">
            <a:avLst/>
          </a:prstGeom>
          <a:noFill/>
          <a:ln w="9525">
            <a:solidFill>
              <a:srgbClr val="FFFFFF">
                <a:alpha val="40000"/>
              </a:srgbClr>
            </a:solidFill>
            <a:prstDash val="solid"/>
          </a:ln>
        </p:spPr>
      </p:sp>
      <p:sp>
        <p:nvSpPr>
          <p:cNvPr id="13" name="앱 설치 바탕"/>
          <p:cNvSpPr/>
          <p:nvPr/>
        </p:nvSpPr>
        <p:spPr>
          <a:xfrm>
            <a:off x="5687568" y="1389888"/>
            <a:ext cx="1426464" cy="1426464"/>
          </a:xfrm>
          <a:prstGeom prst="rect">
            <a:avLst/>
          </a:prstGeom>
          <a:solidFill>
            <a:srgbClr val="FFFFFF"/>
          </a:solidFill>
          <a:ln w="12700">
            <a:solidFill>
              <a:srgbClr val="FFFFFF"/>
            </a:solidFill>
            <a:prstDash val="solid"/>
          </a:ln>
        </p:spPr>
      </p:sp>
      <p:pic>
        <p:nvPicPr>
          <p:cNvPr id="14" name="앱 설치" descr="C:\Users\user\Desktop\albaguard기술창업\docs\report_src\qr_app.png">    </p:cNvPr>
          <p:cNvPicPr>
            <a:picLocks noChangeAspect="1"/>
          </p:cNvPicPr>
          <p:nvPr/>
        </p:nvPicPr>
        <p:blipFill>
          <a:blip r:embed="rId1"/>
          <a:stretch>
            <a:fillRect/>
          </a:stretch>
        </p:blipFill>
        <p:spPr>
          <a:xfrm>
            <a:off x="5760720" y="1463040"/>
            <a:ext cx="1280160" cy="1280160"/>
          </a:xfrm>
          <a:prstGeom prst="rect">
            <a:avLst/>
          </a:prstGeom>
        </p:spPr>
      </p:pic>
      <p:sp>
        <p:nvSpPr>
          <p:cNvPr id="15" name="Text 12"/>
          <p:cNvSpPr txBox="1"/>
          <p:nvPr/>
        </p:nvSpPr>
        <p:spPr>
          <a:xfrm>
            <a:off x="55778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앱 설치</a:t>
            </a:r>
            <a:endParaRPr lang="en-US" sz="1150" dirty="0"/>
          </a:p>
        </p:txBody>
      </p:sp>
      <p:sp>
        <p:nvSpPr>
          <p:cNvPr id="16" name="Text 13"/>
          <p:cNvSpPr txBox="1"/>
          <p:nvPr/>
        </p:nvSpPr>
        <p:spPr>
          <a:xfrm>
            <a:off x="54864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홈 화면에 추가</a:t>
            </a:r>
            <a:endParaRPr lang="en-US" sz="900" dirty="0"/>
          </a:p>
        </p:txBody>
      </p:sp>
      <p:sp>
        <p:nvSpPr>
          <p:cNvPr id="17" name="설문 3분 바탕"/>
          <p:cNvSpPr/>
          <p:nvPr/>
        </p:nvSpPr>
        <p:spPr>
          <a:xfrm>
            <a:off x="7287768" y="1389888"/>
            <a:ext cx="1426464" cy="1426464"/>
          </a:xfrm>
          <a:prstGeom prst="rect">
            <a:avLst/>
          </a:prstGeom>
          <a:solidFill>
            <a:srgbClr val="FFFFFF"/>
          </a:solidFill>
          <a:ln w="12700">
            <a:solidFill>
              <a:srgbClr val="FFFFFF"/>
            </a:solidFill>
            <a:prstDash val="solid"/>
          </a:ln>
        </p:spPr>
      </p:sp>
      <p:pic>
        <p:nvPicPr>
          <p:cNvPr id="18" name="설문 3분" descr="C:\Users\user\Desktop\albaguard기술창업\docs\report_src\qr_survey.png">    </p:cNvPr>
          <p:cNvPicPr>
            <a:picLocks noChangeAspect="1"/>
          </p:cNvPicPr>
          <p:nvPr/>
        </p:nvPicPr>
        <p:blipFill>
          <a:blip r:embed="rId2"/>
          <a:stretch>
            <a:fillRect/>
          </a:stretch>
        </p:blipFill>
        <p:spPr>
          <a:xfrm>
            <a:off x="7360920" y="1463040"/>
            <a:ext cx="1280160" cy="1280160"/>
          </a:xfrm>
          <a:prstGeom prst="rect">
            <a:avLst/>
          </a:prstGeom>
        </p:spPr>
      </p:pic>
      <p:sp>
        <p:nvSpPr>
          <p:cNvPr id="19" name="Text 15"/>
          <p:cNvSpPr txBox="1"/>
          <p:nvPr/>
        </p:nvSpPr>
        <p:spPr>
          <a:xfrm>
            <a:off x="7178040" y="2880360"/>
            <a:ext cx="1645920" cy="274320"/>
          </a:xfrm>
          <a:prstGeom prst="rect">
            <a:avLst/>
          </a:prstGeom>
          <a:noFill/>
          <a:ln/>
        </p:spPr>
        <p:txBody>
          <a:bodyPr wrap="square" lIns="0" tIns="0" rIns="0" bIns="0" rtlCol="0" anchor="ctr"/>
          <a:lstStyle/>
          <a:p>
            <a:pPr algn="ctr" indent="0" marL="0">
              <a:buNone/>
            </a:pPr>
            <a:r>
              <a:rPr lang="en-US" sz="1150" b="1" dirty="0">
                <a:solidFill>
                  <a:schemeClr val="bg1"/>
                </a:solidFill>
              </a:rPr>
              <a:t>설문 3분</a:t>
            </a:r>
            <a:endParaRPr lang="en-US" sz="1150" dirty="0"/>
          </a:p>
        </p:txBody>
      </p:sp>
      <p:sp>
        <p:nvSpPr>
          <p:cNvPr id="20" name="Text 16"/>
          <p:cNvSpPr txBox="1"/>
          <p:nvPr/>
        </p:nvSpPr>
        <p:spPr>
          <a:xfrm>
            <a:off x="7086600" y="3154680"/>
            <a:ext cx="1828800" cy="411480"/>
          </a:xfrm>
          <a:prstGeom prst="rect">
            <a:avLst/>
          </a:prstGeom>
          <a:noFill/>
          <a:ln/>
        </p:spPr>
        <p:txBody>
          <a:bodyPr wrap="square" lIns="0" tIns="0" rIns="0" bIns="0" rtlCol="0" anchor="t"/>
          <a:lstStyle/>
          <a:p>
            <a:pPr algn="ctr" indent="0" marL="0">
              <a:buNone/>
            </a:pPr>
            <a:r>
              <a:rPr lang="en-US" sz="900" dirty="0">
                <a:solidFill>
                  <a:schemeClr val="bg2"/>
                </a:solidFill>
              </a:rPr>
              <a:t>이름 · 연락처 없음</a:t>
            </a:r>
            <a:endParaRPr lang="en-US" sz="900" dirty="0"/>
          </a:p>
        </p:txBody>
      </p:sp>
      <p:sp>
        <p:nvSpPr>
          <p:cNvPr id="21" name="Text 17"/>
          <p:cNvSpPr txBox="1"/>
          <p:nvPr/>
        </p:nvSpPr>
        <p:spPr>
          <a:xfrm>
            <a:off x="548640" y="3977640"/>
            <a:ext cx="8046720" cy="365760"/>
          </a:xfrm>
          <a:prstGeom prst="rect">
            <a:avLst/>
          </a:prstGeom>
          <a:noFill/>
          <a:ln/>
        </p:spPr>
        <p:txBody>
          <a:bodyPr wrap="square" lIns="0" tIns="0" rIns="0" bIns="0" rtlCol="0" anchor="ctr"/>
          <a:lstStyle/>
          <a:p>
            <a:pPr indent="0" marL="0">
              <a:buNone/>
            </a:pPr>
            <a:r>
              <a:rPr lang="en-US" sz="1300" dirty="0">
                <a:solidFill>
                  <a:schemeClr val="bg2"/>
                </a:solidFill>
              </a:rPr>
              <a:t>설문에 답해 주시면 기말 발표에 큰 도움이 됩니다</a:t>
            </a:r>
            <a:endParaRPr lang="en-US" sz="1300" dirty="0"/>
          </a:p>
        </p:txBody>
      </p:sp>
      <p:sp>
        <p:nvSpPr>
          <p:cNvPr id="22" name="Text 18"/>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400" b="1" dirty="0">
                <a:solidFill>
                  <a:schemeClr val="bg1"/>
                </a:solidFill>
              </a:rPr>
              <a:t>감사합니다</a:t>
            </a:r>
            <a:endParaRPr lang="en-US" sz="1400" dirty="0"/>
          </a:p>
        </p:txBody>
      </p:sp>
    </p:spTree>
  </p:cSld>
  <p:clrMapOvr>
    <a:masterClrMapping/>
  </p:clrMapOvr>
</p:sld>
</file>

<file path=ppt/theme/theme1.xml><?xml version="1.0" encoding="utf-8"?>
<a:theme xmlns:a="http://schemas.openxmlformats.org/drawingml/2006/main" name="Albaguard">
  <a:themeElements>
    <a:clrScheme name="Albaguard">
      <a:dk1>
        <a:srgbClr val="15171A"/>
      </a:dk1>
      <a:lt1>
        <a:srgbClr val="FFFFFF"/>
      </a:lt1>
      <a:dk2>
        <a:srgbClr val="2A3193"/>
      </a:dk2>
      <a:lt2>
        <a:srgbClr val="F4F3EF"/>
      </a:lt2>
      <a:accent1>
        <a:srgbClr val="2A3193"/>
      </a:accent1>
      <a:accent2>
        <a:srgbClr val="0F7A55"/>
      </a:accent2>
      <a:accent3>
        <a:srgbClr val="C2331C"/>
      </a:accent3>
      <a:accent4>
        <a:srgbClr val="5A63E6"/>
      </a:accent4>
      <a:accent5>
        <a:srgbClr val="5D636D"/>
      </a:accent5>
      <a:accent6>
        <a:srgbClr val="DCD9D0"/>
      </a:accent6>
      <a:hlink>
        <a:srgbClr val="2A3193"/>
      </a:hlink>
      <a:folHlink>
        <a:srgbClr val="5A63E6"/>
      </a:folHlink>
    </a:clrScheme>
    <a:fontScheme name="Albaguard">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알바가드 중간발표</dc:title>
  <dc:subject>PptxGenJS Presentation</dc:subject>
  <dc:creator>4조</dc:creator>
  <cp:lastModifiedBy>4조</cp:lastModifiedBy>
  <cp:revision>1</cp:revision>
  <dcterms:created xsi:type="dcterms:W3CDTF">2026-10-27T00:41:29Z</dcterms:created>
  <dcterms:modified xsi:type="dcterms:W3CDTF">2026-10-27T00:41:29Z</dcterms:modified>
</cp:coreProperties>
</file>