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b2e4f21e-f068-551e-157c-0bf394d067cb}">
          <p14:sldIdLst>
            <p14:sldId id="256"/>
            <p14:sldId id="257"/>
          </p14:sldIdLst>
        </p14:section>
        <p14:section name="② 문제 정의" id="{8b23a0cf-d72d-2e8a-b285-795b1b7a8f02}">
          <p14:sldIdLst>
            <p14:sldId id="258"/>
            <p14:sldId id="259"/>
          </p14:sldIdLst>
        </p14:section>
        <p14:section name="③ 솔루션·핵심 가치" id="{3348f7ba-12dd-a39d-55db-bc8c2359ec1e}">
          <p14:sldIdLst>
            <p14:sldId id="260"/>
            <p14:sldId id="261"/>
          </p14:sldIdLst>
        </p14:section>
        <p14:section name="④ SW 기술 아키텍처" id="{3a9f4816-ab23-6e52-5f55-2d11d2a3ac80}">
          <p14:sldIdLst>
            <p14:sldId id="262"/>
            <p14:sldId id="263"/>
          </p14:sldIdLst>
        </p14:section>
        <p14:section name="⑤ 개발 현황·MVP 시연" id="{56991052-4305-f16c-7fb5-772de7b7d6d8}">
          <p14:sldIdLst>
            <p14:sldId id="264"/>
            <p14:sldId id="265"/>
            <p14:sldId id="266"/>
            <p14:sldId id="267"/>
          </p14:sldIdLst>
        </p14:section>
        <p14:section name="⑥ 시장 분석·비즈니스 모델" id="{61e0fd52-9c0c-c070-1b40-c784a11cbaca}">
          <p14:sldIdLst>
            <p14:sldId id="268"/>
            <p14:sldId id="269"/>
            <p14:sldId id="270"/>
          </p14:sldIdLst>
        </p14:section>
        <p14:section name="⑦ 초기 시장 검증" id="{e793c72b-a736-050f-af1a-8b065f7ea0bd}">
          <p14:sldIdLst>
            <p14:sldId id="271"/>
          </p14:sldIdLst>
        </p14:section>
        <p14:section name="⑧ 향후 계획·팀 역량" id="{973e8efb-8366-22b5-f678-394ec461de1e}">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화면의 숫자는 모두 알바천국 설문 결과인데요. 먼저, 얼마를 받아야 하는지부터 어렵습니다. 노동절에 일한 알바생 셋 중 한 명은 수당을 받는지조차 몰랐습니다. 다음은 덜 받아도 잘 모른다는 점입니다. 저희 설문에서도 12명 중 7명이 통장에 들어온 총액만 본다고 했습니다. 마지막으로, 알아도 말을 못 합니다. 최저시급보다 덜 받은 사람 중 절반 가까이가 아무 대응도 하지 않았습니다. 기록이 없으면 "나중에 지어낸 거 아니냐"는 한마디에 할 말이 없어지니까요. (멈춤) 결국 세 문제의 뿌리는 같습니다.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앱보다 메모장이나 카톡이라서 맨 앞 열에 같이 넣었습니다. 표를 다 보실 필요는 없고, 가운데 세 줄만 봐 주세요. 실제 받은 돈과 비교하기, 요청 문구와 증빙 만들기, 수정 이력과 등록 시각입니다. 이 세 줄은 알바가드에만 O가 있습니다. 다른 서비스는 대부분 예상 급여 계산에서 멈추거나, 사장님이 가입해야 하거나, 증거가 이미 있어야 시작할 수 있습니다. 진정 접수는 저희가 직접 하지 않고, 1350과 노동포털로 연결만 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이었습니다. 출근과 퇴근은 버튼 하나로 기록하고, 나중에 고치면 무엇을 왜 고쳤는지가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내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세 가지입니다. 첫째, 사장님 가입 없이 혼자 쓸 수 있습니다. 둘째, 실제로 받은 돈과 비교해서 요청 문구와 증빙까지 이어집니다. 셋째, 기록할 때마다 확인 번호와 서버 등록 시각이 남습니다. 사유 없이는 기록을 고칠 수 없고, 지워도 흔적이 남고, 고치면 다시 등록됩니다. 이 부분은 다른 앱이 쉽게 따라 하기 어렵다고 생각합니다. (멈춤) 한마디로,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힘이 생기고, 최종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표에서 기억하실 건 하나입니다. 앱은 폰 안에서 돌아가고, 서버는 꼭 필요한 곳에만 씁니다. 앱은 React와 Vite로 만든 웹앱이라 앱스토어 없이 링크로 바로 설치하고, 홈 화면에 추가하면 인터넷이 없어도 열립니다. 저희가 직접 운영하는 서버는 없고, 외부 서비스인 Supabase를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 시각을 보내 봤는데 서버 시각으로 저장됐고, 수정이나 삭제 요청은 거부되는 걸 확인했습니다. 다만 운영자 권한으로는 고칠 수 있어서, 지금 막을 수 있는 건 사용자가 나중에 기록을 고쳐 쓰는 것까지입니다. (멈춤) 다시 말해, 근무 내용은 폰 밖으로 나가지 않고, 서버에는 번호와 시각만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캘린더에서는 예정과 다르게 일한 날이 따로 표시되고, 설정에서는 어떤 정보가 서버로 가는지 확인하고 끌 수도 있습니다. 증빙 묶음 PDF에는 근무 기록, 수정 이력, 계산 근거가 한 문서로 정리됩니다. 그리고 확인 페이지에서는 누구나 확인 번호만 넣으면 등록 시각을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쓰는지 보여 드리겠습니다. 배포된 앱을 직접 눌러 보면서 녹화한 영상입니다. 출근과 퇴근, 받은 금액 입력, 요청 메시지와 증빙 PDF, 마지막으로 확인 페이지 순서로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(영상을 멈출 때마다 한 문장씩. 시간이 모자라면 멈추지 않고 그대로 틉니다)
① 출근과 퇴근을 누르니까 서버에 2건이 등록됐습니다.
② 받은 금액을 넣으면 덜 받은 돈이 빨간 숫자로 나옵니다.
③ 덜 받은 석 달을 합쳐서 사장님께 보낼 메시지를 만들고, 증빙 PDF 7번 표에는 방금 등록한 확인 번호가 들어갑니다.
④ 확인 페이지에 이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칸만 채워졌고, 나머지 두 칸은 11월에 할 일입니다. 그래서 완성도를 평균 80% 정도로 잡았습니다.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그중 67.8%가 30인 미만 사업장에서 나왔는데요, 알바생이 많이 일하는 카페, 편의점, 음식점이 대부분 이 규모입니다. 저희 타깃 규모는 대학 재적생 307만 명 중 알바 경험이 있는 사람으로 어림해서, 많아야 약 210만에서 270만 명으로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가로축은 혼자 쓸 수 있는지, 세로축은 대응까지 가는지를 나타냅니다. 계산기는 계산에서 멈추고, 기그는 사장님이 가입해야 하고, 진정24는 증거가 있어야 시작할 수 있습니다. 혼자 쓰면서 대응까지 가는 칸에는 알바가드만 있습니다. 다만 하우머치가 비교 기능을 넣으면 따라올 수 있기 때문에,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광고도 넣지 않습니다. 사용자가 믿고 써야 하는 화면이기 때문입니다. 1차 수익 가설은 쉬는 틈 게임 화면의 광고입니다. 출퇴근은 일하는 날마다 누르지만 돈을 확인하는 건 급여일 한 번뿐이라서, 그 사이에 앱을 열 이유로 게임을 넣었고, 그 화면을 광고 자리로 보고 있습니다. 2차 후보는 폰을 바꿔도 기록이 남는 동기화와 자동 백업 구독입니다. 반대로 정산 문구나 증빙 문서를 돈 받고 만들어 주면 변호사법이나 공인노무사법 문제가 생길 수 있어서 유료화하지 않습니다. 사용자는 에브리타임, 학과 단톡방, 알바 커뮤니티, 그리고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이렇습니다. 근무 기록을 근거로 한 요청 문구가 있으면, 알바생이 사장님께 말을 꺼낼 수 있다고 느끼고 실제로 쓸 것이다. 이 가설을 11월에 설문 30명과 인터뷰 5명으로, 표에 있는 다섯 가지를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11명이었고, 게임 화면 광고가 싫다는 사람은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마일스톤입니다. 11월 9일까지 인터뷰와 설문 1차 정리를 하고, 11월 23일에는 피드백을 반영해서 다시 배포합니다. 11월 30일까지 실제 폰 검증을 마치고, 12월 7일에 기능을 동결한 뒤로는 보고서와 발표 준비에 집중하겠습니다.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앞으로 각자 맡을 일은 오늘 발표한 부분과 같습니다. 개발은 팀장 이지훈, 시장과 설문, 인터뷰 3명은 손유호, 그리고 인터뷰 2명과 갤럭시 테스트, 일정 관리, 보고서 편집은 제가 맡았습니다.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주려고 만든 앱입니다. 마지막으로 두 가지 조언을 구하고 싶습니다. 문서를 유료화하지 않고도 할 수 있는 수익 모델이 더 있을지, 그리고 설문 30명과 인터뷰 5명이면 검증하기에 충분할지입니다. 이상으로 4조 발표를 마치겠습니다. 들어 주셔서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계획한 기능 8개 모두 동작</a:t>
            </a:r>
            <a:endParaRPr lang="en-US" sz="1500" dirty="0"/>
          </a:p>
          <a:p>
            <a:pPr indent="0" marL="0">
              <a:buNone/>
            </a:pPr>
            <a:r>
              <a:rPr lang="en-US" sz="950" dirty="0">
                <a:solidFill>
                  <a:schemeClr val="accent5"/>
                </a:solidFill>
              </a:rPr>
              <a:t>9월 기획서 4개 → 10/13 정의서 8개로 고정. 완성도 평균 약 80%</a:t>
            </a:r>
            <a:endParaRPr lang="en-US" sz="1500" dirty="0"/>
          </a:p>
        </p:txBody>
      </p:sp>
      <p:sp>
        <p:nvSpPr>
          <p:cNvPr id="5" name="Text 3"/>
          <p:cNvSpPr txBox="1"/>
          <p:nvPr/>
        </p:nvSpPr>
        <p:spPr>
          <a:xfrm>
            <a:off x="4334256" y="1325880"/>
            <a:ext cx="969264" cy="868680"/>
          </a:xfrm>
          <a:prstGeom prst="rect">
            <a:avLst/>
          </a:prstGeom>
          <a:noFill/>
          <a:ln/>
        </p:spPr>
        <p:txBody>
          <a:bodyPr wrap="square" lIns="0" tIns="0" rIns="0" bIns="0" rtlCol="0" anchor="ctr"/>
          <a:lstStyle/>
          <a:p>
            <a:pPr algn="r" indent="0" marL="0">
              <a:buNone/>
            </a:pPr>
            <a:r>
              <a:rPr lang="en-US" sz="1500" b="1" dirty="0">
                <a:solidFill>
                  <a:schemeClr val="tx2"/>
                </a:solidFill>
              </a:rPr>
              <a:t>8 / 8</a:t>
            </a:r>
            <a:endParaRPr lang="en-US" sz="1500" dirty="0"/>
          </a:p>
        </p:txBody>
      </p:sp>
      <p:sp>
        <p:nvSpPr>
          <p:cNvPr id="6" name="Shape 4"/>
          <p:cNvSpPr/>
          <p:nvPr/>
        </p:nvSpPr>
        <p:spPr>
          <a:xfrm>
            <a:off x="457200" y="2194560"/>
            <a:ext cx="4846320" cy="0"/>
          </a:xfrm>
          <a:prstGeom prst="line">
            <a:avLst/>
          </a:prstGeom>
          <a:noFill/>
          <a:ln w="9525">
            <a:solidFill>
              <a:srgbClr val="DCD9D0"/>
            </a:solidFill>
            <a:prstDash val="solid"/>
          </a:ln>
        </p:spPr>
      </p:sp>
      <p:sp>
        <p:nvSpPr>
          <p:cNvPr id="7" name="Text 5"/>
          <p:cNvSpPr txBox="1"/>
          <p:nvPr/>
        </p:nvSpPr>
        <p:spPr>
          <a:xfrm>
            <a:off x="457200" y="219456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사용자 검증</a:t>
            </a:r>
            <a:endParaRPr lang="en-US" sz="1500" dirty="0"/>
          </a:p>
          <a:p>
            <a:pPr indent="0" marL="0">
              <a:buNone/>
            </a:pPr>
            <a:r>
              <a:rPr lang="en-US" sz="950" dirty="0">
                <a:solidFill>
                  <a:schemeClr val="accent5"/>
                </a:solidFill>
              </a:rPr>
              <a:t>링크 설문 30명 · 직접 인터뷰 5명</a:t>
            </a:r>
            <a:endParaRPr lang="en-US" sz="1500" dirty="0"/>
          </a:p>
        </p:txBody>
      </p:sp>
      <p:sp>
        <p:nvSpPr>
          <p:cNvPr id="8" name="Text 6"/>
          <p:cNvSpPr txBox="1"/>
          <p:nvPr/>
        </p:nvSpPr>
        <p:spPr>
          <a:xfrm>
            <a:off x="4334256" y="2194560"/>
            <a:ext cx="969264" cy="868680"/>
          </a:xfrm>
          <a:prstGeom prst="rect">
            <a:avLst/>
          </a:prstGeom>
          <a:noFill/>
          <a:ln/>
        </p:spPr>
        <p:txBody>
          <a:bodyPr wrap="square" lIns="0" tIns="0" rIns="0" bIns="0" rtlCol="0" anchor="ctr"/>
          <a:lstStyle/>
          <a:p>
            <a:pPr algn="r" indent="0" marL="0">
              <a:buNone/>
            </a:pPr>
            <a:r>
              <a:rPr lang="en-US" sz="1500" b="1" dirty="0">
                <a:solidFill>
                  <a:schemeClr val="accent5"/>
                </a:solidFill>
              </a:rPr>
              <a:t>설문 13명</a:t>
            </a:r>
            <a:endParaRPr lang="en-US" sz="1500" dirty="0"/>
          </a:p>
        </p:txBody>
      </p:sp>
      <p:sp>
        <p:nvSpPr>
          <p:cNvPr id="9" name="Shape 7"/>
          <p:cNvSpPr/>
          <p:nvPr/>
        </p:nvSpPr>
        <p:spPr>
          <a:xfrm>
            <a:off x="457200" y="3063240"/>
            <a:ext cx="4846320" cy="0"/>
          </a:xfrm>
          <a:prstGeom prst="line">
            <a:avLst/>
          </a:prstGeom>
          <a:noFill/>
          <a:ln w="9525">
            <a:solidFill>
              <a:srgbClr val="DCD9D0"/>
            </a:solidFill>
            <a:prstDash val="solid"/>
          </a:ln>
        </p:spPr>
      </p:sp>
      <p:pic>
        <p:nvPicPr>
          <p:cNvPr id="10"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1" name="Text 8"/>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2" name="Text 9"/>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3"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14" name="Text 10"/>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15" name="Text 11"/>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16" name="Text 12"/>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뿌리는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011680"/>
                <a:gridCol w="621792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250" b="1" dirty="0">
                          <a:solidFill>
                            <a:srgbClr val="15171A"/>
                          </a:solidFill>
                        </a:rPr>
                        <a:t>프런트엔드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React + Vite, PWA (홈 화면에 추가, 오프라인 실행)</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백엔드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별도 서버 없음 + Supabase REST</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658368">
                <a:tc>
                  <a:txBody>
                    <a:bodyPr/>
                    <a:lstStyle/>
                    <a:p>
                      <a:pPr indent="0" marL="0">
                        <a:buNone/>
                      </a:pPr>
                      <a:r>
                        <a:rPr lang="en-US" sz="1250" b="1" dirty="0">
                          <a:solidFill>
                            <a:srgbClr val="15171A"/>
                          </a:solidFill>
                        </a:rPr>
                        <a:t>데이터베이스</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폰: localStorage(기록) · IndexedDB(사진)</a:t>
                      </a:r>
                      <a:endParaRPr lang="en-US" sz="1250" dirty="0"/>
                    </a:p>
                    <a:p>
                      <a:pPr indent="0" marL="0">
                        <a:buNone/>
                      </a:pPr>
                      <a:r>
                        <a:rPr lang="en-US" sz="1250" dirty="0">
                          <a:solidFill>
                            <a:srgbClr val="15171A"/>
                          </a:solidFill>
                        </a:rPr>
                        <a:t>서버: Supabase PostgreSQL (stamps · survey)</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클라우드 · 인프라</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GitHub Pages + GitHub Actions</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AI</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Claude API (선택, 개발 환경에서만)</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SaaS · 분석</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설문 페이지 + 자동 집계 페이지, 직접 인터뷰</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4754880"/>
                <a:gridCol w="3474720"/>
              </a:tblGrid>
              <a:tr h="384048">
                <a:tc>
                  <a:txBody>
                    <a:bodyPr/>
                    <a:lstStyle/>
                    <a:p>
                      <a:pPr indent="0" marL="0">
                        <a:buNone/>
                      </a:pPr>
                      <a:r>
                        <a:rPr lang="en-US" sz="1100" b="1" dirty="0">
                          <a:solidFill>
                            <a:srgbClr val="5D636D"/>
                          </a:solidFill>
                        </a:rPr>
                        <a:t>11월에 확인할 것 (설문 30명 · 인터뷰 5명)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50" b="1" dirty="0">
                          <a:solidFill>
                            <a:srgbClr val="15171A"/>
                          </a:solidFill>
                        </a:rPr>
                        <a:t>매달 받은 금액을 직접 넣음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11명 "넣겠다"</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요청 문구를 실제로 보낼 수 있음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확인 번호 설명이 이해됨</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타깃 중 주 15시간 이상이 다수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알바 중 2명, 보류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게임 화면 광고를 받아들임</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"싫다" 4명</a:t>
                      </a:r>
                      <a:endParaRPr lang="en-US" sz="1250" dirty="0"/>
                    </a:p>
                    <a:p>
                      <a:pPr indent="0" marL="0">
                        <a:buNone/>
                      </a:pPr>
                      <a:r>
                        <a:rPr lang="en-US" sz="1250" b="1" dirty="0">
                          <a:solidFill>
                            <a:srgbClr val="0F7A55"/>
                          </a:solidFill>
                        </a:rPr>
                        <a:t>안 쓸 기능 1위(6명)</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2026-10-26T21:32:18Z</dcterms:created>
  <dcterms:modified xsi:type="dcterms:W3CDTF">2026-10-26T21:32:18Z</dcterms:modified>
</cp:coreProperties>
</file>