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f8f10614-a158-a4c3-7062-f508589d367e}">
          <p14:sldIdLst>
            <p14:sldId id="256"/>
            <p14:sldId id="257"/>
          </p14:sldIdLst>
        </p14:section>
        <p14:section name="② 문제 정의" id="{3e73563c-ba1d-2ffa-9bc8-dde6809d80e4}">
          <p14:sldIdLst>
            <p14:sldId id="258"/>
            <p14:sldId id="259"/>
          </p14:sldIdLst>
        </p14:section>
        <p14:section name="③ 솔루션·핵심 가치" id="{19936bba-4de2-02f6-e196-f55d81c22102}">
          <p14:sldIdLst>
            <p14:sldId id="260"/>
            <p14:sldId id="261"/>
          </p14:sldIdLst>
        </p14:section>
        <p14:section name="④ SW 기술 아키텍처" id="{cac16083-c029-0b51-34bd-91db307ec12c}">
          <p14:sldIdLst>
            <p14:sldId id="262"/>
            <p14:sldId id="263"/>
          </p14:sldIdLst>
        </p14:section>
        <p14:section name="⑤ 개발 현황·MVP 시연" id="{1bb4fa76-a9e7-237f-a7b2-709826cd1666}">
          <p14:sldIdLst>
            <p14:sldId id="264"/>
            <p14:sldId id="265"/>
            <p14:sldId id="266"/>
            <p14:sldId id="267"/>
          </p14:sldIdLst>
        </p14:section>
        <p14:section name="⑥ 시장 분석·비즈니스 모델" id="{4e8baca3-048b-065b-9eb1-50a6e070432e}">
          <p14:sldIdLst>
            <p14:sldId id="268"/>
            <p14:sldId id="269"/>
            <p14:sldId id="270"/>
          </p14:sldIdLst>
        </p14:section>
        <p14:section name="⑦ 초기 시장 검증" id="{5f21a7b1-0844-fa01-5013-971b2df1901b}">
          <p14:sldIdLst>
            <p14:sldId id="271"/>
          </p14:sldIdLst>
        </p14:section>
        <p14:section name="⑧ 향후 계획·팀 역량" id="{1c181641-982e-d861-a4f4-fcaf785feaba}">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4조 발표를 맡은 팀장 이지훈입니다. 저희가 만든 앱은 알바가드입니다. 화면에 보이는 금액은 저희 앱 예시 데이터에서 두 달 동안 덜 받은 알바비인데요. 통장에 들어온 총액만 봐서는 잘 안 보이는 돈입니다. 알바가드는 이렇게 놓치기 쉬운 돈을 근무 기록으로 찾아 주는 앱입니다. 알바비를 덜 받아도 모르거나, 알아도 말을 꺼내기 어려운 대학생을 위해 기록, 비교, 요청을 한 앱에 담았습니다.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지금 상태부터 말씀드리겠습니다. 계획했던 기능 8개는 모두 동작하는 상태로 배포까지 했고, 완성도는 평균 80% 정도로 보고 있습니다. 설문은 지금까지 13명이 답해 줬고, 앱을 직접 써 보게 하는 인터뷰는 11월에 진행할 예정입니다. 오른쪽 QR을 찍으시면 앱과 설문을 바로 열 수 있습니다. 설문은 이름 없이 3분이면 끝나니까, 발표가 끝나고 한번 답해 주시면 정말 감사하겠습니다. 발표는 저와 손유호, 박명진 세 명이 나눠서 진행하겠습니다.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주목한 문제는 세 가지입니다. 화면의 숫자는 모두 알바천국 설문 결과인데요. 먼저, 얼마를 받아야 하는지부터 어렵습니다. 노동절에 일한 알바생 셋 중 한 명은 수당을 받는지조차 몰랐습니다. 다음은 덜 받아도 잘 모른다는 점입니다. 저희 설문에서도 12명 중 7명이 통장에 들어온 총액만 본다고 했습니다. 마지막으로, 알아도 말을 못 합니다. 최저시급보다 덜 받은 사람 중 절반 가까이가 아무 대응도 하지 않았습니다. 기록이 없으면 "나중에 지어낸 거 아니냐"는 한마디에 할 말이 없어지니까요. (멈춤) 결국 세 문제의 뿌리는 같습니다. 근거가 될 기록이 없다는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기존 서비스들은 어떨까요? 알바생들이 실제로 제일 많이 쓰는 건 앱보다 메모장이나 카톡이라서 맨 앞 열에 같이 넣었습니다. 표를 다 보실 필요는 없고, 가운데 세 줄만 봐 주세요. 실제 받은 돈과 비교하기, 요청 문구와 증빙 만들기, 수정 이력과 등록 시각입니다. 이 세 줄은 알바가드에만 O가 있습니다. 다른 서비스는 대부분 예상 급여 계산에서 멈추거나, 사장님이 가입해야 하거나, 증거가 이미 있어야 시작할 수 있습니다. 진정 접수는 저희가 직접 하지 않고, 1350과 노동포털로 연결만 해 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저희는 기록, 비교, 요청 세 단계를 앱 하나로 이었습니다. 출근과 퇴근은 버튼 하나로 기록하고, 나중에 고치면 무엇을 왜 고쳤는지가 남습니다. 그다음 받았어야 할 돈과 실제로 받은 돈의 차이를 보여 주고, 덜 받았다면 정중한 메시지부터 내용증명 초안, 진정 절차 안내까지 단계별로 도와줍니다. 사장님 연동이나 로그인은 필요 없고, 근무 내용은 내 폰 안에만 저장됩니다.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 차별점은 세 가지입니다. 첫째, 사장님 가입 없이 혼자 쓸 수 있습니다. 둘째, 실제로 받은 돈과 비교해서 요청 문구와 증빙까지 이어집니다. 셋째, 기록할 때마다 확인 번호와 서버 등록 시각이 남습니다. 사유 없이는 기록을 고칠 수 없고, 지워도 흔적이 남고, 고치면 다시 등록됩니다. 이 부분은 다른 앱이 쉽게 따라 하기 어렵다고 생각합니다. (멈춤) 한마디로, 다른 앱은 '얼마 받아야 하나'에서 멈추고, 알바가드는 '덜 받았으면 어떻게 받아내나'까지 갑니다. 물론 한계도 있습니다. 비교 기능 자체는 다른 앱도 충분히 따라올 수 있습니다. 그리고 이 기록이 법적 효력을 보장하지는 않습니다. 통장 내역이나 메시지와 같이 내야 힘이 생기고, 최종 판단은 근로감독관과 법원이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기술 스택입니다. 표에서 기억하실 건 하나입니다. 앱은 폰 안에서 돌아가고, 서버는 꼭 필요한 곳에만 씁니다. 앱은 React와 Vite로 만든 웹앱이라 앱스토어 없이 링크로 바로 설치하고, 홈 화면에 추가하면 인터넷이 없어도 열립니다. 저희가 직접 운영하는 서버는 없고, 외부 서비스인 Supabase를 확인 번호 등록과 설문 수집에만 씁니다. 이렇게 한 이유는 개인정보와 비용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이건 전체 구성도입니다. 계산과 저장은 모두 왼쪽 폰 안에서 끝납니다. 서버로 가는 건 확인 번호와 기록 번호, 무작위 기기 번호뿐이고, 근무지나 시각, 금액은 보내지 않습니다. 등록 시각은 서버가 직접 찍기 때문에 폰 시계를 바꿔도 소용이 없습니다. 실제로 2000년 시각을 보내 봤는데 서버 시각으로 저장됐고, 수정이나 삭제 요청은 거부되는 걸 확인했습니다. 다만 운영자 권한으로는 고칠 수 있어서, 지금 막을 수 있는 건 사용자가 나중에 기록을 고쳐 쓰는 것까지입니다. (멈춤) 다시 말해, 근무 내용은 폰 밖으로 나가지 않고, 서버에는 번호와 시각만 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앱 화면입니다. 캘린더에서는 예정과 다르게 일한 날이 따로 표시되고, 설정에서는 어떤 정보가 서버로 가는지 확인하고 끌 수도 있습니다. 증빙 묶음 PDF에는 근무 기록, 수정 이력, 계산 근거가 한 문서로 정리됩니다. 그리고 확인 페이지에서는 누구나 확인 번호만 넣으면 등록 시각을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실제로 어떻게 쓰는지 보여 드리겠습니다. 배포된 앱을 직접 눌러 보면서 녹화한 영상입니다. 출근과 퇴근, 받은 금액 입력, 요청 메시지와 증빙 PDF, 마지막으로 확인 페이지 순서로 보시겠습니다.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 마지막 장면에 나오는 등록 시각을 잘 봐 주세요. 지금도 서버에 그대로 남아 있는 값입니다.
(영상을 멈출 때마다 한 문장씩. 시간이 모자라면 멈추지 않고 그대로 틉니다)
① 출근과 퇴근을 누르니까 서버에 2건이 등록됐습니다.
② 받은 금액을 넣으면 덜 받은 돈이 빨간 숫자로 나옵니다.
③ 덜 받은 석 달을 합쳐서 사장님께 보낼 메시지를 만들고, 증빙 PDF 7번 표에는 방금 등록한 확인 번호가 들어갑니다.
④ 확인 페이지에 이 번호를 넣으면 서버가 찍은 등록 시각이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방금 보신 기능을 포함해서, 계획한 8개 기능은 모두 동작합니다. 그래도 100%라고 쓰지는 않았습니다. 오른쪽 동그라미 세 칸은 각각 컴퓨터에서 동작, 실제 폰에서 확인, 사용자 검증인데요. 지금은 첫 칸만 채워졌고, 나머지 두 칸은 11월에 할 일입니다. 그래서 완성도를 평균 80% 정도로 잡았습니다. 다음으로 시장과 수익 부분은 손유호 팀원이 이어서 발표하겠습니다.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시장과 수익 부분을 맡은 손유호입니다. 먼저 임금체불 규모를 보면, 2023년 1조 7천억 원대에서 2년 연속 2조 원을 넘었습니다. 그중 67.8%가 30인 미만 사업장에서 나왔는데요, 알바생이 많이 일하는 카페, 편의점, 음식점이 대부분 이 규모입니다. 저희 타깃 규모는 대학 재적생 307만 명 중 알바 경험이 있는 사람으로 어림해서, 많아야 약 210만에서 270만 명으로 봤습니다. 지금 알바 중인 사람이나 주 15시간 이상 일하는 사람은 공식 통계가 없어서 설문으로 확인하고 있습니다. 또 작년 9월 임금체불 근절 대책과 10월 개정 근로기준법으로 체불에 대한 제재도 더 강해졌습니다.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경쟁 서비스들의 위치입니다. 가로축은 혼자 쓸 수 있는지, 세로축은 대응까지 가는지를 나타냅니다. 계산기는 계산에서 멈추고, 기그는 사장님이 가입해야 하고, 진정24는 증거가 있어야 시작할 수 있습니다. 혼자 쓰면서 대응까지 가는 칸에는 알바가드만 있습니다. 다만 하우머치가 비교 기능을 넣으면 따라올 수 있기 때문에, 저희는 따라 하기 어려운 기록 등록 쪽을 더 키우려고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비즈니스 모델입니다. 기록, 비교, 요청, 증빙 같은 핵심 화면은 무료이고, 광고도 넣지 않습니다. 사용자가 믿고 써야 하는 화면이기 때문입니다. 1차 수익 가설은 쉬는 틈 게임 화면의 광고입니다. 출퇴근은 일하는 날마다 누르지만 돈을 확인하는 건 급여일 한 번뿐이라서, 그 사이에 앱을 열 이유로 게임을 넣었고, 그 화면을 광고 자리로 보고 있습니다. 2차 후보는 폰을 바꿔도 기록이 남는 동기화와 자동 백업 구독입니다. 반대로 정산 문구나 증빙 문서를 돈 받고 만들어 주면 변호사법이나 공인노무사법 문제가 생길 수 있어서 유료화하지 않습니다. 사용자는 에브리타임, 학과 단톡방, 알바 커뮤니티, 그리고 짧은 영상으로 모을 계획입니다. 주 15시간 이상 일하는 사람이 얼마나 되는지는 설문으로 확인하고 있고, 그 결과와 검증 계획은 박명진 팀원이 이어서 설명하겠습니다.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검증 부분을 맡은 박명진입니다. 저희 가설은 이렇습니다. 근무 기록을 근거로 한 요청 문구가 있으면, 알바생이 사장님께 말을 꺼낼 수 있다고 느끼고 실제로 쓸 것이다. 이 가설을 11월에 설문 30명과 인터뷰 5명으로, 표에 있는 다섯 가지를 확인하려고 합니다. 기준도 정해 뒀습니다. 예를 들어 인터뷰 5명 중 3명이 실제로 보내겠다고 하면 통과이고, 못 미치면 문구와 단계를 다시 짭니다. 자세한 기준은 보고서에 있습니다. 오른쪽 끝 칸은 10월 26일까지 받은 설문 13명의 중간 결과입니다. 매달 받은 금액을 넣겠다는 사람이 11명이었고, 게임 화면 광고가 싫다는 사람은 4명이었습니다. 다만 아직 지인 위주라 정식 조사라고 보기는 어렵고, 지금 알바 중인 사람이 2명뿐이라 주 15시간 기준은 판단을 미뤘습니다. 저희한테 불리한 결과도 있었습니다. 정산 요청 메시지와 기록 등록을 가장 쓸모 있는 기능으로 고른 사람은 한 명도 없었고, 미니게임은 안 쓸 것 같은 기능 1위였습니다. (멈춤) 정리하면, 비교 기능은 원했지만 요청 기능의 가치는 아직 못 느꼈습니다. 11월 인터뷰에서는 요청 문구와 확인 번호를 직접 보여 주고, 바로 이 부분을 확인하겠습니다.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기말 발표인 12월 15일까지 7주 일정입니다. 빨간 마름모가 주요 마일스톤입니다. 11월 9일까지 인터뷰와 설문 1차 정리를 하고, 11월 23일에는 피드백을 반영해서 다시 배포합니다. 11월 30일까지 실제 폰 검증을 마치고, 12월 7일에 기능을 동결한 뒤로는 보고서와 발표 준비에 집중하겠습니다. 인터뷰는 손유호 팀원이 3명, 제가 2명을 맡고, 갤럭시 폰 검증도 제가 맡았습니다.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팀원별 역할입니다. 앞으로 각자 맡을 일은 오늘 발표한 부분과 같습니다. 개발은 팀장 이지훈, 시장과 설문, 인터뷰 3명은 손유호, 그리고 인터뷰 2명과 갤럭시 테스트, 일정 관리, 보고서 편집은 제가 맡았습니다. 마무리는 이지훈 팀장이 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 (멈춤) 다시 한번 말씀드리면, 다른 앱은 '얼마 받아야 하나'에서 멈추지만, 알바가드는 '덜 받았으면 어떻게 받아내나'까지 갑니다. 알바가드는 처음에 보여 드린 금액처럼, 통장만 봐서는 보이지 않던 돈을 기록으로 찾아 주는 앱입니다. 마지막으로 두 가지 조언을 구하고 싶습니다. 문서를 유료화하지 않고도 할 수 있는 수익 모델이 더 있을지, 그리고 설문 30명과 인터뷰 5명이면 검증하기에 충분할지입니다. 이상으로 4조 발표를 마치겠습니다. 들어 주셔서 감사합니다. 질문 받겠습니다.
예상 질문 (이름 붙은 사람이 먼저 답하고, 모자라면 팀장이 보탭니다. 답은 짧은 메모이니 말할 때는 "~습니다"로)
· [이지훈] 법적 효력 있나? → 보장하지 않는다. 판단은 감독관 · 법원. 우리는 판단할 자료를 정리하고, 수정 이력으로 무엇을 언제 왜 고쳤는지, 확인 번호로 그 번호가 언제 서버에 들어왔는지 보여 준다(내용과 맞춰 보는 방법은 기말까지).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페이지에도 "앱에서 고치거나 지울 수 없음, 운영자 권한으로는 가능"이라고 적어 두었다)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물었더니 13명 중 "안 쓴다"는 0명이었다. 12/7까지는 고치는 기간.
· [박명진] 받은 금액을 매달 직접 넣어야 하는데 넣을까? → 가장 큰 가설이라 검증표 첫 줄. 설문에서는 13명 중 11명이 넣겠다고 했지만 의향이라 인터뷰와 급여일 뒤 실제 입력으로 다시 본다.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지적은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단, 등록 시각으로 언제 기록했는지는 짐작할 수 있다(기기 번호는 무작위라 이름과 이어지지 않음). 무엇이 어디에 얼마나 보관되는지는 개인정보 처리방침 페이지(jihooni217.github.io/albaguard/privacy.html)에 적어 두었다.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설문에서 게임을 안 쓰겠다는 사람이 제일 많던데? → 맞다. 13명 중 6명이 "안 쓸 것 같은 기능"으로 골랐다. 광고 자체를 싫다는 사람은 4명이라 광고 자리는 남지만, 게임을 쓰는 사람이 적으면 광고도 약하다. 그래서 11/23에 설문 결과로 광고 실험과 새 게임 중 하나를 정하고, 게임은 설정에서 숨길 수 있게 해 두었다.
· [이지훈] 기록 등록(확인 번호)을 쓸모 있다고 고른 사람이 없던데 차별점이 맞나? → 설문에서는 0명이었고, 안 쓸 것 같다는 사람도 1명뿐이었다. 덜 받은 상황에서 "나중에 지어낸 것 아니냐"라는 말을 들을 때 쓸모가 생기는 기능이라 아직 와닿지 않는다고 본다. 인터뷰에서 그 상황을 설명하고 반응을 본다(검증표 3행). 반응이 약하면 발표 · 홍보에서 앞세우는 순서를 다시 정한다.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20학번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18학번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 설문 13명 응답, 인터뷰는 11월</a:t>
            </a:r>
            <a:endParaRPr lang="en-US" sz="2400" dirty="0"/>
          </a:p>
        </p:txBody>
      </p:sp>
      <p:sp>
        <p:nvSpPr>
          <p:cNvPr id="4" name="Text 2"/>
          <p:cNvSpPr txBox="1"/>
          <p:nvPr/>
        </p:nvSpPr>
        <p:spPr>
          <a:xfrm>
            <a:off x="457200" y="1325880"/>
            <a:ext cx="3877056" cy="868680"/>
          </a:xfrm>
          <a:prstGeom prst="rect">
            <a:avLst/>
          </a:prstGeom>
          <a:noFill/>
          <a:ln/>
        </p:spPr>
        <p:txBody>
          <a:bodyPr wrap="square" lIns="0" tIns="0" rIns="0" bIns="0" rtlCol="0" anchor="ctr"/>
          <a:lstStyle/>
          <a:p>
            <a:pPr indent="0" marL="0">
              <a:buNone/>
            </a:pPr>
            <a:r>
              <a:rPr lang="en-US" sz="1500" b="1" dirty="0">
                <a:solidFill>
                  <a:schemeClr val="tx1"/>
                </a:solidFill>
              </a:rPr>
              <a:t>계획한 기능 8개 모두 동작</a:t>
            </a:r>
            <a:endParaRPr lang="en-US" sz="1500" dirty="0"/>
          </a:p>
          <a:p>
            <a:pPr indent="0" marL="0">
              <a:buNone/>
            </a:pPr>
            <a:r>
              <a:rPr lang="en-US" sz="950" dirty="0">
                <a:solidFill>
                  <a:schemeClr val="accent5"/>
                </a:solidFill>
              </a:rPr>
              <a:t>9월 기획서 4개 → 10/13 정의서 8개로 고정. 완성도 평균 약 80%</a:t>
            </a:r>
            <a:endParaRPr lang="en-US" sz="1500" dirty="0"/>
          </a:p>
        </p:txBody>
      </p:sp>
      <p:sp>
        <p:nvSpPr>
          <p:cNvPr id="5" name="Text 3"/>
          <p:cNvSpPr txBox="1"/>
          <p:nvPr/>
        </p:nvSpPr>
        <p:spPr>
          <a:xfrm>
            <a:off x="4334256" y="1325880"/>
            <a:ext cx="969264" cy="868680"/>
          </a:xfrm>
          <a:prstGeom prst="rect">
            <a:avLst/>
          </a:prstGeom>
          <a:noFill/>
          <a:ln/>
        </p:spPr>
        <p:txBody>
          <a:bodyPr wrap="square" lIns="0" tIns="0" rIns="0" bIns="0" rtlCol="0" anchor="ctr"/>
          <a:lstStyle/>
          <a:p>
            <a:pPr algn="r" indent="0" marL="0">
              <a:buNone/>
            </a:pPr>
            <a:r>
              <a:rPr lang="en-US" sz="1500" b="1" dirty="0">
                <a:solidFill>
                  <a:schemeClr val="tx2"/>
                </a:solidFill>
              </a:rPr>
              <a:t>8 / 8</a:t>
            </a:r>
            <a:endParaRPr lang="en-US" sz="1500" dirty="0"/>
          </a:p>
        </p:txBody>
      </p:sp>
      <p:sp>
        <p:nvSpPr>
          <p:cNvPr id="6" name="Shape 4"/>
          <p:cNvSpPr/>
          <p:nvPr/>
        </p:nvSpPr>
        <p:spPr>
          <a:xfrm>
            <a:off x="457200" y="2194560"/>
            <a:ext cx="4846320" cy="0"/>
          </a:xfrm>
          <a:prstGeom prst="line">
            <a:avLst/>
          </a:prstGeom>
          <a:noFill/>
          <a:ln w="9525">
            <a:solidFill>
              <a:srgbClr val="DCD9D0"/>
            </a:solidFill>
            <a:prstDash val="solid"/>
          </a:ln>
        </p:spPr>
      </p:sp>
      <p:sp>
        <p:nvSpPr>
          <p:cNvPr id="7" name="Text 5"/>
          <p:cNvSpPr txBox="1"/>
          <p:nvPr/>
        </p:nvSpPr>
        <p:spPr>
          <a:xfrm>
            <a:off x="457200" y="2194560"/>
            <a:ext cx="3877056" cy="868680"/>
          </a:xfrm>
          <a:prstGeom prst="rect">
            <a:avLst/>
          </a:prstGeom>
          <a:noFill/>
          <a:ln/>
        </p:spPr>
        <p:txBody>
          <a:bodyPr wrap="square" lIns="0" tIns="0" rIns="0" bIns="0" rtlCol="0" anchor="ctr"/>
          <a:lstStyle/>
          <a:p>
            <a:pPr indent="0" marL="0">
              <a:buNone/>
            </a:pPr>
            <a:r>
              <a:rPr lang="en-US" sz="1500" b="1" dirty="0">
                <a:solidFill>
                  <a:schemeClr val="tx1"/>
                </a:solidFill>
              </a:rPr>
              <a:t>사용자 검증</a:t>
            </a:r>
            <a:endParaRPr lang="en-US" sz="1500" dirty="0"/>
          </a:p>
          <a:p>
            <a:pPr indent="0" marL="0">
              <a:buNone/>
            </a:pPr>
            <a:r>
              <a:rPr lang="en-US" sz="950" dirty="0">
                <a:solidFill>
                  <a:schemeClr val="accent5"/>
                </a:solidFill>
              </a:rPr>
              <a:t>링크 설문 30명 · 직접 인터뷰 5명</a:t>
            </a:r>
            <a:endParaRPr lang="en-US" sz="1500" dirty="0"/>
          </a:p>
        </p:txBody>
      </p:sp>
      <p:sp>
        <p:nvSpPr>
          <p:cNvPr id="8" name="Text 6"/>
          <p:cNvSpPr txBox="1"/>
          <p:nvPr/>
        </p:nvSpPr>
        <p:spPr>
          <a:xfrm>
            <a:off x="4334256" y="2194560"/>
            <a:ext cx="969264" cy="868680"/>
          </a:xfrm>
          <a:prstGeom prst="rect">
            <a:avLst/>
          </a:prstGeom>
          <a:noFill/>
          <a:ln/>
        </p:spPr>
        <p:txBody>
          <a:bodyPr wrap="square" lIns="0" tIns="0" rIns="0" bIns="0" rtlCol="0" anchor="ctr"/>
          <a:lstStyle/>
          <a:p>
            <a:pPr algn="r" indent="0" marL="0">
              <a:buNone/>
            </a:pPr>
            <a:r>
              <a:rPr lang="en-US" sz="1500" b="1" dirty="0">
                <a:solidFill>
                  <a:schemeClr val="accent5"/>
                </a:solidFill>
              </a:rPr>
              <a:t>설문 13명</a:t>
            </a:r>
            <a:endParaRPr lang="en-US" sz="1500" dirty="0"/>
          </a:p>
        </p:txBody>
      </p:sp>
      <p:sp>
        <p:nvSpPr>
          <p:cNvPr id="9" name="Shape 7"/>
          <p:cNvSpPr/>
          <p:nvPr/>
        </p:nvSpPr>
        <p:spPr>
          <a:xfrm>
            <a:off x="457200" y="3063240"/>
            <a:ext cx="4846320" cy="0"/>
          </a:xfrm>
          <a:prstGeom prst="line">
            <a:avLst/>
          </a:prstGeom>
          <a:noFill/>
          <a:ln w="9525">
            <a:solidFill>
              <a:srgbClr val="DCD9D0"/>
            </a:solidFill>
            <a:prstDash val="solid"/>
          </a:ln>
        </p:spPr>
      </p:sp>
      <p:pic>
        <p:nvPicPr>
          <p:cNvPr id="10"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1" name="Text 8"/>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2" name="Text 9"/>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3"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14" name="Text 10"/>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15" name="Text 11"/>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발표 뒤 답해도 됨</a:t>
            </a:r>
            <a:endParaRPr lang="en-US" sz="900" dirty="0"/>
          </a:p>
        </p:txBody>
      </p:sp>
      <p:sp>
        <p:nvSpPr>
          <p:cNvPr id="16" name="Text 12"/>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세 문제의 뿌리는 하나: 근거가 될 기록이 없음</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a:p>
            <a:pPr indent="0" marL="0">
              <a:buNone/>
            </a:pPr>
            <a:r>
              <a:rPr lang="en-US" sz="850" dirty="0">
                <a:solidFill>
                  <a:schemeClr val="accent5"/>
                </a:solidFill>
              </a:rPr>
              <a:t>우리 설문: 통장 총액만 봄 12명 중 7명</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a:t>
                      </a:r>
                      <a:endParaRPr lang="en-US" sz="950" dirty="0"/>
                    </a:p>
                    <a:p>
                      <a:pPr algn="ctr" indent="0" marL="0">
                        <a:buNone/>
                      </a:pPr>
                      <a:r>
                        <a:rPr lang="en-US" sz="950" b="1" dirty="0">
                          <a:solidFill>
                            <a:srgbClr val="5D636D"/>
                          </a:solidFill>
                        </a:rPr>
                        <a:t>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a:t>
                      </a:r>
                      <a:endParaRPr lang="en-US" sz="950" dirty="0"/>
                    </a:p>
                    <a:p>
                      <a:pPr algn="ctr" indent="0" marL="0">
                        <a:buNone/>
                      </a:pPr>
                      <a:r>
                        <a:rPr lang="en-US" sz="950" b="1" dirty="0">
                          <a:solidFill>
                            <a:srgbClr val="5D636D"/>
                          </a:solidFill>
                        </a:rPr>
                        <a:t>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9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a:t>
            </a:r>
            <a:endParaRPr lang="en-US" sz="1050" dirty="0"/>
          </a:p>
          <a:p>
            <a:pPr indent="0" marL="0">
              <a:buNone/>
            </a:pPr>
            <a:r>
              <a:rPr lang="en-US" sz="1050" dirty="0">
                <a:solidFill>
                  <a:schemeClr val="tx1"/>
                </a:solidFill>
              </a:rPr>
              <a:t>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 진정 안내</a:t>
            </a:r>
            <a:endParaRPr lang="en-US" sz="1050" dirty="0"/>
          </a:p>
          <a:p>
            <a:pPr indent="0" marL="0">
              <a:buNone/>
            </a:pPr>
            <a:r>
              <a:rPr lang="en-US" sz="1050" dirty="0">
                <a:solidFill>
                  <a:schemeClr val="tx1"/>
                </a:solidFill>
              </a:rPr>
              <a:t>1350 · 노동포털 연결.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다른 앱은 계산에서 멈추고, 알바가드는 받아내기까지</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011680"/>
                <a:gridCol w="621792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57200">
                <a:tc>
                  <a:txBody>
                    <a:bodyPr/>
                    <a:lstStyle/>
                    <a:p>
                      <a:pPr indent="0" marL="0">
                        <a:buNone/>
                      </a:pPr>
                      <a:r>
                        <a:rPr lang="en-US" sz="1250" b="1" dirty="0">
                          <a:solidFill>
                            <a:srgbClr val="15171A"/>
                          </a:solidFill>
                        </a:rPr>
                        <a:t>프런트엔드</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React + Vite, PWA (홈 화면에 추가, 오프라인 실행)</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백엔드</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별도 서버 없음 + Supabase REST</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658368">
                <a:tc>
                  <a:txBody>
                    <a:bodyPr/>
                    <a:lstStyle/>
                    <a:p>
                      <a:pPr indent="0" marL="0">
                        <a:buNone/>
                      </a:pPr>
                      <a:r>
                        <a:rPr lang="en-US" sz="1250" b="1" dirty="0">
                          <a:solidFill>
                            <a:srgbClr val="15171A"/>
                          </a:solidFill>
                        </a:rPr>
                        <a:t>데이터베이스</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폰: localStorage(기록) · IndexedDB(사진)</a:t>
                      </a:r>
                      <a:endParaRPr lang="en-US" sz="1250" dirty="0"/>
                    </a:p>
                    <a:p>
                      <a:pPr indent="0" marL="0">
                        <a:buNone/>
                      </a:pPr>
                      <a:r>
                        <a:rPr lang="en-US" sz="1250" dirty="0">
                          <a:solidFill>
                            <a:srgbClr val="15171A"/>
                          </a:solidFill>
                        </a:rPr>
                        <a:t>서버: Supabase PostgreSQL (stamps · survey)</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클라우드 · 인프라</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GitHub Pages + GitHub Actions</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AI</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Claude API (선택, 개발 환경에서만)</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SaaS · 분석</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설문 페이지 + 자동 집계 페이지, 직접 인터뷰</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앱에서 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1005840" cy="274320"/>
          </a:xfrm>
          <a:prstGeom prst="rect">
            <a:avLst/>
          </a:prstGeom>
          <a:noFill/>
          <a:ln/>
        </p:spPr>
        <p:txBody>
          <a:bodyPr wrap="square" lIns="0" tIns="0" rIns="0" bIns="0" rtlCol="0" anchor="ctr"/>
          <a:lstStyle/>
          <a:p>
            <a:pPr indent="0" marL="0">
              <a:buNone/>
            </a:pPr>
            <a:r>
              <a:rPr lang="en-US" sz="900" dirty="0">
                <a:solidFill>
                  <a:schemeClr val="tx2"/>
                </a:solidFill>
              </a:rPr>
              <a:t>등록 시각 조회</a:t>
            </a:r>
            <a:endParaRPr lang="en-US" sz="90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a:t>
            </a:r>
            <a:endParaRPr lang="en-US" sz="900" dirty="0"/>
          </a:p>
          <a:p>
            <a:pPr algn="ctr" indent="0" marL="0">
              <a:buNone/>
            </a:pPr>
            <a:r>
              <a:rPr lang="en-US" sz="900" dirty="0">
                <a:solidFill>
                  <a:schemeClr val="accent5"/>
                </a:solidFill>
              </a:rPr>
              <a:t>(연장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백업</a:t>
            </a:r>
            <a:endParaRPr lang="en-US" sz="900" dirty="0"/>
          </a:p>
          <a:p>
            <a:pPr algn="ctr" indent="0" marL="0">
              <a:buNone/>
            </a:pPr>
            <a:r>
              <a:rPr lang="en-US" sz="900" dirty="0">
                <a:solidFill>
                  <a:schemeClr val="accent5"/>
                </a:solidFill>
              </a:rPr>
              <a:t>무엇이 서버로 가는지</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남음. 예시 데이터는 등록되지 않아 시연 중 남긴 2건만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씀</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a:t>
            </a:r>
            <a:endParaRPr lang="en-US" sz="1200" dirty="0"/>
          </a:p>
          <a:p>
            <a:pPr indent="0" marL="0">
              <a:buNone/>
            </a:pPr>
            <a:r>
              <a:rPr lang="en-US" sz="1200" dirty="0">
                <a:solidFill>
                  <a:schemeClr val="tx1"/>
                </a:solidFill>
              </a:rPr>
              <a:t>기그는 사장이 가입해야,</a:t>
            </a:r>
            <a:endParaRPr lang="en-US" sz="1200" dirty="0"/>
          </a:p>
          <a:p>
            <a:pPr indent="0" marL="0">
              <a:buNone/>
            </a:pPr>
            <a:r>
              <a:rPr lang="en-US" sz="1200" dirty="0">
                <a:solidFill>
                  <a:schemeClr val="tx1"/>
                </a:solidFill>
              </a:rPr>
              <a:t>진정24는 증거가 있어야 시작함</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설문 13명 중간 결과, 11월에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4754880"/>
                <a:gridCol w="3474720"/>
              </a:tblGrid>
              <a:tr h="384048">
                <a:tc>
                  <a:txBody>
                    <a:bodyPr/>
                    <a:lstStyle/>
                    <a:p>
                      <a:pPr indent="0" marL="0">
                        <a:buNone/>
                      </a:pPr>
                      <a:r>
                        <a:rPr lang="en-US" sz="1100" b="1" dirty="0">
                          <a:solidFill>
                            <a:srgbClr val="5D636D"/>
                          </a:solidFill>
                        </a:rPr>
                        <a:t>11월에 확인할 것 (설문 30명 · 인터뷰 5명)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중간 결과 (설문 13명)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250" b="1" dirty="0">
                          <a:solidFill>
                            <a:srgbClr val="15171A"/>
                          </a:solidFill>
                        </a:rPr>
                        <a:t>매달 받은 금액을 직접 넣음</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b="1" dirty="0">
                          <a:solidFill>
                            <a:srgbClr val="0F7A55"/>
                          </a:solidFill>
                        </a:rPr>
                        <a:t>11명 "넣겠다"</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요청 문구를 실제로 보낼 수 있음</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5D636D"/>
                          </a:solidFill>
                        </a:rPr>
                        <a:t>가장 쓸모 0명</a:t>
                      </a:r>
                      <a:endParaRPr lang="en-US" sz="1250" dirty="0"/>
                    </a:p>
                    <a:p>
                      <a:pPr indent="0" marL="0">
                        <a:buNone/>
                      </a:pPr>
                      <a:r>
                        <a:rPr lang="en-US" sz="1250" dirty="0">
                          <a:solidFill>
                            <a:srgbClr val="5D636D"/>
                          </a:solidFill>
                        </a:rPr>
                        <a:t>11월 인터뷰</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확인 번호 설명이 이해됨</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5D636D"/>
                          </a:solidFill>
                        </a:rPr>
                        <a:t>가장 쓸모 0명</a:t>
                      </a:r>
                      <a:endParaRPr lang="en-US" sz="1250" dirty="0"/>
                    </a:p>
                    <a:p>
                      <a:pPr indent="0" marL="0">
                        <a:buNone/>
                      </a:pPr>
                      <a:r>
                        <a:rPr lang="en-US" sz="1250" dirty="0">
                          <a:solidFill>
                            <a:srgbClr val="5D636D"/>
                          </a:solidFill>
                        </a:rPr>
                        <a:t>11월 인터뷰</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타깃 중 주 15시간 이상이 다수</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5D636D"/>
                          </a:solidFill>
                        </a:rPr>
                        <a:t>알바 중 2명, 보류</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게임 화면 광고를 받아들임</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b="1" dirty="0">
                          <a:solidFill>
                            <a:srgbClr val="0F7A55"/>
                          </a:solidFill>
                        </a:rPr>
                        <a:t>"싫다" 4명</a:t>
                      </a:r>
                      <a:endParaRPr lang="en-US" sz="1250" dirty="0"/>
                    </a:p>
                    <a:p>
                      <a:pPr indent="0" marL="0">
                        <a:buNone/>
                      </a:pPr>
                      <a:r>
                        <a:rPr lang="en-US" sz="1250" b="1" dirty="0">
                          <a:solidFill>
                            <a:srgbClr val="0F7A55"/>
                          </a:solidFill>
                        </a:rPr>
                        <a:t>안 쓸 기능 1위(6명)</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50" dirty="0">
                <a:solidFill>
                  <a:schemeClr val="accent5"/>
                </a:solidFill>
              </a:rPr>
              <a:t>10/26 기준 · 지금 알바 중 2 · 예전에 했음 10 · 한 적 없음 1 · 지인 중심이라 정식 조사 아님 · 사람 수로만 표기</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일은 오늘 발표한 장과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 설문 13명 응답</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답하면 기말 발표 때 결과로 공개</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2026-10-26T21:31:55Z</dcterms:created>
  <dcterms:modified xsi:type="dcterms:W3CDTF">2026-10-26T21:31:55Z</dcterms:modified>
</cp:coreProperties>
</file>