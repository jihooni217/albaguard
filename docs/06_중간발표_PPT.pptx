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5955eeed-a447-c033-c81f-daf32dfff014}">
          <p14:sldIdLst>
            <p14:sldId id="256"/>
            <p14:sldId id="257"/>
          </p14:sldIdLst>
        </p14:section>
        <p14:section name="② 문제 정의" id="{88dd142b-455a-2f32-447e-1e1c350cba28}">
          <p14:sldIdLst>
            <p14:sldId id="258"/>
            <p14:sldId id="259"/>
          </p14:sldIdLst>
        </p14:section>
        <p14:section name="③ 솔루션·핵심 가치" id="{c83e071a-c24a-ece9-4c19-540ab59aec14}">
          <p14:sldIdLst>
            <p14:sldId id="260"/>
            <p14:sldId id="261"/>
          </p14:sldIdLst>
        </p14:section>
        <p14:section name="④ SW 기술 아키텍처" id="{ec36771a-579a-aecb-fcd0-af01d0e436c5}">
          <p14:sldIdLst>
            <p14:sldId id="262"/>
            <p14:sldId id="263"/>
          </p14:sldIdLst>
        </p14:section>
        <p14:section name="⑤ 개발 현황·MVP 시연" id="{62138ab6-44ee-8bf4-6a89-a479d5f740d3}">
          <p14:sldIdLst>
            <p14:sldId id="264"/>
            <p14:sldId id="265"/>
            <p14:sldId id="266"/>
            <p14:sldId id="267"/>
          </p14:sldIdLst>
        </p14:section>
        <p14:section name="⑥ 시장 분석·비즈니스 모델" id="{4f7994fd-27ec-5598-c6da-6d20f4f525e2}">
          <p14:sldIdLst>
            <p14:sldId id="268"/>
            <p14:sldId id="269"/>
            <p14:sldId id="270"/>
          </p14:sldIdLst>
        </p14:section>
        <p14:section name="⑦ 초기 시장 검증" id="{0867d18b-0321-d3e3-8fba-ce6fcd20ff2f}">
          <p14:sldIdLst>
            <p14:sldId id="271"/>
          </p14:sldIdLst>
        </p14:section>
        <p14:section name="⑧ 향후 계획·팀 역량" id="{6f47ecbb-d33d-9df0-08c3-71794875e239}">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혹시 지난달 알바비, 정확히 얼마를 받아야 했는지 아시나요? 아마 정확히 아는 분은 많지 않으실 겁니다.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오늘은 문제, 해결 방법, 기술과 시연, 시장과 수익, 검증과 일정 순서로 말씀드리겠습니다.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화면의 큰 숫자 세 개는 알바천국 설문 결과인데요. 먼저, 얼마를 받아야 하는지부터 어렵습니다. 노동절에 일한 알바생 셋 중 한 명은 수당을 받는지조차 몰랐습니다. 다음은 덜 받아도 잘 모른다는 점입니다. 저희 설문에서도 12명 중 7명이 통장에 들어온 총액만 본다고 했습니다. 마지막으로, 알아도 말을 못 합니다. 최저시급보다 덜 받은 사람 중 절반 가까이가 아무 대응도 하지 않았습니다. 기록이 없으면 "나중에 지어낸 거 아니냐"는 한마디에 할 말이 없어지니까요. (멈춤) 결국 세 문제의 원인은 하나입니다. 근거가 될 기록이 없다는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앱보단 메모장이나 카톡이라서 맨 앞 열에 같이 넣었습니다. 표를 다 보실 필요는 없고, 실제 받은 돈과 비교하기, 요청 문구와 증빙 만들기, 수정 이력과 등록 시각, 이 가운데 세 줄만 봐 주시면 됩니다. 이 세 줄은 알바가드에만 O가 있습니다. 다른 서비스는 대부분 예상 급여 계산에서 멈추거나, 사장님이 가입해야 하거나, 증거가 이미 있어야 시작할 수 있습니다. 진정서를 대신 써 주거나 접수하는 건 노무사 같은 전문가가 할 일이라, 저희는 그 앞 단계인 기록, 비교, 요청에 집중하고 진정은 1350과 노동포털로 연결해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연결했습니다. 출근과 퇴근은 버튼 하나로 기록하고, 나중에 그 시각을 고치면 원래 시각과 고친 이유가 함께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사용자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크게 세 가지입니다. 첫 번째로, 기그와 다르게 사장님 가입 없이 혼자 쓸 수 있습니다. 두 번째로, 실제로 받은 돈과 비교해서 요청 문구와 증빙까지 이어집니다. 세 번째로, 기록할 때마다 확인 번호와 서버 등록 시각이 남습니다. 사유 없이는 기록을 고칠 수 없고, 지워도 흔적이 남고, 고치면 다시 등록됩니다. 이 부분은 다른 앱이 쉽게 따라 하기 어렵다고 생각합니다. (멈춤) 한마디로, 다른 앱은 '얼마 받아야 하나'에서 멈추고, 알바가드는 '덜 받았으면 어떻게 받아내나'까지 갑니다. 물론 한계도 있습니다. 비교 기능 자체는 다른 앱도 충분히 따라올 수 있습니다. 그리고 이 기록이 법적 효력을 보장하지는 않습니다. 통장 내역이나 메시지와 같이 내야 설득력이 생기고, 최종적인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앱은 폰 안에서 돌아가고, 서버는 꼭 필요한 곳에만 씁니다. 앱은 React(리액트)와 Vite(비트)로 만든 웹앱이라 앱스토어 없이 링크로 바로 설치하고, 홈 화면에 추가하면 인터넷이 없어도 열립니다. 저희가 직접 운영하는 서버는 없고, 외부 서비스인 Supabase(수파베이스)를 확인 번호 등록과 설문 수집에만 씁니다. 이렇게 한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2000년이라는 가짜 시각을 넣어 보내 봤는데, 서버는 그 시각을 무시하고 받은 순간의 시각으로 저장했습니다. 등록된 기록을 고치거나 지우려고 해도 서버가 막았습니다. 다만 운영자 권한으로는 고칠 수 있어서, 지금 막을 수 있는 건 사용자가 나중에 기록을 고쳐 쓰는 것까지입니다. (멈춤) 다시 말해, 근무 내용은 폰 밖으로 나가지 않고, 서버에는 번호 세 개와 서버가 찍은 등록 시각만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이 중 캘린더는 영상에 나오지 않아서 먼저 말씀드리면, 예정과 다르게 일한 날, 예를 들어 연장이나 대타를 글자로 따로 표시합니다. 나머지 설정, 증빙 묶음 PDF, 확인 페이지는 잠시 뒤 영상에서 실제로 쓰는 모습으로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이어서 보실 영상은 배포된 앱을 직접 눌러 보면서 녹화한 것입니다. 순서는 화면의 네 단계 그대로이고, 영상 안에 단계마다 자막이 있어서 멈추지 않고 그대로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(영상은 멈추지 않고 끝까지 틉니다)
(영상이 끝나면) 이렇게 출근 기록부터 사장님께 보낼 메시지, 확인 페이지까지 앱 하나로 모두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번째 칸인 컴퓨터에서 동작하는 것까지만 확인했고, 나머지 두 칸은 11월에 진행할 예정입니다. 그래서 완성도를 평균 80% 정도로 잡았습니다. 지금까지 문제와 해결 방법, 그리고 실제로 동작하는 모습을 보셨습니다.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작년 체불액만 보면 67.8%가 30인 미만 사업장에서 나왔는데요, 알바생이 많이 일하는 카페, 편의점, 음식점이 대부분 이 규모입니다. 저희 타깃 규모는 대학 재적생 307만 명 중 알바 경험이 있는 사람으로 어림해서, 많아야 210만에서 270만 명 정도로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가로는 사장님 없이 혼자 쓸 수 있는지, 세로는 계산에서 멈추는지 대응까지 가는지입니다. 앞에서 본 서비스들을 이 위에 놓아 보면, 혼자 쓰면서 대응까지 가는 왼쪽 위 칸에는 알바가드만 있습니다. 가장 가까운 건 혼자 기록할 수 있는 하우머치인데, 하우머치가 비교 기능을 넣으면 따라올 수 있습니다. 그래서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앞으로도 광고를 넣지 않습니다. 사용자가 믿고 써야 하는 화면이기 때문입니다. 1차 수익 가설은 쉬는 틈 게임 화면의 광고입니다. 출퇴근 버튼은 일하는 날마다 누르지만, 돈을 확인하는 건 급여일 한 번뿐입니다. 그래서 그 사이에도 앱을 열 이유로, 출퇴근길 같은 쉬는 틈에 가볍게 할 수 있는 게임을 넣었습니다. 이 게임 화면을 광고 자리로 보고 있습니다. 2차 후보는 폰을 바꿔도 기록이 남는 동기화와 자동 백업 구독입니다. 반대로 정산 문구나 증빙 문서를 돈을 받고 만들어 주면 변호사법이나 공인노무사법 문제가 생길 수 있어서 유료화하지 않습니다. 사용자는 에브리타임, 학과 단톡방, 알바 커뮤니티, 그리고 유튜브 쇼츠나 인스타 릴스 같은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이렇습니다. "근무 기록을 근거로 한 요청 문구가 있으면, 알바생이 사장님께 말을 꺼낼 수 있다고 느끼고 실제로 쓸 것이다." 11월에 설문 30명과 인터뷰 5명으로, 이 가설을 표의 다섯 가지로 나눠 확인하려고 합니다. 기준도 정해 뒀습니다. 예를 들어 인터뷰 5명 중 3명이 실제로 보내겠다고 하면 통과이고, 못 미치면 문구와 단계를 다시 짭니다. 자세한 기준은 보고서에 있습니다. 오른쪽 끝 칸은 10월 26일까지 받은 설문 13명의 중간 결과입니다. 매달 받은 금액을 넣겠다는 사람이 13명 중 11명이었고, 게임 화면 광고가 싫다는 사람은 13명 중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(멈춤) 정리하면, 비교 기능은 원했지만 요청 기능의 가치는 아직 못 느꼈습니다. 11월 인터뷰에서는 요청 문구와 확인 번호를 직접 보여 주고, 바로 이 부분을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마일스톤인데, 크게 세 단계로 보시면 됩니다. 11월 초에는 인터뷰와 설문으로 검증하고, 11월 말까지 그 결과를 반영해 다시 배포하면서 실제 폰에서도 확인합니다. 그동안 팀장은 앞에서 말씀드린 기록 등록 보강, 그러니까 기록 내용으로 확인 번호를 다시 맞춰 보는 기능을 만듭니다. 12월 7일부터는 기능을 더 고치지 않고 보고서와 발표 준비에 집중할 예정입니다.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보시는 것처럼 앞으로 맡을 일은 오늘 각자 발표한 부분과 같습니다. 이지훈 팀장은 개발, 손유호 팀원은 시장과 수익, 저는 검증과 일정을 맡습니다. 그럼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(멈춤) 다시 한번 말씀드리면, 다른 앱은 '얼마 받아야 하나'에서 멈추지만, 알바가드는 '덜 받았으면 어떻게 받아내나'까지 갑니다. 처음에 보여 드린 금액처럼, 통장만 봐서는 보이지 않던 돈을 기록으로 찾아 주려고 만든 앱입니다. 화면의 QR로 설문에 답해 주시면, 기말 발표 결과에 큰 도움이 될 것 같습니다. 이상으로 4조 발표를 마치겠습니다. 들어 주셔서 감사합니다. 질문 받겠습니다.
영상 속 장면 (질문이 나오면): ① 출근 · 퇴근 뒤 출근 시각을 고치면서 사유를 쓰자 수정 이력이 남고, 서버에 3건 등록(출근 · 퇴근 · 수정) ② 받은 금액을 넣으니 덜 받은 돈이 빨간 숫자로 ③ 방금 넣은 9월까지 더해 덜 받은 석 달을 합친 메시지, 3단계 진정 안내는 1350 · 노동포털 연결만, 증빙 PDF 7번 표에 방금 등록한 확인 번호 ④ 확인 페이지에 번호를 넣으면 서버가 찍은 등록 시각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타깃 210만~270만 명은 어디서? → 교육부 2026 교육기본통계의 고등교육기관 재적학생 307만 명에 알바 경험 설문 두 개의 비율(동국대 200명 67.5%, 알바몬 대학생 1,193명 88.9%)을 곱한 상한 어림값. 재적생에는 전문대 · 대학원 · 휴학생도 들어 있어 "많아야"로 말함. 실제 타깃인 지금 알바 중이면서 주 15시간 이상인 학생은 공식 통계가 없어 설문으로 확인 중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부족하다고 보시면 인터뷰를 늘린다.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13명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세 문제의 원인은 하나: 근거가 될 기록이 없음</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pic>
        <p:nvPicPr>
          <p:cNvPr id="8" name="기록 화면" descr="C:\Users\user\Desktop\albaguard기술창업\docs\screenshots\phone\1-home.png">    </p:cNvPr>
          <p:cNvPicPr>
            <a:picLocks noChangeAspect="1"/>
          </p:cNvPicPr>
          <p:nvPr/>
        </p:nvPicPr>
        <p:blipFill>
          <a:blip r:embed="rId1"/>
          <a:stretch>
            <a:fillRect/>
          </a:stretch>
        </p:blipFill>
        <p:spPr>
          <a:xfrm>
            <a:off x="1181871" y="2286000"/>
            <a:ext cx="1202419" cy="2414016"/>
          </a:xfrm>
          <a:prstGeom prst="rect">
            <a:avLst/>
          </a:prstGeom>
        </p:spPr>
      </p:pic>
      <p:sp>
        <p:nvSpPr>
          <p:cNvPr id="9" name="Shape 6"/>
          <p:cNvSpPr/>
          <p:nvPr/>
        </p:nvSpPr>
        <p:spPr>
          <a:xfrm>
            <a:off x="3127248" y="1417320"/>
            <a:ext cx="100584" cy="0"/>
          </a:xfrm>
          <a:prstGeom prst="line">
            <a:avLst/>
          </a:prstGeom>
          <a:noFill/>
          <a:ln w="25400">
            <a:solidFill>
              <a:srgbClr val="DCD9D0"/>
            </a:solidFill>
            <a:prstDash val="solid"/>
            <a:tailEnd type="triangle"/>
          </a:ln>
        </p:spPr>
      </p:sp>
      <p:sp>
        <p:nvSpPr>
          <p:cNvPr id="10"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1" name="Text 8"/>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2" name="Text 9"/>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3" name="Text 10"/>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pic>
        <p:nvPicPr>
          <p:cNvPr id="14" name="비교 화면" descr="C:\Users\user\Desktop\albaguard기술창업\docs\screenshots\phone\3-pay.png">    </p:cNvPr>
          <p:cNvPicPr>
            <a:picLocks noChangeAspect="1"/>
          </p:cNvPicPr>
          <p:nvPr/>
        </p:nvPicPr>
        <p:blipFill>
          <a:blip r:embed="rId2"/>
          <a:stretch>
            <a:fillRect/>
          </a:stretch>
        </p:blipFill>
        <p:spPr>
          <a:xfrm>
            <a:off x="3970791" y="2286000"/>
            <a:ext cx="1202419" cy="2414016"/>
          </a:xfrm>
          <a:prstGeom prst="rect">
            <a:avLst/>
          </a:prstGeom>
        </p:spPr>
      </p:pic>
      <p:sp>
        <p:nvSpPr>
          <p:cNvPr id="15" name="Shape 11"/>
          <p:cNvSpPr/>
          <p:nvPr/>
        </p:nvSpPr>
        <p:spPr>
          <a:xfrm>
            <a:off x="5916168" y="1417320"/>
            <a:ext cx="100584" cy="0"/>
          </a:xfrm>
          <a:prstGeom prst="line">
            <a:avLst/>
          </a:prstGeom>
          <a:noFill/>
          <a:ln w="25400">
            <a:solidFill>
              <a:srgbClr val="DCD9D0"/>
            </a:solidFill>
            <a:prstDash val="solid"/>
            <a:tailEnd type="triangle"/>
          </a:ln>
        </p:spPr>
      </p:sp>
      <p:sp>
        <p:nvSpPr>
          <p:cNvPr id="16"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7" name="Text 13"/>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8" name="Text 14"/>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19" name="Text 15"/>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pic>
        <p:nvPicPr>
          <p:cNvPr id="20" name="요청 화면" descr="C:\Users\user\Desktop\albaguard기술창업\docs\screenshots\phone\4-request.png">    </p:cNvPr>
          <p:cNvPicPr>
            <a:picLocks noChangeAspect="1"/>
          </p:cNvPicPr>
          <p:nvPr/>
        </p:nvPicPr>
        <p:blipFill>
          <a:blip r:embed="rId3"/>
          <a:stretch>
            <a:fillRect/>
          </a:stretch>
        </p:blipFill>
        <p:spPr>
          <a:xfrm>
            <a:off x="6759711" y="2286000"/>
            <a:ext cx="1202419" cy="2414016"/>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다른 앱은 계산에서 멈추고, 알바가드는 받아내기까지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2026.10.27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pic>
        <p:nvPicPr>
          <p:cNvPr id="4" name="캘린더" descr="C:\Users\user\Desktop\albaguard기술창업\docs\screenshots\phone\2-calendar.png">    </p:cNvPr>
          <p:cNvPicPr>
            <a:picLocks noChangeAspect="1"/>
          </p:cNvPicPr>
          <p:nvPr/>
        </p:nvPicPr>
        <p:blipFill>
          <a:blip r:embed="rId1"/>
          <a:stretch>
            <a:fillRect/>
          </a:stretch>
        </p:blipFill>
        <p:spPr>
          <a:xfrm>
            <a:off x="339124" y="1143000"/>
            <a:ext cx="1503023" cy="3017520"/>
          </a:xfrm>
          <a:prstGeom prst="rect">
            <a:avLst/>
          </a:prstGeom>
        </p:spPr>
      </p:pic>
      <p:sp>
        <p:nvSpPr>
          <p:cNvPr id="5" name="Text 2"/>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6" name="Text 3"/>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pic>
        <p:nvPicPr>
          <p:cNvPr id="7" name="설정" descr="C:\Users\user\Desktop\albaguard기술창업\docs\screenshots\phone\10-settings.png">    </p:cNvPr>
          <p:cNvPicPr>
            <a:picLocks noChangeAspect="1"/>
          </p:cNvPicPr>
          <p:nvPr/>
        </p:nvPicPr>
        <p:blipFill>
          <a:blip r:embed="rId2"/>
          <a:stretch>
            <a:fillRect/>
          </a:stretch>
        </p:blipFill>
        <p:spPr>
          <a:xfrm>
            <a:off x="2660034" y="1143000"/>
            <a:ext cx="1503023" cy="3017520"/>
          </a:xfrm>
          <a:prstGeom prst="rect">
            <a:avLst/>
          </a:prstGeom>
        </p:spPr>
      </p:pic>
      <p:sp>
        <p:nvSpPr>
          <p:cNvPr id="8" name="Text 4"/>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9" name="Text 5"/>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pic>
        <p:nvPicPr>
          <p:cNvPr id="10" name="증빙 묶음 PDF" descr="C:\Users\user\Desktop\albaguard기술창업\docs\screenshots\phone\8-evidence.png">    </p:cNvPr>
          <p:cNvPicPr>
            <a:picLocks noChangeAspect="1"/>
          </p:cNvPicPr>
          <p:nvPr/>
        </p:nvPicPr>
        <p:blipFill>
          <a:blip r:embed="rId3"/>
          <a:stretch>
            <a:fillRect/>
          </a:stretch>
        </p:blipFill>
        <p:spPr>
          <a:xfrm>
            <a:off x="4980943" y="1143000"/>
            <a:ext cx="1503023" cy="3017520"/>
          </a:xfrm>
          <a:prstGeom prst="rect">
            <a:avLst/>
          </a:prstGeom>
        </p:spPr>
      </p:pic>
      <p:sp>
        <p:nvSpPr>
          <p:cNvPr id="11" name="Text 6"/>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2" name="Text 7"/>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pic>
        <p:nvPicPr>
          <p:cNvPr id="13" name="확인 페이지" descr="C:\Users\user\Desktop\albaguard기술창업\docs\screenshots\phone\9-verify.png">    </p:cNvPr>
          <p:cNvPicPr>
            <a:picLocks noChangeAspect="1"/>
          </p:cNvPicPr>
          <p:nvPr/>
        </p:nvPicPr>
        <p:blipFill>
          <a:blip r:embed="rId4"/>
          <a:stretch>
            <a:fillRect/>
          </a:stretch>
        </p:blipFill>
        <p:spPr>
          <a:xfrm>
            <a:off x="7301852" y="1143000"/>
            <a:ext cx="1503023" cy="3017520"/>
          </a:xfrm>
          <a:prstGeom prst="rect">
            <a:avLst/>
          </a:prstGeom>
        </p:spPr>
      </p:pic>
      <p:sp>
        <p:nvSpPr>
          <p:cNvPr id="14" name="Text 8"/>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5" name="Text 9"/>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배포된 앱을 녹화한 영상</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 사유를 써서 수정 → 설정에서 "3건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기록하거나 고칠 때마다 서버에 확인 번호가 남음. 예시 데이터는 등록되지 않아 시연 중 남긴 3건만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(3개월 합계) → 진정 안내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진정은 1350 · 노동포털로 연결만.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혼자 쓰면서 대응까지 가는 서비스는 알바가드뿐</a:t>
            </a:r>
            <a:endParaRPr lang="en-US" sz="2400" dirty="0"/>
          </a:p>
        </p:txBody>
      </p:sp>
      <p:sp>
        <p:nvSpPr>
          <p:cNvPr id="4" name="포지션 바탕"/>
          <p:cNvSpPr/>
          <p:nvPr/>
        </p:nvSpPr>
        <p:spPr>
          <a:xfrm>
            <a:off x="914400" y="1298448"/>
            <a:ext cx="4846320" cy="3063240"/>
          </a:xfrm>
          <a:prstGeom prst="rect">
            <a:avLst/>
          </a:prstGeom>
          <a:solidFill>
            <a:schemeClr val="bg2"/>
          </a:solidFill>
          <a:ln w="12700">
            <a:solidFill>
              <a:schemeClr val="bg2"/>
            </a:solidFill>
            <a:prstDash val="solid"/>
          </a:ln>
        </p:spPr>
      </p:sp>
      <p:sp>
        <p:nvSpPr>
          <p:cNvPr id="5" name="알바가드 칸"/>
          <p:cNvSpPr/>
          <p:nvPr/>
        </p:nvSpPr>
        <p:spPr>
          <a:xfrm>
            <a:off x="914400" y="1298448"/>
            <a:ext cx="2423160" cy="1531620"/>
          </a:xfrm>
          <a:prstGeom prst="rect">
            <a:avLst/>
          </a:prstGeom>
          <a:solidFill>
            <a:schemeClr val="accent1">
              <a:alpha val="12000"/>
            </a:schemeClr>
          </a:solidFill>
          <a:ln w="12700">
            <a:solidFill>
              <a:schemeClr val="accent1"/>
            </a:solidFill>
            <a:prstDash val="solid"/>
          </a:ln>
        </p:spPr>
      </p:sp>
      <p:sp>
        <p:nvSpPr>
          <p:cNvPr id="6" name="Shape 4"/>
          <p:cNvSpPr/>
          <p:nvPr/>
        </p:nvSpPr>
        <p:spPr>
          <a:xfrm>
            <a:off x="3337560" y="1298448"/>
            <a:ext cx="0" cy="3063240"/>
          </a:xfrm>
          <a:prstGeom prst="line">
            <a:avLst/>
          </a:prstGeom>
          <a:noFill/>
          <a:ln w="12700">
            <a:solidFill>
              <a:srgbClr val="DCD9D0"/>
            </a:solidFill>
            <a:prstDash val="solid"/>
          </a:ln>
        </p:spPr>
      </p:sp>
      <p:sp>
        <p:nvSpPr>
          <p:cNvPr id="7" name="Shape 5"/>
          <p:cNvSpPr/>
          <p:nvPr/>
        </p:nvSpPr>
        <p:spPr>
          <a:xfrm>
            <a:off x="914400" y="2830068"/>
            <a:ext cx="4846320" cy="0"/>
          </a:xfrm>
          <a:prstGeom prst="line">
            <a:avLst/>
          </a:prstGeom>
          <a:noFill/>
          <a:ln w="12700">
            <a:solidFill>
              <a:srgbClr val="DCD9D0"/>
            </a:solidFill>
            <a:prstDash val="solid"/>
          </a:ln>
        </p:spPr>
      </p:sp>
      <p:sp>
        <p:nvSpPr>
          <p:cNvPr id="8" name="Text 6"/>
          <p:cNvSpPr txBox="1"/>
          <p:nvPr/>
        </p:nvSpPr>
        <p:spPr>
          <a:xfrm>
            <a:off x="914400" y="4416552"/>
            <a:ext cx="2194560" cy="256032"/>
          </a:xfrm>
          <a:prstGeom prst="rect">
            <a:avLst/>
          </a:prstGeom>
          <a:noFill/>
          <a:ln/>
        </p:spPr>
        <p:txBody>
          <a:bodyPr wrap="square" lIns="0" tIns="0" rIns="0" bIns="0" rtlCol="0" anchor="ctr"/>
          <a:lstStyle/>
          <a:p>
            <a:pPr indent="0" marL="0">
              <a:buNone/>
            </a:pPr>
            <a:r>
              <a:rPr lang="en-US" sz="1000" b="1" dirty="0">
                <a:solidFill>
                  <a:schemeClr val="accent5"/>
                </a:solidFill>
              </a:rPr>
              <a:t>← 혼자 씀</a:t>
            </a:r>
            <a:endParaRPr lang="en-US" sz="1000" dirty="0"/>
          </a:p>
        </p:txBody>
      </p:sp>
      <p:sp>
        <p:nvSpPr>
          <p:cNvPr id="9" name="Text 7"/>
          <p:cNvSpPr txBox="1"/>
          <p:nvPr/>
        </p:nvSpPr>
        <p:spPr>
          <a:xfrm>
            <a:off x="3383280" y="4416552"/>
            <a:ext cx="2377440" cy="256032"/>
          </a:xfrm>
          <a:prstGeom prst="rect">
            <a:avLst/>
          </a:prstGeom>
          <a:noFill/>
          <a:ln/>
        </p:spPr>
        <p:txBody>
          <a:bodyPr wrap="square" lIns="0" tIns="0" rIns="0" bIns="0" rtlCol="0" anchor="ctr"/>
          <a:lstStyle/>
          <a:p>
            <a:pPr algn="r" indent="0" marL="0">
              <a:buNone/>
            </a:pPr>
            <a:r>
              <a:rPr lang="en-US" sz="1000" b="1" dirty="0">
                <a:solidFill>
                  <a:schemeClr val="accent5"/>
                </a:solidFill>
              </a:rPr>
              <a:t>사장 가입 · 증거가 먼저 →</a:t>
            </a:r>
            <a:endParaRPr lang="en-US" sz="1000" dirty="0"/>
          </a:p>
        </p:txBody>
      </p:sp>
      <p:sp>
        <p:nvSpPr>
          <p:cNvPr id="10" name="Text 8"/>
          <p:cNvSpPr txBox="1"/>
          <p:nvPr/>
        </p:nvSpPr>
        <p:spPr>
          <a:xfrm rot="16200000">
            <a:off x="45720" y="1865376"/>
            <a:ext cx="1463040" cy="274320"/>
          </a:xfrm>
          <a:prstGeom prst="rect">
            <a:avLst/>
          </a:prstGeom>
          <a:noFill/>
          <a:ln/>
        </p:spPr>
        <p:txBody>
          <a:bodyPr wrap="square" lIns="0" tIns="0" rIns="0" bIns="0" rtlCol="0" anchor="ctr"/>
          <a:lstStyle/>
          <a:p>
            <a:pPr algn="ctr" indent="0" marL="0">
              <a:buNone/>
            </a:pPr>
            <a:r>
              <a:rPr lang="en-US" sz="1000" b="1" dirty="0">
                <a:solidFill>
                  <a:schemeClr val="accent5"/>
                </a:solidFill>
              </a:rPr>
              <a:t>대응까지</a:t>
            </a:r>
            <a:endParaRPr lang="en-US" sz="1000" dirty="0"/>
          </a:p>
        </p:txBody>
      </p:sp>
      <p:sp>
        <p:nvSpPr>
          <p:cNvPr id="11" name="Text 9"/>
          <p:cNvSpPr txBox="1"/>
          <p:nvPr/>
        </p:nvSpPr>
        <p:spPr>
          <a:xfrm rot="16200000">
            <a:off x="45720" y="3520440"/>
            <a:ext cx="1463040" cy="274320"/>
          </a:xfrm>
          <a:prstGeom prst="rect">
            <a:avLst/>
          </a:prstGeom>
          <a:noFill/>
          <a:ln/>
        </p:spPr>
        <p:txBody>
          <a:bodyPr wrap="square" lIns="0" tIns="0" rIns="0" bIns="0" rtlCol="0" anchor="ctr"/>
          <a:lstStyle/>
          <a:p>
            <a:pPr algn="ctr" indent="0" marL="0">
              <a:buNone/>
            </a:pPr>
            <a:r>
              <a:rPr lang="en-US" sz="1000" b="1" dirty="0">
                <a:solidFill>
                  <a:schemeClr val="accent5"/>
                </a:solidFill>
              </a:rPr>
              <a:t>계산까지</a:t>
            </a:r>
            <a:endParaRPr lang="en-US" sz="1000" dirty="0"/>
          </a:p>
        </p:txBody>
      </p:sp>
      <p:sp>
        <p:nvSpPr>
          <p:cNvPr id="12" name="알바가드 칩"/>
          <p:cNvSpPr/>
          <p:nvPr/>
        </p:nvSpPr>
        <p:spPr>
          <a:xfrm>
            <a:off x="1234440" y="1682496"/>
            <a:ext cx="1783080" cy="585216"/>
          </a:xfrm>
          <a:prstGeom prst="roundRect">
            <a:avLst>
              <a:gd name="adj" fmla="val 12500"/>
            </a:avLst>
          </a:prstGeom>
          <a:solidFill>
            <a:schemeClr val="accent1"/>
          </a:solidFill>
          <a:ln w="12700">
            <a:solidFill>
              <a:schemeClr val="accent1"/>
            </a:solidFill>
            <a:prstDash val="solid"/>
          </a:ln>
        </p:spPr>
      </p:sp>
      <p:sp>
        <p:nvSpPr>
          <p:cNvPr id="13" name="Text 11"/>
          <p:cNvSpPr txBox="1"/>
          <p:nvPr/>
        </p:nvSpPr>
        <p:spPr>
          <a:xfrm>
            <a:off x="1307592" y="1682496"/>
            <a:ext cx="1636776" cy="585216"/>
          </a:xfrm>
          <a:prstGeom prst="rect">
            <a:avLst/>
          </a:prstGeom>
          <a:noFill/>
          <a:ln/>
        </p:spPr>
        <p:txBody>
          <a:bodyPr wrap="square" lIns="0" tIns="0" rIns="0" bIns="0" rtlCol="0" anchor="ctr"/>
          <a:lstStyle/>
          <a:p>
            <a:pPr algn="ctr" indent="0" marL="0">
              <a:buNone/>
            </a:pPr>
            <a:r>
              <a:rPr lang="en-US" sz="1200" b="1" dirty="0">
                <a:solidFill>
                  <a:schemeClr val="bg1"/>
                </a:solidFill>
              </a:rPr>
              <a:t>알바가드</a:t>
            </a:r>
            <a:endParaRPr lang="en-US" sz="1200" dirty="0"/>
          </a:p>
          <a:p>
            <a:pPr algn="ctr" indent="0" marL="0">
              <a:buNone/>
            </a:pPr>
            <a:r>
              <a:rPr lang="en-US" sz="900" dirty="0">
                <a:solidFill>
                  <a:schemeClr val="bg2"/>
                </a:solidFill>
              </a:rPr>
              <a:t>기록 → 비교 → 요청 → 증빙</a:t>
            </a:r>
            <a:endParaRPr lang="en-US" sz="1200" dirty="0"/>
          </a:p>
        </p:txBody>
      </p:sp>
      <p:sp>
        <p:nvSpPr>
          <p:cNvPr id="14" name="진정24 · 노동포털 칩"/>
          <p:cNvSpPr/>
          <p:nvPr/>
        </p:nvSpPr>
        <p:spPr>
          <a:xfrm>
            <a:off x="3703320" y="1682496"/>
            <a:ext cx="1737360" cy="585216"/>
          </a:xfrm>
          <a:prstGeom prst="roundRect">
            <a:avLst>
              <a:gd name="adj" fmla="val 12500"/>
            </a:avLst>
          </a:prstGeom>
          <a:solidFill>
            <a:schemeClr val="bg1"/>
          </a:solidFill>
          <a:ln w="12700">
            <a:solidFill>
              <a:srgbClr val="DCD9D0"/>
            </a:solidFill>
            <a:prstDash val="solid"/>
          </a:ln>
        </p:spPr>
      </p:sp>
      <p:sp>
        <p:nvSpPr>
          <p:cNvPr id="15" name="Text 13"/>
          <p:cNvSpPr txBox="1"/>
          <p:nvPr/>
        </p:nvSpPr>
        <p:spPr>
          <a:xfrm>
            <a:off x="3776472" y="1682496"/>
            <a:ext cx="1591056" cy="585216"/>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900" dirty="0">
                <a:solidFill>
                  <a:schemeClr val="accent5"/>
                </a:solidFill>
              </a:rPr>
              <a:t>증거가 있어야 시작</a:t>
            </a:r>
            <a:endParaRPr lang="en-US" sz="1050" dirty="0"/>
          </a:p>
        </p:txBody>
      </p:sp>
      <p:sp>
        <p:nvSpPr>
          <p:cNvPr id="16" name="하우머치 칩"/>
          <p:cNvSpPr/>
          <p:nvPr/>
        </p:nvSpPr>
        <p:spPr>
          <a:xfrm>
            <a:off x="1234440" y="2990088"/>
            <a:ext cx="1783080" cy="585216"/>
          </a:xfrm>
          <a:prstGeom prst="roundRect">
            <a:avLst>
              <a:gd name="adj" fmla="val 12500"/>
            </a:avLst>
          </a:prstGeom>
          <a:solidFill>
            <a:schemeClr val="bg1"/>
          </a:solidFill>
          <a:ln w="12700">
            <a:solidFill>
              <a:srgbClr val="DCD9D0"/>
            </a:solidFill>
            <a:prstDash val="solid"/>
          </a:ln>
        </p:spPr>
      </p:sp>
      <p:sp>
        <p:nvSpPr>
          <p:cNvPr id="17" name="Text 15"/>
          <p:cNvSpPr txBox="1"/>
          <p:nvPr/>
        </p:nvSpPr>
        <p:spPr>
          <a:xfrm>
            <a:off x="1307592" y="2990088"/>
            <a:ext cx="1636776" cy="585216"/>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900" dirty="0">
                <a:solidFill>
                  <a:schemeClr val="accent5"/>
                </a:solidFill>
              </a:rPr>
              <a:t>혼자 기록, 예상 급여까지</a:t>
            </a:r>
            <a:endParaRPr lang="en-US" sz="1050" dirty="0"/>
          </a:p>
        </p:txBody>
      </p:sp>
      <p:sp>
        <p:nvSpPr>
          <p:cNvPr id="18" name="기그 칩"/>
          <p:cNvSpPr/>
          <p:nvPr/>
        </p:nvSpPr>
        <p:spPr>
          <a:xfrm>
            <a:off x="3703320" y="3310128"/>
            <a:ext cx="1737360" cy="585216"/>
          </a:xfrm>
          <a:prstGeom prst="roundRect">
            <a:avLst>
              <a:gd name="adj" fmla="val 12500"/>
            </a:avLst>
          </a:prstGeom>
          <a:solidFill>
            <a:schemeClr val="bg1"/>
          </a:solidFill>
          <a:ln w="12700">
            <a:solidFill>
              <a:srgbClr val="DCD9D0"/>
            </a:solidFill>
            <a:prstDash val="solid"/>
          </a:ln>
        </p:spPr>
      </p:sp>
      <p:sp>
        <p:nvSpPr>
          <p:cNvPr id="19" name="Text 17"/>
          <p:cNvSpPr txBox="1"/>
          <p:nvPr/>
        </p:nvSpPr>
        <p:spPr>
          <a:xfrm>
            <a:off x="3776472" y="3310128"/>
            <a:ext cx="1591056" cy="585216"/>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900" dirty="0">
                <a:solidFill>
                  <a:schemeClr val="accent5"/>
                </a:solidFill>
              </a:rPr>
              <a:t>사장 연동 필요</a:t>
            </a:r>
            <a:endParaRPr lang="en-US" sz="1050" dirty="0"/>
          </a:p>
        </p:txBody>
      </p:sp>
      <p:sp>
        <p:nvSpPr>
          <p:cNvPr id="20" name="알바천국 · 알바몬 계산기 칩"/>
          <p:cNvSpPr/>
          <p:nvPr/>
        </p:nvSpPr>
        <p:spPr>
          <a:xfrm>
            <a:off x="1188720" y="3657600"/>
            <a:ext cx="1874520" cy="585216"/>
          </a:xfrm>
          <a:prstGeom prst="roundRect">
            <a:avLst>
              <a:gd name="adj" fmla="val 12500"/>
            </a:avLst>
          </a:prstGeom>
          <a:solidFill>
            <a:schemeClr val="bg1"/>
          </a:solidFill>
          <a:ln w="12700">
            <a:solidFill>
              <a:srgbClr val="DCD9D0"/>
            </a:solidFill>
            <a:prstDash val="solid"/>
          </a:ln>
        </p:spPr>
      </p:sp>
      <p:sp>
        <p:nvSpPr>
          <p:cNvPr id="21" name="Text 19"/>
          <p:cNvSpPr txBox="1"/>
          <p:nvPr/>
        </p:nvSpPr>
        <p:spPr>
          <a:xfrm>
            <a:off x="1261872" y="3657600"/>
            <a:ext cx="1728216" cy="585216"/>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900" dirty="0">
                <a:solidFill>
                  <a:schemeClr val="accent5"/>
                </a:solidFill>
              </a:rPr>
              <a:t>일회성 계산, 기록 없음</a:t>
            </a:r>
            <a:endParaRPr lang="en-US" sz="1050" dirty="0"/>
          </a:p>
        </p:txBody>
      </p:sp>
      <p:sp>
        <p:nvSpPr>
          <p:cNvPr id="22" name="따라올 길"/>
          <p:cNvSpPr/>
          <p:nvPr/>
        </p:nvSpPr>
        <p:spPr>
          <a:xfrm flipV="1">
            <a:off x="2121408" y="2304288"/>
            <a:ext cx="0" cy="658368"/>
          </a:xfrm>
          <a:prstGeom prst="line">
            <a:avLst/>
          </a:prstGeom>
          <a:noFill/>
          <a:ln w="19050">
            <a:solidFill>
              <a:srgbClr val="0F7A55"/>
            </a:solidFill>
            <a:prstDash val="dash"/>
            <a:tailEnd type="triangle"/>
          </a:ln>
        </p:spPr>
      </p:sp>
      <p:sp>
        <p:nvSpPr>
          <p:cNvPr id="23" name="Text 21"/>
          <p:cNvSpPr txBox="1"/>
          <p:nvPr/>
        </p:nvSpPr>
        <p:spPr>
          <a:xfrm>
            <a:off x="2212848" y="2468880"/>
            <a:ext cx="1188720" cy="274320"/>
          </a:xfrm>
          <a:prstGeom prst="rect">
            <a:avLst/>
          </a:prstGeom>
          <a:noFill/>
          <a:ln/>
        </p:spPr>
        <p:txBody>
          <a:bodyPr wrap="square" lIns="0" tIns="0" rIns="0" bIns="0" rtlCol="0" anchor="ctr"/>
          <a:lstStyle/>
          <a:p>
            <a:pPr indent="0" marL="0">
              <a:buNone/>
            </a:pPr>
            <a:r>
              <a:rPr lang="en-US" sz="900" b="1" dirty="0">
                <a:solidFill>
                  <a:schemeClr val="accent2"/>
                </a:solidFill>
              </a:rPr>
              <a:t>비교 기능을 넣으면?</a:t>
            </a:r>
            <a:endParaRPr lang="en-US" sz="900" dirty="0"/>
          </a:p>
        </p:txBody>
      </p:sp>
      <p:sp>
        <p:nvSpPr>
          <p:cNvPr id="24" name="Text 22"/>
          <p:cNvSpPr txBox="1"/>
          <p:nvPr/>
        </p:nvSpPr>
        <p:spPr>
          <a:xfrm>
            <a:off x="6263640" y="1325880"/>
            <a:ext cx="2560320" cy="274320"/>
          </a:xfrm>
          <a:prstGeom prst="rect">
            <a:avLst/>
          </a:prstGeom>
          <a:noFill/>
          <a:ln/>
        </p:spPr>
        <p:txBody>
          <a:bodyPr wrap="square" lIns="0" tIns="0" rIns="0" bIns="0" rtlCol="0" anchor="ctr"/>
          <a:lstStyle/>
          <a:p>
            <a:pPr indent="0" marL="0">
              <a:buNone/>
            </a:pPr>
            <a:r>
              <a:rPr lang="en-US" sz="1000" b="1" dirty="0">
                <a:solidFill>
                  <a:schemeClr val="accent5"/>
                </a:solidFill>
              </a:rPr>
              <a:t>가장 가까운 경쟁자</a:t>
            </a:r>
            <a:endParaRPr lang="en-US" sz="1000" dirty="0"/>
          </a:p>
        </p:txBody>
      </p:sp>
      <p:sp>
        <p:nvSpPr>
          <p:cNvPr id="25" name="Text 23"/>
          <p:cNvSpPr txBox="1"/>
          <p:nvPr/>
        </p:nvSpPr>
        <p:spPr>
          <a:xfrm>
            <a:off x="6263640" y="1600200"/>
            <a:ext cx="2560320" cy="457200"/>
          </a:xfrm>
          <a:prstGeom prst="rect">
            <a:avLst/>
          </a:prstGeom>
          <a:noFill/>
          <a:ln/>
        </p:spPr>
        <p:txBody>
          <a:bodyPr wrap="square" lIns="0" tIns="0" rIns="0" bIns="0" rtlCol="0" anchor="ctr"/>
          <a:lstStyle/>
          <a:p>
            <a:pPr indent="0" marL="0">
              <a:buNone/>
            </a:pPr>
            <a:r>
              <a:rPr lang="en-US" sz="2000" b="1" dirty="0">
                <a:solidFill>
                  <a:schemeClr val="tx1"/>
                </a:solidFill>
              </a:rPr>
              <a:t>하우머치</a:t>
            </a:r>
            <a:endParaRPr lang="en-US" sz="2000" dirty="0"/>
          </a:p>
        </p:txBody>
      </p:sp>
      <p:sp>
        <p:nvSpPr>
          <p:cNvPr id="26" name="Shape 24"/>
          <p:cNvSpPr/>
          <p:nvPr/>
        </p:nvSpPr>
        <p:spPr>
          <a:xfrm>
            <a:off x="6263640" y="2148840"/>
            <a:ext cx="2468880" cy="0"/>
          </a:xfrm>
          <a:prstGeom prst="line">
            <a:avLst/>
          </a:prstGeom>
          <a:noFill/>
          <a:ln w="12700">
            <a:solidFill>
              <a:srgbClr val="DCD9D0"/>
            </a:solidFill>
            <a:prstDash val="solid"/>
          </a:ln>
        </p:spPr>
      </p:sp>
      <p:sp>
        <p:nvSpPr>
          <p:cNvPr id="27" name="Text 25"/>
          <p:cNvSpPr txBox="1"/>
          <p:nvPr/>
        </p:nvSpPr>
        <p:spPr>
          <a:xfrm>
            <a:off x="6263640" y="2240280"/>
            <a:ext cx="2514600" cy="914400"/>
          </a:xfrm>
          <a:prstGeom prst="rect">
            <a:avLst/>
          </a:prstGeom>
          <a:noFill/>
          <a:ln/>
        </p:spPr>
        <p:txBody>
          <a:bodyPr wrap="square" lIns="0" tIns="0" rIns="0" bIns="0" rtlCol="0" anchor="t"/>
          <a:lstStyle/>
          <a:p>
            <a:pPr indent="0" marL="0">
              <a:spcAft>
                <a:spcPts val="600"/>
              </a:spcAft>
              <a:buNone/>
            </a:pPr>
            <a:r>
              <a:rPr lang="en-US" sz="1100" dirty="0">
                <a:solidFill>
                  <a:schemeClr val="tx1"/>
                </a:solidFill>
              </a:rPr>
              <a:t>혼자 기록하고 예상 급여까지 보여 줌</a:t>
            </a:r>
            <a:endParaRPr lang="en-US" sz="1100" dirty="0"/>
          </a:p>
          <a:p>
            <a:pPr indent="0" marL="0">
              <a:spcAft>
                <a:spcPts val="600"/>
              </a:spcAft>
              <a:buNone/>
            </a:pPr>
            <a:r>
              <a:rPr lang="en-US" sz="1100" dirty="0">
                <a:solidFill>
                  <a:schemeClr val="tx1"/>
                </a:solidFill>
              </a:rPr>
              <a:t>실제 받은 돈 비교 칸만 넣으면</a:t>
            </a:r>
            <a:endParaRPr lang="en-US" sz="1100" dirty="0"/>
          </a:p>
          <a:p>
            <a:pPr indent="0" marL="0">
              <a:spcAft>
                <a:spcPts val="600"/>
              </a:spcAft>
              <a:buNone/>
            </a:pPr>
            <a:r>
              <a:rPr lang="en-US" sz="1100" dirty="0">
                <a:solidFill>
                  <a:schemeClr val="tx1"/>
                </a:solidFill>
              </a:rPr>
              <a:t>따라올 수 있음</a:t>
            </a:r>
            <a:endParaRPr lang="en-US" sz="1100" dirty="0"/>
          </a:p>
        </p:txBody>
      </p:sp>
      <p:sp>
        <p:nvSpPr>
          <p:cNvPr id="28" name="Shape 26"/>
          <p:cNvSpPr/>
          <p:nvPr/>
        </p:nvSpPr>
        <p:spPr>
          <a:xfrm>
            <a:off x="6263640" y="3246120"/>
            <a:ext cx="54864" cy="731520"/>
          </a:xfrm>
          <a:prstGeom prst="rect">
            <a:avLst/>
          </a:prstGeom>
          <a:solidFill>
            <a:schemeClr val="accent1"/>
          </a:solidFill>
          <a:ln w="12700">
            <a:solidFill>
              <a:schemeClr val="accent1"/>
            </a:solidFill>
            <a:prstDash val="solid"/>
          </a:ln>
        </p:spPr>
      </p:sp>
      <p:sp>
        <p:nvSpPr>
          <p:cNvPr id="29" name="Text 27"/>
          <p:cNvSpPr txBox="1"/>
          <p:nvPr/>
        </p:nvSpPr>
        <p:spPr>
          <a:xfrm>
            <a:off x="6428232" y="3246120"/>
            <a:ext cx="2377440" cy="822960"/>
          </a:xfrm>
          <a:prstGeom prst="rect">
            <a:avLst/>
          </a:prstGeom>
          <a:noFill/>
          <a:ln/>
        </p:spPr>
        <p:txBody>
          <a:bodyPr wrap="square" lIns="0" tIns="0" rIns="0" bIns="0" rtlCol="0" anchor="t"/>
          <a:lstStyle/>
          <a:p>
            <a:pPr indent="0" marL="0">
              <a:buNone/>
            </a:pPr>
            <a:r>
              <a:rPr lang="en-US" sz="1100" b="1" dirty="0">
                <a:solidFill>
                  <a:schemeClr val="accent1"/>
                </a:solidFill>
              </a:rPr>
              <a:t>그래서 키우는 것</a:t>
            </a:r>
            <a:endParaRPr lang="en-US" sz="1100" dirty="0"/>
          </a:p>
          <a:p>
            <a:pPr indent="0" marL="0">
              <a:buNone/>
            </a:pPr>
            <a:r>
              <a:rPr lang="en-US" sz="1100" dirty="0">
                <a:solidFill>
                  <a:schemeClr val="tx1"/>
                </a:solidFill>
              </a:rPr>
              <a:t>따라 하기 어려운 기록 등록</a:t>
            </a:r>
            <a:endParaRPr lang="en-US" sz="1100" dirty="0"/>
          </a:p>
          <a:p>
            <a:pPr indent="0" marL="0">
              <a:buNone/>
            </a:pPr>
            <a:r>
              <a:rPr lang="en-US" sz="1100" dirty="0">
                <a:solidFill>
                  <a:schemeClr val="tx1"/>
                </a:solidFill>
              </a:rPr>
              <a:t>(확인 번호 · 등록 시각)</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쇼츠 · 릴스(짧은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11명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p>
                      <a:pPr indent="0" marL="0">
                        <a:buNone/>
                      </a:pPr>
                      <a:r>
                        <a:rPr lang="en-US" sz="1100" b="1" dirty="0">
                          <a:solidFill>
                            <a:srgbClr val="0F7A55"/>
                          </a:solidFill>
                        </a:rPr>
                        <a:t>안 쓸 기능 1위(6명)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앞으로 맡을 일은 오늘 각자 발표한 부분과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289ad066f1632c51</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설문에 답해 주시면 기말 발표에 큰 도움이 됩니다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2026-10-27T00:41:28Z</dcterms:created>
  <dcterms:modified xsi:type="dcterms:W3CDTF">2026-10-27T00:41:28Z</dcterms:modified>
</cp:coreProperties>
</file>