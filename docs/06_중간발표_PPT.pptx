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4e54b565-5026-c946-c09d-7dcaf1952f8a}">
          <p14:sldIdLst>
            <p14:sldId id="256"/>
            <p14:sldId id="257"/>
          </p14:sldIdLst>
        </p14:section>
        <p14:section name="② 문제 정의" id="{3393b3af-61c6-ef93-9ca3-ea0b1a7685d0}">
          <p14:sldIdLst>
            <p14:sldId id="258"/>
            <p14:sldId id="259"/>
          </p14:sldIdLst>
        </p14:section>
        <p14:section name="③ 솔루션·핵심 가치" id="{eef788fa-9fd3-aa0e-c183-f6797f303e15}">
          <p14:sldIdLst>
            <p14:sldId id="260"/>
            <p14:sldId id="261"/>
          </p14:sldIdLst>
        </p14:section>
        <p14:section name="④ SW 기술 아키텍처" id="{ad20dae2-33b7-2c5c-4a7d-57c8f6ff1cba}">
          <p14:sldIdLst>
            <p14:sldId id="262"/>
            <p14:sldId id="263"/>
          </p14:sldIdLst>
        </p14:section>
        <p14:section name="⑤ 개발 현황·MVP 시연" id="{1173df3b-38fb-d172-600e-fc425580e4e3}">
          <p14:sldIdLst>
            <p14:sldId id="264"/>
            <p14:sldId id="265"/>
            <p14:sldId id="266"/>
          </p14:sldIdLst>
        </p14:section>
        <p14:section name="⑥ 시장 분석·비즈니스 모델" id="{e7d62880-2083-a186-f2c5-3353c0fd3c83}">
          <p14:sldIdLst>
            <p14:sldId id="267"/>
            <p14:sldId id="268"/>
            <p14:sldId id="269"/>
          </p14:sldIdLst>
        </p14:section>
        <p14:section name="⑦ 초기 시장 검증" id="{98966700-ef8c-4223-14d3-9a4a61de660f}">
          <p14:sldIdLst>
            <p14:sldId id="270"/>
          </p14:sldIdLst>
        </p14:section>
        <p14:section name="⑧ 향후 계획·팀 역량" id="{2e933a45-2a85-780b-1adb-81b53fbed138}">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"다들 아직 구현 안 했을 것"이라 하셨는데, 저희는 배포까지 했습니다. 다만 사용자 검증은 아직이라 11월에 합니다. 오른쪽 QR은 앱과 설문입니다. 설문은 이름을 받지 않고 3분이라, 들으시면서 답해 주셔도 됩니다. 역할은 솔직하게: 지금까지는 제가 만들었고, 오늘부터 팀원이 시장과 검증을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9장에 70%).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전날 할 일: Supabase 대시보드에서 프로젝트 상태를 확인하고(잠들어 있으면 Restore. 무료 요금제는 일주일 요청이 없으면 멈추고 앱 요청으로는 깨어나지 않음) 앱에서 출근 · 퇴근을 눌러 설정 탭에 "2건 등록됨"이 뜨는지, 확인 페이지가 열리는지 끝까지 본다. 인터넷이 안 되면 캡처 · 짧은 녹화로 대신한다.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 운영 비용은 지금 0원이라 수익이 0이어도 서비스는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제가 11/3~11/9에 합니다.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솔직하게: 지금까지는 팀장이 만들었고, 오늘부터 셋이 나눠 맡습니다.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지금까지는 이지훈이 개발. 오늘부터 시장 · 설문(손유호), 인터뷰 · 검증 · 일정(박명진).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앱은 배포돼 있습니다. 오늘은 돌아가는 것을 보여 드립니다</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지금까지 기획 · 개발 · 배포는 팀장이</a:t>
            </a:r>
            <a:endParaRPr lang="en-US" sz="1300" dirty="0"/>
          </a:p>
          <a:p>
            <a:pPr indent="0" marL="0">
              <a:buNone/>
            </a:pPr>
            <a:r>
              <a:rPr lang="en-US" sz="950" dirty="0">
                <a:solidFill>
                  <a:schemeClr val="accent5"/>
                </a:solidFill>
              </a:rPr>
              <a:t>10/27부터 시장 · 수익(손유호), 검증 · 일정(박명진)을 나눠 맡는다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셋이 나눔</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"얼마 받아야 하나"까지는 있다. "어떻게 받아내나"는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050" b="1" dirty="0">
                <a:solidFill>
                  <a:schemeClr val="tx2"/>
                </a:solidFill>
              </a:rPr>
              <a:t>빈자리  </a:t>
            </a:r>
            <a:pPr indent="0" marL="0">
              <a:buNone/>
            </a:pPr>
            <a:r>
              <a:rPr lang="en-US" sz="1050" dirty="0">
                <a:solidFill>
                  <a:schemeClr val="tx1"/>
                </a:solidFill>
              </a:rPr>
              <a:t>신고 창구가 없어서 덮이는 게 아니다. 말을 꺼낼 근거와 시점이 없어서 덮인다. 알바가드는 그 앞 단계를 채운다. 마지막 줄의 X는 일부러 비웠다  (각 앱 공식 소개 · 리뷰, 2026.9 기준)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셋, 그리고 먼저 인정하는 약점 하나</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000" dirty="0">
                <a:solidFill>
                  <a:schemeClr val="accent5"/>
                </a:solidFill>
              </a:rPr>
              <a:t>근무지만 직접 등록. 기그처럼 사장이 가입할 필요가 없다</a:t>
            </a:r>
            <a:endParaRPr lang="en-US" sz="10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000" dirty="0">
                <a:solidFill>
                  <a:schemeClr val="accent5"/>
                </a:solidFill>
              </a:rPr>
              <a:t>실제 받은 돈과 비교해 차액을 찾고, 요청 문구와 증빙 묶음까지 잇는다. 비교한 네 서비스 모두 없는 부분</a:t>
            </a:r>
            <a:endParaRPr lang="en-US" sz="10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000" dirty="0">
                <a:solidFill>
                  <a:schemeClr val="accent5"/>
                </a:solidFill>
              </a:rPr>
              <a:t>기록할 때마다 기록 내용으로 만든 확인 번호가 서버에 남고, 누구나 확인 페이지에서 그 번호의 서버 등록 시각을 볼 수 있다. 내용에서 번호를 다시 계산해 맞춰 보는 방법은 기말까지 만든다. 근무지 · 시각 · 금액은 서버로 가지 않고, "그날 실제로 일했다"까지는 증명하지 못한다</a:t>
            </a:r>
            <a:endParaRPr lang="en-US" sz="10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먼저 인정하는 약점</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서버 없이 시작하고, 서버는 "확인 번호"에만 쓴다</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000" b="1" dirty="0">
                <a:solidFill>
                  <a:schemeClr val="tx1"/>
                </a:solidFill>
              </a:rPr>
              <a:t>화면 (React)</a:t>
            </a:r>
            <a:endParaRPr lang="en-US" sz="1000" dirty="0"/>
          </a:p>
          <a:p>
            <a:pPr algn="ctr" indent="0" marL="0">
              <a:buNone/>
            </a:pPr>
            <a:r>
              <a:rPr lang="en-US" sz="900" dirty="0">
                <a:solidFill>
                  <a:schemeClr val="accent5"/>
                </a:solidFill>
              </a:rPr>
              <a:t>근무 기록 · 캘린더 · 급여 비교 · 정산 요청 · 설정</a:t>
            </a:r>
            <a:endParaRPr lang="en-US" sz="10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000" b="1" dirty="0">
                <a:solidFill>
                  <a:schemeClr val="tx1"/>
                </a:solidFill>
              </a:rPr>
              <a:t>계산 모듈</a:t>
            </a:r>
            <a:endParaRPr lang="en-US" sz="1000" dirty="0"/>
          </a:p>
          <a:p>
            <a:pPr algn="ctr" indent="0" marL="0">
              <a:buNone/>
            </a:pPr>
            <a:r>
              <a:rPr lang="en-US" sz="900" dirty="0">
                <a:solidFill>
                  <a:schemeClr val="accent5"/>
                </a:solidFill>
              </a:rPr>
              <a:t>급여(주휴 · 야간) · 예정 vs 실제 · 요청 문구 · PDF · 확인 번호(SHA-256)</a:t>
            </a:r>
            <a:endParaRPr lang="en-US" sz="10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000" b="1" dirty="0">
                <a:solidFill>
                  <a:schemeClr val="tx1"/>
                </a:solidFill>
              </a:rPr>
              <a:t>저장</a:t>
            </a:r>
            <a:endParaRPr lang="en-US" sz="1000" dirty="0"/>
          </a:p>
          <a:p>
            <a:pPr algn="ctr" indent="0" marL="0">
              <a:buNone/>
            </a:pPr>
            <a:r>
              <a:rPr lang="en-US" sz="900" dirty="0">
                <a:solidFill>
                  <a:schemeClr val="accent5"/>
                </a:solidFill>
              </a:rPr>
              <a:t>localStorage(기록 · 수정 이력) · IndexedDB(증빙 사진)</a:t>
            </a:r>
            <a:endParaRPr lang="en-US" sz="10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828800"/>
            <a:ext cx="1417320" cy="475488"/>
          </a:xfrm>
          <a:prstGeom prst="rect">
            <a:avLst/>
          </a:prstGeom>
          <a:noFill/>
          <a:ln/>
        </p:spPr>
        <p:txBody>
          <a:bodyPr wrap="square" lIns="0" tIns="0" rIns="0" bIns="0" rtlCol="0" anchor="b"/>
          <a:lstStyle/>
          <a:p>
            <a:pPr algn="ctr" indent="0" marL="0">
              <a:buNone/>
            </a:pPr>
            <a:r>
              <a:rPr lang="en-US" sz="850" b="1" dirty="0">
                <a:solidFill>
                  <a:schemeClr val="tx2"/>
                </a:solidFill>
              </a:rPr>
              <a:t>확인 번호 · 기록 번호</a:t>
            </a:r>
            <a:endParaRPr lang="en-US" sz="850" dirty="0"/>
          </a:p>
          <a:p>
            <a:pPr algn="ctr" indent="0" marL="0">
              <a:buNone/>
            </a:pPr>
            <a:r>
              <a:rPr lang="en-US" sz="850" b="1" dirty="0">
                <a:solidFill>
                  <a:schemeClr val="tx2"/>
                </a:solidFill>
              </a:rPr>
              <a:t>· 무작위 기기 번호</a:t>
            </a:r>
            <a:endParaRPr lang="en-US" sz="850" dirty="0"/>
          </a:p>
        </p:txBody>
      </p:sp>
      <p:sp>
        <p:nvSpPr>
          <p:cNvPr id="17" name="Text 15"/>
          <p:cNvSpPr txBox="1"/>
          <p:nvPr/>
        </p:nvSpPr>
        <p:spPr>
          <a:xfrm>
            <a:off x="3611880" y="2377440"/>
            <a:ext cx="1417320" cy="457200"/>
          </a:xfrm>
          <a:prstGeom prst="rect">
            <a:avLst/>
          </a:prstGeom>
          <a:noFill/>
          <a:ln/>
        </p:spPr>
        <p:txBody>
          <a:bodyPr wrap="square" lIns="0" tIns="0" rIns="0" bIns="0" rtlCol="0" anchor="t"/>
          <a:lstStyle/>
          <a:p>
            <a:pPr algn="ctr" indent="0" marL="0">
              <a:buNone/>
            </a:pPr>
            <a:r>
              <a:rPr lang="en-US" sz="850" dirty="0">
                <a:solidFill>
                  <a:schemeClr val="accent3"/>
                </a:solidFill>
              </a:rPr>
              <a:t>근무지 · 시각 · 금액은</a:t>
            </a:r>
            <a:endParaRPr lang="en-US" sz="850" dirty="0"/>
          </a:p>
          <a:p>
            <a:pPr algn="ctr" indent="0" marL="0">
              <a:buNone/>
            </a:pPr>
            <a:r>
              <a:rPr lang="en-US" sz="850" dirty="0">
                <a:solidFill>
                  <a:schemeClr val="accent3"/>
                </a:solidFill>
              </a:rPr>
              <a:t>가지 않음</a:t>
            </a:r>
            <a:endParaRPr lang="en-US" sz="8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050" b="1" dirty="0">
                <a:solidFill>
                  <a:schemeClr val="tx2"/>
                </a:solidFill>
              </a:rPr>
              <a:t>Supabase</a:t>
            </a:r>
            <a:endParaRPr lang="en-US" sz="1050" dirty="0"/>
          </a:p>
          <a:p>
            <a:pPr indent="0" marL="0">
              <a:spcAft>
                <a:spcPts val="200"/>
              </a:spcAft>
              <a:buNone/>
            </a:pPr>
            <a:r>
              <a:rPr lang="en-US" sz="1050" b="1" dirty="0">
                <a:solidFill>
                  <a:schemeClr val="tx1"/>
                </a:solidFill>
              </a:rPr>
              <a:t>stamps 표</a:t>
            </a:r>
            <a:endParaRPr lang="en-US" sz="1050" dirty="0"/>
          </a:p>
          <a:p>
            <a:pPr indent="0" marL="0">
              <a:spcAft>
                <a:spcPts val="200"/>
              </a:spcAft>
              <a:buNone/>
            </a:pPr>
            <a:r>
              <a:rPr lang="en-US" sz="900" dirty="0">
                <a:solidFill>
                  <a:schemeClr val="accent5"/>
                </a:solidFill>
              </a:rPr>
              <a:t>확인 번호 · 기록 번호 · 무작위 기기 번호 · 서버 등록 시각</a:t>
            </a:r>
            <a:endParaRPr lang="en-US" sz="1050" dirty="0"/>
          </a:p>
          <a:p>
            <a:pPr indent="0" marL="0">
              <a:spcAft>
                <a:spcPts val="200"/>
              </a:spcAft>
              <a:buNone/>
            </a:pPr>
            <a:r>
              <a:rPr lang="en-US" sz="900" dirty="0">
                <a:solidFill>
                  <a:schemeClr val="accent5"/>
                </a:solidFill>
              </a:rPr>
              <a:t>공개 키로는 넣기 · 읽기만(RLS). 시각은 트리거가 서버 시각으로 강제</a:t>
            </a:r>
            <a:endParaRPr lang="en-US" sz="1050" dirty="0"/>
          </a:p>
          <a:p>
            <a:pPr indent="0" marL="0">
              <a:spcAft>
                <a:spcPts val="200"/>
              </a:spcAft>
              <a:buNone/>
            </a:pPr>
            <a:r>
              <a:rPr lang="en-US" sz="850" b="1" dirty="0">
                <a:solidFill>
                  <a:schemeClr val="accent2"/>
                </a:solidFill>
              </a:rPr>
              <a:t>확인함: 2000년 시각을 보내도 서버 시각으로 저장 · 수정 · 삭제 요청은 거부(401)</a:t>
            </a:r>
            <a:endParaRPr lang="en-US" sz="10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050" b="1" dirty="0">
                <a:solidFill>
                  <a:schemeClr val="tx2"/>
                </a:solidFill>
              </a:rPr>
              <a:t>확인 페이지 (verify.html)</a:t>
            </a:r>
            <a:endParaRPr lang="en-US" sz="1050" dirty="0"/>
          </a:p>
          <a:p>
            <a:pPr indent="0" marL="0">
              <a:buNone/>
            </a:pPr>
            <a:r>
              <a:rPr lang="en-US" sz="900" dirty="0">
                <a:solidFill>
                  <a:schemeClr val="accent5"/>
                </a:solidFill>
              </a:rPr>
              <a:t>누구나 확인 번호 → 서버 등록 시각. 앱 데이터 없이 동작</a:t>
            </a:r>
            <a:endParaRPr lang="en-US" sz="105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27632"/>
            <a:ext cx="219456" cy="219456"/>
          </a:xfrm>
          <a:prstGeom prst="ellipse">
            <a:avLst/>
          </a:prstGeom>
          <a:solidFill>
            <a:schemeClr val="accent1"/>
          </a:solidFill>
          <a:ln w="12700">
            <a:solidFill>
              <a:schemeClr val="accent1"/>
            </a:solidFill>
            <a:prstDash val="solid"/>
          </a:ln>
        </p:spPr>
      </p:sp>
      <p:sp>
        <p:nvSpPr>
          <p:cNvPr id="26" name="Text 24"/>
          <p:cNvSpPr txBox="1"/>
          <p:nvPr/>
        </p:nvSpPr>
        <p:spPr>
          <a:xfrm>
            <a:off x="7223760" y="1627632"/>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1</a:t>
            </a:r>
            <a:endParaRPr lang="en-US" sz="850" dirty="0"/>
          </a:p>
        </p:txBody>
      </p:sp>
      <p:sp>
        <p:nvSpPr>
          <p:cNvPr id="27" name="Text 25"/>
          <p:cNvSpPr txBox="1"/>
          <p:nvPr/>
        </p:nvSpPr>
        <p:spPr>
          <a:xfrm>
            <a:off x="7498080" y="1572768"/>
            <a:ext cx="1280160" cy="548640"/>
          </a:xfrm>
          <a:prstGeom prst="rect">
            <a:avLst/>
          </a:prstGeom>
          <a:noFill/>
          <a:ln/>
        </p:spPr>
        <p:txBody>
          <a:bodyPr wrap="square" lIns="0" tIns="0" rIns="0" bIns="0" rtlCol="0" anchor="t"/>
          <a:lstStyle/>
          <a:p>
            <a:pPr indent="0" marL="0">
              <a:buNone/>
            </a:pPr>
            <a:r>
              <a:rPr lang="en-US" sz="850" dirty="0">
                <a:solidFill>
                  <a:schemeClr val="tx1"/>
                </a:solidFill>
              </a:rPr>
              <a:t>출근 버튼: 기록 번호를 만들고 출근 시각 기록의 확인 번호 등록</a:t>
            </a:r>
            <a:endParaRPr lang="en-US" sz="850" dirty="0"/>
          </a:p>
        </p:txBody>
      </p:sp>
      <p:sp>
        <p:nvSpPr>
          <p:cNvPr id="28" name="번호 2"/>
          <p:cNvSpPr/>
          <p:nvPr/>
        </p:nvSpPr>
        <p:spPr>
          <a:xfrm>
            <a:off x="7223760" y="2194560"/>
            <a:ext cx="219456" cy="219456"/>
          </a:xfrm>
          <a:prstGeom prst="ellipse">
            <a:avLst/>
          </a:prstGeom>
          <a:solidFill>
            <a:schemeClr val="accent1"/>
          </a:solidFill>
          <a:ln w="12700">
            <a:solidFill>
              <a:schemeClr val="accent1"/>
            </a:solidFill>
            <a:prstDash val="solid"/>
          </a:ln>
        </p:spPr>
      </p:sp>
      <p:sp>
        <p:nvSpPr>
          <p:cNvPr id="29" name="Text 27"/>
          <p:cNvSpPr txBox="1"/>
          <p:nvPr/>
        </p:nvSpPr>
        <p:spPr>
          <a:xfrm>
            <a:off x="7223760" y="2194560"/>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2</a:t>
            </a:r>
            <a:endParaRPr lang="en-US" sz="850" dirty="0"/>
          </a:p>
        </p:txBody>
      </p:sp>
      <p:sp>
        <p:nvSpPr>
          <p:cNvPr id="30" name="Text 28"/>
          <p:cNvSpPr txBox="1"/>
          <p:nvPr/>
        </p:nvSpPr>
        <p:spPr>
          <a:xfrm>
            <a:off x="7498080" y="2139696"/>
            <a:ext cx="1280160" cy="548640"/>
          </a:xfrm>
          <a:prstGeom prst="rect">
            <a:avLst/>
          </a:prstGeom>
          <a:noFill/>
          <a:ln/>
        </p:spPr>
        <p:txBody>
          <a:bodyPr wrap="square" lIns="0" tIns="0" rIns="0" bIns="0" rtlCol="0" anchor="t"/>
          <a:lstStyle/>
          <a:p>
            <a:pPr indent="0" marL="0">
              <a:buNone/>
            </a:pPr>
            <a:r>
              <a:rPr lang="en-US" sz="850" dirty="0">
                <a:solidFill>
                  <a:schemeClr val="tx1"/>
                </a:solidFill>
              </a:rPr>
              <a:t>퇴근 버튼: 완성된 기록의 확인 번호 등록</a:t>
            </a:r>
            <a:endParaRPr lang="en-US" sz="850" dirty="0"/>
          </a:p>
        </p:txBody>
      </p:sp>
      <p:sp>
        <p:nvSpPr>
          <p:cNvPr id="31" name="번호 3"/>
          <p:cNvSpPr/>
          <p:nvPr/>
        </p:nvSpPr>
        <p:spPr>
          <a:xfrm>
            <a:off x="7223760" y="2761488"/>
            <a:ext cx="219456" cy="219456"/>
          </a:xfrm>
          <a:prstGeom prst="ellipse">
            <a:avLst/>
          </a:prstGeom>
          <a:solidFill>
            <a:schemeClr val="accent1"/>
          </a:solidFill>
          <a:ln w="12700">
            <a:solidFill>
              <a:schemeClr val="accent1"/>
            </a:solidFill>
            <a:prstDash val="solid"/>
          </a:ln>
        </p:spPr>
      </p:sp>
      <p:sp>
        <p:nvSpPr>
          <p:cNvPr id="32" name="Text 30"/>
          <p:cNvSpPr txBox="1"/>
          <p:nvPr/>
        </p:nvSpPr>
        <p:spPr>
          <a:xfrm>
            <a:off x="7223760" y="2761488"/>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3</a:t>
            </a:r>
            <a:endParaRPr lang="en-US" sz="850" dirty="0"/>
          </a:p>
        </p:txBody>
      </p:sp>
      <p:sp>
        <p:nvSpPr>
          <p:cNvPr id="33" name="Text 31"/>
          <p:cNvSpPr txBox="1"/>
          <p:nvPr/>
        </p:nvSpPr>
        <p:spPr>
          <a:xfrm>
            <a:off x="7498080" y="2706624"/>
            <a:ext cx="1280160" cy="548640"/>
          </a:xfrm>
          <a:prstGeom prst="rect">
            <a:avLst/>
          </a:prstGeom>
          <a:noFill/>
          <a:ln/>
        </p:spPr>
        <p:txBody>
          <a:bodyPr wrap="square" lIns="0" tIns="0" rIns="0" bIns="0" rtlCol="0" anchor="t"/>
          <a:lstStyle/>
          <a:p>
            <a:pPr indent="0" marL="0">
              <a:buNone/>
            </a:pPr>
            <a:r>
              <a:rPr lang="en-US" sz="850" dirty="0">
                <a:solidFill>
                  <a:schemeClr val="tx1"/>
                </a:solidFill>
              </a:rPr>
              <a:t>수정 · 삭제: 수정 이력이 붙은 새 내용으로 다시 등록 (줄이 늘어남)</a:t>
            </a:r>
            <a:endParaRPr lang="en-US" sz="850" dirty="0"/>
          </a:p>
        </p:txBody>
      </p:sp>
      <p:sp>
        <p:nvSpPr>
          <p:cNvPr id="34" name="번호 4"/>
          <p:cNvSpPr/>
          <p:nvPr/>
        </p:nvSpPr>
        <p:spPr>
          <a:xfrm>
            <a:off x="7223760" y="3328416"/>
            <a:ext cx="219456" cy="219456"/>
          </a:xfrm>
          <a:prstGeom prst="ellipse">
            <a:avLst/>
          </a:prstGeom>
          <a:solidFill>
            <a:schemeClr val="accent1"/>
          </a:solidFill>
          <a:ln w="12700">
            <a:solidFill>
              <a:schemeClr val="accent1"/>
            </a:solidFill>
            <a:prstDash val="solid"/>
          </a:ln>
        </p:spPr>
      </p:sp>
      <p:sp>
        <p:nvSpPr>
          <p:cNvPr id="35" name="Text 33"/>
          <p:cNvSpPr txBox="1"/>
          <p:nvPr/>
        </p:nvSpPr>
        <p:spPr>
          <a:xfrm>
            <a:off x="7223760" y="3328416"/>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4</a:t>
            </a:r>
            <a:endParaRPr lang="en-US" sz="850" dirty="0"/>
          </a:p>
        </p:txBody>
      </p:sp>
      <p:sp>
        <p:nvSpPr>
          <p:cNvPr id="36" name="Text 34"/>
          <p:cNvSpPr txBox="1"/>
          <p:nvPr/>
        </p:nvSpPr>
        <p:spPr>
          <a:xfrm>
            <a:off x="7498080" y="3273552"/>
            <a:ext cx="1280160" cy="548640"/>
          </a:xfrm>
          <a:prstGeom prst="rect">
            <a:avLst/>
          </a:prstGeom>
          <a:noFill/>
          <a:ln/>
        </p:spPr>
        <p:txBody>
          <a:bodyPr wrap="square" lIns="0" tIns="0" rIns="0" bIns="0" rtlCol="0" anchor="t"/>
          <a:lstStyle/>
          <a:p>
            <a:pPr indent="0" marL="0">
              <a:buNone/>
            </a:pPr>
            <a:r>
              <a:rPr lang="en-US" sz="850" dirty="0">
                <a:solidFill>
                  <a:schemeClr val="tx1"/>
                </a:solidFill>
              </a:rPr>
              <a:t>인터넷이 없으면 대기열에 두었다가 연결되면 전송</a:t>
            </a:r>
            <a:endParaRPr lang="en-US" sz="850" dirty="0"/>
          </a:p>
        </p:txBody>
      </p:sp>
      <p:sp>
        <p:nvSpPr>
          <p:cNvPr id="37" name="번호 5"/>
          <p:cNvSpPr/>
          <p:nvPr/>
        </p:nvSpPr>
        <p:spPr>
          <a:xfrm>
            <a:off x="7223760" y="3895344"/>
            <a:ext cx="219456" cy="219456"/>
          </a:xfrm>
          <a:prstGeom prst="ellipse">
            <a:avLst/>
          </a:prstGeom>
          <a:solidFill>
            <a:schemeClr val="accent1"/>
          </a:solidFill>
          <a:ln w="12700">
            <a:solidFill>
              <a:schemeClr val="accent1"/>
            </a:solidFill>
            <a:prstDash val="solid"/>
          </a:ln>
        </p:spPr>
      </p:sp>
      <p:sp>
        <p:nvSpPr>
          <p:cNvPr id="38" name="Text 36"/>
          <p:cNvSpPr txBox="1"/>
          <p:nvPr/>
        </p:nvSpPr>
        <p:spPr>
          <a:xfrm>
            <a:off x="7223760" y="3895344"/>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5</a:t>
            </a:r>
            <a:endParaRPr lang="en-US" sz="850" dirty="0"/>
          </a:p>
        </p:txBody>
      </p:sp>
      <p:sp>
        <p:nvSpPr>
          <p:cNvPr id="39" name="Text 37"/>
          <p:cNvSpPr txBox="1"/>
          <p:nvPr/>
        </p:nvSpPr>
        <p:spPr>
          <a:xfrm>
            <a:off x="7498080" y="3840480"/>
            <a:ext cx="1280160" cy="548640"/>
          </a:xfrm>
          <a:prstGeom prst="rect">
            <a:avLst/>
          </a:prstGeom>
          <a:noFill/>
          <a:ln/>
        </p:spPr>
        <p:txBody>
          <a:bodyPr wrap="square" lIns="0" tIns="0" rIns="0" bIns="0" rtlCol="0" anchor="t"/>
          <a:lstStyle/>
          <a:p>
            <a:pPr indent="0" marL="0">
              <a:buNone/>
            </a:pPr>
            <a:r>
              <a:rPr lang="en-US" sz="850" dirty="0">
                <a:solidFill>
                  <a:schemeClr val="tx1"/>
                </a:solidFill>
              </a:rPr>
              <a:t>증빙 묶음 PDF 7번 표에 기록별 확인 번호 · 등록 시각</a:t>
            </a:r>
            <a:endParaRPr lang="en-US" sz="850" dirty="0"/>
          </a:p>
        </p:txBody>
      </p:sp>
      <p:sp>
        <p:nvSpPr>
          <p:cNvPr id="40" name="Text 38"/>
          <p:cNvSpPr txBox="1"/>
          <p:nvPr/>
        </p:nvSpPr>
        <p:spPr>
          <a:xfrm>
            <a:off x="457200" y="4498848"/>
            <a:ext cx="8229600" cy="256032"/>
          </a:xfrm>
          <a:prstGeom prst="rect">
            <a:avLst/>
          </a:prstGeom>
          <a:noFill/>
          <a:ln/>
        </p:spPr>
        <p:txBody>
          <a:bodyPr wrap="square" lIns="0" tIns="0" rIns="0" bIns="0" rtlCol="0" anchor="t"/>
          <a:lstStyle/>
          <a:p>
            <a:pPr indent="0" marL="0">
              <a:buNone/>
            </a:pPr>
            <a:r>
              <a:rPr lang="en-US" sz="900" dirty="0">
                <a:solidFill>
                  <a:schemeClr val="accent5"/>
                </a:solidFill>
              </a:rPr>
              <a:t>배포: GitHub main → Actions → Pages (링크 하나로 설치)  ·  설문: survey.html → Supabase survey 표(넣기 · 읽기만) → 결과 페이지 자동 집계</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보여 드리는 것 (약 3분, 실제 배포된 앱으로)</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예시 데이터는 발표 전에 넣어 둔다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85216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동작</a:t>
            </a:r>
            <a:endParaRPr lang="en-US" sz="750" dirty="0"/>
          </a:p>
        </p:txBody>
      </p:sp>
      <p:sp>
        <p:nvSpPr>
          <p:cNvPr id="5" name="Text 3"/>
          <p:cNvSpPr txBox="1"/>
          <p:nvPr/>
        </p:nvSpPr>
        <p:spPr>
          <a:xfrm>
            <a:off x="612648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폰</a:t>
            </a:r>
            <a:endParaRPr lang="en-US" sz="750" dirty="0"/>
          </a:p>
        </p:txBody>
      </p:sp>
      <p:sp>
        <p:nvSpPr>
          <p:cNvPr id="6" name="Text 4"/>
          <p:cNvSpPr txBox="1"/>
          <p:nvPr/>
        </p:nvSpPr>
        <p:spPr>
          <a:xfrm>
            <a:off x="640080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사용자</a:t>
            </a:r>
            <a:endParaRPr lang="en-US" sz="750" dirty="0"/>
          </a:p>
        </p:txBody>
      </p:sp>
      <p:sp>
        <p:nvSpPr>
          <p:cNvPr id="7" name="Text 5"/>
          <p:cNvSpPr txBox="1"/>
          <p:nvPr/>
        </p:nvSpPr>
        <p:spPr>
          <a:xfrm>
            <a:off x="6903720" y="987552"/>
            <a:ext cx="1783080" cy="228600"/>
          </a:xfrm>
          <a:prstGeom prst="rect">
            <a:avLst/>
          </a:prstGeom>
          <a:noFill/>
          <a:ln/>
        </p:spPr>
        <p:txBody>
          <a:bodyPr wrap="square" lIns="0" tIns="0" rIns="0" bIns="0" rtlCol="0" anchor="ctr"/>
          <a:lstStyle/>
          <a:p>
            <a:pPr indent="0" marL="0">
              <a:buNone/>
            </a:pPr>
            <a:r>
              <a:rPr lang="en-US" sz="750" b="1" dirty="0">
                <a:solidFill>
                  <a:schemeClr val="accent5"/>
                </a:solidFill>
              </a:rPr>
              <a:t>남은 일</a:t>
            </a:r>
            <a:endParaRPr lang="en-US" sz="750" dirty="0"/>
          </a:p>
        </p:txBody>
      </p:sp>
      <p:sp>
        <p:nvSpPr>
          <p:cNvPr id="8" name="Text 6"/>
          <p:cNvSpPr txBox="1"/>
          <p:nvPr/>
        </p:nvSpPr>
        <p:spPr>
          <a:xfrm>
            <a:off x="457200" y="1261872"/>
            <a:ext cx="3611880" cy="384048"/>
          </a:xfrm>
          <a:prstGeom prst="rect">
            <a:avLst/>
          </a:prstGeom>
          <a:noFill/>
          <a:ln/>
        </p:spPr>
        <p:txBody>
          <a:bodyPr wrap="square" lIns="0" tIns="0" rIns="0" bIns="0" rtlCol="0" anchor="ctr"/>
          <a:lstStyle/>
          <a:p>
            <a:pPr indent="0" marL="0">
              <a:buNone/>
            </a:pPr>
            <a:r>
              <a:rPr lang="en-US" sz="1000" dirty="0">
                <a:solidFill>
                  <a:schemeClr val="tx1"/>
                </a:solidFill>
              </a:rPr>
              <a:t>근무 기록 (수정 이력 · 직접 추가 · 퇴근 누락 보호)</a:t>
            </a:r>
            <a:endParaRPr lang="en-US" sz="1000" dirty="0"/>
          </a:p>
        </p:txBody>
      </p:sp>
      <p:sp>
        <p:nvSpPr>
          <p:cNvPr id="9" name="근무 기록 (수정 이력 · 직접 추가 · 퇴근 누락 보호) 바탕"/>
          <p:cNvSpPr/>
          <p:nvPr/>
        </p:nvSpPr>
        <p:spPr>
          <a:xfrm>
            <a:off x="4160520" y="1389888"/>
            <a:ext cx="1280160" cy="128016"/>
          </a:xfrm>
          <a:prstGeom prst="roundRect">
            <a:avLst>
              <a:gd name="adj" fmla="val 50000"/>
            </a:avLst>
          </a:prstGeom>
          <a:solidFill>
            <a:schemeClr val="bg2"/>
          </a:solidFill>
          <a:ln w="12700">
            <a:solidFill>
              <a:schemeClr val="bg2"/>
            </a:solidFill>
            <a:prstDash val="solid"/>
          </a:ln>
        </p:spPr>
      </p:sp>
      <p:sp>
        <p:nvSpPr>
          <p:cNvPr id="10" name="근무 기록 (수정 이력 · 직접 추가 · 퇴근 누락 보호) 진행"/>
          <p:cNvSpPr/>
          <p:nvPr/>
        </p:nvSpPr>
        <p:spPr>
          <a:xfrm>
            <a:off x="4160520" y="1389888"/>
            <a:ext cx="1152144"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495544" y="1261872"/>
            <a:ext cx="411480" cy="384048"/>
          </a:xfrm>
          <a:prstGeom prst="rect">
            <a:avLst/>
          </a:prstGeom>
          <a:noFill/>
          <a:ln/>
        </p:spPr>
        <p:txBody>
          <a:bodyPr wrap="square" lIns="0" tIns="0" rIns="0" bIns="0" rtlCol="0" anchor="ctr"/>
          <a:lstStyle/>
          <a:p>
            <a:pPr indent="0" marL="0">
              <a:buNone/>
            </a:pPr>
            <a:r>
              <a:rPr lang="en-US" sz="1000" b="1" dirty="0">
                <a:solidFill>
                  <a:schemeClr val="tx2"/>
                </a:solidFill>
              </a:rPr>
              <a:t>90%</a:t>
            </a:r>
            <a:endParaRPr lang="en-US" sz="1000" dirty="0"/>
          </a:p>
        </p:txBody>
      </p:sp>
      <p:sp>
        <p:nvSpPr>
          <p:cNvPr id="12" name="근무 기록 (수정 이력 · 직접 추가 · 퇴근 누락 보호) 확인 0"/>
          <p:cNvSpPr/>
          <p:nvPr/>
        </p:nvSpPr>
        <p:spPr>
          <a:xfrm>
            <a:off x="6044184" y="1371600"/>
            <a:ext cx="164592" cy="164592"/>
          </a:xfrm>
          <a:prstGeom prst="ellipse">
            <a:avLst/>
          </a:prstGeom>
          <a:solidFill>
            <a:schemeClr val="accent1"/>
          </a:solidFill>
          <a:ln w="9525">
            <a:solidFill>
              <a:schemeClr val="accent1"/>
            </a:solidFill>
            <a:prstDash val="solid"/>
          </a:ln>
        </p:spPr>
      </p:sp>
      <p:sp>
        <p:nvSpPr>
          <p:cNvPr id="13" name="근무 기록 (수정 이력 · 직접 추가 · 퇴근 누락 보호) 확인 1"/>
          <p:cNvSpPr/>
          <p:nvPr/>
        </p:nvSpPr>
        <p:spPr>
          <a:xfrm>
            <a:off x="6318504" y="1371600"/>
            <a:ext cx="164592" cy="164592"/>
          </a:xfrm>
          <a:prstGeom prst="ellipse">
            <a:avLst/>
          </a:prstGeom>
          <a:solidFill>
            <a:schemeClr val="bg1"/>
          </a:solidFill>
          <a:ln w="9525">
            <a:solidFill>
              <a:srgbClr val="5D636D"/>
            </a:solidFill>
            <a:prstDash val="solid"/>
          </a:ln>
        </p:spPr>
      </p:sp>
      <p:sp>
        <p:nvSpPr>
          <p:cNvPr id="14" name="근무 기록 (수정 이력 · 직접 추가 · 퇴근 누락 보호) 확인 2"/>
          <p:cNvSpPr/>
          <p:nvPr/>
        </p:nvSpPr>
        <p:spPr>
          <a:xfrm>
            <a:off x="6592824" y="1371600"/>
            <a:ext cx="164592" cy="164592"/>
          </a:xfrm>
          <a:prstGeom prst="ellipse">
            <a:avLst/>
          </a:prstGeom>
          <a:solidFill>
            <a:schemeClr val="bg1"/>
          </a:solidFill>
          <a:ln w="9525">
            <a:solidFill>
              <a:srgbClr val="5D636D"/>
            </a:solidFill>
            <a:prstDash val="solid"/>
          </a:ln>
        </p:spPr>
      </p:sp>
      <p:sp>
        <p:nvSpPr>
          <p:cNvPr id="15" name="Text 13"/>
          <p:cNvSpPr txBox="1"/>
          <p:nvPr/>
        </p:nvSpPr>
        <p:spPr>
          <a:xfrm>
            <a:off x="6903720" y="1261872"/>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장기 사용 확인</a:t>
            </a:r>
            <a:endParaRPr lang="en-US" sz="850" dirty="0"/>
          </a:p>
        </p:txBody>
      </p:sp>
      <p:sp>
        <p:nvSpPr>
          <p:cNvPr id="16" name="Shape 14"/>
          <p:cNvSpPr/>
          <p:nvPr/>
        </p:nvSpPr>
        <p:spPr>
          <a:xfrm>
            <a:off x="457200" y="1645920"/>
            <a:ext cx="8229600" cy="0"/>
          </a:xfrm>
          <a:prstGeom prst="line">
            <a:avLst/>
          </a:prstGeom>
          <a:noFill/>
          <a:ln w="9525">
            <a:solidFill>
              <a:srgbClr val="DCD9D0"/>
            </a:solidFill>
            <a:prstDash val="solid"/>
          </a:ln>
        </p:spPr>
      </p:sp>
      <p:sp>
        <p:nvSpPr>
          <p:cNvPr id="17" name="Text 15"/>
          <p:cNvSpPr txBox="1"/>
          <p:nvPr/>
        </p:nvSpPr>
        <p:spPr>
          <a:xfrm>
            <a:off x="457200" y="1645920"/>
            <a:ext cx="3611880" cy="384048"/>
          </a:xfrm>
          <a:prstGeom prst="rect">
            <a:avLst/>
          </a:prstGeom>
          <a:noFill/>
          <a:ln/>
        </p:spPr>
        <p:txBody>
          <a:bodyPr wrap="square" lIns="0" tIns="0" rIns="0" bIns="0" rtlCol="0" anchor="ctr"/>
          <a:lstStyle/>
          <a:p>
            <a:pPr indent="0" marL="0">
              <a:buNone/>
            </a:pPr>
            <a:r>
              <a:rPr lang="en-US" sz="1000" dirty="0">
                <a:solidFill>
                  <a:schemeClr val="tx1"/>
                </a:solidFill>
              </a:rPr>
              <a:t>캘린더 (예정 vs 실제, 연장 · 대타 · 합의 휴무)</a:t>
            </a:r>
            <a:endParaRPr lang="en-US" sz="1000" dirty="0"/>
          </a:p>
        </p:txBody>
      </p:sp>
      <p:sp>
        <p:nvSpPr>
          <p:cNvPr id="18" name="캘린더 (예정 vs 실제, 연장 · 대타 · 합의 휴무) 바탕"/>
          <p:cNvSpPr/>
          <p:nvPr/>
        </p:nvSpPr>
        <p:spPr>
          <a:xfrm>
            <a:off x="4160520" y="1773936"/>
            <a:ext cx="128016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 합의 휴무) 진행"/>
          <p:cNvSpPr/>
          <p:nvPr/>
        </p:nvSpPr>
        <p:spPr>
          <a:xfrm>
            <a:off x="4160520" y="1773936"/>
            <a:ext cx="1088136"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495544" y="1645920"/>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85%</a:t>
            </a:r>
            <a:endParaRPr lang="en-US" sz="1000" dirty="0"/>
          </a:p>
        </p:txBody>
      </p:sp>
      <p:sp>
        <p:nvSpPr>
          <p:cNvPr id="21" name="캘린더 (예정 vs 실제, 연장 · 대타 · 합의 휴무) 확인 0"/>
          <p:cNvSpPr/>
          <p:nvPr/>
        </p:nvSpPr>
        <p:spPr>
          <a:xfrm>
            <a:off x="6044184" y="1755648"/>
            <a:ext cx="164592" cy="164592"/>
          </a:xfrm>
          <a:prstGeom prst="ellipse">
            <a:avLst/>
          </a:prstGeom>
          <a:solidFill>
            <a:schemeClr val="accent1"/>
          </a:solidFill>
          <a:ln w="9525">
            <a:solidFill>
              <a:schemeClr val="accent1"/>
            </a:solidFill>
            <a:prstDash val="solid"/>
          </a:ln>
        </p:spPr>
      </p:sp>
      <p:sp>
        <p:nvSpPr>
          <p:cNvPr id="22" name="캘린더 (예정 vs 실제, 연장 · 대타 · 합의 휴무) 확인 1"/>
          <p:cNvSpPr/>
          <p:nvPr/>
        </p:nvSpPr>
        <p:spPr>
          <a:xfrm>
            <a:off x="6318504" y="1755648"/>
            <a:ext cx="164592" cy="164592"/>
          </a:xfrm>
          <a:prstGeom prst="ellipse">
            <a:avLst/>
          </a:prstGeom>
          <a:solidFill>
            <a:schemeClr val="bg1"/>
          </a:solidFill>
          <a:ln w="9525">
            <a:solidFill>
              <a:srgbClr val="5D636D"/>
            </a:solidFill>
            <a:prstDash val="solid"/>
          </a:ln>
        </p:spPr>
      </p:sp>
      <p:sp>
        <p:nvSpPr>
          <p:cNvPr id="23" name="캘린더 (예정 vs 실제, 연장 · 대타 · 합의 휴무) 확인 2"/>
          <p:cNvSpPr/>
          <p:nvPr/>
        </p:nvSpPr>
        <p:spPr>
          <a:xfrm>
            <a:off x="6592824" y="1755648"/>
            <a:ext cx="164592" cy="164592"/>
          </a:xfrm>
          <a:prstGeom prst="ellipse">
            <a:avLst/>
          </a:prstGeom>
          <a:solidFill>
            <a:schemeClr val="bg1"/>
          </a:solidFill>
          <a:ln w="9525">
            <a:solidFill>
              <a:srgbClr val="5D636D"/>
            </a:solidFill>
            <a:prstDash val="solid"/>
          </a:ln>
        </p:spPr>
      </p:sp>
      <p:sp>
        <p:nvSpPr>
          <p:cNvPr id="24" name="Text 22"/>
          <p:cNvSpPr txBox="1"/>
          <p:nvPr/>
        </p:nvSpPr>
        <p:spPr>
          <a:xfrm>
            <a:off x="6903720" y="1645920"/>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반복 스케줄 입력 편의</a:t>
            </a:r>
            <a:endParaRPr lang="en-US" sz="850" dirty="0"/>
          </a:p>
        </p:txBody>
      </p:sp>
      <p:sp>
        <p:nvSpPr>
          <p:cNvPr id="25" name="Shape 23"/>
          <p:cNvSpPr/>
          <p:nvPr/>
        </p:nvSpPr>
        <p:spPr>
          <a:xfrm>
            <a:off x="457200" y="2029968"/>
            <a:ext cx="8229600" cy="0"/>
          </a:xfrm>
          <a:prstGeom prst="line">
            <a:avLst/>
          </a:prstGeom>
          <a:noFill/>
          <a:ln w="9525">
            <a:solidFill>
              <a:srgbClr val="DCD9D0"/>
            </a:solidFill>
            <a:prstDash val="solid"/>
          </a:ln>
        </p:spPr>
      </p:sp>
      <p:sp>
        <p:nvSpPr>
          <p:cNvPr id="26" name="Text 24"/>
          <p:cNvSpPr txBox="1"/>
          <p:nvPr/>
        </p:nvSpPr>
        <p:spPr>
          <a:xfrm>
            <a:off x="457200" y="2029968"/>
            <a:ext cx="3611880" cy="384048"/>
          </a:xfrm>
          <a:prstGeom prst="rect">
            <a:avLst/>
          </a:prstGeom>
          <a:noFill/>
          <a:ln/>
        </p:spPr>
        <p:txBody>
          <a:bodyPr wrap="square" lIns="0" tIns="0" rIns="0" bIns="0" rtlCol="0" anchor="ctr"/>
          <a:lstStyle/>
          <a:p>
            <a:pPr indent="0" marL="0">
              <a:buNone/>
            </a:pPr>
            <a:r>
              <a:rPr lang="en-US" sz="1000" dirty="0">
                <a:solidFill>
                  <a:schemeClr val="tx1"/>
                </a:solidFill>
              </a:rPr>
              <a:t>급여 계산 (주휴 · 야간 · 휴게 · 시급 이력 · 연도별 최저임금)</a:t>
            </a:r>
            <a:endParaRPr lang="en-US" sz="1000" dirty="0"/>
          </a:p>
        </p:txBody>
      </p:sp>
      <p:sp>
        <p:nvSpPr>
          <p:cNvPr id="27" name="급여 계산 (주휴 · 야간 · 휴게 · 시급 이력 · 연도별 최저임금) 바탕"/>
          <p:cNvSpPr/>
          <p:nvPr/>
        </p:nvSpPr>
        <p:spPr>
          <a:xfrm>
            <a:off x="4160520" y="2157984"/>
            <a:ext cx="1280160" cy="128016"/>
          </a:xfrm>
          <a:prstGeom prst="roundRect">
            <a:avLst>
              <a:gd name="adj" fmla="val 50000"/>
            </a:avLst>
          </a:prstGeom>
          <a:solidFill>
            <a:schemeClr val="bg2"/>
          </a:solidFill>
          <a:ln w="12700">
            <a:solidFill>
              <a:schemeClr val="bg2"/>
            </a:solidFill>
            <a:prstDash val="solid"/>
          </a:ln>
        </p:spPr>
      </p:sp>
      <p:sp>
        <p:nvSpPr>
          <p:cNvPr id="28" name="급여 계산 (주휴 · 야간 · 휴게 · 시급 이력 · 연도별 최저임금) 진행"/>
          <p:cNvSpPr/>
          <p:nvPr/>
        </p:nvSpPr>
        <p:spPr>
          <a:xfrm>
            <a:off x="4160520" y="2157984"/>
            <a:ext cx="1088136"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495544" y="2029968"/>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85%</a:t>
            </a:r>
            <a:endParaRPr lang="en-US" sz="1000" dirty="0"/>
          </a:p>
        </p:txBody>
      </p:sp>
      <p:sp>
        <p:nvSpPr>
          <p:cNvPr id="30" name="급여 계산 (주휴 · 야간 · 휴게 · 시급 이력 · 연도별 최저임금) 확인 0"/>
          <p:cNvSpPr/>
          <p:nvPr/>
        </p:nvSpPr>
        <p:spPr>
          <a:xfrm>
            <a:off x="6044184" y="2139696"/>
            <a:ext cx="164592" cy="164592"/>
          </a:xfrm>
          <a:prstGeom prst="ellipse">
            <a:avLst/>
          </a:prstGeom>
          <a:solidFill>
            <a:schemeClr val="accent1"/>
          </a:solidFill>
          <a:ln w="9525">
            <a:solidFill>
              <a:schemeClr val="accent1"/>
            </a:solidFill>
            <a:prstDash val="solid"/>
          </a:ln>
        </p:spPr>
      </p:sp>
      <p:sp>
        <p:nvSpPr>
          <p:cNvPr id="31" name="급여 계산 (주휴 · 야간 · 휴게 · 시급 이력 · 연도별 최저임금) 확인 1"/>
          <p:cNvSpPr/>
          <p:nvPr/>
        </p:nvSpPr>
        <p:spPr>
          <a:xfrm>
            <a:off x="6318504" y="2139696"/>
            <a:ext cx="164592" cy="164592"/>
          </a:xfrm>
          <a:prstGeom prst="ellipse">
            <a:avLst/>
          </a:prstGeom>
          <a:solidFill>
            <a:schemeClr val="bg1"/>
          </a:solidFill>
          <a:ln w="9525">
            <a:solidFill>
              <a:srgbClr val="5D636D"/>
            </a:solidFill>
            <a:prstDash val="solid"/>
          </a:ln>
        </p:spPr>
      </p:sp>
      <p:sp>
        <p:nvSpPr>
          <p:cNvPr id="32" name="급여 계산 (주휴 · 야간 · 휴게 · 시급 이력 · 연도별 최저임금) 확인 2"/>
          <p:cNvSpPr/>
          <p:nvPr/>
        </p:nvSpPr>
        <p:spPr>
          <a:xfrm>
            <a:off x="6592824" y="2139696"/>
            <a:ext cx="164592" cy="164592"/>
          </a:xfrm>
          <a:prstGeom prst="ellipse">
            <a:avLst/>
          </a:prstGeom>
          <a:solidFill>
            <a:schemeClr val="bg1"/>
          </a:solidFill>
          <a:ln w="9525">
            <a:solidFill>
              <a:srgbClr val="5D636D"/>
            </a:solidFill>
            <a:prstDash val="solid"/>
          </a:ln>
        </p:spPr>
      </p:sp>
      <p:sp>
        <p:nvSpPr>
          <p:cNvPr id="33" name="Text 31"/>
          <p:cNvSpPr txBox="1"/>
          <p:nvPr/>
        </p:nvSpPr>
        <p:spPr>
          <a:xfrm>
            <a:off x="6903720" y="2029968"/>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연장근로 가산 미반영</a:t>
            </a:r>
            <a:endParaRPr lang="en-US" sz="850" dirty="0"/>
          </a:p>
        </p:txBody>
      </p:sp>
      <p:sp>
        <p:nvSpPr>
          <p:cNvPr id="34" name="Shape 32"/>
          <p:cNvSpPr/>
          <p:nvPr/>
        </p:nvSpPr>
        <p:spPr>
          <a:xfrm>
            <a:off x="457200" y="2414016"/>
            <a:ext cx="8229600" cy="0"/>
          </a:xfrm>
          <a:prstGeom prst="line">
            <a:avLst/>
          </a:prstGeom>
          <a:noFill/>
          <a:ln w="9525">
            <a:solidFill>
              <a:srgbClr val="DCD9D0"/>
            </a:solidFill>
            <a:prstDash val="solid"/>
          </a:ln>
        </p:spPr>
      </p:sp>
      <p:sp>
        <p:nvSpPr>
          <p:cNvPr id="35" name="Text 33"/>
          <p:cNvSpPr txBox="1"/>
          <p:nvPr/>
        </p:nvSpPr>
        <p:spPr>
          <a:xfrm>
            <a:off x="457200" y="2414016"/>
            <a:ext cx="3611880" cy="384048"/>
          </a:xfrm>
          <a:prstGeom prst="rect">
            <a:avLst/>
          </a:prstGeom>
          <a:noFill/>
          <a:ln/>
        </p:spPr>
        <p:txBody>
          <a:bodyPr wrap="square" lIns="0" tIns="0" rIns="0" bIns="0" rtlCol="0" anchor="ctr"/>
          <a:lstStyle/>
          <a:p>
            <a:pPr indent="0" marL="0">
              <a:buNone/>
            </a:pPr>
            <a:r>
              <a:rPr lang="en-US" sz="1000" dirty="0">
                <a:solidFill>
                  <a:schemeClr val="tx1"/>
                </a:solidFill>
              </a:rPr>
              <a:t>입금액 비교 · 차액 알림 (여러 달 합계, 3.3% 세금)</a:t>
            </a:r>
            <a:endParaRPr lang="en-US" sz="1000" dirty="0"/>
          </a:p>
        </p:txBody>
      </p:sp>
      <p:sp>
        <p:nvSpPr>
          <p:cNvPr id="36" name="입금액 비교 · 차액 알림 (여러 달 합계, 3.3% 세금) 바탕"/>
          <p:cNvSpPr/>
          <p:nvPr/>
        </p:nvSpPr>
        <p:spPr>
          <a:xfrm>
            <a:off x="4160520" y="2542032"/>
            <a:ext cx="1280160" cy="128016"/>
          </a:xfrm>
          <a:prstGeom prst="roundRect">
            <a:avLst>
              <a:gd name="adj" fmla="val 50000"/>
            </a:avLst>
          </a:prstGeom>
          <a:solidFill>
            <a:schemeClr val="bg2"/>
          </a:solidFill>
          <a:ln w="12700">
            <a:solidFill>
              <a:schemeClr val="bg2"/>
            </a:solidFill>
            <a:prstDash val="solid"/>
          </a:ln>
        </p:spPr>
      </p:sp>
      <p:sp>
        <p:nvSpPr>
          <p:cNvPr id="37" name="입금액 비교 · 차액 알림 (여러 달 합계, 3.3% 세금) 진행"/>
          <p:cNvSpPr/>
          <p:nvPr/>
        </p:nvSpPr>
        <p:spPr>
          <a:xfrm>
            <a:off x="4160520" y="2542032"/>
            <a:ext cx="1024128"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495544" y="2414016"/>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39" name="입금액 비교 · 차액 알림 (여러 달 합계, 3.3% 세금) 확인 0"/>
          <p:cNvSpPr/>
          <p:nvPr/>
        </p:nvSpPr>
        <p:spPr>
          <a:xfrm>
            <a:off x="6044184" y="2523744"/>
            <a:ext cx="164592" cy="164592"/>
          </a:xfrm>
          <a:prstGeom prst="ellipse">
            <a:avLst/>
          </a:prstGeom>
          <a:solidFill>
            <a:schemeClr val="accent1"/>
          </a:solidFill>
          <a:ln w="9525">
            <a:solidFill>
              <a:schemeClr val="accent1"/>
            </a:solidFill>
            <a:prstDash val="solid"/>
          </a:ln>
        </p:spPr>
      </p:sp>
      <p:sp>
        <p:nvSpPr>
          <p:cNvPr id="40" name="입금액 비교 · 차액 알림 (여러 달 합계, 3.3% 세금) 확인 1"/>
          <p:cNvSpPr/>
          <p:nvPr/>
        </p:nvSpPr>
        <p:spPr>
          <a:xfrm>
            <a:off x="6318504" y="2523744"/>
            <a:ext cx="164592" cy="164592"/>
          </a:xfrm>
          <a:prstGeom prst="ellipse">
            <a:avLst/>
          </a:prstGeom>
          <a:solidFill>
            <a:schemeClr val="bg1"/>
          </a:solidFill>
          <a:ln w="9525">
            <a:solidFill>
              <a:srgbClr val="5D636D"/>
            </a:solidFill>
            <a:prstDash val="solid"/>
          </a:ln>
        </p:spPr>
      </p:sp>
      <p:sp>
        <p:nvSpPr>
          <p:cNvPr id="41" name="입금액 비교 · 차액 알림 (여러 달 합계, 3.3% 세금) 확인 2"/>
          <p:cNvSpPr/>
          <p:nvPr/>
        </p:nvSpPr>
        <p:spPr>
          <a:xfrm>
            <a:off x="6592824" y="2523744"/>
            <a:ext cx="164592" cy="164592"/>
          </a:xfrm>
          <a:prstGeom prst="ellipse">
            <a:avLst/>
          </a:prstGeom>
          <a:solidFill>
            <a:schemeClr val="bg1"/>
          </a:solidFill>
          <a:ln w="9525">
            <a:solidFill>
              <a:srgbClr val="5D636D"/>
            </a:solidFill>
            <a:prstDash val="solid"/>
          </a:ln>
        </p:spPr>
      </p:sp>
      <p:sp>
        <p:nvSpPr>
          <p:cNvPr id="42" name="Text 40"/>
          <p:cNvSpPr txBox="1"/>
          <p:nvPr/>
        </p:nvSpPr>
        <p:spPr>
          <a:xfrm>
            <a:off x="6903720" y="2414016"/>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입금 문자 · 명세서 사진 자동 인식은 보류</a:t>
            </a:r>
            <a:endParaRPr lang="en-US" sz="850" dirty="0"/>
          </a:p>
        </p:txBody>
      </p:sp>
      <p:sp>
        <p:nvSpPr>
          <p:cNvPr id="43" name="Shape 41"/>
          <p:cNvSpPr/>
          <p:nvPr/>
        </p:nvSpPr>
        <p:spPr>
          <a:xfrm>
            <a:off x="457200" y="2798064"/>
            <a:ext cx="8229600" cy="0"/>
          </a:xfrm>
          <a:prstGeom prst="line">
            <a:avLst/>
          </a:prstGeom>
          <a:noFill/>
          <a:ln w="9525">
            <a:solidFill>
              <a:srgbClr val="DCD9D0"/>
            </a:solidFill>
            <a:prstDash val="solid"/>
          </a:ln>
        </p:spPr>
      </p:sp>
      <p:sp>
        <p:nvSpPr>
          <p:cNvPr id="44" name="Text 42"/>
          <p:cNvSpPr txBox="1"/>
          <p:nvPr/>
        </p:nvSpPr>
        <p:spPr>
          <a:xfrm>
            <a:off x="457200" y="2798064"/>
            <a:ext cx="3611880" cy="384048"/>
          </a:xfrm>
          <a:prstGeom prst="rect">
            <a:avLst/>
          </a:prstGeom>
          <a:noFill/>
          <a:ln/>
        </p:spPr>
        <p:txBody>
          <a:bodyPr wrap="square" lIns="0" tIns="0" rIns="0" bIns="0" rtlCol="0" anchor="ctr"/>
          <a:lstStyle/>
          <a:p>
            <a:pPr indent="0" marL="0">
              <a:buNone/>
            </a:pPr>
            <a:r>
              <a:rPr lang="en-US" sz="1000" dirty="0">
                <a:solidFill>
                  <a:schemeClr val="tx1"/>
                </a:solidFill>
              </a:rPr>
              <a:t>단계별 정산 요청 (메시지 · 내용증명 · 진정 안내, 보낸 날짜)</a:t>
            </a:r>
            <a:endParaRPr lang="en-US" sz="1000" dirty="0"/>
          </a:p>
        </p:txBody>
      </p:sp>
      <p:sp>
        <p:nvSpPr>
          <p:cNvPr id="45" name="단계별 정산 요청 (메시지 · 내용증명 · 진정 안내, 보낸 날짜) 바탕"/>
          <p:cNvSpPr/>
          <p:nvPr/>
        </p:nvSpPr>
        <p:spPr>
          <a:xfrm>
            <a:off x="4160520" y="2926080"/>
            <a:ext cx="1280160" cy="128016"/>
          </a:xfrm>
          <a:prstGeom prst="roundRect">
            <a:avLst>
              <a:gd name="adj" fmla="val 50000"/>
            </a:avLst>
          </a:prstGeom>
          <a:solidFill>
            <a:schemeClr val="bg2"/>
          </a:solidFill>
          <a:ln w="12700">
            <a:solidFill>
              <a:schemeClr val="bg2"/>
            </a:solidFill>
            <a:prstDash val="solid"/>
          </a:ln>
        </p:spPr>
      </p:sp>
      <p:sp>
        <p:nvSpPr>
          <p:cNvPr id="46" name="단계별 정산 요청 (메시지 · 내용증명 · 진정 안내, 보낸 날짜) 진행"/>
          <p:cNvSpPr/>
          <p:nvPr/>
        </p:nvSpPr>
        <p:spPr>
          <a:xfrm>
            <a:off x="4160520" y="2926080"/>
            <a:ext cx="96012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495544" y="2798064"/>
            <a:ext cx="411480" cy="384048"/>
          </a:xfrm>
          <a:prstGeom prst="rect">
            <a:avLst/>
          </a:prstGeom>
          <a:noFill/>
          <a:ln/>
        </p:spPr>
        <p:txBody>
          <a:bodyPr wrap="square" lIns="0" tIns="0" rIns="0" bIns="0" rtlCol="0" anchor="ctr"/>
          <a:lstStyle/>
          <a:p>
            <a:pPr indent="0" marL="0">
              <a:buNone/>
            </a:pPr>
            <a:r>
              <a:rPr lang="en-US" sz="1000" b="1" dirty="0">
                <a:solidFill>
                  <a:schemeClr val="tx2"/>
                </a:solidFill>
              </a:rPr>
              <a:t>75%</a:t>
            </a:r>
            <a:endParaRPr lang="en-US" sz="1000" dirty="0"/>
          </a:p>
        </p:txBody>
      </p:sp>
      <p:sp>
        <p:nvSpPr>
          <p:cNvPr id="48" name="단계별 정산 요청 (메시지 · 내용증명 · 진정 안내, 보낸 날짜) 확인 0"/>
          <p:cNvSpPr/>
          <p:nvPr/>
        </p:nvSpPr>
        <p:spPr>
          <a:xfrm>
            <a:off x="6044184" y="2907792"/>
            <a:ext cx="164592" cy="164592"/>
          </a:xfrm>
          <a:prstGeom prst="ellipse">
            <a:avLst/>
          </a:prstGeom>
          <a:solidFill>
            <a:schemeClr val="accent1"/>
          </a:solidFill>
          <a:ln w="9525">
            <a:solidFill>
              <a:schemeClr val="accent1"/>
            </a:solidFill>
            <a:prstDash val="solid"/>
          </a:ln>
        </p:spPr>
      </p:sp>
      <p:sp>
        <p:nvSpPr>
          <p:cNvPr id="49" name="단계별 정산 요청 (메시지 · 내용증명 · 진정 안내, 보낸 날짜) 확인 1"/>
          <p:cNvSpPr/>
          <p:nvPr/>
        </p:nvSpPr>
        <p:spPr>
          <a:xfrm>
            <a:off x="6318504" y="2907792"/>
            <a:ext cx="164592" cy="164592"/>
          </a:xfrm>
          <a:prstGeom prst="ellipse">
            <a:avLst/>
          </a:prstGeom>
          <a:solidFill>
            <a:schemeClr val="bg1"/>
          </a:solidFill>
          <a:ln w="9525">
            <a:solidFill>
              <a:srgbClr val="5D636D"/>
            </a:solidFill>
            <a:prstDash val="solid"/>
          </a:ln>
        </p:spPr>
      </p:sp>
      <p:sp>
        <p:nvSpPr>
          <p:cNvPr id="50" name="단계별 정산 요청 (메시지 · 내용증명 · 진정 안내, 보낸 날짜) 확인 2"/>
          <p:cNvSpPr/>
          <p:nvPr/>
        </p:nvSpPr>
        <p:spPr>
          <a:xfrm>
            <a:off x="6592824" y="2907792"/>
            <a:ext cx="164592" cy="164592"/>
          </a:xfrm>
          <a:prstGeom prst="ellipse">
            <a:avLst/>
          </a:prstGeom>
          <a:solidFill>
            <a:schemeClr val="bg1"/>
          </a:solidFill>
          <a:ln w="9525">
            <a:solidFill>
              <a:srgbClr val="5D636D"/>
            </a:solidFill>
            <a:prstDash val="solid"/>
          </a:ln>
        </p:spPr>
      </p:sp>
      <p:sp>
        <p:nvSpPr>
          <p:cNvPr id="51" name="Text 49"/>
          <p:cNvSpPr txBox="1"/>
          <p:nvPr/>
        </p:nvSpPr>
        <p:spPr>
          <a:xfrm>
            <a:off x="6903720" y="2798064"/>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문구 톤 사용자 검증, AI 문구는 선택</a:t>
            </a:r>
            <a:endParaRPr lang="en-US" sz="850" dirty="0"/>
          </a:p>
        </p:txBody>
      </p:sp>
      <p:sp>
        <p:nvSpPr>
          <p:cNvPr id="52" name="Shape 50"/>
          <p:cNvSpPr/>
          <p:nvPr/>
        </p:nvSpPr>
        <p:spPr>
          <a:xfrm>
            <a:off x="457200" y="3182112"/>
            <a:ext cx="8229600" cy="0"/>
          </a:xfrm>
          <a:prstGeom prst="line">
            <a:avLst/>
          </a:prstGeom>
          <a:noFill/>
          <a:ln w="9525">
            <a:solidFill>
              <a:srgbClr val="DCD9D0"/>
            </a:solidFill>
            <a:prstDash val="solid"/>
          </a:ln>
        </p:spPr>
      </p:sp>
      <p:sp>
        <p:nvSpPr>
          <p:cNvPr id="53" name="Text 51"/>
          <p:cNvSpPr txBox="1"/>
          <p:nvPr/>
        </p:nvSpPr>
        <p:spPr>
          <a:xfrm>
            <a:off x="457200" y="3182112"/>
            <a:ext cx="3611880" cy="384048"/>
          </a:xfrm>
          <a:prstGeom prst="rect">
            <a:avLst/>
          </a:prstGeom>
          <a:noFill/>
          <a:ln/>
        </p:spPr>
        <p:txBody>
          <a:bodyPr wrap="square" lIns="0" tIns="0" rIns="0" bIns="0" rtlCol="0" anchor="ctr"/>
          <a:lstStyle/>
          <a:p>
            <a:pPr indent="0" marL="0">
              <a:buNone/>
            </a:pPr>
            <a:r>
              <a:rPr lang="en-US" sz="1000" dirty="0">
                <a:solidFill>
                  <a:schemeClr val="tx1"/>
                </a:solidFill>
              </a:rPr>
              <a:t>증빙 묶음 PDF (7개 항목, 첨부 사진)</a:t>
            </a:r>
            <a:endParaRPr lang="en-US" sz="1000" dirty="0"/>
          </a:p>
        </p:txBody>
      </p:sp>
      <p:sp>
        <p:nvSpPr>
          <p:cNvPr id="54" name="증빙 묶음 PDF (7개 항목, 첨부 사진) 바탕"/>
          <p:cNvSpPr/>
          <p:nvPr/>
        </p:nvSpPr>
        <p:spPr>
          <a:xfrm>
            <a:off x="4160520" y="3310128"/>
            <a:ext cx="1280160" cy="128016"/>
          </a:xfrm>
          <a:prstGeom prst="roundRect">
            <a:avLst>
              <a:gd name="adj" fmla="val 50000"/>
            </a:avLst>
          </a:prstGeom>
          <a:solidFill>
            <a:schemeClr val="bg2"/>
          </a:solidFill>
          <a:ln w="12700">
            <a:solidFill>
              <a:schemeClr val="bg2"/>
            </a:solidFill>
            <a:prstDash val="solid"/>
          </a:ln>
        </p:spPr>
      </p:sp>
      <p:sp>
        <p:nvSpPr>
          <p:cNvPr id="55" name="증빙 묶음 PDF (7개 항목, 첨부 사진) 진행"/>
          <p:cNvSpPr/>
          <p:nvPr/>
        </p:nvSpPr>
        <p:spPr>
          <a:xfrm>
            <a:off x="4160520" y="3310128"/>
            <a:ext cx="1024128"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495544" y="3182112"/>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57" name="증빙 묶음 PDF (7개 항목, 첨부 사진) 확인 0"/>
          <p:cNvSpPr/>
          <p:nvPr/>
        </p:nvSpPr>
        <p:spPr>
          <a:xfrm>
            <a:off x="6044184" y="3291840"/>
            <a:ext cx="164592" cy="164592"/>
          </a:xfrm>
          <a:prstGeom prst="ellipse">
            <a:avLst/>
          </a:prstGeom>
          <a:solidFill>
            <a:schemeClr val="accent1"/>
          </a:solidFill>
          <a:ln w="9525">
            <a:solidFill>
              <a:schemeClr val="accent1"/>
            </a:solidFill>
            <a:prstDash val="solid"/>
          </a:ln>
        </p:spPr>
      </p:sp>
      <p:sp>
        <p:nvSpPr>
          <p:cNvPr id="58" name="증빙 묶음 PDF (7개 항목, 첨부 사진) 확인 1"/>
          <p:cNvSpPr/>
          <p:nvPr/>
        </p:nvSpPr>
        <p:spPr>
          <a:xfrm>
            <a:off x="6318504" y="3291840"/>
            <a:ext cx="164592" cy="164592"/>
          </a:xfrm>
          <a:prstGeom prst="ellipse">
            <a:avLst/>
          </a:prstGeom>
          <a:solidFill>
            <a:schemeClr val="bg1"/>
          </a:solidFill>
          <a:ln w="9525">
            <a:solidFill>
              <a:srgbClr val="5D636D"/>
            </a:solidFill>
            <a:prstDash val="solid"/>
          </a:ln>
        </p:spPr>
      </p:sp>
      <p:sp>
        <p:nvSpPr>
          <p:cNvPr id="59" name="증빙 묶음 PDF (7개 항목, 첨부 사진) 확인 2"/>
          <p:cNvSpPr/>
          <p:nvPr/>
        </p:nvSpPr>
        <p:spPr>
          <a:xfrm>
            <a:off x="6592824" y="3291840"/>
            <a:ext cx="164592" cy="164592"/>
          </a:xfrm>
          <a:prstGeom prst="ellipse">
            <a:avLst/>
          </a:prstGeom>
          <a:solidFill>
            <a:schemeClr val="bg1"/>
          </a:solidFill>
          <a:ln w="9525">
            <a:solidFill>
              <a:srgbClr val="5D636D"/>
            </a:solidFill>
            <a:prstDash val="solid"/>
          </a:ln>
        </p:spPr>
      </p:sp>
      <p:sp>
        <p:nvSpPr>
          <p:cNvPr id="60" name="Text 58"/>
          <p:cNvSpPr txBox="1"/>
          <p:nvPr/>
        </p:nvSpPr>
        <p:spPr>
          <a:xfrm>
            <a:off x="6903720" y="3182112"/>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PDF 저장 확인</a:t>
            </a:r>
            <a:endParaRPr lang="en-US" sz="850" dirty="0"/>
          </a:p>
        </p:txBody>
      </p:sp>
      <p:sp>
        <p:nvSpPr>
          <p:cNvPr id="61" name="Shape 59"/>
          <p:cNvSpPr/>
          <p:nvPr/>
        </p:nvSpPr>
        <p:spPr>
          <a:xfrm>
            <a:off x="457200" y="3566160"/>
            <a:ext cx="8229600" cy="0"/>
          </a:xfrm>
          <a:prstGeom prst="line">
            <a:avLst/>
          </a:prstGeom>
          <a:noFill/>
          <a:ln w="9525">
            <a:solidFill>
              <a:srgbClr val="DCD9D0"/>
            </a:solidFill>
            <a:prstDash val="solid"/>
          </a:ln>
        </p:spPr>
      </p:sp>
      <p:sp>
        <p:nvSpPr>
          <p:cNvPr id="62" name="Text 60"/>
          <p:cNvSpPr txBox="1"/>
          <p:nvPr/>
        </p:nvSpPr>
        <p:spPr>
          <a:xfrm>
            <a:off x="457200" y="3566160"/>
            <a:ext cx="3611880" cy="384048"/>
          </a:xfrm>
          <a:prstGeom prst="rect">
            <a:avLst/>
          </a:prstGeom>
          <a:noFill/>
          <a:ln/>
        </p:spPr>
        <p:txBody>
          <a:bodyPr wrap="square" lIns="0" tIns="0" rIns="0" bIns="0" rtlCol="0" anchor="ctr"/>
          <a:lstStyle/>
          <a:p>
            <a:pPr indent="0" marL="0">
              <a:buNone/>
            </a:pPr>
            <a:r>
              <a:rPr lang="en-US" sz="1000" dirty="0">
                <a:solidFill>
                  <a:schemeClr val="tx1"/>
                </a:solidFill>
              </a:rPr>
              <a:t>기록 등록 (확인 번호 · 등록 시각, 확인 페이지)</a:t>
            </a:r>
            <a:endParaRPr lang="en-US" sz="1000" dirty="0"/>
          </a:p>
        </p:txBody>
      </p:sp>
      <p:sp>
        <p:nvSpPr>
          <p:cNvPr id="63" name="기록 등록 (확인 번호 · 등록 시각, 확인 페이지) 바탕"/>
          <p:cNvSpPr/>
          <p:nvPr/>
        </p:nvSpPr>
        <p:spPr>
          <a:xfrm>
            <a:off x="4160520" y="3694176"/>
            <a:ext cx="128016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확인 페이지) 진행"/>
          <p:cNvSpPr/>
          <p:nvPr/>
        </p:nvSpPr>
        <p:spPr>
          <a:xfrm>
            <a:off x="4160520" y="3694176"/>
            <a:ext cx="896112"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495544" y="3566160"/>
            <a:ext cx="411480" cy="384048"/>
          </a:xfrm>
          <a:prstGeom prst="rect">
            <a:avLst/>
          </a:prstGeom>
          <a:noFill/>
          <a:ln/>
        </p:spPr>
        <p:txBody>
          <a:bodyPr wrap="square" lIns="0" tIns="0" rIns="0" bIns="0" rtlCol="0" anchor="ctr"/>
          <a:lstStyle/>
          <a:p>
            <a:pPr indent="0" marL="0">
              <a:buNone/>
            </a:pPr>
            <a:r>
              <a:rPr lang="en-US" sz="1000" b="1" dirty="0">
                <a:solidFill>
                  <a:schemeClr val="tx2"/>
                </a:solidFill>
              </a:rPr>
              <a:t>70%</a:t>
            </a:r>
            <a:endParaRPr lang="en-US" sz="1000" dirty="0"/>
          </a:p>
        </p:txBody>
      </p:sp>
      <p:sp>
        <p:nvSpPr>
          <p:cNvPr id="66" name="기록 등록 (확인 번호 · 등록 시각, 확인 페이지) 확인 0"/>
          <p:cNvSpPr/>
          <p:nvPr/>
        </p:nvSpPr>
        <p:spPr>
          <a:xfrm>
            <a:off x="6044184" y="3675888"/>
            <a:ext cx="164592" cy="164592"/>
          </a:xfrm>
          <a:prstGeom prst="ellipse">
            <a:avLst/>
          </a:prstGeom>
          <a:solidFill>
            <a:schemeClr val="accent1"/>
          </a:solidFill>
          <a:ln w="9525">
            <a:solidFill>
              <a:schemeClr val="accent1"/>
            </a:solidFill>
            <a:prstDash val="solid"/>
          </a:ln>
        </p:spPr>
      </p:sp>
      <p:sp>
        <p:nvSpPr>
          <p:cNvPr id="67" name="기록 등록 (확인 번호 · 등록 시각, 확인 페이지) 확인 1"/>
          <p:cNvSpPr/>
          <p:nvPr/>
        </p:nvSpPr>
        <p:spPr>
          <a:xfrm>
            <a:off x="6318504" y="3675888"/>
            <a:ext cx="164592" cy="164592"/>
          </a:xfrm>
          <a:prstGeom prst="ellipse">
            <a:avLst/>
          </a:prstGeom>
          <a:solidFill>
            <a:schemeClr val="bg1"/>
          </a:solidFill>
          <a:ln w="9525">
            <a:solidFill>
              <a:srgbClr val="5D636D"/>
            </a:solidFill>
            <a:prstDash val="solid"/>
          </a:ln>
        </p:spPr>
      </p:sp>
      <p:sp>
        <p:nvSpPr>
          <p:cNvPr id="68" name="기록 등록 (확인 번호 · 등록 시각, 확인 페이지) 확인 2"/>
          <p:cNvSpPr/>
          <p:nvPr/>
        </p:nvSpPr>
        <p:spPr>
          <a:xfrm>
            <a:off x="6592824" y="3675888"/>
            <a:ext cx="164592" cy="164592"/>
          </a:xfrm>
          <a:prstGeom prst="ellipse">
            <a:avLst/>
          </a:prstGeom>
          <a:solidFill>
            <a:schemeClr val="bg1"/>
          </a:solidFill>
          <a:ln w="9525">
            <a:solidFill>
              <a:srgbClr val="5D636D"/>
            </a:solidFill>
            <a:prstDash val="solid"/>
          </a:ln>
        </p:spPr>
      </p:sp>
      <p:sp>
        <p:nvSpPr>
          <p:cNvPr id="69" name="Text 67"/>
          <p:cNvSpPr txBox="1"/>
          <p:nvPr/>
        </p:nvSpPr>
        <p:spPr>
          <a:xfrm>
            <a:off x="6903720" y="3566160"/>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제3자가 내용으로 번호를 다시 계산하는 방법</a:t>
            </a:r>
            <a:endParaRPr lang="en-US" sz="850" dirty="0"/>
          </a:p>
        </p:txBody>
      </p:sp>
      <p:sp>
        <p:nvSpPr>
          <p:cNvPr id="70" name="Shape 68"/>
          <p:cNvSpPr/>
          <p:nvPr/>
        </p:nvSpPr>
        <p:spPr>
          <a:xfrm>
            <a:off x="457200" y="3950208"/>
            <a:ext cx="8229600" cy="0"/>
          </a:xfrm>
          <a:prstGeom prst="line">
            <a:avLst/>
          </a:prstGeom>
          <a:noFill/>
          <a:ln w="9525">
            <a:solidFill>
              <a:srgbClr val="DCD9D0"/>
            </a:solidFill>
            <a:prstDash val="solid"/>
          </a:ln>
        </p:spPr>
      </p:sp>
      <p:sp>
        <p:nvSpPr>
          <p:cNvPr id="71" name="Text 69"/>
          <p:cNvSpPr txBox="1"/>
          <p:nvPr/>
        </p:nvSpPr>
        <p:spPr>
          <a:xfrm>
            <a:off x="457200" y="3950208"/>
            <a:ext cx="3611880" cy="384048"/>
          </a:xfrm>
          <a:prstGeom prst="rect">
            <a:avLst/>
          </a:prstGeom>
          <a:noFill/>
          <a:ln/>
        </p:spPr>
        <p:txBody>
          <a:bodyPr wrap="square" lIns="0" tIns="0" rIns="0" bIns="0" rtlCol="0" anchor="ctr"/>
          <a:lstStyle/>
          <a:p>
            <a:pPr indent="0" marL="0">
              <a:buNone/>
            </a:pPr>
            <a:r>
              <a:rPr lang="en-US" sz="1000" dirty="0">
                <a:solidFill>
                  <a:schemeClr val="tx1"/>
                </a:solidFill>
              </a:rPr>
              <a:t>기록 백업 · 불러오기</a:t>
            </a:r>
            <a:endParaRPr lang="en-US" sz="1000" dirty="0"/>
          </a:p>
        </p:txBody>
      </p:sp>
      <p:sp>
        <p:nvSpPr>
          <p:cNvPr id="72" name="기록 백업 · 불러오기 바탕"/>
          <p:cNvSpPr/>
          <p:nvPr/>
        </p:nvSpPr>
        <p:spPr>
          <a:xfrm>
            <a:off x="4160520" y="4078224"/>
            <a:ext cx="128016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4160520" y="4078224"/>
            <a:ext cx="1024128"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495544" y="3950208"/>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75" name="기록 백업 · 불러오기 확인 0"/>
          <p:cNvSpPr/>
          <p:nvPr/>
        </p:nvSpPr>
        <p:spPr>
          <a:xfrm>
            <a:off x="6044184" y="4059936"/>
            <a:ext cx="164592" cy="164592"/>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318504" y="4059936"/>
            <a:ext cx="164592" cy="164592"/>
          </a:xfrm>
          <a:prstGeom prst="ellipse">
            <a:avLst/>
          </a:prstGeom>
          <a:solidFill>
            <a:schemeClr val="bg1"/>
          </a:solidFill>
          <a:ln w="9525">
            <a:solidFill>
              <a:srgbClr val="5D636D"/>
            </a:solidFill>
            <a:prstDash val="solid"/>
          </a:ln>
        </p:spPr>
      </p:sp>
      <p:sp>
        <p:nvSpPr>
          <p:cNvPr id="77" name="기록 백업 · 불러오기 확인 2"/>
          <p:cNvSpPr/>
          <p:nvPr/>
        </p:nvSpPr>
        <p:spPr>
          <a:xfrm>
            <a:off x="6592824" y="4059936"/>
            <a:ext cx="164592" cy="164592"/>
          </a:xfrm>
          <a:prstGeom prst="ellipse">
            <a:avLst/>
          </a:prstGeom>
          <a:solidFill>
            <a:schemeClr val="bg1"/>
          </a:solidFill>
          <a:ln w="9525">
            <a:solidFill>
              <a:srgbClr val="5D636D"/>
            </a:solidFill>
            <a:prstDash val="solid"/>
          </a:ln>
        </p:spPr>
      </p:sp>
      <p:sp>
        <p:nvSpPr>
          <p:cNvPr id="78" name="Text 76"/>
          <p:cNvSpPr txBox="1"/>
          <p:nvPr/>
        </p:nvSpPr>
        <p:spPr>
          <a:xfrm>
            <a:off x="6903720" y="3950208"/>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파일 저장 확인</a:t>
            </a:r>
            <a:endParaRPr lang="en-US" sz="850" dirty="0"/>
          </a:p>
        </p:txBody>
      </p:sp>
      <p:sp>
        <p:nvSpPr>
          <p:cNvPr id="79" name="Shape 77"/>
          <p:cNvSpPr/>
          <p:nvPr/>
        </p:nvSpPr>
        <p:spPr>
          <a:xfrm>
            <a:off x="457200" y="4334256"/>
            <a:ext cx="8229600" cy="0"/>
          </a:xfrm>
          <a:prstGeom prst="line">
            <a:avLst/>
          </a:prstGeom>
          <a:noFill/>
          <a:ln w="9525">
            <a:solidFill>
              <a:srgbClr val="DCD9D0"/>
            </a:solidFill>
            <a:prstDash val="solid"/>
          </a:ln>
        </p:spPr>
      </p:sp>
      <p:sp>
        <p:nvSpPr>
          <p:cNvPr id="80" name="Text 78"/>
          <p:cNvSpPr txBox="1"/>
          <p:nvPr/>
        </p:nvSpPr>
        <p:spPr>
          <a:xfrm>
            <a:off x="457200" y="4389120"/>
            <a:ext cx="8229600" cy="384048"/>
          </a:xfrm>
          <a:prstGeom prst="rect">
            <a:avLst/>
          </a:prstGeom>
          <a:noFill/>
          <a:ln/>
        </p:spPr>
        <p:txBody>
          <a:bodyPr wrap="square" lIns="0" tIns="0" rIns="0" bIns="0" rtlCol="0" anchor="t"/>
          <a:lstStyle/>
          <a:p>
            <a:pPr indent="0" marL="0">
              <a:spcAft>
                <a:spcPts val="100"/>
              </a:spcAft>
              <a:buNone/>
            </a:pPr>
            <a:r>
              <a:rPr lang="en-US" sz="850" b="1" dirty="0">
                <a:solidFill>
                  <a:schemeClr val="tx2"/>
                </a:solidFill>
              </a:rPr>
              <a:t>계획 기준  </a:t>
            </a:r>
            <a:pPr indent="0" marL="0">
              <a:spcAft>
                <a:spcPts val="100"/>
              </a:spcAft>
              <a:buNone/>
            </a:pPr>
            <a:r>
              <a:rPr lang="en-US" sz="850" dirty="0">
                <a:solidFill>
                  <a:schemeClr val="tx1"/>
                </a:solidFill>
              </a:rPr>
              <a:t>10/13 MVP 기능 정의서의 포함 기능 8개(모두 동작)와 제외 기능 6개(금액 자동 인식 · 푸시 알림 · AI 문구 · 광고 · 로그인 · 진정서. 계획대로 넣지 않음)</a:t>
            </a:r>
            <a:endParaRPr lang="en-US" sz="850" dirty="0"/>
          </a:p>
          <a:p>
            <a:pPr indent="0" marL="0">
              <a:spcAft>
                <a:spcPts val="100"/>
              </a:spcAft>
              <a:buNone/>
            </a:pPr>
            <a:r>
              <a:rPr lang="en-US" sz="850" b="1" dirty="0">
                <a:solidFill>
                  <a:schemeClr val="tx2"/>
                </a:solidFill>
              </a:rPr>
              <a:t>% 기준  </a:t>
            </a:r>
            <a:pPr indent="0" marL="0">
              <a:spcAft>
                <a:spcPts val="100"/>
              </a:spcAft>
              <a:buNone/>
            </a:pPr>
            <a:r>
              <a:rPr lang="en-US" sz="850" dirty="0">
                <a:solidFill>
                  <a:schemeClr val="tx1"/>
                </a:solidFill>
              </a:rPr>
              <a:t>구현 + 실제 폰 확인 + 사용자 검증을 100으로 보고 남은 일만큼 뺀 자체 평가. 동작은 컴퓨터(폰 크기 화면)에서, 실제 폰은 설치까지 확인</a:t>
            </a:r>
            <a:endParaRPr lang="en-US" sz="8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950" b="1" dirty="0">
                <a:solidFill>
                  <a:schemeClr val="tx2"/>
                </a:solidFill>
              </a:rPr>
              <a:t>타겟 규모(어림)  </a:t>
            </a:r>
            <a:pPr indent="0" marL="0">
              <a:spcAft>
                <a:spcPts val="100"/>
              </a:spcAft>
              <a:buNone/>
            </a:pPr>
            <a:r>
              <a:rPr lang="en-US" sz="950" dirty="0">
                <a:solidFill>
                  <a:schemeClr val="tx1"/>
                </a:solidFill>
              </a:rPr>
              <a:t>재적학생 307만 명(교육부 2026, 대학원 포함) → 알바 경험 67~88%(학교 단위 조사, 대표값 아님) → 지금 알바 중 · 주 15시간 이상: 미상, 11월 설문으로. 경험 기준 상한 약 210~270만 명</a:t>
            </a:r>
            <a:endParaRPr lang="en-US" sz="950" dirty="0"/>
          </a:p>
          <a:p>
            <a:pPr indent="0" marL="0">
              <a:spcAft>
                <a:spcPts val="100"/>
              </a:spcAft>
              <a:buNone/>
            </a:pPr>
            <a:r>
              <a:rPr lang="en-US" sz="950" b="1" dirty="0">
                <a:solidFill>
                  <a:schemeClr val="tx2"/>
                </a:solidFill>
              </a:rPr>
              <a:t>타이밍  </a:t>
            </a:r>
            <a:pPr indent="0" marL="0">
              <a:spcAft>
                <a:spcPts val="100"/>
              </a:spcAft>
              <a:buNone/>
            </a:pPr>
            <a:r>
              <a:rPr lang="en-US" sz="950" dirty="0">
                <a:solidFill>
                  <a:schemeClr val="tx1"/>
                </a:solidFill>
              </a:rPr>
              <a:t>2025.9 임금체불 근절 대책(대지급금 확대), 2025.10 개정 근로기준법 시행(상습 체불 제재). 근거를 남겨 둔 사람이 돌려받기 쉬워지는 때</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320040"/>
          </a:xfrm>
          <a:prstGeom prst="rect">
            <a:avLst/>
          </a:prstGeom>
          <a:noFill/>
          <a:ln/>
        </p:spPr>
        <p:txBody>
          <a:bodyPr wrap="square" lIns="0" tIns="0" rIns="0" bIns="0" rtlCol="0" anchor="ctr"/>
          <a:lstStyle/>
          <a:p>
            <a:pPr indent="0" marL="0">
              <a:buNone/>
            </a:pPr>
            <a:r>
              <a:rPr lang="en-US" sz="1300" b="1" dirty="0">
                <a:solidFill>
                  <a:schemeClr val="tx2"/>
                </a:solidFill>
              </a:rPr>
              <a:t>왼쪽 위가 비어 있다</a:t>
            </a:r>
            <a:endParaRPr lang="en-US" sz="1300" dirty="0"/>
          </a:p>
        </p:txBody>
      </p:sp>
      <p:sp>
        <p:nvSpPr>
          <p:cNvPr id="22" name="Text 20"/>
          <p:cNvSpPr txBox="1"/>
          <p:nvPr/>
        </p:nvSpPr>
        <p:spPr>
          <a:xfrm>
            <a:off x="5943600" y="1737360"/>
            <a:ext cx="2743200" cy="2560320"/>
          </a:xfrm>
          <a:prstGeom prst="rect">
            <a:avLst/>
          </a:prstGeom>
          <a:noFill/>
          <a:ln/>
        </p:spPr>
        <p:txBody>
          <a:bodyPr wrap="square" lIns="0" tIns="0" rIns="0" bIns="0" rtlCol="0" anchor="t"/>
          <a:lstStyle/>
          <a:p>
            <a:pPr indent="0" marL="0">
              <a:buNone/>
            </a:pPr>
            <a:r>
              <a:rPr lang="en-US" sz="1050" dirty="0">
                <a:solidFill>
                  <a:schemeClr val="tx1"/>
                </a:solidFill>
              </a:rPr>
              <a:t>혼자 쓰면서 대응까지 가는 서비스가 없다. 하우머치 · 계산기는 계산에서 멈추고, 기그는 사장이 있어야 하고, 진정24는 증거가 있어야 한다.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핵심 화면: 기록 · 비교 · 요청 · 증빙</a:t>
            </a:r>
            <a:endParaRPr lang="en-US" sz="1200" dirty="0"/>
          </a:p>
          <a:p>
            <a:pPr indent="0" marL="0">
              <a:buNone/>
            </a:pPr>
            <a:r>
              <a:rPr lang="en-US" sz="900" dirty="0">
                <a:solidFill>
                  <a:schemeClr val="accent5"/>
                </a:solidFill>
              </a:rPr>
              <a:t>신뢰가 핵심인 화면에는 광고를 섞지 않는다. 사장님께 보낼 문서를 만드는 화면에 광고가 보이면 신뢰가 깎인다</a:t>
            </a:r>
            <a:endParaRPr lang="en-US" sz="1200" dirty="0"/>
          </a:p>
        </p:txBody>
      </p:sp>
      <p:sp>
        <p:nvSpPr>
          <p:cNvPr id="6" name="Text 4"/>
          <p:cNvSpPr txBox="1"/>
          <p:nvPr/>
        </p:nvSpPr>
        <p:spPr>
          <a:xfrm>
            <a:off x="7040880" y="1508760"/>
            <a:ext cx="1645920" cy="603504"/>
          </a:xfrm>
          <a:prstGeom prst="rect">
            <a:avLst/>
          </a:prstGeom>
          <a:noFill/>
          <a:ln/>
        </p:spPr>
        <p:txBody>
          <a:bodyPr wrap="square" lIns="0" tIns="0" rIns="0" bIns="0" rtlCol="0" anchor="ctr"/>
          <a:lstStyle/>
          <a:p>
            <a:pPr algn="r" indent="0" marL="0">
              <a:buNone/>
            </a:pPr>
            <a:r>
              <a:rPr lang="en-US" sz="1200" b="1" dirty="0">
                <a:solidFill>
                  <a:schemeClr val="accent2"/>
                </a:solidFill>
              </a:rPr>
              <a:t>무료 · 광고 없음</a:t>
            </a:r>
            <a:endParaRPr lang="en-US" sz="1200" dirty="0"/>
          </a:p>
        </p:txBody>
      </p:sp>
      <p:sp>
        <p:nvSpPr>
          <p:cNvPr id="7" name="Shape 5"/>
          <p:cNvSpPr/>
          <p:nvPr/>
        </p:nvSpPr>
        <p:spPr>
          <a:xfrm>
            <a:off x="457200" y="2112264"/>
            <a:ext cx="8229600" cy="0"/>
          </a:xfrm>
          <a:prstGeom prst="line">
            <a:avLst/>
          </a:prstGeom>
          <a:noFill/>
          <a:ln w="9525">
            <a:solidFill>
              <a:srgbClr val="DCD9D0"/>
            </a:solidFill>
            <a:prstDash val="solid"/>
          </a:ln>
        </p:spPr>
      </p:sp>
      <p:sp>
        <p:nvSpPr>
          <p:cNvPr id="8" name="Text 6"/>
          <p:cNvSpPr txBox="1"/>
          <p:nvPr/>
        </p:nvSpPr>
        <p:spPr>
          <a:xfrm>
            <a:off x="457200" y="2112264"/>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1차 (가설): 쉬는 틈 게임 화면 광고</a:t>
            </a:r>
            <a:endParaRPr lang="en-US" sz="1200" dirty="0"/>
          </a:p>
          <a:p>
            <a:pPr indent="0" marL="0">
              <a:buNone/>
            </a:pPr>
            <a:r>
              <a:rPr lang="en-US" sz="900" dirty="0">
                <a:solidFill>
                  <a:schemeClr val="accent5"/>
                </a:solidFill>
              </a:rPr>
              <a:t>웹앱이라 배너 · 전면이 기본, 보상형은 승인 뒤(미신청). 단가 · 체류 시간은 측정 전이라 매출 추정은 적지 않는다. 가설 확인: 설문 "게임 화면 광고" 문항, 승인 뒤 게임 화면 열람 수</a:t>
            </a:r>
            <a:endParaRPr lang="en-US" sz="1200" dirty="0"/>
          </a:p>
        </p:txBody>
      </p:sp>
      <p:sp>
        <p:nvSpPr>
          <p:cNvPr id="9" name="Text 7"/>
          <p:cNvSpPr txBox="1"/>
          <p:nvPr/>
        </p:nvSpPr>
        <p:spPr>
          <a:xfrm>
            <a:off x="7040880" y="2112264"/>
            <a:ext cx="1645920" cy="603504"/>
          </a:xfrm>
          <a:prstGeom prst="rect">
            <a:avLst/>
          </a:prstGeom>
          <a:noFill/>
          <a:ln/>
        </p:spPr>
        <p:txBody>
          <a:bodyPr wrap="square" lIns="0" tIns="0" rIns="0" bIns="0" rtlCol="0" anchor="ctr"/>
          <a:lstStyle/>
          <a:p>
            <a:pPr algn="r" indent="0" marL="0">
              <a:buNone/>
            </a:pPr>
            <a:r>
              <a:rPr lang="en-US" sz="1200" b="1" dirty="0">
                <a:solidFill>
                  <a:schemeClr val="tx2"/>
                </a:solidFill>
              </a:rPr>
              <a:t>게임 화면만</a:t>
            </a:r>
            <a:endParaRPr lang="en-US" sz="1200" dirty="0"/>
          </a:p>
        </p:txBody>
      </p:sp>
      <p:sp>
        <p:nvSpPr>
          <p:cNvPr id="10" name="Shape 8"/>
          <p:cNvSpPr/>
          <p:nvPr/>
        </p:nvSpPr>
        <p:spPr>
          <a:xfrm>
            <a:off x="457200" y="2715768"/>
            <a:ext cx="8229600" cy="0"/>
          </a:xfrm>
          <a:prstGeom prst="line">
            <a:avLst/>
          </a:prstGeom>
          <a:noFill/>
          <a:ln w="9525">
            <a:solidFill>
              <a:srgbClr val="DCD9D0"/>
            </a:solidFill>
            <a:prstDash val="solid"/>
          </a:ln>
        </p:spPr>
      </p:sp>
      <p:sp>
        <p:nvSpPr>
          <p:cNvPr id="11" name="Text 9"/>
          <p:cNvSpPr txBox="1"/>
          <p:nvPr/>
        </p:nvSpPr>
        <p:spPr>
          <a:xfrm>
            <a:off x="457200" y="2715768"/>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2차 (후보): 편의 기능 구독</a:t>
            </a:r>
            <a:endParaRPr lang="en-US" sz="1200" dirty="0"/>
          </a:p>
          <a:p>
            <a:pPr indent="0" marL="0">
              <a:buNone/>
            </a:pPr>
            <a:r>
              <a:rPr lang="en-US" sz="900" dirty="0">
                <a:solidFill>
                  <a:schemeClr val="accent5"/>
                </a:solidFill>
              </a:rPr>
              <a:t>여러 폰 동기화 · 자동 백업: "기록이 폰에만 있다"는 약점을 돈 내고 없애는 선택 기능. 문서 · 법률과 무관</a:t>
            </a:r>
            <a:endParaRPr lang="en-US" sz="1200" dirty="0"/>
          </a:p>
        </p:txBody>
      </p:sp>
      <p:sp>
        <p:nvSpPr>
          <p:cNvPr id="12" name="Text 10"/>
          <p:cNvSpPr txBox="1"/>
          <p:nvPr/>
        </p:nvSpPr>
        <p:spPr>
          <a:xfrm>
            <a:off x="7040880" y="2715768"/>
            <a:ext cx="1645920" cy="603504"/>
          </a:xfrm>
          <a:prstGeom prst="rect">
            <a:avLst/>
          </a:prstGeom>
          <a:noFill/>
          <a:ln/>
        </p:spPr>
        <p:txBody>
          <a:bodyPr wrap="square" lIns="0" tIns="0" rIns="0" bIns="0" rtlCol="0" anchor="ctr"/>
          <a:lstStyle/>
          <a:p>
            <a:pPr algn="r" indent="0" marL="0">
              <a:buNone/>
            </a:pPr>
            <a:r>
              <a:rPr lang="en-US" sz="1200" b="1" dirty="0">
                <a:solidFill>
                  <a:schemeClr val="tx2"/>
                </a:solidFill>
              </a:rPr>
              <a:t>구독</a:t>
            </a:r>
            <a:endParaRPr lang="en-US" sz="1200" dirty="0"/>
          </a:p>
        </p:txBody>
      </p:sp>
      <p:sp>
        <p:nvSpPr>
          <p:cNvPr id="13" name="Shape 11"/>
          <p:cNvSpPr/>
          <p:nvPr/>
        </p:nvSpPr>
        <p:spPr>
          <a:xfrm>
            <a:off x="457200" y="3319272"/>
            <a:ext cx="8229600" cy="0"/>
          </a:xfrm>
          <a:prstGeom prst="line">
            <a:avLst/>
          </a:prstGeom>
          <a:noFill/>
          <a:ln w="9525">
            <a:solidFill>
              <a:srgbClr val="DCD9D0"/>
            </a:solidFill>
            <a:prstDash val="solid"/>
          </a:ln>
        </p:spPr>
      </p:sp>
      <p:sp>
        <p:nvSpPr>
          <p:cNvPr id="14" name="Text 12"/>
          <p:cNvSpPr txBox="1"/>
          <p:nvPr/>
        </p:nvSpPr>
        <p:spPr>
          <a:xfrm>
            <a:off x="457200" y="3319272"/>
            <a:ext cx="6583680" cy="603504"/>
          </a:xfrm>
          <a:prstGeom prst="rect">
            <a:avLst/>
          </a:prstGeom>
          <a:noFill/>
          <a:ln/>
        </p:spPr>
        <p:txBody>
          <a:bodyPr wrap="square" lIns="0" tIns="0" rIns="0" bIns="0" rtlCol="0" anchor="ctr"/>
          <a:lstStyle/>
          <a:p>
            <a:pPr indent="0" marL="0">
              <a:buNone/>
            </a:pPr>
            <a:r>
              <a:rPr lang="en-US" sz="1200" b="1" dirty="0">
                <a:solidFill>
                  <a:schemeClr val="accent3"/>
                </a:solidFill>
              </a:rPr>
              <a:t>하지 않는 것: 정산 문구 · 내용증명 · 증빙 묶음 유료화</a:t>
            </a:r>
            <a:endParaRPr lang="en-US" sz="1200" dirty="0"/>
          </a:p>
          <a:p>
            <a:pPr indent="0" marL="0">
              <a:buNone/>
            </a:pPr>
            <a:r>
              <a:rPr lang="en-US" sz="900" dirty="0">
                <a:solidFill>
                  <a:schemeClr val="accent5"/>
                </a:solidFill>
              </a:rPr>
              <a:t>돈을 받고 문서를 만들어 주면 변호사법 · 공인노무사법 문제에 가까워진다 (웹 조사 기준). 비용은 지금 서버 0원 · 배포 0원, 인건비는 팀 3명</a:t>
            </a:r>
            <a:endParaRPr lang="en-US" sz="1200" dirty="0"/>
          </a:p>
        </p:txBody>
      </p:sp>
      <p:sp>
        <p:nvSpPr>
          <p:cNvPr id="15" name="Text 13"/>
          <p:cNvSpPr txBox="1"/>
          <p:nvPr/>
        </p:nvSpPr>
        <p:spPr>
          <a:xfrm>
            <a:off x="7040880" y="3319272"/>
            <a:ext cx="1645920" cy="603504"/>
          </a:xfrm>
          <a:prstGeom prst="rect">
            <a:avLst/>
          </a:prstGeom>
          <a:noFill/>
          <a:ln/>
        </p:spPr>
        <p:txBody>
          <a:bodyPr wrap="square" lIns="0" tIns="0" rIns="0" bIns="0" rtlCol="0" anchor="ctr"/>
          <a:lstStyle/>
          <a:p>
            <a:pPr algn="r" indent="0" marL="0">
              <a:buNone/>
            </a:pPr>
            <a:r>
              <a:rPr lang="en-US" sz="1200" b="1" dirty="0">
                <a:solidFill>
                  <a:schemeClr val="accent3"/>
                </a:solidFill>
              </a:rPr>
              <a:t>유료화 안 함</a:t>
            </a:r>
            <a:endParaRPr lang="en-US" sz="1200" dirty="0"/>
          </a:p>
        </p:txBody>
      </p:sp>
      <p:sp>
        <p:nvSpPr>
          <p:cNvPr id="16" name="Shape 14"/>
          <p:cNvSpPr/>
          <p:nvPr/>
        </p:nvSpPr>
        <p:spPr>
          <a:xfrm>
            <a:off x="457200" y="3922776"/>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000" dirty="0">
                <a:solidFill>
                  <a:schemeClr val="tx1"/>
                </a:solidFill>
              </a:rPr>
              <a:t>링크 하나로 설치되니 에브리타임 · 학과 · 동아리 단톡 · 알바 커뮤니티에 링크로 전파. "주휴수당 계산법" 같은 짧은 영상으로 유입</a:t>
            </a:r>
            <a:endParaRPr lang="en-US" sz="10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000" b="1" dirty="0">
                <a:solidFill>
                  <a:schemeClr val="tx2"/>
                </a:solidFill>
              </a:rPr>
              <a:t>홈 화면 추가 → 첫 기록 → 받은 금액 입력 → 차액 발견 → 요청 보냄 → 실제로 받음 (인터뷰)</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확인할 가설 하나, 11월에 재는 법 다섯</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6"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377440"/>
                <a:gridCol w="2286000"/>
                <a:gridCol w="1554480"/>
                <a:gridCol w="2011680"/>
              </a:tblGrid>
              <a:tr h="274320">
                <a:tc>
                  <a:txBody>
                    <a:bodyPr/>
                    <a:lstStyle/>
                    <a:p>
                      <a:pPr indent="0" marL="0">
                        <a:buNone/>
                      </a:pPr>
                      <a:r>
                        <a:rPr lang="en-US" sz="900" b="1" dirty="0">
                          <a:solidFill>
                            <a:srgbClr val="5D636D"/>
                          </a:solidFill>
                        </a:rPr>
                        <a:t>재는 것</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방법</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기준 (팀이 정함)</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못 미치면</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29184">
                <a:tc>
                  <a:txBody>
                    <a:bodyPr/>
                    <a:lstStyle/>
                    <a:p>
                      <a:pPr indent="0" marL="0">
                        <a:buNone/>
                      </a:pPr>
                      <a:r>
                        <a:rPr lang="en-US" sz="900" b="1" dirty="0">
                          <a:solidFill>
                            <a:srgbClr val="15171A"/>
                          </a:solidFill>
                        </a:rPr>
                        <a:t>매달 받은 금액을 직접 넣는다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 5명(22번) + 설문 "매달 받은 금액 직접 넣기"</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3명 "넣겠다"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보류한 입금 문자 · 명세서 자동 인식을 앞당긴다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만든 요청 문구를 실제로 보낼 수 있다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인터뷰(문구를 보여 주고, 20번)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3명 "보내겠다"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문구 톤 · 단계를 다시 짠다 (11/10~)</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확인 번호 설명을 듣고 무엇인지 말할 수 있다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인터뷰(21번)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4명</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설정 · 증빙 문구를 고친다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타겟 중 주 15시간 이상이 다수다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설문 "주당 근무 시간"</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응답 30명 넘을 때 비율로</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주휴수당 중심 메시지를 바꾼다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게임 화면 광고를 받아들인다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설문 "게임 화면 광고" + 인터뷰(23 · 24번)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"싫다"가 반을 넘지 않는다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11/23 광고 실험 대신 새 게임으로</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611880"/>
            <a:ext cx="8229600" cy="365760"/>
          </a:xfrm>
          <a:prstGeom prst="rect">
            <a:avLst/>
          </a:prstGeom>
          <a:noFill/>
          <a:ln/>
        </p:spPr>
        <p:txBody>
          <a:bodyPr wrap="square" lIns="0" tIns="0" rIns="0" bIns="0" rtlCol="0" anchor="ctr"/>
          <a:lstStyle/>
          <a:p>
            <a:pPr indent="0" marL="0">
              <a:buNone/>
            </a:pPr>
            <a:r>
              <a:rPr lang="en-US" sz="950" dirty="0">
                <a:solidFill>
                  <a:schemeClr val="tx1"/>
                </a:solidFill>
              </a:rPr>
              <a:t>모집: 설문은 학과 · 동아리 단톡, 에브리타임, 그리고 오늘 이 자리(QR). 인터뷰 5명은 지인 중 지금 알바 중인 사람, 11/3~11/9, 1명당 20분</a:t>
            </a:r>
            <a:endParaRPr lang="en-US" sz="950" dirty="0"/>
          </a:p>
        </p:txBody>
      </p:sp>
      <p:sp>
        <p:nvSpPr>
          <p:cNvPr id="7" name="Shape 4"/>
          <p:cNvSpPr/>
          <p:nvPr/>
        </p:nvSpPr>
        <p:spPr>
          <a:xfrm>
            <a:off x="457200" y="3977640"/>
            <a:ext cx="8229600" cy="0"/>
          </a:xfrm>
          <a:prstGeom prst="line">
            <a:avLst/>
          </a:prstGeom>
          <a:noFill/>
          <a:ln w="9525">
            <a:solidFill>
              <a:srgbClr val="DCD9D0"/>
            </a:solidFill>
            <a:prstDash val="solid"/>
          </a:ln>
        </p:spPr>
      </p:sp>
      <p:sp>
        <p:nvSpPr>
          <p:cNvPr id="8" name="Text 5"/>
          <p:cNvSpPr txBox="1"/>
          <p:nvPr/>
        </p:nvSpPr>
        <p:spPr>
          <a:xfrm>
            <a:off x="457200" y="3977640"/>
            <a:ext cx="8229600" cy="365760"/>
          </a:xfrm>
          <a:prstGeom prst="rect">
            <a:avLst/>
          </a:prstGeom>
          <a:noFill/>
          <a:ln/>
        </p:spPr>
        <p:txBody>
          <a:bodyPr wrap="square" lIns="0" tIns="0" rIns="0" bIns="0" rtlCol="0" anchor="ctr"/>
          <a:lstStyle/>
          <a:p>
            <a:pPr indent="0" marL="0">
              <a:buNone/>
            </a:pPr>
            <a:r>
              <a:rPr lang="en-US" sz="950" dirty="0">
                <a:solidFill>
                  <a:schemeClr val="tx1"/>
                </a:solidFill>
              </a:rPr>
              <a:t>들은 것(정식 조사 아님): 타겟 사용자 1명이 디자인 시안 12장 중 통장 구성을 골랐다 · 링크 설문은 10/23 공개, 응답 수는 발표 당일 결과 페이지에서 읽는다</a:t>
            </a:r>
            <a:endParaRPr lang="en-US" sz="950" dirty="0"/>
          </a:p>
        </p:txBody>
      </p:sp>
      <p:sp>
        <p:nvSpPr>
          <p:cNvPr id="9" name="Shape 6"/>
          <p:cNvSpPr/>
          <p:nvPr/>
        </p:nvSpPr>
        <p:spPr>
          <a:xfrm>
            <a:off x="457200" y="4343400"/>
            <a:ext cx="8229600" cy="0"/>
          </a:xfrm>
          <a:prstGeom prst="line">
            <a:avLst/>
          </a:prstGeom>
          <a:noFill/>
          <a:ln w="9525">
            <a:solidFill>
              <a:srgbClr val="DCD9D0"/>
            </a:solidFill>
            <a:prstDash val="solid"/>
          </a:ln>
        </p:spPr>
      </p:sp>
      <p:sp>
        <p:nvSpPr>
          <p:cNvPr id="10" name="Text 7"/>
          <p:cNvSpPr txBox="1"/>
          <p:nvPr/>
        </p:nvSpPr>
        <p:spPr>
          <a:xfrm>
            <a:off x="457200" y="4343400"/>
            <a:ext cx="8229600" cy="365760"/>
          </a:xfrm>
          <a:prstGeom prst="rect">
            <a:avLst/>
          </a:prstGeom>
          <a:noFill/>
          <a:ln/>
        </p:spPr>
        <p:txBody>
          <a:bodyPr wrap="square" lIns="0" tIns="0" rIns="0" bIns="0" rtlCol="0" anchor="ctr"/>
          <a:lstStyle/>
          <a:p>
            <a:pPr indent="0" marL="0">
              <a:buNone/>
            </a:pPr>
            <a:r>
              <a:rPr lang="en-US" sz="950" dirty="0">
                <a:solidFill>
                  <a:schemeClr val="tx1"/>
                </a:solidFill>
              </a:rPr>
              <a:t>왜 검증보다 개발이 먼저였나: 링크로 배포되는 웹앱이라 만들어 보여 주는 게 가장 싼 검증이었다. 설문에도 앱 캡처 3장을 넣고 "실제로 있다면 쓰겠나"를 묻는다</a:t>
            </a:r>
            <a:endParaRPr lang="en-US" sz="950" dirty="0"/>
          </a:p>
        </p:txBody>
      </p:sp>
      <p:sp>
        <p:nvSpPr>
          <p:cNvPr id="11" name="Shape 8"/>
          <p:cNvSpPr/>
          <p:nvPr/>
        </p:nvSpPr>
        <p:spPr>
          <a:xfrm>
            <a:off x="457200" y="4709160"/>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52851"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11/9 설문 1차 · 인터뷰</a:t>
            </a:r>
            <a:endParaRPr lang="en-US" sz="7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093823" y="1901952"/>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11/23 반영 배포 · 광고 결정</a:t>
            </a:r>
            <a:endParaRPr lang="en-US" sz="7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14309"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11/30 폰 검증 끝</a:t>
            </a:r>
            <a:endParaRPr lang="en-US" sz="7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34794" y="1901952"/>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12/7 기능 동결</a:t>
            </a:r>
            <a:endParaRPr lang="en-US" sz="7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7955280"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12/15 기말</a:t>
            </a:r>
            <a:endParaRPr lang="en-US" sz="7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800" b="1" dirty="0">
                <a:solidFill>
                  <a:schemeClr val="accent3"/>
                </a:solidFill>
              </a:rPr>
              <a:t>마일스톤</a:t>
            </a:r>
            <a:endParaRPr lang="en-US" sz="80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10/27</a:t>
            </a:r>
            <a:endParaRPr lang="en-US" sz="9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11/3</a:t>
            </a:r>
            <a:endParaRPr lang="en-US" sz="9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11/10</a:t>
            </a:r>
            <a:endParaRPr lang="en-US" sz="9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11/17</a:t>
            </a:r>
            <a:endParaRPr lang="en-US" sz="9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11/24</a:t>
            </a:r>
            <a:endParaRPr lang="en-US" sz="9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12/1</a:t>
            </a:r>
            <a:endParaRPr lang="en-US" sz="9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12/8</a:t>
            </a:r>
            <a:endParaRPr lang="en-US" sz="9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담당</a:t>
            </a:r>
            <a:endParaRPr lang="en-US" sz="9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950" dirty="0">
                <a:solidFill>
                  <a:schemeClr val="tx1"/>
                </a:solidFill>
              </a:rPr>
              <a:t>설문 30명 수집 · 집계</a:t>
            </a:r>
            <a:endParaRPr lang="en-US" sz="95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손유호</a:t>
            </a:r>
            <a:endParaRPr lang="en-US" sz="80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950" dirty="0">
                <a:solidFill>
                  <a:schemeClr val="tx1"/>
                </a:solidFill>
              </a:rPr>
              <a:t>직접 인터뷰 5명</a:t>
            </a:r>
            <a:endParaRPr lang="en-US" sz="95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박명진</a:t>
            </a:r>
            <a:endParaRPr lang="en-US" sz="80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950" dirty="0">
                <a:solidFill>
                  <a:schemeClr val="tx1"/>
                </a:solidFill>
              </a:rPr>
              <a:t>피드백 반영 1차 (문구 · 화면)</a:t>
            </a:r>
            <a:endParaRPr lang="en-US" sz="95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a:t>
            </a:r>
            <a:endParaRPr lang="en-US" sz="80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문구 · 화면)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950" dirty="0">
                <a:solidFill>
                  <a:schemeClr val="tx1"/>
                </a:solidFill>
              </a:rPr>
              <a:t>실제 폰 검증 (아이폰 · 갤럭시)</a:t>
            </a:r>
            <a:endParaRPr lang="en-US" sz="95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이지훈(아이폰) · 박명진(갤럭시 주관)</a:t>
            </a:r>
            <a:endParaRPr lang="en-US" sz="80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950" dirty="0">
                <a:solidFill>
                  <a:schemeClr val="tx1"/>
                </a:solidFill>
              </a:rPr>
              <a:t>기록 등록 보강 (내용으로 번호 다시 계산)</a:t>
            </a:r>
            <a:endParaRPr lang="en-US" sz="95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a:t>
            </a:r>
            <a:endParaRPr lang="en-US" sz="80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내용으로 번호 다시 계산)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950" dirty="0">
                <a:solidFill>
                  <a:schemeClr val="tx1"/>
                </a:solidFill>
              </a:rPr>
              <a:t>광고 실험 또는 새 게임 (11/23 설문 결과로 하나를 정함)</a:t>
            </a:r>
            <a:endParaRPr lang="en-US" sz="95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손유호(승인 신청) · 이지훈(코드)</a:t>
            </a:r>
            <a:endParaRPr lang="en-US" sz="80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설문 결과로 하나를 정함)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950" dirty="0">
                <a:solidFill>
                  <a:schemeClr val="tx1"/>
                </a:solidFill>
              </a:rPr>
              <a:t>최종 보고서 · 발표 준비</a:t>
            </a:r>
            <a:endParaRPr lang="en-US" sz="95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전원</a:t>
            </a:r>
            <a:endParaRPr lang="en-US" sz="80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 (지금까지)</a:t>
            </a:r>
            <a:endParaRPr lang="en-US" sz="1150" dirty="0"/>
          </a:p>
          <a:p>
            <a:pPr marL="152400" indent="-152400">
              <a:spcAft>
                <a:spcPts val="400"/>
              </a:spcAft>
              <a:buSzPct val="100000"/>
              <a:buChar char="•"/>
            </a:pPr>
            <a:r>
              <a:rPr lang="en-US" sz="1150" dirty="0">
                <a:solidFill>
                  <a:schemeClr val="bg1"/>
                </a:solidFill>
              </a:rPr>
              <a:t>기록 등록 보강, 실제 폰 검증 (앞으로)</a:t>
            </a:r>
            <a:endParaRPr lang="en-US" sz="1150" dirty="0"/>
          </a:p>
          <a:p>
            <a:pPr marL="152400" indent="-152400">
              <a:spcAft>
                <a:spcPts val="400"/>
              </a:spcAft>
              <a:buSzPct val="100000"/>
              <a:buChar char="•"/>
            </a:pPr>
            <a:r>
              <a:rPr lang="en-US" sz="1150" dirty="0">
                <a:solidFill>
                  <a:schemeClr val="bg1"/>
                </a:solidFill>
              </a:rPr>
              <a:t>기술 · 차별점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모으기 · 집계</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운영</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사용자 인터뷰 5명 · 검증</a:t>
            </a:r>
            <a:endParaRPr lang="en-US" sz="1150" dirty="0"/>
          </a:p>
          <a:p>
            <a:pPr marL="152400" indent="-152400">
              <a:spcAft>
                <a:spcPts val="400"/>
              </a:spcAft>
              <a:buSzPct val="100000"/>
              <a:buChar char="•"/>
            </a:pPr>
            <a:r>
              <a:rPr lang="en-US" sz="1150" dirty="0">
                <a:solidFill>
                  <a:schemeClr val="bg1"/>
                </a:solidFill>
              </a:rPr>
              <a:t>실제 폰 검증 주관 (갤럭시)</a:t>
            </a:r>
            <a:endParaRPr lang="en-US" sz="1150" dirty="0"/>
          </a:p>
          <a:p>
            <a:pPr marL="152400" indent="-152400">
              <a:spcAft>
                <a:spcPts val="400"/>
              </a:spcAft>
              <a:buSzPct val="100000"/>
              <a:buChar char="•"/>
            </a:pPr>
            <a:r>
              <a:rPr lang="en-US" sz="1150" dirty="0">
                <a:solidFill>
                  <a:schemeClr val="bg1"/>
                </a:solidFill>
              </a:rPr>
              <a:t>일정 관리, 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지금까지는 팀장이 만들었고, 오늘부터 셋이 나눠 맡습니다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2026-10-25T13:08:34Z</dcterms:created>
  <dcterms:modified xsi:type="dcterms:W3CDTF">2026-10-25T13:08:34Z</dcterms:modified>
</cp:coreProperties>
</file>