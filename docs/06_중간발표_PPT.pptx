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8cb69191-ff25-244d-1bd8-1c4250249a85}">
          <p14:sldIdLst>
            <p14:sldId id="256"/>
            <p14:sldId id="257"/>
          </p14:sldIdLst>
        </p14:section>
        <p14:section name="② 문제 정의" id="{d038dd58-4a7f-ae87-b48e-f7daab49618b}">
          <p14:sldIdLst>
            <p14:sldId id="258"/>
            <p14:sldId id="259"/>
          </p14:sldIdLst>
        </p14:section>
        <p14:section name="③ 솔루션·핵심 가치" id="{c434f3d7-a85a-479f-a8cc-8b9e68bb7d20}">
          <p14:sldIdLst>
            <p14:sldId id="260"/>
            <p14:sldId id="261"/>
          </p14:sldIdLst>
        </p14:section>
        <p14:section name="④ SW 기술 아키텍처" id="{b109b847-506b-d5da-337c-b47afdcb9fe9}">
          <p14:sldIdLst>
            <p14:sldId id="262"/>
            <p14:sldId id="263"/>
          </p14:sldIdLst>
        </p14:section>
        <p14:section name="⑤ 개발 현황·MVP 시연" id="{b80d5f22-29ec-a689-9263-cb009d7ce924}">
          <p14:sldIdLst>
            <p14:sldId id="264"/>
            <p14:sldId id="265"/>
            <p14:sldId id="266"/>
            <p14:sldId id="267"/>
          </p14:sldIdLst>
        </p14:section>
        <p14:section name="⑥ 시장 분석·비즈니스 모델" id="{4af3e9d9-7611-beb4-60b9-ecbbad4bb643}">
          <p14:sldIdLst>
            <p14:sldId id="268"/>
            <p14:sldId id="269"/>
            <p14:sldId id="270"/>
          </p14:sldIdLst>
        </p14:section>
        <p14:section name="⑦ 초기 시장 검증" id="{02e97832-2fad-e9d7-bc0f-bcca86f7ceff}">
          <p14:sldIdLst>
            <p14:sldId id="271"/>
          </p14:sldIdLst>
        </p14:section>
        <p14:section name="⑧ 향후 계획·팀 역량" id="{24780e2f-19e7-543d-22d5-d59bf03043eb}">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빨리 만들 수 있어서, 화면을 먼저 만들고 그걸 보여 주며 묻는 순서를 택했습니다. 오늘 보여 드리는 건 완성품이 아니라 검증용 도구입니다." 사용자 검증은 11월에 합니다. 오른쪽 QR은 앱과 설문입니다. 설문은 이름을 받지 않고 3분이라, 들으시면서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문제를 숫자로 보여 줍니다. 모두 알바천국 설문이라 "플랫폼 설문"이라는 점을 말하고, 그래서 우리도 직접 설문을 돌리고 있다고 잇습니다. 33.2%는 노동절 수당 안내에 대한 숫자라 "수당 자체가 안내되지 않는다"까지만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앱이 실제로 겨루는 상대는 다른 앱보다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줄은 다른 서비스가 모두 X이고 알바가드만 O입니다. 그 세 줄이 저희가 채우는 부분입니다.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번째가 따라 하기 어려운 차별점입니다. 기능 하나가 아니라 기록 구조라서, 사유 없이는 못 고치고 삭제해도 흔적이 남고 고치면 다시 등록됩니다. 기존 급여 앱이 넣으려면 사용자가 기록을 마음대로 고치던 방식을 포기해야 합니다. 지금 확인 페이지는 번호의 서버 등록 시각까지 보여 주고, 기록 내용에서 번호를 다시 계산해 맞춰 보는 방법은 기말까지 만듭니다(그래서 12장에서 70%). 근무지 · 시각 · 금액은 서버로 가지 않고, "그날 실제로 일했다"까지는 증명하지 못합니다. 한계는 먼저 말합니다. "법적 효력" 질문이 오면 보장하지 않는다고 답하고,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학기 안에 혼자 만들 수 있는 구성입니다. 서버를 최소로 둔 이유는 개인정보와 비용 둘 다입니다. 배포는 링크 하나라 사용자 의견을 듣고 바로 고칠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폰 안에서 모든 계산이 끝나고, 서버로 가는 건 확인 번호뿐입니다. 기기 번호는 처음 기록을 등록할 때 앱이 만든 난수라 휴대전화 번호가 아닙니다. 앱이 쓰는 공개 키로는 넣기와 읽기만 되고, 직접 요청을 보내 확인했습니다.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시점확인은 비용 때문에 계획입니다. 오른쪽은 기록 하나가 남을 때의 흐름입니다. 증빙 묶음 PDF 7번 표에 기록별 확인 번호와 등록 시각이 들어갑니다. 배포는 GitHub main에 올리면 Actions가 Pages로 자동 배포합니다.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타겟 사용자(하우머치를 쓰는 친구)가 시안 12장 중 고른 통장 구성입니다. 잉크 남색은 "기록을 잉크로 남긴다"는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단계(등록 → 비교 → 요청 · 증빙 → 확인)가 차별점과 하나씩 맞물립니다. 영상에 안 나오는 것은 말로 짚습니다: 캘린더의 연장 · 대타 표시(9장 캡처), 3단계 진정 안내(1350 · 노동포털 연결, 진정서는 만들지 않음).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39초)으로 하고, 단계마다 멈춰서 설명하면 약 3분입니다. 영상은 배포된 앱을 실제로 눌러 찍은 것이라 서버 등록과 확인 번호가 진짜입니다(10/26 녹화. 화면의 시각은 녹화한 시각). 질문이 오면 실제 앱으로 1단계(출근 · 퇴근 → "2건 등록됨")만 보여 줍니다. 전날 할 일: Supabase 대시보드에서 프로젝트 상태를 확인하고(잠들어 있으면 Restore) 앱에서 출근 · 퇴근을 눌러 설정 탭에 "2건 등록됨"이 뜨는지 본다. 그다음 폰의 와이파이를 끄고 데이터로 확인 페이지(jihooni217.github.io/albaguard/verify.html?h=92f6228a4349bdc8)를 열어 등록 시각이 나오는지 본다. 당일 아침에도 한 번 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전에 한 문장: "보실 것 하나만 말씀드리면 마지막 장면의 등록 시각입니다. 지금 서버에 그대로 있는 값입니다." 영상을 누르면 재생됩니다. 왼쪽이 폰 화면, 오른쪽이 단계 자막입니다. 1 출근 · 퇴근 → 설정 "2건 등록됨"(약 0:08~0:27), 2 받은 금액 입력 → 빨간 차액(0:27~0:47), 3 메시지 생성 → 증빙 묶음 PDF 7번 표(0:47~1:25), 4 확인 페이지 → 서버 등록 시각(1:25~1:39). 단계가 바뀔 때 멈추고 한두 문장씩 설명합니다. 영상이 안 열리면 docs/08_시연_영상.mp4를 따로 틀어도 됩니다. 영상 마지막에 나오는 확인 번호는 92f6228a4349bdc8입니다. "녹화라서 못 믿겠다"는 질문이 오면 "지금 폰으로 jihooni217.github.io/albaguard/verify.html?h=92f6228a4349bdc8 를 열어 보셔도 됩니다. 서버가 찍은 시각이 녹화 시각(10/26)과 같습니다"라고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9월 기획서의 기능 4개에서 출발해, 10/13 MVP 기능 정의서에서 포함 8개 · 제외 6개(금액 자동 인식 · 푸시 알림 · AI 문구 · 광고 · 로그인 · 진정서)로 고정한 것입니다.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세 칸 중 첫 칸만 찼는데 왜 80~90%냐고 물으시면, %는 칸 수가 아니라 남은 일의 크기로 어림한 것이고 11월 검증에서 큰 수정이 나오면 내려갈 수 있다고 답합니다.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타겟 규모는 어림이라 "약"을 붙여 말하고, 없는 숫자(지금 알바 중, 주 15시간 이상)는 미상으로 둡니다. 재적학생은 교육부 2026 교육기본통계(대학원 포함), 알바 경험률은 알바몬 설문(1,193명, 여름방학 알바 88.9%, 2023)과 동대신문 설문(200명, 67.5%)이라 대표값이 아닙니다. 근절 대책은 대지급금을 3개월분에서 6개월분으로 늘렸고, 개정법은 상습 체불 사업주에게 신용 제재를 겁니다. 체불 통계는 문제의 크기이지 알바 시장의 크기가 아닙니다. 알바생 몫은 이 통계에서 알 수 없어 미상으로 둡니다. "주 15시간 이상이 다수인지의 첫 조각은 지금 답하고 계신 설문에서 나오지만, 규모 추정이 아니라 메시지를 정하는 참고값입니다. 다음 순서에서 박명진이 말씀드립니다."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2×2에서 알바가드는 "혼자 쓴다 × 대응까지"에 있습니다. 오른쪽 열은 혼자서는 시작할 수 없는 서비스입니다. 기그는 사장이 가입해야 하고, 진정24는 증거가 먼저 있어야 합니다.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알바비 앱에 왜 게임이 있나: 출퇴근은 일하는 날마다 누르지만 돈을 확인하는 건 급여일에 한 번이라, 그 사이에도 앱을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 2차 구독은 폰을 바꾸거나 잃어버려도 기록이 남게 하는 선택 기능이고, 원하는 사람만 쓰므로 "근무 내용은 폰 안에만" 원칙과 부딪히지 않습니다. 문서를 돈 받고 만들어 주는 건 법적 이유로 하지 않습니다(웹 조사 기준, 전문가 검토 아님). 광고 가설은 설문의 "게임 화면 광고" 문항과 승인 뒤 게임 화면 열람 수로 확인합니다. 운영 비용은 지금 서버 0원 · 배포 0원이라 수익이 0이어도 서비스는 돌아가고, 인건비는 팀 3명입니다.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가설은 9월 기획서 문장 그대로입니다. 표의 기준은 팀이 정한 목표이지 데이터가 아닙니다. 인터뷰 문항은 설문지 20~24번입니다. 지금까지 들은 것은 정식 조사가 아닙니다: 타겟 사용자 1명이 디자인 시안 12장 중 통장 구성을 골랐고, 링크 설문은 10/23에 공개했습니다. 기말 발표에서 이 표에 결과를 더해 보고합니다. 응답 수는 슬라이드에 적지 않고 당일 아침 결과 페이지에서 읽습니다. 0명이면 0명이라고 말합니다. 다만 당일 아침 응답이 10명 이상이고, 강의실 인터넷이 되고, 교수님 양해를 받았으면 결과 페이지(survey-results.html)를 60초만 띄워 세 문항(주당 근무 시간 · 적게 받은 것 같았던 적 · 매달 받은 금액 직접 넣기)만 읽습니다. 자유 의견은 띄우지 않습니다. 아니면 당일 아침 캡처로 대신합니다. 테스트 응답 2건(10/23)은 미리 지워 둡니다. 결과는 사람 수로만 말하고 %는 30명을 넘을 때만 씁니다. 1행은 의향을 묻는 것이라 한계가 있습니다. 인터뷰 때 앱을 설치하게 하고, 실제로 넣는지는 급여일이 지난 뒤 따로 봅니다(기말 이후까지 걸릴 수 있음). 지인은 호의적으로 답하기 쉬워서 "넣겠다"를 그대로 믿지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오늘 이 자리에서 시작해 11/16까지 손유호가 30명을 모으고,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앞으로 맡는 일은 오늘 각자 발표한 장과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 받겠습니다." 이 장은 질의응답 내내 띄워 둔다.
예상 질문 (이름 붙은 사람이 먼저 답하고, 모자라면 팀장이 보탠다)
· [이지훈] 법적 효력 있나? → 보장하지 않는다. 판단은 감독관 · 법원. 우리는 판단할 자료를 정리하고, 수정 이력과 확인 번호로 "나중에 고친 게 아니다"까지 보여 준다. 통장 내역 · 카톡과 함께 내야 한다고 앱에도 적어 뒀다.
· [이지훈] 서버는 여러분이 관리하는데 고치면 그만 아닌가? → 맞다. 공개 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시점확인은 비용 때문에 계획. 서버에는 번호만 있어서 운영자가 서버를 고쳐도 폰의 근무 내용 자체는 못 바꾼다. (확인 페이지 본문의 "고치거나 지울 수 없습니다"는 "앱 쪽에서는"이라고 범위를 붙여 말할 것)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여쭤본다"는 확인 요청. 법률 자문 아님을 적어 두었고 1350 확인을 안내한다.
· [이지훈] 고객 검증도 전에 왜 먼저 만들었나? →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묻는다. 12/7까지는 고치는 기간.
· [박명진] 받은 금액을 매달 직접 넣어야 하는데 넣을까? → 가장 큰 가설이라 인터뷰 1번. 첫 화면에서 "9월 급여 받으셨나요?"라고 묻고 넣는 순간 덜 받은 돈이 보이게 했다. 5명 중 3명이 아니면 자동 인식을 앞당긴다.
· [이지훈] 하우머치가 따라 하면? → 비교 기능은 따라올 수 있다. 해시를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과 밖에서,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입력한 때 등록되고, 기록 안에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타겟이고,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정했습니다</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__학번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__학번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배포됐고, 사용자 검증은 11월부터</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실제 사용자 검증은 11월부터</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열림</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합니다</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끝나고 한 번에 받겠습니다</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들으시면서 답해도 됩니다</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못한다</a:t>
            </a:r>
            <a:endParaRPr lang="en-US" sz="2400" dirty="0"/>
          </a:p>
        </p:txBody>
      </p:sp>
      <p:sp>
        <p:nvSpPr>
          <p:cNvPr id="4" name="타겟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타겟  </a:t>
            </a:r>
            <a:pPr indent="0" marL="0">
              <a:buNone/>
            </a:pPr>
            <a:r>
              <a:rPr lang="en-US" sz="1150" dirty="0">
                <a:solidFill>
                  <a:schemeClr val="tx1"/>
                </a:solidFill>
              </a:rPr>
              <a:t>주 15시간 이상(주휴수당 기준) 일하는 만 19~26세 시급제 알바 대학생 (카페 · 편의점 · 음식점). 근로계약서가 없거나 사본이 없고, 통장 총액만 확인하고, 사장님께 말을 꺼내기 부담스러워한다</a:t>
            </a:r>
            <a:endParaRPr lang="en-US" sz="1150" dirty="0"/>
          </a:p>
        </p:txBody>
      </p:sp>
      <p:sp>
        <p:nvSpPr>
          <p:cNvPr id="6" name="Text 4"/>
          <p:cNvSpPr txBox="1"/>
          <p:nvPr/>
        </p:nvSpPr>
        <p:spPr>
          <a:xfrm>
            <a:off x="45720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33.2%</a:t>
            </a:r>
            <a:endParaRPr lang="en-US" sz="3600" dirty="0"/>
          </a:p>
        </p:txBody>
      </p:sp>
      <p:sp>
        <p:nvSpPr>
          <p:cNvPr id="7" name="Text 5"/>
          <p:cNvSpPr txBox="1"/>
          <p:nvPr/>
        </p:nvSpPr>
        <p:spPr>
          <a:xfrm>
            <a:off x="45720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310128"/>
            <a:ext cx="2651760" cy="0"/>
          </a:xfrm>
          <a:prstGeom prst="line">
            <a:avLst/>
          </a:prstGeom>
          <a:noFill/>
          <a:ln w="9525">
            <a:solidFill>
              <a:srgbClr val="DCD9D0"/>
            </a:solidFill>
            <a:prstDash val="solid"/>
          </a:ln>
        </p:spPr>
      </p:sp>
      <p:sp>
        <p:nvSpPr>
          <p:cNvPr id="10" name="번호 1"/>
          <p:cNvSpPr/>
          <p:nvPr/>
        </p:nvSpPr>
        <p:spPr>
          <a:xfrm>
            <a:off x="457200" y="3456432"/>
            <a:ext cx="274320" cy="274320"/>
          </a:xfrm>
          <a:prstGeom prst="ellipse">
            <a:avLst/>
          </a:prstGeom>
          <a:solidFill>
            <a:schemeClr val="accent1"/>
          </a:solidFill>
          <a:ln w="12700">
            <a:solidFill>
              <a:schemeClr val="accent1"/>
            </a:solidFill>
            <a:prstDash val="solid"/>
          </a:ln>
        </p:spPr>
      </p:sp>
      <p:sp>
        <p:nvSpPr>
          <p:cNvPr id="11" name="Text 9"/>
          <p:cNvSpPr txBox="1"/>
          <p:nvPr/>
        </p:nvSpPr>
        <p:spPr>
          <a:xfrm>
            <a:off x="45720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2" name="Text 10"/>
          <p:cNvSpPr txBox="1"/>
          <p:nvPr/>
        </p:nvSpPr>
        <p:spPr>
          <a:xfrm>
            <a:off x="82296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얼마를 받아야 하는지</a:t>
            </a:r>
            <a:endParaRPr lang="en-US" sz="1300" dirty="0"/>
          </a:p>
          <a:p>
            <a:pPr indent="0" marL="0">
              <a:buNone/>
            </a:pPr>
            <a:r>
              <a:rPr lang="en-US" sz="1300" b="1" dirty="0">
                <a:solidFill>
                  <a:schemeClr val="tx2"/>
                </a:solidFill>
              </a:rPr>
              <a:t>계산하기 어렵다</a:t>
            </a:r>
            <a:endParaRPr lang="en-US" sz="1300" dirty="0"/>
          </a:p>
        </p:txBody>
      </p:sp>
      <p:sp>
        <p:nvSpPr>
          <p:cNvPr id="13" name="Text 11"/>
          <p:cNvSpPr txBox="1"/>
          <p:nvPr/>
        </p:nvSpPr>
        <p:spPr>
          <a:xfrm>
            <a:off x="45720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수당 안내를 못 받는 경우가 많고, 주휴 · 야간 계산 기준은 알기 어렵다. 계산기는 있어도 넣을 기록이 없다</a:t>
            </a:r>
            <a:endParaRPr lang="en-US" sz="1050" dirty="0"/>
          </a:p>
        </p:txBody>
      </p:sp>
      <p:sp>
        <p:nvSpPr>
          <p:cNvPr id="14" name="Text 12"/>
          <p:cNvSpPr txBox="1"/>
          <p:nvPr/>
        </p:nvSpPr>
        <p:spPr>
          <a:xfrm>
            <a:off x="324612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48.0%</a:t>
            </a:r>
            <a:endParaRPr lang="en-US" sz="3600" dirty="0"/>
          </a:p>
        </p:txBody>
      </p:sp>
      <p:sp>
        <p:nvSpPr>
          <p:cNvPr id="15" name="Text 13"/>
          <p:cNvSpPr txBox="1"/>
          <p:nvPr/>
        </p:nvSpPr>
        <p:spPr>
          <a:xfrm>
            <a:off x="324612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겪었다 (수당 미지급 · 지연 37.3%)</a:t>
            </a:r>
            <a:endParaRPr lang="en-US" sz="1050" dirty="0"/>
          </a:p>
        </p:txBody>
      </p:sp>
      <p:sp>
        <p:nvSpPr>
          <p:cNvPr id="16" name="Text 14"/>
          <p:cNvSpPr txBox="1"/>
          <p:nvPr/>
        </p:nvSpPr>
        <p:spPr>
          <a:xfrm>
            <a:off x="324612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7" name="Shape 15"/>
          <p:cNvSpPr/>
          <p:nvPr/>
        </p:nvSpPr>
        <p:spPr>
          <a:xfrm>
            <a:off x="3246120" y="3310128"/>
            <a:ext cx="2651760" cy="0"/>
          </a:xfrm>
          <a:prstGeom prst="line">
            <a:avLst/>
          </a:prstGeom>
          <a:noFill/>
          <a:ln w="9525">
            <a:solidFill>
              <a:srgbClr val="DCD9D0"/>
            </a:solidFill>
            <a:prstDash val="solid"/>
          </a:ln>
        </p:spPr>
      </p:sp>
      <p:sp>
        <p:nvSpPr>
          <p:cNvPr id="18" name="번호 2"/>
          <p:cNvSpPr/>
          <p:nvPr/>
        </p:nvSpPr>
        <p:spPr>
          <a:xfrm>
            <a:off x="3246120" y="3456432"/>
            <a:ext cx="274320" cy="274320"/>
          </a:xfrm>
          <a:prstGeom prst="ellipse">
            <a:avLst/>
          </a:prstGeom>
          <a:solidFill>
            <a:schemeClr val="accent1"/>
          </a:solidFill>
          <a:ln w="12700">
            <a:solidFill>
              <a:schemeClr val="accent1"/>
            </a:solidFill>
            <a:prstDash val="solid"/>
          </a:ln>
        </p:spPr>
      </p:sp>
      <p:sp>
        <p:nvSpPr>
          <p:cNvPr id="19" name="Text 17"/>
          <p:cNvSpPr txBox="1"/>
          <p:nvPr/>
        </p:nvSpPr>
        <p:spPr>
          <a:xfrm>
            <a:off x="324612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20" name="Text 18"/>
          <p:cNvSpPr txBox="1"/>
          <p:nvPr/>
        </p:nvSpPr>
        <p:spPr>
          <a:xfrm>
            <a:off x="361188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덜 받아도</a:t>
            </a:r>
            <a:endParaRPr lang="en-US" sz="1300" dirty="0"/>
          </a:p>
          <a:p>
            <a:pPr indent="0" marL="0">
              <a:buNone/>
            </a:pPr>
            <a:r>
              <a:rPr lang="en-US" sz="1300" b="1" dirty="0">
                <a:solidFill>
                  <a:schemeClr val="tx2"/>
                </a:solidFill>
              </a:rPr>
              <a:t>알아채기 어렵다</a:t>
            </a:r>
            <a:endParaRPr lang="en-US" sz="1300" dirty="0"/>
          </a:p>
        </p:txBody>
      </p:sp>
      <p:sp>
        <p:nvSpPr>
          <p:cNvPr id="21" name="Text 19"/>
          <p:cNvSpPr txBox="1"/>
          <p:nvPr/>
        </p:nvSpPr>
        <p:spPr>
          <a:xfrm>
            <a:off x="324612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통장에 들어온 총액만 보고 넘어간다. 계약서가 없어 시급도 증명하기 어렵다</a:t>
            </a:r>
            <a:endParaRPr lang="en-US" sz="1050" dirty="0"/>
          </a:p>
        </p:txBody>
      </p:sp>
      <p:sp>
        <p:nvSpPr>
          <p:cNvPr id="22" name="Text 20"/>
          <p:cNvSpPr txBox="1"/>
          <p:nvPr/>
        </p:nvSpPr>
        <p:spPr>
          <a:xfrm>
            <a:off x="603504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49.3%</a:t>
            </a:r>
            <a:endParaRPr lang="en-US" sz="3600" dirty="0"/>
          </a:p>
        </p:txBody>
      </p:sp>
      <p:sp>
        <p:nvSpPr>
          <p:cNvPr id="23" name="Text 21"/>
          <p:cNvSpPr txBox="1"/>
          <p:nvPr/>
        </p:nvSpPr>
        <p:spPr>
          <a:xfrm>
            <a:off x="603504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하지 않았다</a:t>
            </a:r>
            <a:endParaRPr lang="en-US" sz="1050" dirty="0"/>
          </a:p>
        </p:txBody>
      </p:sp>
      <p:sp>
        <p:nvSpPr>
          <p:cNvPr id="24" name="Text 22"/>
          <p:cNvSpPr txBox="1"/>
          <p:nvPr/>
        </p:nvSpPr>
        <p:spPr>
          <a:xfrm>
            <a:off x="603504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최저시급 미달 경험자 기준 · 알바천국 2026.6 (응답 1,804명)</a:t>
            </a:r>
            <a:endParaRPr lang="en-US" sz="850" dirty="0"/>
          </a:p>
        </p:txBody>
      </p:sp>
      <p:sp>
        <p:nvSpPr>
          <p:cNvPr id="25" name="Shape 23"/>
          <p:cNvSpPr/>
          <p:nvPr/>
        </p:nvSpPr>
        <p:spPr>
          <a:xfrm>
            <a:off x="6035040" y="3310128"/>
            <a:ext cx="2651760" cy="0"/>
          </a:xfrm>
          <a:prstGeom prst="line">
            <a:avLst/>
          </a:prstGeom>
          <a:noFill/>
          <a:ln w="9525">
            <a:solidFill>
              <a:srgbClr val="DCD9D0"/>
            </a:solidFill>
            <a:prstDash val="solid"/>
          </a:ln>
        </p:spPr>
      </p:sp>
      <p:sp>
        <p:nvSpPr>
          <p:cNvPr id="26" name="번호 3"/>
          <p:cNvSpPr/>
          <p:nvPr/>
        </p:nvSpPr>
        <p:spPr>
          <a:xfrm>
            <a:off x="6035040" y="3456432"/>
            <a:ext cx="274320" cy="274320"/>
          </a:xfrm>
          <a:prstGeom prst="ellipse">
            <a:avLst/>
          </a:prstGeom>
          <a:solidFill>
            <a:schemeClr val="accent1"/>
          </a:solidFill>
          <a:ln w="12700">
            <a:solidFill>
              <a:schemeClr val="accent1"/>
            </a:solidFill>
            <a:prstDash val="solid"/>
          </a:ln>
        </p:spPr>
      </p:sp>
      <p:sp>
        <p:nvSpPr>
          <p:cNvPr id="27" name="Text 25"/>
          <p:cNvSpPr txBox="1"/>
          <p:nvPr/>
        </p:nvSpPr>
        <p:spPr>
          <a:xfrm>
            <a:off x="603504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28" name="Text 26"/>
          <p:cNvSpPr txBox="1"/>
          <p:nvPr/>
        </p:nvSpPr>
        <p:spPr>
          <a:xfrm>
            <a:off x="640080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알아도</a:t>
            </a:r>
            <a:endParaRPr lang="en-US" sz="1300" dirty="0"/>
          </a:p>
          <a:p>
            <a:pPr indent="0" marL="0">
              <a:buNone/>
            </a:pPr>
            <a:r>
              <a:rPr lang="en-US" sz="1300" b="1" dirty="0">
                <a:solidFill>
                  <a:schemeClr val="tx2"/>
                </a:solidFill>
              </a:rPr>
              <a:t>말을 꺼내기 어렵다</a:t>
            </a:r>
            <a:endParaRPr lang="en-US" sz="1300" dirty="0"/>
          </a:p>
        </p:txBody>
      </p:sp>
      <p:sp>
        <p:nvSpPr>
          <p:cNvPr id="29" name="Text 27"/>
          <p:cNvSpPr txBox="1"/>
          <p:nvPr/>
        </p:nvSpPr>
        <p:spPr>
          <a:xfrm>
            <a:off x="603504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관계 걱정, 작은 금액, 근거 없음. 메모장 기록은 "나중에 지어낸 것 아니냐" 한마디에 무너진다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없다</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다른 서비스가 모두 X다. 진정 접수는 일부러 연결만 한다 (2026.9 기준)</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푼다.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채운다</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남는다</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기본급 + 주휴 + 야간수당으로 "받았어야 할 돈"을 계산하고, 실제 받은 돈과의 차액을 보여 준다</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초안 → 진정 절차 안내(1350 · 노동포털). 대화로 먼저 푼다</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차별점과 한계</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쓴다</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664208"/>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근무지만 직접 등록한다. 기그와 달리 사장이 가입하지 않아도 된다</a:t>
            </a:r>
            <a:endParaRPr lang="en-US" sz="110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688336"/>
            <a:ext cx="4480560" cy="603504"/>
          </a:xfrm>
          <a:prstGeom prst="rect">
            <a:avLst/>
          </a:prstGeom>
          <a:noFill/>
          <a:ln/>
        </p:spPr>
        <p:txBody>
          <a:bodyPr wrap="square" lIns="0" tIns="0" rIns="0" bIns="0" rtlCol="0" anchor="t"/>
          <a:lstStyle/>
          <a:p>
            <a:pPr indent="0" marL="0">
              <a:buNone/>
            </a:pPr>
            <a:r>
              <a:rPr lang="en-US" sz="1100" dirty="0">
                <a:solidFill>
                  <a:schemeClr val="accent5"/>
                </a:solidFill>
              </a:rPr>
              <a:t>실제 받은 돈과 비교해 차액을 찾고, 요청 문구와 증빙 묶음까지 잇는다. 네 서비스 모두 없는 부분</a:t>
            </a:r>
            <a:endParaRPr lang="en-US" sz="110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12464"/>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기록할 때마다 확인 번호와 서버 등록 시각이 남고, 누구나 확인 페이지에서 등록 시각을 볼 수 있다. 내용으로 번호를 다시 계산하는 방법은 기말까지 만든다</a:t>
            </a:r>
            <a:endParaRPr lang="en-US" sz="110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600200"/>
          </a:xfrm>
          <a:prstGeom prst="roundRect">
            <a:avLst>
              <a:gd name="adj" fmla="val 5714"/>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100" dirty="0">
                <a:solidFill>
                  <a:schemeClr val="tx1"/>
                </a:solidFill>
              </a:rPr>
              <a:t>비교 기능은 하우머치가 "받은 금액 입력" 칸 하나로 따라올 수 있다. 3번은 칸 하나가 아니라 기록 구조(사유 없이 못 고침 · 삭제도 흔적 · 고치면 다시 등록)라서 따라오기 어렵다.</a:t>
            </a:r>
            <a:endParaRPr lang="en-US" sz="1100" dirty="0"/>
          </a:p>
        </p:txBody>
      </p:sp>
      <p:sp>
        <p:nvSpPr>
          <p:cNvPr id="22" name="Text 20"/>
          <p:cNvSpPr txBox="1"/>
          <p:nvPr/>
        </p:nvSpPr>
        <p:spPr>
          <a:xfrm>
            <a:off x="5852160" y="306324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생긴다</a:t>
            </a:r>
            <a:endParaRPr lang="en-US" sz="1050" dirty="0"/>
          </a:p>
          <a:p>
            <a:pPr indent="0" marL="0">
              <a:buNone/>
            </a:pPr>
            <a:r>
              <a:rPr lang="en-US" sz="950" dirty="0">
                <a:solidFill>
                  <a:schemeClr val="accent5"/>
                </a:solidFill>
              </a:rPr>
              <a:t>앱의 증빙 문서 맨 아래에 그렇게 적어 두었다</a:t>
            </a:r>
            <a:endParaRPr lang="en-US" sz="1050" dirty="0"/>
          </a:p>
        </p:txBody>
      </p:sp>
      <p:sp>
        <p:nvSpPr>
          <p:cNvPr id="23" name="Text 21"/>
          <p:cNvSpPr txBox="1"/>
          <p:nvPr/>
        </p:nvSpPr>
        <p:spPr>
          <a:xfrm>
            <a:off x="457200" y="4389120"/>
            <a:ext cx="8229600" cy="320040"/>
          </a:xfrm>
          <a:prstGeom prst="rect">
            <a:avLst/>
          </a:prstGeom>
          <a:noFill/>
          <a:ln/>
        </p:spPr>
        <p:txBody>
          <a:bodyPr wrap="square" lIns="0" tIns="0" rIns="0" bIns="0" rtlCol="0" anchor="ctr"/>
          <a:lstStyle/>
          <a:p>
            <a:pPr indent="0" marL="0">
              <a:buNone/>
            </a:pPr>
            <a:r>
              <a:rPr lang="en-US" sz="1050" i="1" dirty="0">
                <a:solidFill>
                  <a:schemeClr val="accent5"/>
                </a:solidFill>
              </a:rPr>
              <a:t>법적 효력을 보장한다고 말하지 않는다. 근로감독관 · 법원이 판단할 자료를 정리해 준다.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등록에만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280160"/>
                <a:gridCol w="3291840"/>
                <a:gridCol w="3657600"/>
              </a:tblGrid>
              <a:tr h="329184">
                <a:tc>
                  <a:txBody>
                    <a:bodyPr/>
                    <a:lstStyle/>
                    <a:p>
                      <a:pPr indent="0" marL="0">
                        <a:buNone/>
                      </a:pPr>
                      <a:r>
                        <a:rPr lang="en-US" sz="1050" b="1" dirty="0">
                          <a:solidFill>
                            <a:srgbClr val="5D636D"/>
                          </a:solidFill>
                        </a:rPr>
                        <a:t>구분</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선택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이유</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57200">
                <a:tc>
                  <a:txBody>
                    <a:bodyPr/>
                    <a:lstStyle/>
                    <a:p>
                      <a:pPr indent="0" marL="0">
                        <a:buNone/>
                      </a:pPr>
                      <a:r>
                        <a:rPr lang="en-US" sz="1050" b="1" dirty="0">
                          <a:solidFill>
                            <a:srgbClr val="15171A"/>
                          </a:solidFill>
                        </a:rPr>
                        <a:t>프론트엔드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React + Vite, PWA (홈 화면에 추가, 오프라인 실행)</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스토어 없이 링크로 배포. 의견을 듣고 바로 고친다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백엔드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별도 서버 없음 + Supabase REST</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근무 내용은 폰 밖으로 안 나감. 서버는 확인 번호 등록 · 설문 수집에만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050" b="1" dirty="0">
                          <a:solidFill>
                            <a:srgbClr val="15171A"/>
                          </a:solidFill>
                        </a:rPr>
                        <a:t>데이터베이스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폰: localStorage(기록) · IndexedDB(사진)</a:t>
                      </a:r>
                      <a:endParaRPr lang="en-US" sz="1050" dirty="0"/>
                    </a:p>
                    <a:p>
                      <a:pPr indent="0" marL="0">
                        <a:buNone/>
                      </a:pPr>
                      <a:r>
                        <a:rPr lang="en-US" sz="1050" dirty="0">
                          <a:solidFill>
                            <a:srgbClr val="15171A"/>
                          </a:solidFill>
                        </a:rPr>
                        <a:t>서버: Supabase PostgreSQL (stamps · survey)</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기록은 사용자 폰에. 공개 키로는 넣기 · 읽기만(RLS), 시각은 서버가 찍음. 운영자 조작은 못 막음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84048">
                <a:tc>
                  <a:txBody>
                    <a:bodyPr/>
                    <a:lstStyle/>
                    <a:p>
                      <a:pPr indent="0" marL="0">
                        <a:buNone/>
                      </a:pPr>
                      <a:r>
                        <a:rPr lang="en-US" sz="1050" b="1" dirty="0">
                          <a:solidFill>
                            <a:srgbClr val="15171A"/>
                          </a:solidFill>
                        </a:rPr>
                        <a:t>클라우드 · 인프라</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GitHub Pages + GitHub Actions</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main에 올리면 자동 빌드 · 배포</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050" b="1" dirty="0">
                          <a:solidFill>
                            <a:srgbClr val="15171A"/>
                          </a:solidFill>
                        </a:rPr>
                        <a:t>AI</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Claude API (선택, 개발 환경에서만)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배포 앱은 API 키 없이 정해진 문구로 동작. 기록을 밖으로 안 보내려고 기본은 끔</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SaaS · 분석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페이지 + 자동 집계 페이지, 직접 인터뷰</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로그인이 없어 사용 로그 대신 설문 · 인터뷰로 측정</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확인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근무 기록 · 캘린더 · 급여 비교 · 정산 요청 · 설정</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급여(주휴 · 야간) · 예정 vs 실제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localStorage(기록 · 수정 이력) · IndexedDB(사진)</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100" b="1" dirty="0">
                <a:solidFill>
                  <a:schemeClr val="tx2"/>
                </a:solidFill>
              </a:rPr>
              <a:t>Supabase</a:t>
            </a:r>
            <a:endParaRPr lang="en-US" sz="1100" dirty="0"/>
          </a:p>
          <a:p>
            <a:pPr indent="0" marL="0">
              <a:spcAft>
                <a:spcPts val="200"/>
              </a:spcAft>
              <a:buNone/>
            </a:pPr>
            <a:r>
              <a:rPr lang="en-US" sz="1100" b="1" dirty="0">
                <a:solidFill>
                  <a:schemeClr val="tx1"/>
                </a:solidFill>
              </a:rPr>
              <a:t>stamps 표</a:t>
            </a:r>
            <a:endParaRPr lang="en-US" sz="1100" dirty="0"/>
          </a:p>
          <a:p>
            <a:pPr indent="0" marL="0">
              <a:spcAft>
                <a:spcPts val="200"/>
              </a:spcAft>
              <a:buNone/>
            </a:pPr>
            <a:r>
              <a:rPr lang="en-US" sz="1000" dirty="0">
                <a:solidFill>
                  <a:schemeClr val="accent5"/>
                </a:solidFill>
              </a:rPr>
              <a:t>확인 번호 · 기록 번호 · 기기 번호 · 등록 시각</a:t>
            </a:r>
            <a:endParaRPr lang="en-US" sz="1100" dirty="0"/>
          </a:p>
          <a:p>
            <a:pPr indent="0" marL="0">
              <a:spcAft>
                <a:spcPts val="200"/>
              </a:spcAft>
              <a:buNone/>
            </a:pPr>
            <a:r>
              <a:rPr lang="en-US" sz="1000" dirty="0">
                <a:solidFill>
                  <a:schemeClr val="accent5"/>
                </a:solidFill>
              </a:rPr>
              <a:t>공개 키로는 넣기 · 읽기만(RLS). 시각은 서버가 찍음</a:t>
            </a:r>
            <a:endParaRPr lang="en-US" sz="1100" dirty="0"/>
          </a:p>
          <a:p>
            <a:pPr indent="0" marL="0">
              <a:spcAft>
                <a:spcPts val="200"/>
              </a:spcAft>
              <a:buNone/>
            </a:pPr>
            <a:r>
              <a:rPr lang="en-US" sz="950" b="1" dirty="0">
                <a:solidFill>
                  <a:schemeClr val="accent2"/>
                </a:solidFill>
              </a:rPr>
              <a:t>확인함: 수정 · 삭제 요청은 401로 거부, 2000년 시각을 보내도 서버 시각</a:t>
            </a:r>
            <a:endParaRPr lang="en-US" sz="110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확인 번호 → 등록 시각. 앱 데이터 없이 동작</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 버튼마다 확인 번호를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새 내용으로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인터넷이 없으면 대기열, 연결되면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지금 열린다</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실제를 비교해 연장 · 대타만 글자로</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무엇이 서버로 가는지 · 백업</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근무 기록 · 수정 이력 · 계산 · 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번호를 넣으면 서버 등록 시각이 나온다</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39초,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남는다. 예시 데이터는 등록되지 않으니 시연 중 남긴 2건만 보인다</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바뀐다</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있다</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검증(가설 1)</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9월 기획서 4개 → 10/13 포함 8 · 제외 6으로 고정      </a:t>
            </a:r>
            <a:pPr indent="0" marL="0">
              <a:buNone/>
            </a:pPr>
            <a:r>
              <a:rPr lang="en-US" sz="1050" b="1" dirty="0">
                <a:solidFill>
                  <a:schemeClr val="tx2"/>
                </a:solidFill>
              </a:rPr>
              <a:t>% 기준  </a:t>
            </a:r>
            <a:pPr indent="0" marL="0">
              <a:buNone/>
            </a:pPr>
            <a:r>
              <a:rPr lang="en-US" sz="1050" dirty="0">
                <a:solidFill>
                  <a:schemeClr val="tx1"/>
                </a:solidFill>
              </a:rPr>
              <a:t>구현 · 폰 확인 · 사용자 검증 중 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음식점이 여기 속한다. 알바생 몫은 따로 알 수 없다</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타겟 규모(어림)  </a:t>
            </a:r>
            <a:pPr indent="0" marL="0">
              <a:spcAft>
                <a:spcPts val="100"/>
              </a:spcAft>
              <a:buNone/>
            </a:pPr>
            <a:r>
              <a:rPr lang="en-US" sz="1050" dirty="0">
                <a:solidFill>
                  <a:schemeClr val="tx1"/>
                </a:solidFill>
              </a:rPr>
              <a:t>재적학생 307만 명 → 알바 경험 67~89% → 지금 알바 중 · 주 15시간 이상: 미상 (경험 기준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임금체불 근절 대책 · 2025.10.23 개정 근로기준법 시행. 근거를 남겨 둔 사람이 돌려받기 쉬워지는 때</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쓴다</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혼자 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쓰고 대응까지: 알바가드뿐</a:t>
            </a:r>
            <a:endParaRPr lang="en-US" sz="1300" dirty="0"/>
          </a:p>
        </p:txBody>
      </p:sp>
      <p:sp>
        <p:nvSpPr>
          <p:cNvPr id="22" name="Text 20"/>
          <p:cNvSpPr txBox="1"/>
          <p:nvPr/>
        </p:nvSpPr>
        <p:spPr>
          <a:xfrm>
            <a:off x="5943600" y="1965960"/>
            <a:ext cx="2743200" cy="2377440"/>
          </a:xfrm>
          <a:prstGeom prst="rect">
            <a:avLst/>
          </a:prstGeom>
          <a:noFill/>
          <a:ln/>
        </p:spPr>
        <p:txBody>
          <a:bodyPr wrap="square" lIns="0" tIns="0" rIns="0" bIns="0" rtlCol="0" anchor="t"/>
          <a:lstStyle/>
          <a:p>
            <a:pPr indent="0" marL="0">
              <a:buNone/>
            </a:pPr>
            <a:r>
              <a:rPr lang="en-US" sz="1050" dirty="0">
                <a:solidFill>
                  <a:schemeClr val="tx1"/>
                </a:solidFill>
              </a:rPr>
              <a:t>하우머치 · 계산기는 계산에서 멈추고, 기그는 사장이 있어야 하고, 진정24는 증거가 있어야 한다. 그래서 왼쪽 위 칸은 알바가드뿐이다.</a:t>
            </a:r>
            <a:endParaRPr lang="en-US" sz="1050" dirty="0"/>
          </a:p>
          <a:p>
            <a:pPr indent="0" marL="0">
              <a:buNone/>
            </a:pPr>
            <a:r>
              <a:rPr lang="en-US" sz="600" dirty="0">
                <a:solidFill>
                  <a:schemeClr val="tx1"/>
                </a:solidFill>
              </a:rPr>
              <a:t> </a:t>
            </a:r>
            <a:endParaRPr lang="en-US" sz="1050" dirty="0"/>
          </a:p>
          <a:p>
            <a:pPr indent="0" marL="0">
              <a:buNone/>
            </a:pPr>
            <a:r>
              <a:rPr lang="en-US" sz="1050" dirty="0">
                <a:solidFill>
                  <a:schemeClr val="tx1"/>
                </a:solidFill>
              </a:rPr>
              <a:t>첫 사용자로 보는 사람은 하우머치 사용자가 아니다. 카톡 · 메모에 적거나 아예 안 적고 통장 총액만 보는 학생이다. 하우머치가 비교 칸을 넣으면 따라올 수 있으니, 따라 하기 어려운 쪽(기록 등록)을 키운다.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날마다 누르지만 돈을 확인하는 건 급여일에 한 번. 그 사이 앱을 열 이유로 게임을 넣었고, 그 화면이 광고 자리다.</a:t>
            </a:r>
            <a:endParaRPr lang="en-US" sz="1100" dirty="0"/>
          </a:p>
        </p:txBody>
      </p:sp>
      <p:sp>
        <p:nvSpPr>
          <p:cNvPr id="5" name="Text 3"/>
          <p:cNvSpPr txBox="1"/>
          <p:nvPr/>
        </p:nvSpPr>
        <p:spPr>
          <a:xfrm>
            <a:off x="457200" y="1508760"/>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핵심 화면: 기록 · 비교 · 요청 · 증빙</a:t>
            </a:r>
            <a:endParaRPr lang="en-US" sz="1300" dirty="0"/>
          </a:p>
          <a:p>
            <a:pPr indent="0" marL="0">
              <a:buNone/>
            </a:pPr>
            <a:r>
              <a:rPr lang="en-US" sz="1050" dirty="0">
                <a:solidFill>
                  <a:schemeClr val="accent5"/>
                </a:solidFill>
              </a:rPr>
              <a:t>신뢰가 핵심인 화면에는 광고를 섞지 않는다</a:t>
            </a:r>
            <a:endParaRPr lang="en-US" sz="1300" dirty="0"/>
          </a:p>
        </p:txBody>
      </p:sp>
      <p:sp>
        <p:nvSpPr>
          <p:cNvPr id="6" name="Text 4"/>
          <p:cNvSpPr txBox="1"/>
          <p:nvPr/>
        </p:nvSpPr>
        <p:spPr>
          <a:xfrm>
            <a:off x="7040880" y="1508760"/>
            <a:ext cx="1645920" cy="585216"/>
          </a:xfrm>
          <a:prstGeom prst="rect">
            <a:avLst/>
          </a:prstGeom>
          <a:noFill/>
          <a:ln/>
        </p:spPr>
        <p:txBody>
          <a:bodyPr wrap="square" lIns="0" tIns="0" rIns="0" bIns="0" rtlCol="0" anchor="ctr"/>
          <a:lstStyle/>
          <a:p>
            <a:pPr algn="r" indent="0" marL="0">
              <a:buNone/>
            </a:pPr>
            <a:r>
              <a:rPr lang="en-US" sz="1300" b="1" dirty="0">
                <a:solidFill>
                  <a:schemeClr val="accent2"/>
                </a:solidFill>
              </a:rPr>
              <a:t>무료 · 광고 없음</a:t>
            </a:r>
            <a:endParaRPr lang="en-US" sz="1300" dirty="0"/>
          </a:p>
        </p:txBody>
      </p:sp>
      <p:sp>
        <p:nvSpPr>
          <p:cNvPr id="7" name="Shape 5"/>
          <p:cNvSpPr/>
          <p:nvPr/>
        </p:nvSpPr>
        <p:spPr>
          <a:xfrm>
            <a:off x="457200" y="2093976"/>
            <a:ext cx="8229600" cy="0"/>
          </a:xfrm>
          <a:prstGeom prst="line">
            <a:avLst/>
          </a:prstGeom>
          <a:noFill/>
          <a:ln w="9525">
            <a:solidFill>
              <a:srgbClr val="DCD9D0"/>
            </a:solidFill>
            <a:prstDash val="solid"/>
          </a:ln>
        </p:spPr>
      </p:sp>
      <p:sp>
        <p:nvSpPr>
          <p:cNvPr id="8" name="Text 6"/>
          <p:cNvSpPr txBox="1"/>
          <p:nvPr/>
        </p:nvSpPr>
        <p:spPr>
          <a:xfrm>
            <a:off x="457200" y="2093976"/>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1차 (가설): 쉬는 틈 게임 화면 광고</a:t>
            </a:r>
            <a:endParaRPr lang="en-US" sz="1300" dirty="0"/>
          </a:p>
          <a:p>
            <a:pPr indent="0" marL="0">
              <a:buNone/>
            </a:pPr>
            <a:r>
              <a:rPr lang="en-US" sz="1050" dirty="0">
                <a:solidFill>
                  <a:schemeClr val="accent5"/>
                </a:solidFill>
              </a:rPr>
              <a:t>웹앱이라 배너 · 전면이 기본, 보상형은 승인 뒤. 단가를 모르니 매출 추정은 적지 않는다</a:t>
            </a:r>
            <a:endParaRPr lang="en-US" sz="1300" dirty="0"/>
          </a:p>
        </p:txBody>
      </p:sp>
      <p:sp>
        <p:nvSpPr>
          <p:cNvPr id="9" name="Text 7"/>
          <p:cNvSpPr txBox="1"/>
          <p:nvPr/>
        </p:nvSpPr>
        <p:spPr>
          <a:xfrm>
            <a:off x="7040880" y="2093976"/>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게임 화면만</a:t>
            </a:r>
            <a:endParaRPr lang="en-US" sz="1300" dirty="0"/>
          </a:p>
        </p:txBody>
      </p:sp>
      <p:sp>
        <p:nvSpPr>
          <p:cNvPr id="10" name="Shape 8"/>
          <p:cNvSpPr/>
          <p:nvPr/>
        </p:nvSpPr>
        <p:spPr>
          <a:xfrm>
            <a:off x="457200" y="2679192"/>
            <a:ext cx="8229600" cy="0"/>
          </a:xfrm>
          <a:prstGeom prst="line">
            <a:avLst/>
          </a:prstGeom>
          <a:noFill/>
          <a:ln w="9525">
            <a:solidFill>
              <a:srgbClr val="DCD9D0"/>
            </a:solidFill>
            <a:prstDash val="solid"/>
          </a:ln>
        </p:spPr>
      </p:sp>
      <p:sp>
        <p:nvSpPr>
          <p:cNvPr id="11" name="Text 9"/>
          <p:cNvSpPr txBox="1"/>
          <p:nvPr/>
        </p:nvSpPr>
        <p:spPr>
          <a:xfrm>
            <a:off x="457200" y="2679192"/>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2차 (후보): 편의 기능 구독</a:t>
            </a:r>
            <a:endParaRPr lang="en-US" sz="1300" dirty="0"/>
          </a:p>
          <a:p>
            <a:pPr indent="0" marL="0">
              <a:buNone/>
            </a:pPr>
            <a:r>
              <a:rPr lang="en-US" sz="1050" dirty="0">
                <a:solidFill>
                  <a:schemeClr val="accent5"/>
                </a:solidFill>
              </a:rPr>
              <a:t>폰을 바꾸거나 잃어버려도 기록이 남게 하는 선택 기능 (동기화 · 자동 백업)</a:t>
            </a:r>
            <a:endParaRPr lang="en-US" sz="1300" dirty="0"/>
          </a:p>
        </p:txBody>
      </p:sp>
      <p:sp>
        <p:nvSpPr>
          <p:cNvPr id="12" name="Text 10"/>
          <p:cNvSpPr txBox="1"/>
          <p:nvPr/>
        </p:nvSpPr>
        <p:spPr>
          <a:xfrm>
            <a:off x="7040880" y="2679192"/>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구독</a:t>
            </a:r>
            <a:endParaRPr lang="en-US" sz="1300" dirty="0"/>
          </a:p>
        </p:txBody>
      </p:sp>
      <p:sp>
        <p:nvSpPr>
          <p:cNvPr id="13" name="Shape 11"/>
          <p:cNvSpPr/>
          <p:nvPr/>
        </p:nvSpPr>
        <p:spPr>
          <a:xfrm>
            <a:off x="457200" y="3264408"/>
            <a:ext cx="8229600" cy="0"/>
          </a:xfrm>
          <a:prstGeom prst="line">
            <a:avLst/>
          </a:prstGeom>
          <a:noFill/>
          <a:ln w="9525">
            <a:solidFill>
              <a:srgbClr val="DCD9D0"/>
            </a:solidFill>
            <a:prstDash val="solid"/>
          </a:ln>
        </p:spPr>
      </p:sp>
      <p:sp>
        <p:nvSpPr>
          <p:cNvPr id="14" name="Text 12"/>
          <p:cNvSpPr txBox="1"/>
          <p:nvPr/>
        </p:nvSpPr>
        <p:spPr>
          <a:xfrm>
            <a:off x="457200" y="3264408"/>
            <a:ext cx="6583680" cy="585216"/>
          </a:xfrm>
          <a:prstGeom prst="rect">
            <a:avLst/>
          </a:prstGeom>
          <a:noFill/>
          <a:ln/>
        </p:spPr>
        <p:txBody>
          <a:bodyPr wrap="square" lIns="0" tIns="0" rIns="0" bIns="0" rtlCol="0" anchor="ctr"/>
          <a:lstStyle/>
          <a:p>
            <a:pPr indent="0" marL="0">
              <a:buNone/>
            </a:pPr>
            <a:r>
              <a:rPr lang="en-US" sz="1300" b="1" dirty="0">
                <a:solidFill>
                  <a:schemeClr val="accent3"/>
                </a:solidFill>
              </a:rPr>
              <a:t>하지 않는 것: 정산 문구 · 내용증명 · 증빙 묶음 유료화</a:t>
            </a:r>
            <a:endParaRPr lang="en-US" sz="1300" dirty="0"/>
          </a:p>
          <a:p>
            <a:pPr indent="0" marL="0">
              <a:buNone/>
            </a:pPr>
            <a:r>
              <a:rPr lang="en-US" sz="1050" dirty="0">
                <a:solidFill>
                  <a:schemeClr val="accent5"/>
                </a:solidFill>
              </a:rPr>
              <a:t>돈을 받고 문서를 만들면 변호사법 · 공인노무사법 문제에 가까워진다</a:t>
            </a:r>
            <a:endParaRPr lang="en-US" sz="1300" dirty="0"/>
          </a:p>
        </p:txBody>
      </p:sp>
      <p:sp>
        <p:nvSpPr>
          <p:cNvPr id="15" name="Text 13"/>
          <p:cNvSpPr txBox="1"/>
          <p:nvPr/>
        </p:nvSpPr>
        <p:spPr>
          <a:xfrm>
            <a:off x="7040880" y="3264408"/>
            <a:ext cx="1645920" cy="585216"/>
          </a:xfrm>
          <a:prstGeom prst="rect">
            <a:avLst/>
          </a:prstGeom>
          <a:noFill/>
          <a:ln/>
        </p:spPr>
        <p:txBody>
          <a:bodyPr wrap="square" lIns="0" tIns="0" rIns="0" bIns="0" rtlCol="0" anchor="ctr"/>
          <a:lstStyle/>
          <a:p>
            <a:pPr algn="r" indent="0" marL="0">
              <a:buNone/>
            </a:pPr>
            <a:r>
              <a:rPr lang="en-US" sz="1300" b="1" dirty="0">
                <a:solidFill>
                  <a:schemeClr val="accent3"/>
                </a:solidFill>
              </a:rPr>
              <a:t>유료화 안 함</a:t>
            </a:r>
            <a:endParaRPr lang="en-US" sz="1300" dirty="0"/>
          </a:p>
        </p:txBody>
      </p:sp>
      <p:sp>
        <p:nvSpPr>
          <p:cNvPr id="16" name="Shape 14"/>
          <p:cNvSpPr/>
          <p:nvPr/>
        </p:nvSpPr>
        <p:spPr>
          <a:xfrm>
            <a:off x="457200" y="3849624"/>
            <a:ext cx="8229600" cy="0"/>
          </a:xfrm>
          <a:prstGeom prst="line">
            <a:avLst/>
          </a:prstGeom>
          <a:noFill/>
          <a:ln w="9525">
            <a:solidFill>
              <a:srgbClr val="DCD9D0"/>
            </a:solidFill>
            <a:prstDash val="solid"/>
          </a:ln>
        </p:spPr>
      </p:sp>
      <p:sp>
        <p:nvSpPr>
          <p:cNvPr id="17" name="Text 15"/>
          <p:cNvSpPr txBox="1"/>
          <p:nvPr/>
        </p:nvSpPr>
        <p:spPr>
          <a:xfrm>
            <a:off x="457200" y="40233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40233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링크를 올린다. "주휴수당 계산법" 짧은 영상도 만든다</a:t>
            </a:r>
            <a:endParaRPr lang="en-US" sz="1100" dirty="0"/>
          </a:p>
        </p:txBody>
      </p:sp>
      <p:sp>
        <p:nvSpPr>
          <p:cNvPr id="19" name="Text 17"/>
          <p:cNvSpPr txBox="1"/>
          <p:nvPr/>
        </p:nvSpPr>
        <p:spPr>
          <a:xfrm>
            <a:off x="457200" y="4407408"/>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407408"/>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계획: 11월에 설문 · 인터뷰로 다섯 가지를 확인한다</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572768"/>
          <a:ext cx="8229600" cy="914400"/>
        </p:xfrm>
        <a:graphic>
          <a:graphicData uri="http://schemas.openxmlformats.org/drawingml/2006/table">
            <a:tbl>
              <a:tblPr/>
              <a:tblGrid>
                <a:gridCol w="2743200"/>
                <a:gridCol w="3108960"/>
                <a:gridCol w="2377440"/>
              </a:tblGrid>
              <a:tr h="292608">
                <a:tc>
                  <a:txBody>
                    <a:bodyPr/>
                    <a:lstStyle/>
                    <a:p>
                      <a:pPr indent="0" marL="0">
                        <a:buNone/>
                      </a:pPr>
                      <a:r>
                        <a:rPr lang="en-US" sz="1000" b="1" dirty="0">
                          <a:solidFill>
                            <a:srgbClr val="5D636D"/>
                          </a:solidFill>
                        </a:rPr>
                        <a:t>확인할 것</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어떻게 · 기준 (팀이 정함)</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못 미치면</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47472">
                <a:tc>
                  <a:txBody>
                    <a:bodyPr/>
                    <a:lstStyle/>
                    <a:p>
                      <a:pPr indent="0" marL="0">
                        <a:buNone/>
                      </a:pPr>
                      <a:r>
                        <a:rPr lang="en-US" sz="1050" b="1" dirty="0">
                          <a:solidFill>
                            <a:srgbClr val="15171A"/>
                          </a:solidFill>
                        </a:rPr>
                        <a:t>매달 받은 금액을 직접 넣는다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5명 + 설문 · 5명 중 3명 "넣겠다"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입금 문자 자동 인식을 앞당긴다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요청 문구를 실제로 보낼 수 있다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인터뷰(문구를 보여 주고) · 5명 중 3명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문구 톤 · 단계를 다시 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확인 번호 설명이 이해된다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 5명 중 4명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설정 · 증빙 문구를 고친다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타겟 중 주 15시간 이상이 다수다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30명 넘으면, 알바 중 반 이상</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주휴수당 중심 메시지를 바꾼다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게임 화면 광고를 받아들인다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인터뷰 · "싫다"가 반 미만</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11/23 광고 대신 새 게임으로</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3703320"/>
            <a:ext cx="8229600" cy="384048"/>
          </a:xfrm>
          <a:prstGeom prst="rect">
            <a:avLst/>
          </a:prstGeom>
          <a:noFill/>
          <a:ln/>
        </p:spPr>
        <p:txBody>
          <a:bodyPr wrap="square" lIns="0" tIns="0" rIns="0" bIns="0" rtlCol="0" anchor="ctr"/>
          <a:lstStyle/>
          <a:p>
            <a:pPr indent="0" marL="0">
              <a:buNone/>
            </a:pPr>
            <a:r>
              <a:rPr lang="en-US" sz="1050" dirty="0">
                <a:solidFill>
                  <a:schemeClr val="tx1"/>
                </a:solidFill>
              </a:rPr>
              <a:t>모집: 학과 · 동아리 단톡, 에브리타임, 오늘 이 자리(QR). 인터뷰 5명은 지인 중 알바 중인 사람, 11/3~11/9</a:t>
            </a:r>
            <a:endParaRPr lang="en-US" sz="1050" dirty="0"/>
          </a:p>
        </p:txBody>
      </p:sp>
      <p:sp>
        <p:nvSpPr>
          <p:cNvPr id="7" name="Shape 4"/>
          <p:cNvSpPr/>
          <p:nvPr/>
        </p:nvSpPr>
        <p:spPr>
          <a:xfrm>
            <a:off x="457200" y="4087368"/>
            <a:ext cx="8229600" cy="0"/>
          </a:xfrm>
          <a:prstGeom prst="line">
            <a:avLst/>
          </a:prstGeom>
          <a:noFill/>
          <a:ln w="9525">
            <a:solidFill>
              <a:srgbClr val="DCD9D0"/>
            </a:solidFill>
            <a:prstDash val="solid"/>
          </a:ln>
        </p:spPr>
      </p:sp>
      <p:sp>
        <p:nvSpPr>
          <p:cNvPr id="8" name="Text 5"/>
          <p:cNvSpPr txBox="1"/>
          <p:nvPr/>
        </p:nvSpPr>
        <p:spPr>
          <a:xfrm>
            <a:off x="457200" y="4087368"/>
            <a:ext cx="8229600" cy="384048"/>
          </a:xfrm>
          <a:prstGeom prst="rect">
            <a:avLst/>
          </a:prstGeom>
          <a:noFill/>
          <a:ln/>
        </p:spPr>
        <p:txBody>
          <a:bodyPr wrap="square" lIns="0" tIns="0" rIns="0" bIns="0" rtlCol="0" anchor="ctr"/>
          <a:lstStyle/>
          <a:p>
            <a:pPr indent="0" marL="0">
              <a:buNone/>
            </a:pPr>
            <a:r>
              <a:rPr lang="en-US" sz="1050" dirty="0">
                <a:solidFill>
                  <a:schemeClr val="tx1"/>
                </a:solidFill>
              </a:rPr>
              <a:t>왜 먼저 만들었나: 웹앱이라 빨리 만들 수 있고, 화면을 보여 주며 물어야 답이 정확하다</a:t>
            </a:r>
            <a:endParaRPr lang="en-US" sz="1050" dirty="0"/>
          </a:p>
        </p:txBody>
      </p:sp>
      <p:sp>
        <p:nvSpPr>
          <p:cNvPr id="9" name="Shape 6"/>
          <p:cNvSpPr/>
          <p:nvPr/>
        </p:nvSpPr>
        <p:spPr>
          <a:xfrm>
            <a:off x="457200" y="4471416"/>
            <a:ext cx="8229600" cy="0"/>
          </a:xfrm>
          <a:prstGeom prst="line">
            <a:avLst/>
          </a:prstGeom>
          <a:noFill/>
          <a:ln w="9525">
            <a:solidFill>
              <a:srgbClr val="DCD9D0"/>
            </a:solidFill>
            <a:prstDash val="solid"/>
          </a:ln>
        </p:spPr>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 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일이 오늘 발표한 장과 같습니다</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92f6228a4349bdc8</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답해 주시면 기말 발표 때 결과로 보여 드립니다</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 발표</dc:title>
  <dc:subject>PptxGenJS Presentation</dc:subject>
  <dc:creator>4조</dc:creator>
  <cp:lastModifiedBy>4조</cp:lastModifiedBy>
  <cp:revision>1</cp:revision>
  <dcterms:created xsi:type="dcterms:W3CDTF">2026-10-26T00:30:39Z</dcterms:created>
  <dcterms:modified xsi:type="dcterms:W3CDTF">2026-10-26T00:30:39Z</dcterms:modified>
</cp:coreProperties>
</file>