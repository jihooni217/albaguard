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b01dc83a-109e-d35f-d0ad-a9b8796e425d}">
          <p14:sldIdLst>
            <p14:sldId id="256"/>
            <p14:sldId id="257"/>
          </p14:sldIdLst>
        </p14:section>
        <p14:section name="② 문제 정의" id="{a44195f4-de1a-98b3-2f93-89233607659b}">
          <p14:sldIdLst>
            <p14:sldId id="258"/>
            <p14:sldId id="259"/>
          </p14:sldIdLst>
        </p14:section>
        <p14:section name="③ 솔루션·핵심 가치" id="{a595d8f6-490a-d3d5-c37b-116ba97d5740}">
          <p14:sldIdLst>
            <p14:sldId id="260"/>
            <p14:sldId id="261"/>
          </p14:sldIdLst>
        </p14:section>
        <p14:section name="④ SW 기술 아키텍처" id="{d36a9862-135c-9210-be7d-f5dbcd21c191}">
          <p14:sldIdLst>
            <p14:sldId id="262"/>
            <p14:sldId id="263"/>
          </p14:sldIdLst>
        </p14:section>
        <p14:section name="⑤ 개발 현황·MVP 시연" id="{23b7b29f-8900-ea68-e79d-3bae7f36d7ad}">
          <p14:sldIdLst>
            <p14:sldId id="264"/>
            <p14:sldId id="265"/>
            <p14:sldId id="266"/>
            <p14:sldId id="267"/>
          </p14:sldIdLst>
        </p14:section>
        <p14:section name="⑥ 시장 분석·비즈니스 모델" id="{913e9752-a0f2-fe10-24a5-6d0123349cf6}">
          <p14:sldIdLst>
            <p14:sldId id="268"/>
            <p14:sldId id="269"/>
            <p14:sldId id="270"/>
          </p14:sldIdLst>
        </p14:section>
        <p14:section name="⑦ 초기 시장 검증" id="{1693adda-152b-a382-5ba9-dda1f7bfe4d6}">
          <p14:sldIdLst>
            <p14:sldId id="271"/>
          </p14:sldIdLst>
        </p14:section>
        <p14:section name="⑧ 향후 계획·팀 역량" id="{12d46672-6837-3422-d7a2-43363c432b0a}">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문제를 숫자로 보여 줍니다. 모두 알바천국 설문이라 "플랫폼 설문"이라는 점을 말하고, 그래서 우리도 직접 설문을 돌리고 있다고 잇습니다. 33.2%는 노동절 수당 안내에 대한 숫자라 "수당 자체가 안내되지 않는다"까지만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앱보다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줄은 다른 서비스가 모두 X이고 알바가드만 O입니다. 그 세 줄이 저희가 채우는 부분입니다.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번째가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12장에서 70%). 근무지 · 시각 · 금액은 서버로 가지 않고, "그날 실제로 일했다"까지는 증명하지 못합니다. 한계는 먼저 말합니다. "법적 효력" 질문이 오면 보장하지 않는다고 답하고,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학기 안에 혼자 만들 수 있는 구성입니다. 서버를 최소로 둔 이유는 개인정보와 비용 둘 다입니다. 배포는 링크 하나라 사용자 의견을 듣고 바로 고칠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번호뿐입니다. 기기 번호는 처음 기록을 등록할 때 앱이 만든 난수라 휴대전화 번호가 아닙니다. 앱이 쓰는 공개 키로는 넣기와 읽기만 되고, 직접 요청을 보내 확인했습니다.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시점확인은 비용 때문에 계획입니다. 오른쪽은 기록 하나가 남을 때의 흐름입니다. 증빙 묶음 PDF 7번 표에 기록별 확인 번호와 등록 시각이 들어갑니다. 배포는 GitHub main에 올리면 Actions가 Pages로 자동 배포합니다.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타겟 사용자(하우머치를 쓰는 친구)가 시안 12장 중 고른 통장 구성입니다. 잉크 남색은 "기록을 잉크로 남긴다"는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단계(등록 → 비교 → 요청 · 증빙 → 확인)가 차별점과 하나씩 맞물립니다. 영상에 안 나오는 것은 말로 짚습니다: 캘린더의 연장 · 대타 표시(9장 캡처), 3단계 진정 안내(1350 · 노동포털 연결, 진정서는 만들지 않음).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39초)으로 하고, 단계마다 멈춰서 설명하면 약 3분입니다. 영상은 배포된 앱을 실제로 눌러 찍은 것이라 서버 등록과 확인 번호가 진짜입니다(10/26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본다. 그다음 폰의 와이파이를 끄고 데이터로 확인 페이지(jihooni217.github.io/albaguard/verify.html?h=92f6228a4349bdc8)를 열어 등록 시각이 나오는지 본다.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오른쪽이 단계 자막입니다. 1 출근 · 퇴근 → 설정 "2건 등록됨"(약 0:08~0:27), 2 받은 금액 입력 → 빨간 차액(0:27~0:47), 3 메시지 생성 → 증빙 묶음 PDF 7번 표(0:47~1:25), 4 확인 페이지 → 서버 등록 시각(1:25~1:39). 단계가 바뀔 때 멈추고 한두 문장씩 설명합니다. 영상이 안 열리면 docs/08_시연_영상.mp4를 따로 틀어도 됩니다. 영상 마지막에 나오는 확인 번호는 92f6228a4349bdc8입니다. "녹화라서 못 믿겠다"는 질문이 오면 "지금 폰으로 jihooni217.github.io/albaguard/verify.html?h=92f6228a4349bdc8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9월 기획서의 기능 4개에서 출발해, 10/13 MVP 기능 정의서에서 포함 8개 · 제외 6개(금액 자동 인식 · 푸시 알림 · AI 문구 · 광고 · 로그인 · 진정서)로 고정한 것입니다.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80~90%냐고 물으시면, %는 칸 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타겟 규모는 어림이라 "약"을 붙여 말하고, 없는 숫자(지금 알바 중, 주 15시간 이상)는 미상으로 둡니다. 재적학생은 교육부 2026 교육기본통계(대학원 포함), 알바 경험률은 알바몬 설문(1,193명, 여름방학 알바 88.9%, 2023)과 동대신문 설문(200명, 67.5%)이라 대표값이 아닙니다. 근절 대책은 대지급금을 3개월분에서 6개월분으로 늘렸고, 개정법은 상습 체불 사업주에게 신용 제재를 겁니다. 체불 통계는 문제의 크기이지 알바 시장의 크기가 아닙니다. 알바생 몫은 이 통계에서 알 수 없어 미상으로 둡니다. "주 15시간 이상이 다수인지의 첫 조각은 지금 답하고 계신 설문에서 나오지만, 규모 추정이 아니라 메시지를 정하는 참고값입니다. 다음 순서에서 박명진이 말씀드립니다."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2×2에서 알바가드는 "혼자 쓴다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 2차 구독은 폰을 바꾸거나 잃어버려도 기록이 남게 하는 선택 기능이고, 원하는 사람만 쓰므로 "근무 내용은 폰 안에만" 원칙과 부딪히지 않습니다. 문서를 돈 받고 만들어 주는 건 법적 이유로 하지 않습니다(웹 조사 기준, 전문가 검토 아님). 광고 가설은 설문의 "게임 화면 광고" 문항과 승인 뒤 게임 화면 열람 수로 확인합니다. 운영 비용은 지금 서버 0원 · 배포 0원이라 수익이 0이어도 서비스는 돌아가고, 인건비는 팀 3명입니다.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 문장 그대로입니다. 표의 기준은 팀이 정한 목표이지 데이터가 아닙니다. 인터뷰 문항은 설문지 20~24번입니다. 지금까지 들은 것은 정식 조사가 아닙니다: 타겟 사용자 1명이 디자인 시안 12장 중 통장 구성을 골랐고, 링크 설문은 10/23에 공개했습니다. 기말 발표에서 이 표에 결과를 더해 보고합니다. 응답 수는 슬라이드에 적지 않고 당일 아침 결과 페이지에서 읽습니다. 0명이면 0명이라고 말합니다. 다만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 1행은 의향을 묻는 것이라 한계가 있습니다. 인터뷰 때 앱을 설치하게 하고, 실제로 넣는지는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오늘 이 자리에서 시작해 11/16까지 손유호가 30명을 모으고,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앞으로 맡는 일은 오늘 각자 발표한 장과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 받겠습니다." 이 장은 질의응답 내내 띄워 둔다.
예상 질문 (이름 붙은 사람이 먼저 답하고, 모자라면 팀장이 보탠다)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 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시점확인은 비용 때문에 계획. 서버에는 번호만 있어서 운영자가 서버를 고쳐도 폰의 근무 내용 자체는 못 바꾼다. (확인 페이지 본문의 "고치거나 지울 수 없습니다"는 "앱 쪽에서는"이라고 범위를 붙여 말할 것)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여쭤본다"는 확인 요청. 법률 자문 아님을 적어 두었고 1350 확인을 안내한다.
· [이지훈] 고객 검증도 전에 왜 먼저 만들었나? →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인터뷰 1번. 첫 화면에서 "9월 급여 받으셨나요?"라고 묻고 넣는 순간 덜 받은 돈이 보이게 했다. 5명 중 3명이 아니면 자동 인식을 앞당긴다.
· [이지훈] 하우머치가 따라 하면? → 비교 기능은 따라올 수 있다. 해시를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과 밖에서,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입력한 때 등록되고, 기록 안에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타겟이고,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정했습니다</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실제 사용자 검증은 11월부터</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열림</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합니다</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끝나고 한 번에 받겠습니다</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들으시면서 답해도 됩니다</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못한다</a:t>
            </a:r>
            <a:endParaRPr lang="en-US" sz="2400" dirty="0"/>
          </a:p>
        </p:txBody>
      </p:sp>
      <p:sp>
        <p:nvSpPr>
          <p:cNvPr id="4" name="타겟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타겟  </a:t>
            </a:r>
            <a:pPr indent="0" marL="0">
              <a:buNone/>
            </a:pPr>
            <a:r>
              <a:rPr lang="en-US" sz="1150" dirty="0">
                <a:solidFill>
                  <a:schemeClr val="tx1"/>
                </a:solidFill>
              </a:rPr>
              <a:t>주 15시간 이상(주휴수당 기준) 일하는 만 19~26세 시급제 알바 대학생 (카페 · 편의점 · 음식점). 근로계약서가 없거나 사본이 없고, 통장 총액만 확인하고, 사장님께 말을 꺼내기 부담스러워한다</a:t>
            </a:r>
            <a:endParaRPr lang="en-US" sz="1150" dirty="0"/>
          </a:p>
        </p:txBody>
      </p:sp>
      <p:sp>
        <p:nvSpPr>
          <p:cNvPr id="6" name="Text 4"/>
          <p:cNvSpPr txBox="1"/>
          <p:nvPr/>
        </p:nvSpPr>
        <p:spPr>
          <a:xfrm>
            <a:off x="45720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33.2%</a:t>
            </a:r>
            <a:endParaRPr lang="en-US" sz="3600" dirty="0"/>
          </a:p>
        </p:txBody>
      </p:sp>
      <p:sp>
        <p:nvSpPr>
          <p:cNvPr id="7" name="Text 5"/>
          <p:cNvSpPr txBox="1"/>
          <p:nvPr/>
        </p:nvSpPr>
        <p:spPr>
          <a:xfrm>
            <a:off x="45720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310128"/>
            <a:ext cx="2651760" cy="0"/>
          </a:xfrm>
          <a:prstGeom prst="line">
            <a:avLst/>
          </a:prstGeom>
          <a:noFill/>
          <a:ln w="9525">
            <a:solidFill>
              <a:srgbClr val="DCD9D0"/>
            </a:solidFill>
            <a:prstDash val="solid"/>
          </a:ln>
        </p:spPr>
      </p:sp>
      <p:sp>
        <p:nvSpPr>
          <p:cNvPr id="10" name="번호 1"/>
          <p:cNvSpPr/>
          <p:nvPr/>
        </p:nvSpPr>
        <p:spPr>
          <a:xfrm>
            <a:off x="457200" y="3456432"/>
            <a:ext cx="274320" cy="274320"/>
          </a:xfrm>
          <a:prstGeom prst="ellipse">
            <a:avLst/>
          </a:prstGeom>
          <a:solidFill>
            <a:schemeClr val="accent1"/>
          </a:solidFill>
          <a:ln w="12700">
            <a:solidFill>
              <a:schemeClr val="accent1"/>
            </a:solidFill>
            <a:prstDash val="solid"/>
          </a:ln>
        </p:spPr>
      </p:sp>
      <p:sp>
        <p:nvSpPr>
          <p:cNvPr id="11" name="Text 9"/>
          <p:cNvSpPr txBox="1"/>
          <p:nvPr/>
        </p:nvSpPr>
        <p:spPr>
          <a:xfrm>
            <a:off x="45720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2" name="Text 10"/>
          <p:cNvSpPr txBox="1"/>
          <p:nvPr/>
        </p:nvSpPr>
        <p:spPr>
          <a:xfrm>
            <a:off x="82296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얼마를 받아야 하는지</a:t>
            </a:r>
            <a:endParaRPr lang="en-US" sz="1300" dirty="0"/>
          </a:p>
          <a:p>
            <a:pPr indent="0" marL="0">
              <a:buNone/>
            </a:pPr>
            <a:r>
              <a:rPr lang="en-US" sz="1300" b="1" dirty="0">
                <a:solidFill>
                  <a:schemeClr val="tx2"/>
                </a:solidFill>
              </a:rPr>
              <a:t>계산하기 어렵다</a:t>
            </a:r>
            <a:endParaRPr lang="en-US" sz="1300" dirty="0"/>
          </a:p>
        </p:txBody>
      </p:sp>
      <p:sp>
        <p:nvSpPr>
          <p:cNvPr id="13" name="Text 11"/>
          <p:cNvSpPr txBox="1"/>
          <p:nvPr/>
        </p:nvSpPr>
        <p:spPr>
          <a:xfrm>
            <a:off x="45720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수당 안내를 못 받는 경우가 많고, 주휴 · 야간 계산 기준은 알기 어렵다. 계산기는 있어도 넣을 기록이 없다</a:t>
            </a:r>
            <a:endParaRPr lang="en-US" sz="1050" dirty="0"/>
          </a:p>
        </p:txBody>
      </p:sp>
      <p:sp>
        <p:nvSpPr>
          <p:cNvPr id="14" name="Text 12"/>
          <p:cNvSpPr txBox="1"/>
          <p:nvPr/>
        </p:nvSpPr>
        <p:spPr>
          <a:xfrm>
            <a:off x="324612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48.0%</a:t>
            </a:r>
            <a:endParaRPr lang="en-US" sz="3600" dirty="0"/>
          </a:p>
        </p:txBody>
      </p:sp>
      <p:sp>
        <p:nvSpPr>
          <p:cNvPr id="15" name="Text 13"/>
          <p:cNvSpPr txBox="1"/>
          <p:nvPr/>
        </p:nvSpPr>
        <p:spPr>
          <a:xfrm>
            <a:off x="324612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겪었다 (수당 미지급 · 지연 37.3%)</a:t>
            </a:r>
            <a:endParaRPr lang="en-US" sz="1050" dirty="0"/>
          </a:p>
        </p:txBody>
      </p:sp>
      <p:sp>
        <p:nvSpPr>
          <p:cNvPr id="16" name="Text 14"/>
          <p:cNvSpPr txBox="1"/>
          <p:nvPr/>
        </p:nvSpPr>
        <p:spPr>
          <a:xfrm>
            <a:off x="324612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7" name="Shape 15"/>
          <p:cNvSpPr/>
          <p:nvPr/>
        </p:nvSpPr>
        <p:spPr>
          <a:xfrm>
            <a:off x="3246120" y="3310128"/>
            <a:ext cx="2651760" cy="0"/>
          </a:xfrm>
          <a:prstGeom prst="line">
            <a:avLst/>
          </a:prstGeom>
          <a:noFill/>
          <a:ln w="9525">
            <a:solidFill>
              <a:srgbClr val="DCD9D0"/>
            </a:solidFill>
            <a:prstDash val="solid"/>
          </a:ln>
        </p:spPr>
      </p:sp>
      <p:sp>
        <p:nvSpPr>
          <p:cNvPr id="18" name="번호 2"/>
          <p:cNvSpPr/>
          <p:nvPr/>
        </p:nvSpPr>
        <p:spPr>
          <a:xfrm>
            <a:off x="3246120" y="3456432"/>
            <a:ext cx="274320" cy="274320"/>
          </a:xfrm>
          <a:prstGeom prst="ellipse">
            <a:avLst/>
          </a:prstGeom>
          <a:solidFill>
            <a:schemeClr val="accent1"/>
          </a:solidFill>
          <a:ln w="12700">
            <a:solidFill>
              <a:schemeClr val="accent1"/>
            </a:solidFill>
            <a:prstDash val="solid"/>
          </a:ln>
        </p:spPr>
      </p:sp>
      <p:sp>
        <p:nvSpPr>
          <p:cNvPr id="19" name="Text 17"/>
          <p:cNvSpPr txBox="1"/>
          <p:nvPr/>
        </p:nvSpPr>
        <p:spPr>
          <a:xfrm>
            <a:off x="324612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0" name="Text 18"/>
          <p:cNvSpPr txBox="1"/>
          <p:nvPr/>
        </p:nvSpPr>
        <p:spPr>
          <a:xfrm>
            <a:off x="361188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덜 받아도</a:t>
            </a:r>
            <a:endParaRPr lang="en-US" sz="1300" dirty="0"/>
          </a:p>
          <a:p>
            <a:pPr indent="0" marL="0">
              <a:buNone/>
            </a:pPr>
            <a:r>
              <a:rPr lang="en-US" sz="1300" b="1" dirty="0">
                <a:solidFill>
                  <a:schemeClr val="tx2"/>
                </a:solidFill>
              </a:rPr>
              <a:t>알아채기 어렵다</a:t>
            </a:r>
            <a:endParaRPr lang="en-US" sz="1300" dirty="0"/>
          </a:p>
        </p:txBody>
      </p:sp>
      <p:sp>
        <p:nvSpPr>
          <p:cNvPr id="21" name="Text 19"/>
          <p:cNvSpPr txBox="1"/>
          <p:nvPr/>
        </p:nvSpPr>
        <p:spPr>
          <a:xfrm>
            <a:off x="324612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통장에 들어온 총액만 보고 넘어간다. 계약서가 없어 시급도 증명하기 어렵다</a:t>
            </a:r>
            <a:endParaRPr lang="en-US" sz="1050" dirty="0"/>
          </a:p>
        </p:txBody>
      </p:sp>
      <p:sp>
        <p:nvSpPr>
          <p:cNvPr id="22" name="Text 20"/>
          <p:cNvSpPr txBox="1"/>
          <p:nvPr/>
        </p:nvSpPr>
        <p:spPr>
          <a:xfrm>
            <a:off x="603504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49.3%</a:t>
            </a:r>
            <a:endParaRPr lang="en-US" sz="3600" dirty="0"/>
          </a:p>
        </p:txBody>
      </p:sp>
      <p:sp>
        <p:nvSpPr>
          <p:cNvPr id="23" name="Text 21"/>
          <p:cNvSpPr txBox="1"/>
          <p:nvPr/>
        </p:nvSpPr>
        <p:spPr>
          <a:xfrm>
            <a:off x="603504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하지 않았다</a:t>
            </a:r>
            <a:endParaRPr lang="en-US" sz="1050" dirty="0"/>
          </a:p>
        </p:txBody>
      </p:sp>
      <p:sp>
        <p:nvSpPr>
          <p:cNvPr id="24" name="Text 22"/>
          <p:cNvSpPr txBox="1"/>
          <p:nvPr/>
        </p:nvSpPr>
        <p:spPr>
          <a:xfrm>
            <a:off x="603504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5" name="Shape 23"/>
          <p:cNvSpPr/>
          <p:nvPr/>
        </p:nvSpPr>
        <p:spPr>
          <a:xfrm>
            <a:off x="6035040" y="3310128"/>
            <a:ext cx="2651760" cy="0"/>
          </a:xfrm>
          <a:prstGeom prst="line">
            <a:avLst/>
          </a:prstGeom>
          <a:noFill/>
          <a:ln w="9525">
            <a:solidFill>
              <a:srgbClr val="DCD9D0"/>
            </a:solidFill>
            <a:prstDash val="solid"/>
          </a:ln>
        </p:spPr>
      </p:sp>
      <p:sp>
        <p:nvSpPr>
          <p:cNvPr id="26" name="번호 3"/>
          <p:cNvSpPr/>
          <p:nvPr/>
        </p:nvSpPr>
        <p:spPr>
          <a:xfrm>
            <a:off x="6035040" y="3456432"/>
            <a:ext cx="274320" cy="274320"/>
          </a:xfrm>
          <a:prstGeom prst="ellipse">
            <a:avLst/>
          </a:prstGeom>
          <a:solidFill>
            <a:schemeClr val="accent1"/>
          </a:solidFill>
          <a:ln w="12700">
            <a:solidFill>
              <a:schemeClr val="accent1"/>
            </a:solidFill>
            <a:prstDash val="solid"/>
          </a:ln>
        </p:spPr>
      </p:sp>
      <p:sp>
        <p:nvSpPr>
          <p:cNvPr id="27" name="Text 25"/>
          <p:cNvSpPr txBox="1"/>
          <p:nvPr/>
        </p:nvSpPr>
        <p:spPr>
          <a:xfrm>
            <a:off x="603504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8" name="Text 26"/>
          <p:cNvSpPr txBox="1"/>
          <p:nvPr/>
        </p:nvSpPr>
        <p:spPr>
          <a:xfrm>
            <a:off x="640080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알아도</a:t>
            </a:r>
            <a:endParaRPr lang="en-US" sz="1300" dirty="0"/>
          </a:p>
          <a:p>
            <a:pPr indent="0" marL="0">
              <a:buNone/>
            </a:pPr>
            <a:r>
              <a:rPr lang="en-US" sz="1300" b="1" dirty="0">
                <a:solidFill>
                  <a:schemeClr val="tx2"/>
                </a:solidFill>
              </a:rPr>
              <a:t>말을 꺼내기 어렵다</a:t>
            </a:r>
            <a:endParaRPr lang="en-US" sz="1300" dirty="0"/>
          </a:p>
        </p:txBody>
      </p:sp>
      <p:sp>
        <p:nvSpPr>
          <p:cNvPr id="29" name="Text 27"/>
          <p:cNvSpPr txBox="1"/>
          <p:nvPr/>
        </p:nvSpPr>
        <p:spPr>
          <a:xfrm>
            <a:off x="603504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관계 걱정, 작은 금액, 근거 없음. 메모장 기록은 "나중에 지어낸 것 아니냐" 한마디에 무너진다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없다</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다른 서비스가 모두 X다. 진정 접수는 일부러 연결만 한다</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푼다.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채운다</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남는다</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기본급 + 주휴 + 야간수당으로 "받았어야 할 돈"을 계산하고, 실제 받은 돈과의 차액을 보여 준다</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푼다</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쓴다</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664208"/>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근무지만 직접 등록한다. 기그와 달리 사장이 가입하지 않아도 된다</a:t>
            </a:r>
            <a:endParaRPr lang="en-US" sz="110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688336"/>
            <a:ext cx="4480560" cy="603504"/>
          </a:xfrm>
          <a:prstGeom prst="rect">
            <a:avLst/>
          </a:prstGeom>
          <a:noFill/>
          <a:ln/>
        </p:spPr>
        <p:txBody>
          <a:bodyPr wrap="square" lIns="0" tIns="0" rIns="0" bIns="0" rtlCol="0" anchor="t"/>
          <a:lstStyle/>
          <a:p>
            <a:pPr indent="0" marL="0">
              <a:buNone/>
            </a:pPr>
            <a:r>
              <a:rPr lang="en-US" sz="1100" dirty="0">
                <a:solidFill>
                  <a:schemeClr val="accent5"/>
                </a:solidFill>
              </a:rPr>
              <a:t>실제 받은 돈과 비교해 차액을 찾고, 요청 문구와 증빙 묶음까지 잇는다. 네 서비스 모두 없는 부분</a:t>
            </a:r>
            <a:endParaRPr lang="en-US" sz="110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12464"/>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기록할 때마다 확인 번호와 서버 등록 시각이 남고, 누구나 확인 페이지에서 등록 시각을 볼 수 있다. 내용으로 번호를 다시 계산하는 방법은 기말까지 만든다</a:t>
            </a:r>
            <a:endParaRPr lang="en-US" sz="110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600200"/>
          </a:xfrm>
          <a:prstGeom prst="roundRect">
            <a:avLst>
              <a:gd name="adj" fmla="val 5714"/>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100" dirty="0">
                <a:solidFill>
                  <a:schemeClr val="tx1"/>
                </a:solidFill>
              </a:rPr>
              <a:t>비교 기능은 하우머치가 "받은 금액 입력" 칸 하나로 따라올 수 있다. 3번은 칸 하나가 아니라 기록 구조(사유 없이 못 고침 · 삭제도 흔적 · 고치면 다시 등록)라서 따라오기 어렵다.</a:t>
            </a:r>
            <a:endParaRPr lang="en-US" sz="1100" dirty="0"/>
          </a:p>
        </p:txBody>
      </p:sp>
      <p:sp>
        <p:nvSpPr>
          <p:cNvPr id="22" name="Text 20"/>
          <p:cNvSpPr txBox="1"/>
          <p:nvPr/>
        </p:nvSpPr>
        <p:spPr>
          <a:xfrm>
            <a:off x="5852160" y="306324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생긴다</a:t>
            </a:r>
            <a:endParaRPr lang="en-US" sz="1050" dirty="0"/>
          </a:p>
          <a:p>
            <a:pPr indent="0" marL="0">
              <a:buNone/>
            </a:pPr>
            <a:r>
              <a:rPr lang="en-US" sz="950" dirty="0">
                <a:solidFill>
                  <a:schemeClr val="accent5"/>
                </a:solidFill>
              </a:rPr>
              <a:t>앱의 증빙 문서 맨 아래에 그렇게 적어 두었다</a:t>
            </a:r>
            <a:endParaRPr lang="en-US" sz="1050" dirty="0"/>
          </a:p>
        </p:txBody>
      </p:sp>
      <p:sp>
        <p:nvSpPr>
          <p:cNvPr id="23" name="Text 21"/>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1050" i="1" dirty="0">
                <a:solidFill>
                  <a:schemeClr val="accent5"/>
                </a:solidFill>
              </a:rPr>
              <a:t>법적 효력을 보장한다고 말하지 않는다. 근로감독관 · 법원이 판단할 자료를 정리해 준다.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등록에만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3291840"/>
                <a:gridCol w="3657600"/>
              </a:tblGrid>
              <a:tr h="329184">
                <a:tc>
                  <a:txBody>
                    <a:bodyPr/>
                    <a:lstStyle/>
                    <a:p>
                      <a:pPr indent="0" marL="0">
                        <a:buNone/>
                      </a:pPr>
                      <a:r>
                        <a:rPr lang="en-US" sz="1050" b="1" dirty="0">
                          <a:solidFill>
                            <a:srgbClr val="5D636D"/>
                          </a:solidFill>
                        </a:rPr>
                        <a:t>구분</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선택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이유</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050" b="1" dirty="0">
                          <a:solidFill>
                            <a:srgbClr val="15171A"/>
                          </a:solidFill>
                        </a:rPr>
                        <a:t>프론트엔드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React + Vite, PWA (홈 화면에 추가, 오프라인 실행)</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스토어 없이 링크로 배포. 의견을 듣고 바로 고친다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백엔드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별도 서버 없음 + Supabase REST</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근무 내용은 폰 밖으로 안 나감. 서버는 확인 번호 등록 · 설문 수집에만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050" b="1" dirty="0">
                          <a:solidFill>
                            <a:srgbClr val="15171A"/>
                          </a:solidFill>
                        </a:rPr>
                        <a:t>데이터베이스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폰: localStorage(기록) · IndexedDB(사진)</a:t>
                      </a:r>
                      <a:endParaRPr lang="en-US" sz="1050" dirty="0"/>
                    </a:p>
                    <a:p>
                      <a:pPr indent="0" marL="0">
                        <a:buNone/>
                      </a:pPr>
                      <a:r>
                        <a:rPr lang="en-US" sz="1050" dirty="0">
                          <a:solidFill>
                            <a:srgbClr val="15171A"/>
                          </a:solidFill>
                        </a:rPr>
                        <a:t>서버: Supabase PostgreSQL (stamps · survey)</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기록은 사용자 폰에. 공개 키로는 넣기 · 읽기만(RLS), 시각은 서버가 찍음. 운영자 조작은 못 막음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84048">
                <a:tc>
                  <a:txBody>
                    <a:bodyPr/>
                    <a:lstStyle/>
                    <a:p>
                      <a:pPr indent="0" marL="0">
                        <a:buNone/>
                      </a:pPr>
                      <a:r>
                        <a:rPr lang="en-US" sz="1050" b="1" dirty="0">
                          <a:solidFill>
                            <a:srgbClr val="15171A"/>
                          </a:solidFill>
                        </a:rPr>
                        <a:t>클라우드 · 인프라</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GitHub Pages + GitHub Actions</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main에 올리면 자동 빌드 ·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050" b="1" dirty="0">
                          <a:solidFill>
                            <a:srgbClr val="15171A"/>
                          </a:solidFill>
                        </a:rPr>
                        <a:t>AI</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Claude API (선택, 개발 환경에서만)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배포 앱은 API 키 없이 정해진 문구로 동작. 기록을 밖으로 안 보내려고 기본은 끔</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SaaS · 분석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페이지 + 자동 집계 페이지, 직접 인터뷰</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로그인이 없어 사용 로그 대신 설문 · 인터뷰로 측정</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확인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근무 기록 · 캘린더 · 급여 비교 · 정산 요청 · 설정</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급여(주휴 · 야간) · 예정 vs 실제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localStorage(기록 · 수정 이력) · IndexedDB(사진)</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100" b="1" dirty="0">
                <a:solidFill>
                  <a:schemeClr val="tx2"/>
                </a:solidFill>
              </a:rPr>
              <a:t>Supabase</a:t>
            </a:r>
            <a:endParaRPr lang="en-US" sz="1100" dirty="0"/>
          </a:p>
          <a:p>
            <a:pPr indent="0" marL="0">
              <a:spcAft>
                <a:spcPts val="200"/>
              </a:spcAft>
              <a:buNone/>
            </a:pPr>
            <a:r>
              <a:rPr lang="en-US" sz="1100" b="1" dirty="0">
                <a:solidFill>
                  <a:schemeClr val="tx1"/>
                </a:solidFill>
              </a:rPr>
              <a:t>stamps 표</a:t>
            </a:r>
            <a:endParaRPr lang="en-US" sz="1100" dirty="0"/>
          </a:p>
          <a:p>
            <a:pPr indent="0" marL="0">
              <a:spcAft>
                <a:spcPts val="200"/>
              </a:spcAft>
              <a:buNone/>
            </a:pPr>
            <a:r>
              <a:rPr lang="en-US" sz="1000" dirty="0">
                <a:solidFill>
                  <a:schemeClr val="accent5"/>
                </a:solidFill>
              </a:rPr>
              <a:t>확인 번호 · 기록 번호 · 기기 번호 · 등록 시각</a:t>
            </a:r>
            <a:endParaRPr lang="en-US" sz="1100" dirty="0"/>
          </a:p>
          <a:p>
            <a:pPr indent="0" marL="0">
              <a:spcAft>
                <a:spcPts val="200"/>
              </a:spcAft>
              <a:buNone/>
            </a:pPr>
            <a:r>
              <a:rPr lang="en-US" sz="1000" dirty="0">
                <a:solidFill>
                  <a:schemeClr val="accent5"/>
                </a:solidFill>
              </a:rPr>
              <a:t>공개 키로는 넣기 · 읽기만(RLS). 시각은 서버가 찍음</a:t>
            </a:r>
            <a:endParaRPr lang="en-US" sz="1100" dirty="0"/>
          </a:p>
          <a:p>
            <a:pPr indent="0" marL="0">
              <a:spcAft>
                <a:spcPts val="200"/>
              </a:spcAft>
              <a:buNone/>
            </a:pPr>
            <a:r>
              <a:rPr lang="en-US" sz="950" b="1" dirty="0">
                <a:solidFill>
                  <a:schemeClr val="accent2"/>
                </a:solidFill>
              </a:rPr>
              <a:t>확인함: 수정 · 삭제 요청은 401로 거부, 2000년 시각을 보내도 서버 시각</a:t>
            </a:r>
            <a:endParaRPr lang="en-US" sz="110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확인 번호 → 등록 시각. 앱 데이터 없이 동작</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 버튼마다 확인 번호를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새 내용으로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인터넷이 없으면 대기열, 연결되면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지금 열린다</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실제를 비교해 연장 · 대타만 글자로</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근무 기록 · 수정 이력 · 계산 · 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번호를 넣으면 서버 등록 시각이 나온다</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39초,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남는다. 예시 데이터는 등록되지 않으니 시연 중 남긴 2건만 보인다</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바뀐다</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있다</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검증(가설 1)</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9월 기획서 4개 → 10/13 포함 8 · 제외 6으로 고정      </a:t>
            </a:r>
            <a:pPr indent="0" marL="0">
              <a:buNone/>
            </a:pPr>
            <a:r>
              <a:rPr lang="en-US" sz="1050" b="1" dirty="0">
                <a:solidFill>
                  <a:schemeClr val="tx2"/>
                </a:solidFill>
              </a:rPr>
              <a:t>% 기준  </a:t>
            </a:r>
            <a:pPr indent="0" marL="0">
              <a:buNone/>
            </a:pPr>
            <a:r>
              <a:rPr lang="en-US" sz="1050" dirty="0">
                <a:solidFill>
                  <a:schemeClr val="tx1"/>
                </a:solidFill>
              </a:rPr>
              <a:t>구현 · 폰 확인 · 사용자 검증 중 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음식점이 여기 속한다. 알바생 몫은 따로 알 수 없다</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타겟 규모(어림)  </a:t>
            </a:r>
            <a:pPr indent="0" marL="0">
              <a:spcAft>
                <a:spcPts val="100"/>
              </a:spcAft>
              <a:buNone/>
            </a:pPr>
            <a:r>
              <a:rPr lang="en-US" sz="1050" dirty="0">
                <a:solidFill>
                  <a:schemeClr val="tx1"/>
                </a:solidFill>
              </a:rPr>
              <a:t>재적학생 307만 명 → 알바 경험 67~89% → 지금 알바 중 · 주 15시간 이상: 미상 (경험 기준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임금체불 근절 대책 · 2025.10.23 개정 근로기준법 시행. 근거를 남겨 둔 사람이 돌려받기 쉬워지는 때</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쓴다</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쓰고 대응까지: 알바가드뿐</a:t>
            </a:r>
            <a:endParaRPr lang="en-US" sz="1300" dirty="0"/>
          </a:p>
        </p:txBody>
      </p:sp>
      <p:sp>
        <p:nvSpPr>
          <p:cNvPr id="22" name="Text 20"/>
          <p:cNvSpPr txBox="1"/>
          <p:nvPr/>
        </p:nvSpPr>
        <p:spPr>
          <a:xfrm>
            <a:off x="5943600" y="1965960"/>
            <a:ext cx="2743200" cy="2377440"/>
          </a:xfrm>
          <a:prstGeom prst="rect">
            <a:avLst/>
          </a:prstGeom>
          <a:noFill/>
          <a:ln/>
        </p:spPr>
        <p:txBody>
          <a:bodyPr wrap="square" lIns="0" tIns="0" rIns="0" bIns="0" rtlCol="0" anchor="t"/>
          <a:lstStyle/>
          <a:p>
            <a:pPr indent="0" marL="0">
              <a:buNone/>
            </a:pPr>
            <a:r>
              <a:rPr lang="en-US" sz="1050" dirty="0">
                <a:solidFill>
                  <a:schemeClr val="tx1"/>
                </a:solidFill>
              </a:rPr>
              <a:t>하우머치 · 계산기는 계산에서 멈추고, 기그는 사장이 있어야 하고, 진정24는 증거가 있어야 한다. 그래서 왼쪽 위 칸은 알바가드뿐이다.</a:t>
            </a:r>
            <a:endParaRPr lang="en-US" sz="1050" dirty="0"/>
          </a:p>
          <a:p>
            <a:pPr indent="0" marL="0">
              <a:buNone/>
            </a:pPr>
            <a:r>
              <a:rPr lang="en-US" sz="600" dirty="0">
                <a:solidFill>
                  <a:schemeClr val="tx1"/>
                </a:solidFill>
              </a:rPr>
              <a:t> </a:t>
            </a:r>
            <a:endParaRPr lang="en-US" sz="1050" dirty="0"/>
          </a:p>
          <a:p>
            <a:pPr indent="0" marL="0">
              <a:buNone/>
            </a:pPr>
            <a:r>
              <a:rPr lang="en-US" sz="1050" dirty="0">
                <a:solidFill>
                  <a:schemeClr val="tx1"/>
                </a:solidFill>
              </a:rPr>
              <a:t>첫 사용자로 보는 사람은 하우머치 사용자가 아니다. 카톡 · 메모에 적거나 아예 안 적고 통장 총액만 보는 학생이다. 하우머치가 비교 칸을 넣으면 따라올 수 있으니, 따라 하기 어려운 쪽(기록 등록)을 키운다.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날마다 누르지만 돈을 확인하는 건 급여일에 한 번. 그 사이 앱을 열 이유로 게임을 넣었고, 그 화면이 광고 자리다.</a:t>
            </a:r>
            <a:endParaRPr lang="en-US" sz="1100" dirty="0"/>
          </a:p>
        </p:txBody>
      </p:sp>
      <p:sp>
        <p:nvSpPr>
          <p:cNvPr id="5" name="Text 3"/>
          <p:cNvSpPr txBox="1"/>
          <p:nvPr/>
        </p:nvSpPr>
        <p:spPr>
          <a:xfrm>
            <a:off x="457200" y="1508760"/>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핵심 화면: 기록 · 비교 · 요청 · 증빙</a:t>
            </a:r>
            <a:endParaRPr lang="en-US" sz="1300" dirty="0"/>
          </a:p>
          <a:p>
            <a:pPr indent="0" marL="0">
              <a:buNone/>
            </a:pPr>
            <a:r>
              <a:rPr lang="en-US" sz="1050" dirty="0">
                <a:solidFill>
                  <a:schemeClr val="accent5"/>
                </a:solidFill>
              </a:rPr>
              <a:t>신뢰가 핵심인 화면에는 광고를 섞지 않는다</a:t>
            </a:r>
            <a:endParaRPr lang="en-US" sz="1300" dirty="0"/>
          </a:p>
        </p:txBody>
      </p:sp>
      <p:sp>
        <p:nvSpPr>
          <p:cNvPr id="6" name="Text 4"/>
          <p:cNvSpPr txBox="1"/>
          <p:nvPr/>
        </p:nvSpPr>
        <p:spPr>
          <a:xfrm>
            <a:off x="7040880" y="1508760"/>
            <a:ext cx="1645920" cy="585216"/>
          </a:xfrm>
          <a:prstGeom prst="rect">
            <a:avLst/>
          </a:prstGeom>
          <a:noFill/>
          <a:ln/>
        </p:spPr>
        <p:txBody>
          <a:bodyPr wrap="square" lIns="0" tIns="0" rIns="0" bIns="0" rtlCol="0" anchor="ctr"/>
          <a:lstStyle/>
          <a:p>
            <a:pPr algn="r" indent="0" marL="0">
              <a:buNone/>
            </a:pPr>
            <a:r>
              <a:rPr lang="en-US" sz="1300" b="1" dirty="0">
                <a:solidFill>
                  <a:schemeClr val="accent2"/>
                </a:solidFill>
              </a:rPr>
              <a:t>무료 · 광고 없음</a:t>
            </a:r>
            <a:endParaRPr lang="en-US" sz="1300" dirty="0"/>
          </a:p>
        </p:txBody>
      </p:sp>
      <p:sp>
        <p:nvSpPr>
          <p:cNvPr id="7" name="Shape 5"/>
          <p:cNvSpPr/>
          <p:nvPr/>
        </p:nvSpPr>
        <p:spPr>
          <a:xfrm>
            <a:off x="457200" y="2093976"/>
            <a:ext cx="8229600" cy="0"/>
          </a:xfrm>
          <a:prstGeom prst="line">
            <a:avLst/>
          </a:prstGeom>
          <a:noFill/>
          <a:ln w="9525">
            <a:solidFill>
              <a:srgbClr val="DCD9D0"/>
            </a:solidFill>
            <a:prstDash val="solid"/>
          </a:ln>
        </p:spPr>
      </p:sp>
      <p:sp>
        <p:nvSpPr>
          <p:cNvPr id="8" name="Text 6"/>
          <p:cNvSpPr txBox="1"/>
          <p:nvPr/>
        </p:nvSpPr>
        <p:spPr>
          <a:xfrm>
            <a:off x="457200" y="2093976"/>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1차 (가설): 쉬는 틈 게임 화면 광고</a:t>
            </a:r>
            <a:endParaRPr lang="en-US" sz="1300" dirty="0"/>
          </a:p>
          <a:p>
            <a:pPr indent="0" marL="0">
              <a:buNone/>
            </a:pPr>
            <a:r>
              <a:rPr lang="en-US" sz="1050" dirty="0">
                <a:solidFill>
                  <a:schemeClr val="accent5"/>
                </a:solidFill>
              </a:rPr>
              <a:t>웹앱이라 배너 · 전면이 기본, 보상형은 승인 뒤. 단가를 모르니 매출 추정은 적지 않는다</a:t>
            </a:r>
            <a:endParaRPr lang="en-US" sz="1300" dirty="0"/>
          </a:p>
        </p:txBody>
      </p:sp>
      <p:sp>
        <p:nvSpPr>
          <p:cNvPr id="9" name="Text 7"/>
          <p:cNvSpPr txBox="1"/>
          <p:nvPr/>
        </p:nvSpPr>
        <p:spPr>
          <a:xfrm>
            <a:off x="7040880" y="2093976"/>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게임 화면만</a:t>
            </a:r>
            <a:endParaRPr lang="en-US" sz="1300" dirty="0"/>
          </a:p>
        </p:txBody>
      </p:sp>
      <p:sp>
        <p:nvSpPr>
          <p:cNvPr id="10" name="Shape 8"/>
          <p:cNvSpPr/>
          <p:nvPr/>
        </p:nvSpPr>
        <p:spPr>
          <a:xfrm>
            <a:off x="457200" y="2679192"/>
            <a:ext cx="8229600" cy="0"/>
          </a:xfrm>
          <a:prstGeom prst="line">
            <a:avLst/>
          </a:prstGeom>
          <a:noFill/>
          <a:ln w="9525">
            <a:solidFill>
              <a:srgbClr val="DCD9D0"/>
            </a:solidFill>
            <a:prstDash val="solid"/>
          </a:ln>
        </p:spPr>
      </p:sp>
      <p:sp>
        <p:nvSpPr>
          <p:cNvPr id="11" name="Text 9"/>
          <p:cNvSpPr txBox="1"/>
          <p:nvPr/>
        </p:nvSpPr>
        <p:spPr>
          <a:xfrm>
            <a:off x="457200" y="2679192"/>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2차 (후보): 편의 기능 구독</a:t>
            </a:r>
            <a:endParaRPr lang="en-US" sz="1300" dirty="0"/>
          </a:p>
          <a:p>
            <a:pPr indent="0" marL="0">
              <a:buNone/>
            </a:pPr>
            <a:r>
              <a:rPr lang="en-US" sz="1050" dirty="0">
                <a:solidFill>
                  <a:schemeClr val="accent5"/>
                </a:solidFill>
              </a:rPr>
              <a:t>폰을 바꾸거나 잃어버려도 기록이 남게 하는 선택 기능 (동기화 · 자동 백업)</a:t>
            </a:r>
            <a:endParaRPr lang="en-US" sz="1300" dirty="0"/>
          </a:p>
        </p:txBody>
      </p:sp>
      <p:sp>
        <p:nvSpPr>
          <p:cNvPr id="12" name="Text 10"/>
          <p:cNvSpPr txBox="1"/>
          <p:nvPr/>
        </p:nvSpPr>
        <p:spPr>
          <a:xfrm>
            <a:off x="7040880" y="2679192"/>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구독</a:t>
            </a:r>
            <a:endParaRPr lang="en-US" sz="1300" dirty="0"/>
          </a:p>
        </p:txBody>
      </p:sp>
      <p:sp>
        <p:nvSpPr>
          <p:cNvPr id="13" name="Shape 11"/>
          <p:cNvSpPr/>
          <p:nvPr/>
        </p:nvSpPr>
        <p:spPr>
          <a:xfrm>
            <a:off x="457200" y="3264408"/>
            <a:ext cx="8229600" cy="0"/>
          </a:xfrm>
          <a:prstGeom prst="line">
            <a:avLst/>
          </a:prstGeom>
          <a:noFill/>
          <a:ln w="9525">
            <a:solidFill>
              <a:srgbClr val="DCD9D0"/>
            </a:solidFill>
            <a:prstDash val="solid"/>
          </a:ln>
        </p:spPr>
      </p:sp>
      <p:sp>
        <p:nvSpPr>
          <p:cNvPr id="14" name="Text 12"/>
          <p:cNvSpPr txBox="1"/>
          <p:nvPr/>
        </p:nvSpPr>
        <p:spPr>
          <a:xfrm>
            <a:off x="457200" y="3264408"/>
            <a:ext cx="6583680" cy="585216"/>
          </a:xfrm>
          <a:prstGeom prst="rect">
            <a:avLst/>
          </a:prstGeom>
          <a:noFill/>
          <a:ln/>
        </p:spPr>
        <p:txBody>
          <a:bodyPr wrap="square" lIns="0" tIns="0" rIns="0" bIns="0" rtlCol="0" anchor="ctr"/>
          <a:lstStyle/>
          <a:p>
            <a:pPr indent="0" marL="0">
              <a:buNone/>
            </a:pPr>
            <a:r>
              <a:rPr lang="en-US" sz="1300" b="1" dirty="0">
                <a:solidFill>
                  <a:schemeClr val="accent3"/>
                </a:solidFill>
              </a:rPr>
              <a:t>하지 않는 것: 정산 문구 · 내용증명 · 증빙 묶음 유료화</a:t>
            </a:r>
            <a:endParaRPr lang="en-US" sz="1300" dirty="0"/>
          </a:p>
          <a:p>
            <a:pPr indent="0" marL="0">
              <a:buNone/>
            </a:pPr>
            <a:r>
              <a:rPr lang="en-US" sz="1050" dirty="0">
                <a:solidFill>
                  <a:schemeClr val="accent5"/>
                </a:solidFill>
              </a:rPr>
              <a:t>돈을 받고 문서를 만들면 변호사법 · 공인노무사법 문제에 가까워진다</a:t>
            </a:r>
            <a:endParaRPr lang="en-US" sz="1300" dirty="0"/>
          </a:p>
        </p:txBody>
      </p:sp>
      <p:sp>
        <p:nvSpPr>
          <p:cNvPr id="15" name="Text 13"/>
          <p:cNvSpPr txBox="1"/>
          <p:nvPr/>
        </p:nvSpPr>
        <p:spPr>
          <a:xfrm>
            <a:off x="7040880" y="3264408"/>
            <a:ext cx="1645920" cy="585216"/>
          </a:xfrm>
          <a:prstGeom prst="rect">
            <a:avLst/>
          </a:prstGeom>
          <a:noFill/>
          <a:ln/>
        </p:spPr>
        <p:txBody>
          <a:bodyPr wrap="square" lIns="0" tIns="0" rIns="0" bIns="0" rtlCol="0" anchor="ctr"/>
          <a:lstStyle/>
          <a:p>
            <a:pPr algn="r" indent="0" marL="0">
              <a:buNone/>
            </a:pPr>
            <a:r>
              <a:rPr lang="en-US" sz="1300" b="1" dirty="0">
                <a:solidFill>
                  <a:schemeClr val="accent3"/>
                </a:solidFill>
              </a:rPr>
              <a:t>유료화 안 함</a:t>
            </a:r>
            <a:endParaRPr lang="en-US" sz="1300" dirty="0"/>
          </a:p>
        </p:txBody>
      </p:sp>
      <p:sp>
        <p:nvSpPr>
          <p:cNvPr id="16" name="Shape 14"/>
          <p:cNvSpPr/>
          <p:nvPr/>
        </p:nvSpPr>
        <p:spPr>
          <a:xfrm>
            <a:off x="457200" y="3849624"/>
            <a:ext cx="8229600" cy="0"/>
          </a:xfrm>
          <a:prstGeom prst="line">
            <a:avLst/>
          </a:prstGeom>
          <a:noFill/>
          <a:ln w="9525">
            <a:solidFill>
              <a:srgbClr val="DCD9D0"/>
            </a:solidFill>
            <a:prstDash val="solid"/>
          </a:ln>
        </p:spPr>
      </p:sp>
      <p:sp>
        <p:nvSpPr>
          <p:cNvPr id="17" name="Text 15"/>
          <p:cNvSpPr txBox="1"/>
          <p:nvPr/>
        </p:nvSpPr>
        <p:spPr>
          <a:xfrm>
            <a:off x="457200" y="40233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40233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링크를 올린다. "주휴수당 계산법" 짧은 영상도 만든다</a:t>
            </a:r>
            <a:endParaRPr lang="en-US" sz="1100" dirty="0"/>
          </a:p>
        </p:txBody>
      </p:sp>
      <p:sp>
        <p:nvSpPr>
          <p:cNvPr id="19" name="Text 17"/>
          <p:cNvSpPr txBox="1"/>
          <p:nvPr/>
        </p:nvSpPr>
        <p:spPr>
          <a:xfrm>
            <a:off x="457200" y="4407408"/>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407408"/>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11월에 설문 · 인터뷰로 다섯 가지를 확인한다</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572768"/>
          <a:ext cx="8229600" cy="914400"/>
        </p:xfrm>
        <a:graphic>
          <a:graphicData uri="http://schemas.openxmlformats.org/drawingml/2006/table">
            <a:tbl>
              <a:tblPr/>
              <a:tblGrid>
                <a:gridCol w="2743200"/>
                <a:gridCol w="3108960"/>
                <a:gridCol w="2377440"/>
              </a:tblGrid>
              <a:tr h="292608">
                <a:tc>
                  <a:txBody>
                    <a:bodyPr/>
                    <a:lstStyle/>
                    <a:p>
                      <a:pPr indent="0" marL="0">
                        <a:buNone/>
                      </a:pPr>
                      <a:r>
                        <a:rPr lang="en-US" sz="1000" b="1" dirty="0">
                          <a:solidFill>
                            <a:srgbClr val="5D636D"/>
                          </a:solidFill>
                        </a:rPr>
                        <a:t>확인할 것</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어떻게 · 기준 (팀이 정함)</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못 미치면</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47472">
                <a:tc>
                  <a:txBody>
                    <a:bodyPr/>
                    <a:lstStyle/>
                    <a:p>
                      <a:pPr indent="0" marL="0">
                        <a:buNone/>
                      </a:pPr>
                      <a:r>
                        <a:rPr lang="en-US" sz="1050" b="1" dirty="0">
                          <a:solidFill>
                            <a:srgbClr val="15171A"/>
                          </a:solidFill>
                        </a:rPr>
                        <a:t>매달 받은 금액을 직접 넣는다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5명 + 설문 · 5명 중 3명 "넣겠다"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입금 문자 자동 인식을 앞당긴다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요청 문구를 실제로 보낼 수 있다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인터뷰(문구를 보여 주고) · 5명 중 3명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문구 톤 · 단계를 다시 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확인 번호 설명이 이해된다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 5명 중 4명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설정 · 증빙 문구를 고친다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타겟 중 주 15시간 이상이 다수다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30명 넘으면, 알바 중 반 이상</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주휴수당 중심 메시지를 바꾼다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게임 화면 광고를 받아들인다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인터뷰 · "싫다"가 반 미만</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11/23 광고 대신 새 게임으로</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3703320"/>
            <a:ext cx="8229600" cy="384048"/>
          </a:xfrm>
          <a:prstGeom prst="rect">
            <a:avLst/>
          </a:prstGeom>
          <a:noFill/>
          <a:ln/>
        </p:spPr>
        <p:txBody>
          <a:bodyPr wrap="square" lIns="0" tIns="0" rIns="0" bIns="0" rtlCol="0" anchor="ctr"/>
          <a:lstStyle/>
          <a:p>
            <a:pPr indent="0" marL="0">
              <a:buNone/>
            </a:pPr>
            <a:r>
              <a:rPr lang="en-US" sz="1050" dirty="0">
                <a:solidFill>
                  <a:schemeClr val="tx1"/>
                </a:solidFill>
              </a:rPr>
              <a:t>모집: 학과 · 동아리 단톡, 에브리타임, 오늘 이 자리(QR). 인터뷰 5명은 지인 중 알바 중인 사람, 11/3~11/9</a:t>
            </a:r>
            <a:endParaRPr lang="en-US" sz="1050" dirty="0"/>
          </a:p>
        </p:txBody>
      </p:sp>
      <p:sp>
        <p:nvSpPr>
          <p:cNvPr id="7" name="Shape 4"/>
          <p:cNvSpPr/>
          <p:nvPr/>
        </p:nvSpPr>
        <p:spPr>
          <a:xfrm>
            <a:off x="457200" y="4087368"/>
            <a:ext cx="8229600" cy="0"/>
          </a:xfrm>
          <a:prstGeom prst="line">
            <a:avLst/>
          </a:prstGeom>
          <a:noFill/>
          <a:ln w="9525">
            <a:solidFill>
              <a:srgbClr val="DCD9D0"/>
            </a:solidFill>
            <a:prstDash val="solid"/>
          </a:ln>
        </p:spPr>
      </p:sp>
      <p:sp>
        <p:nvSpPr>
          <p:cNvPr id="8" name="Text 5"/>
          <p:cNvSpPr txBox="1"/>
          <p:nvPr/>
        </p:nvSpPr>
        <p:spPr>
          <a:xfrm>
            <a:off x="457200" y="4087368"/>
            <a:ext cx="8229600" cy="384048"/>
          </a:xfrm>
          <a:prstGeom prst="rect">
            <a:avLst/>
          </a:prstGeom>
          <a:noFill/>
          <a:ln/>
        </p:spPr>
        <p:txBody>
          <a:bodyPr wrap="square" lIns="0" tIns="0" rIns="0" bIns="0" rtlCol="0" anchor="ctr"/>
          <a:lstStyle/>
          <a:p>
            <a:pPr indent="0" marL="0">
              <a:buNone/>
            </a:pPr>
            <a:r>
              <a:rPr lang="en-US" sz="1050" dirty="0">
                <a:solidFill>
                  <a:schemeClr val="tx1"/>
                </a:solidFill>
              </a:rPr>
              <a:t>왜 먼저 만들었나: 웹앱이라 빨리 만들 수 있고, 화면을 보여 주며 물어야 답이 정확하다</a:t>
            </a:r>
            <a:endParaRPr lang="en-US" sz="1050" dirty="0"/>
          </a:p>
        </p:txBody>
      </p:sp>
      <p:sp>
        <p:nvSpPr>
          <p:cNvPr id="9" name="Shape 6"/>
          <p:cNvSpPr/>
          <p:nvPr/>
        </p:nvSpPr>
        <p:spPr>
          <a:xfrm>
            <a:off x="457200" y="4471416"/>
            <a:ext cx="8229600" cy="0"/>
          </a:xfrm>
          <a:prstGeom prst="line">
            <a:avLst/>
          </a:prstGeom>
          <a:noFill/>
          <a:ln w="9525">
            <a:solidFill>
              <a:srgbClr val="DCD9D0"/>
            </a:solidFill>
            <a:prstDash val="solid"/>
          </a:ln>
        </p:spPr>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 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일이 오늘 발표한 장과 같습니다</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92f6228a4349bdc8</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답해 주시면 기말 발표 때 결과로 보여 드립니다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 발표</dc:title>
  <dc:subject>PptxGenJS Presentation</dc:subject>
  <dc:creator>4조</dc:creator>
  <cp:lastModifiedBy>4조</cp:lastModifiedBy>
  <cp:revision>1</cp:revision>
  <dcterms:created xsi:type="dcterms:W3CDTF">2026-10-26T00:30:58Z</dcterms:created>
  <dcterms:modified xsi:type="dcterms:W3CDTF">2026-10-26T00:30:58Z</dcterms:modified>
</cp:coreProperties>
</file>