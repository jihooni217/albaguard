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7c0e5ccc-2940-e94c-d7b8-ba0fccde3f1e}">
          <p14:sldIdLst>
            <p14:sldId id="256"/>
            <p14:sldId id="257"/>
          </p14:sldIdLst>
        </p14:section>
        <p14:section name="② 문제 정의" id="{ce21861f-5316-66d5-8c0b-6e92722abea5}">
          <p14:sldIdLst>
            <p14:sldId id="258"/>
            <p14:sldId id="259"/>
          </p14:sldIdLst>
        </p14:section>
        <p14:section name="③ 솔루션·핵심 가치" id="{bcd74881-e389-2d3d-49b2-9b0193f5321a}">
          <p14:sldIdLst>
            <p14:sldId id="260"/>
            <p14:sldId id="261"/>
          </p14:sldIdLst>
        </p14:section>
        <p14:section name="④ SW 기술 아키텍처" id="{da65644e-9ef3-3986-0718-bb19bc42c405}">
          <p14:sldIdLst>
            <p14:sldId id="262"/>
            <p14:sldId id="263"/>
          </p14:sldIdLst>
        </p14:section>
        <p14:section name="⑤ 개발 현황·MVP 시연" id="{de6cf47e-f6af-b02d-ddd7-82361471ac27}">
          <p14:sldIdLst>
            <p14:sldId id="264"/>
            <p14:sldId id="265"/>
            <p14:sldId id="266"/>
            <p14:sldId id="267"/>
          </p14:sldIdLst>
        </p14:section>
        <p14:section name="⑥ 시장 분석·비즈니스 모델" id="{294bcb0b-9dbd-1b77-e878-06bd69dc3262}">
          <p14:sldIdLst>
            <p14:sldId id="268"/>
            <p14:sldId id="269"/>
            <p14:sldId id="270"/>
          </p14:sldIdLst>
        </p14:section>
        <p14:section name="⑦ 초기 시장 검증" id="{64957f80-3483-5916-bbd1-c37aac505393}">
          <p14:sldIdLst>
            <p14:sldId id="271"/>
          </p14:sldIdLst>
        </p14:section>
        <p14:section name="⑧ 향후 계획·팀 역량" id="{28bd5c43-496a-b990-57b3-71fd310b44d9}">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팀장이 엽니다. "알바비를 덜 받아도 모르고, 알아도 말을 못 하는 대학생을 위해, 기록 → 비교 → 요청까지 한 앱으로 잇는 알바가드입니다." 팀명은 앱 이름과 같은 알바가드입니다.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"교수님이 아직 구현 전일 거라 하셨는데, 저희는 웹앱이라 빨리 만들 수 있어서, 화면을 먼저 만들고 그걸 보여 주며 묻는 순서를 택했습니다. 오늘 보여 드리는 건 완성품이 아니라 검증용 도구입니다." 사용자 검증은 11월에 합니다. 오른쪽 QR은 앱과 설문입니다. 설문은 이름을 받지 않고 3분이라, 들으시면서 답해 주셔도 됩니다. 역할은 개발 이지훈, 시장 · 수익 손유호, 검증 · 일정 박명진이고 발표도 그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타깃: 근로계약서가 없거나 사본이 없고, 통장 총액만 확인하고, 사장님께 말을 꺼내기 부담스러워하는 학생입니다. 주 15시간은 주휴수당이 생기는 선입니다. 문제 1: 수당 안내를 못 받는 경우가 많고 주휴 · 야간 계산 기준은 알기 어렵습니다. 계산기는 있어도 넣을 기록이 없습니다. 문제 2: 통장에 들어온 총액만 보고 넘어가고, 계약서가 없어 시급도 증명하기 어렵습니다. 문제 3: 관계 걱정, 작은 금액, 근거 없음이 겹치고, 메모장 기록은 "나중에 지어낸 것 아니냐?" 한마디에 무너집니다. 세 문제를 숫자로 보여 줍니다. 모두 알바천국 설문이라 "플랫폼 설문"이라는 점을 말하고, 그래서 우리도 직접 설문을 돌리고 있다고 잇습니다. 33.2%는 노동절 수당 안내에 대한 숫자라 "수당 자체가 안내되지 않는다"까지만 말하고, 주휴 · 야간 계산 자신감은 우리 설문 문항으로 직접 묻고 있다고 덧붙입니다.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무료 앱이 실제로 겨루는 상대는 다른 앱이 아니라 메모장과 통장 확인입니다. 그래서 첫 열에 넣었습니다. 하우머치는 혼자 쓸 수 있지만 예상 급여에서 멈추고, 기그는 사장 연동이 필요하고, 계산기는 기록이 없고, 진정24는 증거가 있어야 시작합니다. 가운데 세 줄은 알바가드에만 있습니다. 카톡은 보낸 시각이 남지만 무엇을 왜 고쳤는지는 남지 않아 △입니다. 그 세 줄이 저희가 채우는 부분입니다. 마지막 줄 진정 접수는 저희가 일부러 안 합니다. 1350과 노동포털로 연결만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단계를 한 앱에서 잇는 것이 핵심입니다. 사장 연동 없이, 로그인 없이, 근무 내용은 폰 안에만 둡니다. 화면은 통장처럼 "일하면 돈이 쌓인다"가 보이게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1번은 기그와 달리 사장이 가입하지 않아도 된다는 뜻입니다. 2번은 실제 받은 돈과 비교해 차액을 찾고 요청 문구와 증빙 묶음까지 잇는 것으로, 비교한 네 서비스 모두 없습니다. 3번이 따라 하기 어려운 차별점입니다. 기능 하나가 아니라 기록 구조라서, 사유 없이는 못 고치고 삭제해도 흔적이 남고 고치면 다시 등록됩니다. 기존 급여 앱이 넣으려면 사용자가 기록을 마음대로 고치던 방식을 포기해야 합니다. 지금 확인 페이지는 번호의 서버 등록 시각까지 보여 주고, 기록 내용에서 번호를 다시 계산해 맞춰 보는 방법은 기말까지 만듭니다(그래서 12장에서 70%). 근무지 · 시각 · 금액은 서버로 가지 않고, "그날 실제로 일했다"까지는 증명하지 못합니다. 한계는 먼저 말합니다. 통장 내역 · 메시지와 함께 내야 힘이 생긴다는 말은 앱의 증빙 문서 맨 아래에도 적혀 있습니다. "법적 효력" 질문이 오면 보장하지 않는다고 답하고, 근로감독관 · 법원이 판단할 자료를 정리해 준다고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표의 이유를 풀면: 스토어 심사 없이 링크로 배포해서, 사용자 의견을 듣고 바로 고칠 수 있습니다. 서버는 확인 번호 등록과 설문 수집에만 씁니다. 서버를 최소로 둔 이유는 개인정보와 비용 둘 다입니다. 공개키로는 넣기 · 읽기만 되고(RLS) 시각은 서버가 찍지만, 운영자 조작까지 막지는 못합니다. main에 올리면 GitHub Actions가 자동으로 빌드 · 배포합니다. 배포 앱은 API 키 없이 정해진 문구로 동작합니다. 한 학기 안에 혼자 만들 수 있는 구성입니다.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상자를 풀면: 화면은 근무 기록 · 캘린더 · 급여 비교 · 정산 요청 · 설정, 계산 모듈은 급여(주휴 · 야간) · 예정 vs 실제 · 요청 문구 · PDF · 확인 번호, 저장은 localStorage(기록 · 수정 이력)와 IndexedDB(사진)입니다. 왼쪽 폰 안에서 모든 계산이 끝나고, 서버로 가는 건 확인 번호 · 기록 번호 · 무작위 기기 번호뿐입니다. 기기 번호는 처음 기록을 등록할 때 앱이 만든 난수라 휴대전화 번호가 아닙니다. 앱이 쓰는 공개키로는 넣기와 읽기만 되고, 직접 요청을 보내 확인했습니다. 2000년 시각을 보내도 서버 시각으로 들어가고, 수정 · 삭제는 401로 거부됩니다. 다만 운영자 권한으로는 고칠 수 있어서, 지금 막는 건 "사용자가 나중에 고쳐 쓰기"까지입니다. 운영자까지 못 고치게 하는 외부 시점 확인은 비용 때문에 계획입니다. 오른쪽은 기록 하나가 남을 때의 흐름입니다. 증빙 묶음 PDF 7번 표에 기록별 확인 번호와 등록 시각이 들어가고, 확인 페이지는 앱 데이터 없이 동작합니다. 지금 답하고 계신 설문도 같은 서버의 survey 표로 가고, 권한 원칙이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디자인은 타깃 사용자(하우머치를 쓰는 친구)가 시안 12장 중 고른 통장 구성입니다. 잉크 남색은 "기록을 잉크로 남긴다"라는 뜻입니다. 증빙 묶음은 인쇄 창에서 PDF로 저장합니다.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단계(등록 → 비교 → 요청 · 증빙 → 확인)가 차별점과 하나씩 맞물립니다. 영상에 안 나오는 것은 말로 짚습니다: 캘린더의 연장 · 대타 표시(9장 캡처), 3단계 진정 안내(1350 · 노동포털 연결, 진정서는 만들지 않음). 예시 데이터는 발표 전에 미리 넣어 둡니다(오늘 날짜는 비어 있어 출근 · 퇴근이 그대로 됩니다). 7번 표에는 시연 중 남긴 2건만 나옵니다. 예시 데이터는 진짜 시각이 아니라 등록하지 않기 때문입니다. 시연은 다음 장의 녹화 영상(1분 46초)으로 하고, 단계마다 멈춰서 설명하면 약 3분입니다. 영상은 배포된 앱을 실제로 눌러 찍은 것이라 서버 등록과 확인 번호가 진짜입니다(10/26 오전 9시 36분 녹화. 화면의 시각은 녹화한 시각). 질문이 오면 실제 앱으로 1단계(출근 · 퇴근 → "2건 등록됨")만 보여 줍니다. 전날 할 일: Supabase 대시보드에서 프로젝트 상태를 확인하고(잠들어 있으면 Restore) 앱에서 출근 · 퇴근을 눌러 설정 탭에 "2건 등록됨"이 뜨는지 본다. 그다음 폰의 와이파이를 끄고 데이터로 확인 페이지(jihooni217.github.io/albaguard/verify.html?h=da3e2a7ad7e298db)를 열어 등록 시각이 나오는지 본다. 당일 아침에도 한 번 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전에 한 문장: "보실 것 하나만 말씀드리면 마지막 장면의 등록 시각입니다. 지금 서버에 그대로 있는 값입니다." 영상을 누르면 재생됩니다. 왼쪽이 폰 화면, 오른쪽 위는 지금 단계(기록 · 비교 · 요청 · 확인), 그 아래가 자막입니다. 1 출근 · 퇴근 → 설정 "2건 등록됨"(0:10~0:30), 2 받은 금액 입력 → 빨간 차액(0:30~0:50), 3 메시지 생성 → 증빙 묶음 PDF 7번 표(0:50~1:28), 4 확인 페이지 → 서버 등록 시각(1:28~1:42). 시작 3초는 제목 화면, 끝 4초는 확인 페이지 주소와 확인 번호 화면입니다. 단계가 바뀔 때 멈추고 한두 문장씩 설명합니다. 영상이 안 열리면 docs/08_시연_영상.mp4를 따로 틀어도 됩니다. 영상 마지막에 나오는 확인 번호는 da3e2a7ad7e298db입니다. "녹화라서 못 믿겠다"라는 질문이 오면 "지금 폰으로 jihooni217.github.io/albaguard/verify.html?h=da3e2a7ad7e298db 를 열어 보셔도 됩니다. 서버가 찍은 시각이 녹화 시각(10/26)과 같습니다"라고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직후에 보여 줍니다. "방금 보신 것이 8개 중 이만큼"입니다. 100%는 쓰지 않았습니다. 계획 기준은 9월 기획서의 기능 4개에서 출발해, 10/13 MVP 기능 정의서에서 포함 8개 · 제외 6개(금액 자동 인식 · 푸시 알림 · AI 문구 · 광고 · 로그인 · 진정서)로 고정한 것입니다. %는 구현 + 실제 폰 확인 + 사용자 검증을 100으로 보고 남은 일만큼 뺀 자체 평가이고, 동작은 컴퓨터의 폰 크기 화면에서, 실제 폰은 설치까지 확인했습니다. 동그라미 세 칸은 컴퓨터 동작 · 실제 폰 · 사용자 검증이고, 지금은 모두 첫 칸만 찼습니다. 뒤 두 칸이 11월 일정입니다. 세 칸 중 첫 칸만 찼는데 왜 80~90%냐고 물으시면, %는 칸수가 아니라 남은 일의 크기로 어림한 것이고 11월 검증에서 큰 수정이 나오면 내려갈 수 있다고 답합니다. 이 장이 끝나면 손유호에게 넘깁니다.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임금체불은 2년 연속 2조 원이고 30인 미만 사업장에 몰려 있습니다. 체불 통계는 문제의 크기이지 알바 시장의 크기가 아니고, 알바생 몫은 이 통계에서 알 수 없습니다. 타깃 규모는 어림이라 "약"을 붙여 말합니다. 상한 210~270만 명은 알바 경험 기준이고, 지금 알바 중인 사람과 주 15시간 이상인 사람은 공식 통계가 없어 미상으로 둡니다. 재적학생은 교육부 2026 교육기본통계(대학원 포함), 알바 경험률은 알바몬 설문(1,193명, 여름방학 알바 88.9%, 2023)과 동대신문 설문(200명, 67.5%)이라 대푯값이 아닙니다. 타이밍: 2025년 9월 임금체불 근절 대책은 대지급금을 3개월분에서 6개월분으로 늘렸고, 10월 23일 시행된 개정 근로기준법은 상습 체불 사업주에게 신용 제재를 겁니다. 체불 제재가 세졌습니다. 출처: 고용노동부 노동포털 임금체불 통계현황, 알바천국 설문, 교육부 교육기본통계.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첫 사용자로 보는 사람은 하우머치 사용자가 아니라, 카톡 · 메모에 적거나 아예 안 적고 통장 총액만 보는 학생입니다. 하우머치가 비교 칸을 넣으면 따라올 수 있으니, 따라 하기 어려운 쪽(기록 등록)을 키웁니다. 2×2에서 알바가드는 "혼자 쓴다 × 대응까지"에 있습니다. 오른쪽 열은 혼자서는 시작할 수 없는 서비스입니다. 기그는 사장이 가입해야 하고, 진정24는 증거가 먼저 있어야 합니다. 경쟁 서비스 정보는 2026년 9월 각 앱의 공식 소개와 리뷰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손유호. 기록 · 비교 · 요청 화면은 믿고 쓰는 것이 중요해서 광고를 섞지 않습니다. 단가를 모르니 매출 추정은 적지 않았습니다. 정산 문구 · 내용증명 · 증빙 묶음을 돈 받고 만들면 변호사법 · 공인노무사법 문제에 가까워져서 유료화하지 않습니다(웹 조사 기준, 전문가 검토 아님). 유저 확보는 에브리타임 · 학과 단톡 · 알바 커뮤니티에 링크를 올리고, "주휴수당 계산법" 같은 짧은 영상을 만듭니다. 알바비 앱에 왜 게임이 있나: 출퇴근은 일하는 날마다 누르지만, 돈을 확인하는 건 급여일에 한 번이라, 그 사이에도 앱을 열 이유로 넣었고 그 화면이 광고 자리입니다. 처음엔 근무 중에만 열렸는데 팀원 의견으로 10/25에 조건을 풀고 설정에서 숨길 수 있게 했습니다. 광고 형식은 웹앱이라 배너 · 전면이 기본이고 보상형은 승인이 필요합니다. 2차 구독은 폰을 바꾸거나 잃어버려도 기록이 남게 하는 선택 기능이고, 원하는 사람만 쓰므로 "근무 내용은 폰 안에만" 원칙과 부딪히지 않습니다. 광고 가설은 설문의 "게임 화면 광고" 문항과 승인 뒤 게임 화면 열람 수로 확인합니다. 운영 비용은 지금 서버 0원 · 배포 0원이라 수익이 0이어도 서비스는 돌아가고, 인건비는 팀 3명입니다. 넘길 때: "주 15시간 이상이 다수인지는 지금 답하고 계신 설문에서 첫 조각이 나옵니다. 검증 계획은 박명진이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모집은 학과 · 동아리 단톡, 에브리타임, 그리고 오늘 이 자리(QR)입니다. 인터뷰 5명은 지인 중 지금 알바 중인 사람으로 11/3~11/9에 합니다. 왜 먼저 만들었나: 웹앱이라 빨리 만들 수 있고, 화면을 보여 주며 물어야 답이 정확하다고 봤습니다. 가설은 9월 기획서 문장 그대로입니다. 표의 기준은 팀이 정한 목표이지 데이터가 아닙니다. 인터뷰 문항은 설문지 20~24번입니다. 지금까지 들은 것은 정식 조사가 아닙니다: 타깃 사용자 1명이 디자인 시안 12장 중 통장 구성을 골랐고, 링크 설문은 10/23에 공개했습니다. 기말 발표에서 이 표에 결과를 더해 보고합니다. 응답 수는 슬라이드에 적지 않고 당일 아침 결과 페이지에서 읽습니다. 0명이면 0명이라고 말합니다. 다만 당일 아침 응답이 10명 이상이고, 강의실 인터넷이 되고, 교수님 양해를 받았으면 결과 페이지(survey-results.html)를 60초만 띄워 세 문항(주당 근무 시간 · 적게 받은 것 같았던 적 · 매달 받은 금액 직접 넣기)만 읽습니다. 자유 의견은 띄우지 않습니다. 아니면 당일 아침 캡처로 대신합니다. 테스트 응답 2건(10/23)은 미리 지워 둡니다. 결과는 사람 수로만 말하고 %는 30명을 넘을 때만 씁니다. 1행은 의향을 묻는 것이라 한계가 있습니다. 인터뷰 때 앱을 설치하게 하고, 실제로 넣는지는 급여일이 지난 뒤 따로 봅니다(기말 이후까지 걸릴 수 있음). 지인은 호의적으로 답하기 쉬워서 "넣겠다"를 그대로 믿지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7주 일정이고 빨간 마름모가 마일스톤입니다. 설문은 오늘 이 자리에서 시작해 11/16까지 손유호가 30명을 모으고, 인터뷰 5명은 11/3~11/9에 손유호 3명, 제가 2명을 합니다. 폰 검증은 아이폰은 팀장, 갤럭시는 제가 주관합니다. 광고 승인 신청은 손유호, 코드는 팀장입니다. 마일스톤: 11/9 설문 1차 집계 · 인터뷰 마감, 11/23 피드백 반영 배포와 광고 결정, 11/30 폰 검증 끝, 12/7 기록 등록 보강 배포와 기능 동결, 12/15 기말. 11/23에 설문의 광고 문항 결과로 광고 실험과 새 게임 중 하나를 정합니다. 12/7 이후에는 코드를 바꾸지 않고 보고서와 발표를 준비합니다. 위험과 대안은 보고서 5.4에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박명진. 앞으로 맡는 일은 오늘 각자 발표한 장과 같습니다. 개발은 팀장, 시장과 설문 · 인터뷰 3명은 손유호, 인터뷰 2명과 갤럭시 테스트 · 일정 · 보고서는 저입니다. 다음 장으로 넘겨 팀장이 마무리합니다.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마무리(20초): "저희가 여쭙고 싶은 것 두 가지입니다. 문서 유료화를 피하면서 가능한 수익 모델이 더 있을지, 그리고 설문 30명 · 인터뷰 5명이면 충분한지입니다. 질문받겠습니다." 이 장은 질의응답 내내 띄워 둔다.
예상 질문 (이름 붙은 사람이 먼저 답하고, 모자라면 팀장이 보탠다)
· [이지훈] 법적 효력 있나? → 보장하지 않는다. 판단은 감독관 · 법원. 우리는 판단할 자료를 정리하고, 수정 이력과 확인 번호로 "나중에 고친 게 아니다"까지 보여 준다.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 본문의 "고치거나 지울 수 없습니다"는 "앱 쪽에서는"이라고 범위를 붙여 말할 것)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묻는다. 12/7까지는 고치는 기간.
· [박명진] 받은 금액을 매달 직접 넣어야 하는데 넣을까? → 가장 큰 가설이라 인터뷰 1번. 첫 화면에서 "9월 급여 받으셨나요?"라고 묻고 넣는 순간 덜 받은 돈이 보이게 했다. 5명 중 3명이 아니면 자동 인식을 앞당긴다.
· [이지훈] 하우머치가 따라 하면? → 비교 기능은 따라올 수 있다. 해시를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과 밖에서, 인터뷰 5명으로 이유를 듣는다.
· [이지훈] 법률 서비스 아닌가? → 무료, 본인 기록을 정해진 양식에 채울 뿐, 개별 사안 검토 · 대행 없음, 진정은 1350 · 노동포털로 연결만.
· [손유호] 수익은? → 게임 화면 광고(가설). 운영 비용은 0원. 문서 유료화는 안 한다.
· [이지훈] 정의서를 개발 중에 썼는데 계획 대비가 의미 있나? →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 [박명진] 왜 설문 30명 · 인터뷰 5명인가? → 9월 기획서는 인터뷰 10~15명이었다. 사람 수는 링크 설문으로 채우고, 앱을 써 보게 하는 20분 인터뷰는 7주 안에 셋이 할 수 있는 5명으로 줄였다. 충분한지는 마지막에 여쭙는 것 중 하나다.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 · 앱 이름과 같게 정함</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__학번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__학번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배포됐고, 사용자 검증은 11월부터</a:t>
            </a:r>
            <a:endParaRPr lang="en-US" sz="2400" dirty="0"/>
          </a:p>
        </p:txBody>
      </p:sp>
      <p:sp>
        <p:nvSpPr>
          <p:cNvPr id="4" name="Text 2"/>
          <p:cNvSpPr txBox="1"/>
          <p:nvPr/>
        </p:nvSpPr>
        <p:spPr>
          <a:xfrm>
            <a:off x="457200" y="1325880"/>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계획한 기능 8개 모두 동작</a:t>
            </a:r>
            <a:endParaRPr lang="en-US" sz="1300" dirty="0"/>
          </a:p>
          <a:p>
            <a:pPr indent="0" marL="0">
              <a:buNone/>
            </a:pPr>
            <a:r>
              <a:rPr lang="en-US" sz="950" dirty="0">
                <a:solidFill>
                  <a:schemeClr val="accent5"/>
                </a:solidFill>
              </a:rPr>
              <a:t>9월 기획서 4개 → 10/13 정의서 8개로 고정. 완성도 평균 약 80%</a:t>
            </a:r>
            <a:endParaRPr lang="en-US" sz="1300" dirty="0"/>
          </a:p>
        </p:txBody>
      </p:sp>
      <p:sp>
        <p:nvSpPr>
          <p:cNvPr id="5" name="Text 3"/>
          <p:cNvSpPr txBox="1"/>
          <p:nvPr/>
        </p:nvSpPr>
        <p:spPr>
          <a:xfrm>
            <a:off x="4334256" y="1325880"/>
            <a:ext cx="969264" cy="658368"/>
          </a:xfrm>
          <a:prstGeom prst="rect">
            <a:avLst/>
          </a:prstGeom>
          <a:noFill/>
          <a:ln/>
        </p:spPr>
        <p:txBody>
          <a:bodyPr wrap="square" lIns="0" tIns="0" rIns="0" bIns="0" rtlCol="0" anchor="ctr"/>
          <a:lstStyle/>
          <a:p>
            <a:pPr algn="r" indent="0" marL="0">
              <a:buNone/>
            </a:pPr>
            <a:r>
              <a:rPr lang="en-US" sz="1300" b="1" dirty="0">
                <a:solidFill>
                  <a:schemeClr val="tx2"/>
                </a:solidFill>
              </a:rPr>
              <a:t>8 / 8</a:t>
            </a:r>
            <a:endParaRPr lang="en-US" sz="1300" dirty="0"/>
          </a:p>
        </p:txBody>
      </p:sp>
      <p:sp>
        <p:nvSpPr>
          <p:cNvPr id="6" name="Shape 4"/>
          <p:cNvSpPr/>
          <p:nvPr/>
        </p:nvSpPr>
        <p:spPr>
          <a:xfrm>
            <a:off x="457200" y="1984248"/>
            <a:ext cx="4846320" cy="0"/>
          </a:xfrm>
          <a:prstGeom prst="line">
            <a:avLst/>
          </a:prstGeom>
          <a:noFill/>
          <a:ln w="9525">
            <a:solidFill>
              <a:srgbClr val="DCD9D0"/>
            </a:solidFill>
            <a:prstDash val="solid"/>
          </a:ln>
        </p:spPr>
      </p:sp>
      <p:sp>
        <p:nvSpPr>
          <p:cNvPr id="7" name="Text 5"/>
          <p:cNvSpPr txBox="1"/>
          <p:nvPr/>
        </p:nvSpPr>
        <p:spPr>
          <a:xfrm>
            <a:off x="457200" y="1984248"/>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사용자 검증</a:t>
            </a:r>
            <a:endParaRPr lang="en-US" sz="1300" dirty="0"/>
          </a:p>
          <a:p>
            <a:pPr indent="0" marL="0">
              <a:buNone/>
            </a:pPr>
            <a:r>
              <a:rPr lang="en-US" sz="950" dirty="0">
                <a:solidFill>
                  <a:schemeClr val="accent5"/>
                </a:solidFill>
              </a:rPr>
              <a:t>링크 설문 30명 · 직접 인터뷰 5명</a:t>
            </a:r>
            <a:endParaRPr lang="en-US" sz="1300" dirty="0"/>
          </a:p>
        </p:txBody>
      </p:sp>
      <p:sp>
        <p:nvSpPr>
          <p:cNvPr id="8" name="Text 6"/>
          <p:cNvSpPr txBox="1"/>
          <p:nvPr/>
        </p:nvSpPr>
        <p:spPr>
          <a:xfrm>
            <a:off x="4334256" y="1984248"/>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설문 열림</a:t>
            </a:r>
            <a:endParaRPr lang="en-US" sz="1300" dirty="0"/>
          </a:p>
        </p:txBody>
      </p:sp>
      <p:sp>
        <p:nvSpPr>
          <p:cNvPr id="9" name="Shape 7"/>
          <p:cNvSpPr/>
          <p:nvPr/>
        </p:nvSpPr>
        <p:spPr>
          <a:xfrm>
            <a:off x="457200" y="2642616"/>
            <a:ext cx="4846320" cy="0"/>
          </a:xfrm>
          <a:prstGeom prst="line">
            <a:avLst/>
          </a:prstGeom>
          <a:noFill/>
          <a:ln w="9525">
            <a:solidFill>
              <a:srgbClr val="DCD9D0"/>
            </a:solidFill>
            <a:prstDash val="solid"/>
          </a:ln>
        </p:spPr>
      </p:sp>
      <p:sp>
        <p:nvSpPr>
          <p:cNvPr id="10" name="Text 8"/>
          <p:cNvSpPr txBox="1"/>
          <p:nvPr/>
        </p:nvSpPr>
        <p:spPr>
          <a:xfrm>
            <a:off x="457200" y="2642616"/>
            <a:ext cx="3877056" cy="658368"/>
          </a:xfrm>
          <a:prstGeom prst="rect">
            <a:avLst/>
          </a:prstGeom>
          <a:noFill/>
          <a:ln/>
        </p:spPr>
        <p:txBody>
          <a:bodyPr wrap="square" lIns="0" tIns="0" rIns="0" bIns="0" rtlCol="0" anchor="ctr"/>
          <a:lstStyle/>
          <a:p>
            <a:pPr indent="0" marL="0">
              <a:buNone/>
            </a:pPr>
            <a:r>
              <a:rPr lang="en-US" sz="1300" b="1" dirty="0">
                <a:solidFill>
                  <a:schemeClr val="tx1"/>
                </a:solidFill>
              </a:rPr>
              <a:t>역할: 개발 이지훈 · 시장 손유호 · 검증 박명진</a:t>
            </a:r>
            <a:endParaRPr lang="en-US" sz="1300" dirty="0"/>
          </a:p>
          <a:p>
            <a:pPr indent="0" marL="0">
              <a:buNone/>
            </a:pPr>
            <a:r>
              <a:rPr lang="en-US" sz="950" dirty="0">
                <a:solidFill>
                  <a:schemeClr val="accent5"/>
                </a:solidFill>
              </a:rPr>
              <a:t>발표도 같은 순서로 나눠서 함</a:t>
            </a:r>
            <a:endParaRPr lang="en-US" sz="1300" dirty="0"/>
          </a:p>
        </p:txBody>
      </p:sp>
      <p:sp>
        <p:nvSpPr>
          <p:cNvPr id="11" name="Text 9"/>
          <p:cNvSpPr txBox="1"/>
          <p:nvPr/>
        </p:nvSpPr>
        <p:spPr>
          <a:xfrm>
            <a:off x="4334256" y="2642616"/>
            <a:ext cx="969264" cy="658368"/>
          </a:xfrm>
          <a:prstGeom prst="rect">
            <a:avLst/>
          </a:prstGeom>
          <a:noFill/>
          <a:ln/>
        </p:spPr>
        <p:txBody>
          <a:bodyPr wrap="square" lIns="0" tIns="0" rIns="0" bIns="0" rtlCol="0" anchor="ctr"/>
          <a:lstStyle/>
          <a:p>
            <a:pPr algn="r" indent="0" marL="0">
              <a:buNone/>
            </a:pPr>
            <a:r>
              <a:rPr lang="en-US" sz="1300" b="1" dirty="0">
                <a:solidFill>
                  <a:schemeClr val="accent5"/>
                </a:solidFill>
              </a:rPr>
              <a:t>3명</a:t>
            </a:r>
            <a:endParaRPr lang="en-US" sz="1300" dirty="0"/>
          </a:p>
        </p:txBody>
      </p:sp>
      <p:sp>
        <p:nvSpPr>
          <p:cNvPr id="12" name="Shape 10"/>
          <p:cNvSpPr/>
          <p:nvPr/>
        </p:nvSpPr>
        <p:spPr>
          <a:xfrm>
            <a:off x="457200" y="3300984"/>
            <a:ext cx="4846320" cy="0"/>
          </a:xfrm>
          <a:prstGeom prst="line">
            <a:avLst/>
          </a:prstGeom>
          <a:noFill/>
          <a:ln w="9525">
            <a:solidFill>
              <a:srgbClr val="DCD9D0"/>
            </a:solidFill>
            <a:prstDash val="solid"/>
          </a:ln>
        </p:spPr>
      </p:sp>
      <p:sp>
        <p:nvSpPr>
          <p:cNvPr id="13" name="Text 11"/>
          <p:cNvSpPr txBox="1"/>
          <p:nvPr/>
        </p:nvSpPr>
        <p:spPr>
          <a:xfrm>
            <a:off x="457200" y="3429000"/>
            <a:ext cx="4846320" cy="274320"/>
          </a:xfrm>
          <a:prstGeom prst="rect">
            <a:avLst/>
          </a:prstGeom>
          <a:noFill/>
          <a:ln/>
        </p:spPr>
        <p:txBody>
          <a:bodyPr wrap="square" lIns="0" tIns="0" rIns="0" bIns="0" rtlCol="0" anchor="ctr"/>
          <a:lstStyle/>
          <a:p>
            <a:pPr indent="0" marL="0">
              <a:buNone/>
            </a:pPr>
            <a:r>
              <a:rPr lang="en-US" sz="1000" b="1" dirty="0">
                <a:solidFill>
                  <a:schemeClr val="accent5"/>
                </a:solidFill>
              </a:rPr>
              <a:t>오늘 순서</a:t>
            </a:r>
            <a:endParaRPr lang="en-US" sz="1000" dirty="0"/>
          </a:p>
        </p:txBody>
      </p:sp>
      <p:sp>
        <p:nvSpPr>
          <p:cNvPr id="14" name="Text 12"/>
          <p:cNvSpPr txBox="1"/>
          <p:nvPr/>
        </p:nvSpPr>
        <p:spPr>
          <a:xfrm>
            <a:off x="457200" y="3703320"/>
            <a:ext cx="4846320" cy="365760"/>
          </a:xfrm>
          <a:prstGeom prst="rect">
            <a:avLst/>
          </a:prstGeom>
          <a:noFill/>
          <a:ln/>
        </p:spPr>
        <p:txBody>
          <a:bodyPr wrap="square" lIns="0" tIns="0" rIns="0" bIns="0" rtlCol="0" anchor="ctr"/>
          <a:lstStyle/>
          <a:p>
            <a:pPr indent="0" marL="0">
              <a:buNone/>
            </a:pPr>
            <a:r>
              <a:rPr lang="en-US" sz="1250" b="1" dirty="0">
                <a:solidFill>
                  <a:schemeClr val="tx2"/>
                </a:solidFill>
              </a:rPr>
              <a:t>문제 → 솔루션 → 기술 → 시연 3분 → 시장 · 수익 → 검증 · 일정</a:t>
            </a:r>
            <a:endParaRPr lang="en-US" sz="1250" dirty="0"/>
          </a:p>
        </p:txBody>
      </p:sp>
      <p:sp>
        <p:nvSpPr>
          <p:cNvPr id="15" name="Text 13"/>
          <p:cNvSpPr txBox="1"/>
          <p:nvPr/>
        </p:nvSpPr>
        <p:spPr>
          <a:xfrm>
            <a:off x="457200" y="4114800"/>
            <a:ext cx="4846320" cy="274320"/>
          </a:xfrm>
          <a:prstGeom prst="rect">
            <a:avLst/>
          </a:prstGeom>
          <a:noFill/>
          <a:ln/>
        </p:spPr>
        <p:txBody>
          <a:bodyPr wrap="square" lIns="0" tIns="0" rIns="0" bIns="0" rtlCol="0" anchor="ctr"/>
          <a:lstStyle/>
          <a:p>
            <a:pPr indent="0" marL="0">
              <a:buNone/>
            </a:pPr>
            <a:r>
              <a:rPr lang="en-US" sz="1000" dirty="0">
                <a:solidFill>
                  <a:schemeClr val="accent5"/>
                </a:solidFill>
              </a:rPr>
              <a:t>질문은 발표 뒤 한 번에</a:t>
            </a:r>
            <a:endParaRPr lang="en-US" sz="1000" dirty="0"/>
          </a:p>
        </p:txBody>
      </p:sp>
      <p:pic>
        <p:nvPicPr>
          <p:cNvPr id="16"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7" name="Text 14"/>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8" name="Text 15"/>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9"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20" name="Text 16"/>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21" name="Text 17"/>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들으면서 답해도 됨</a:t>
            </a:r>
            <a:endParaRPr lang="en-US" sz="900" dirty="0"/>
          </a:p>
        </p:txBody>
      </p:sp>
      <p:sp>
        <p:nvSpPr>
          <p:cNvPr id="22" name="Text 18"/>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덜 받아도 모르고, 알아도 말하지 못함</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일하는 만 19~26세 시급제 알바 대학생 · 계약서 없음 · 통장 총액만 확인 · 말 꺼내기 부담</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최저시급 미달 경험자 기준 · 알바천국 2026.6 (응답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 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 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8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8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8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sp>
        <p:nvSpPr>
          <p:cNvPr id="8" name="기록 화면 틀"/>
          <p:cNvSpPr/>
          <p:nvPr/>
        </p:nvSpPr>
        <p:spPr>
          <a:xfrm>
            <a:off x="1198939" y="2350008"/>
            <a:ext cx="1168281" cy="2423160"/>
          </a:xfrm>
          <a:prstGeom prst="roundRect">
            <a:avLst>
              <a:gd name="adj" fmla="val 12523"/>
            </a:avLst>
          </a:prstGeom>
          <a:solidFill>
            <a:srgbClr val="15171A"/>
          </a:solidFill>
          <a:ln w="12700">
            <a:solidFill>
              <a:srgbClr val="15171A"/>
            </a:solidFill>
            <a:prstDash val="solid"/>
          </a:ln>
        </p:spPr>
      </p:sp>
      <p:pic>
        <p:nvPicPr>
          <p:cNvPr id="9" name="기록 화면" descr="C:\Users\user\Desktop\albaguard기술창업\docs\screenshots\1-home.jpg">    </p:cNvPr>
          <p:cNvPicPr>
            <a:picLocks noChangeAspect="1"/>
          </p:cNvPicPr>
          <p:nvPr/>
        </p:nvPicPr>
        <p:blipFill>
          <a:blip r:embed="rId1"/>
          <a:stretch>
            <a:fillRect/>
          </a:stretch>
        </p:blipFill>
        <p:spPr>
          <a:xfrm>
            <a:off x="1244659" y="2395728"/>
            <a:ext cx="1076841" cy="2331720"/>
          </a:xfrm>
          <a:prstGeom prst="rect">
            <a:avLst/>
          </a:prstGeom>
        </p:spPr>
      </p:pic>
      <p:sp>
        <p:nvSpPr>
          <p:cNvPr id="10" name="Shape 7"/>
          <p:cNvSpPr/>
          <p:nvPr/>
        </p:nvSpPr>
        <p:spPr>
          <a:xfrm>
            <a:off x="3127248" y="1417320"/>
            <a:ext cx="100584" cy="0"/>
          </a:xfrm>
          <a:prstGeom prst="line">
            <a:avLst/>
          </a:prstGeom>
          <a:noFill/>
          <a:ln w="25400">
            <a:solidFill>
              <a:srgbClr val="DCD9D0"/>
            </a:solidFill>
            <a:prstDash val="solid"/>
            <a:tailEnd type="triangle"/>
          </a:ln>
        </p:spPr>
      </p:sp>
      <p:sp>
        <p:nvSpPr>
          <p:cNvPr id="11"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2" name="Text 9"/>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0"/>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4" name="Text 11"/>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기본급 + 주휴 + 야간수당으로 "받았어야 할 돈"을 계산하고, 실제 받은 돈과의 차액 표시</a:t>
            </a:r>
            <a:endParaRPr lang="en-US" sz="1050" dirty="0"/>
          </a:p>
        </p:txBody>
      </p:sp>
      <p:sp>
        <p:nvSpPr>
          <p:cNvPr id="15" name="비교 화면 틀"/>
          <p:cNvSpPr/>
          <p:nvPr/>
        </p:nvSpPr>
        <p:spPr>
          <a:xfrm>
            <a:off x="3987859" y="2350008"/>
            <a:ext cx="1168281" cy="2423160"/>
          </a:xfrm>
          <a:prstGeom prst="roundRect">
            <a:avLst>
              <a:gd name="adj" fmla="val 12523"/>
            </a:avLst>
          </a:prstGeom>
          <a:solidFill>
            <a:srgbClr val="15171A"/>
          </a:solidFill>
          <a:ln w="12700">
            <a:solidFill>
              <a:srgbClr val="15171A"/>
            </a:solidFill>
            <a:prstDash val="solid"/>
          </a:ln>
        </p:spPr>
      </p:sp>
      <p:pic>
        <p:nvPicPr>
          <p:cNvPr id="16" name="비교 화면" descr="C:\Users\user\Desktop\albaguard기술창업\docs\screenshots\3-pay.jpg">    </p:cNvPr>
          <p:cNvPicPr>
            <a:picLocks noChangeAspect="1"/>
          </p:cNvPicPr>
          <p:nvPr/>
        </p:nvPicPr>
        <p:blipFill>
          <a:blip r:embed="rId2"/>
          <a:stretch>
            <a:fillRect/>
          </a:stretch>
        </p:blipFill>
        <p:spPr>
          <a:xfrm>
            <a:off x="4033579" y="2395728"/>
            <a:ext cx="1076841" cy="2331720"/>
          </a:xfrm>
          <a:prstGeom prst="rect">
            <a:avLst/>
          </a:prstGeom>
        </p:spPr>
      </p:pic>
      <p:sp>
        <p:nvSpPr>
          <p:cNvPr id="17" name="Shape 13"/>
          <p:cNvSpPr/>
          <p:nvPr/>
        </p:nvSpPr>
        <p:spPr>
          <a:xfrm>
            <a:off x="5916168" y="1417320"/>
            <a:ext cx="100584" cy="0"/>
          </a:xfrm>
          <a:prstGeom prst="line">
            <a:avLst/>
          </a:prstGeom>
          <a:noFill/>
          <a:ln w="25400">
            <a:solidFill>
              <a:srgbClr val="DCD9D0"/>
            </a:solidFill>
            <a:prstDash val="solid"/>
            <a:tailEnd type="triangle"/>
          </a:ln>
        </p:spPr>
      </p:sp>
      <p:sp>
        <p:nvSpPr>
          <p:cNvPr id="18"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9" name="Text 15"/>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0" name="Text 16"/>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21" name="Text 17"/>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초안 → 진정 절차 안내(1350 · 노동포털). 대화로 먼저 해결</a:t>
            </a:r>
            <a:endParaRPr lang="en-US" sz="1050" dirty="0"/>
          </a:p>
        </p:txBody>
      </p:sp>
      <p:sp>
        <p:nvSpPr>
          <p:cNvPr id="22" name="요청 화면 틀"/>
          <p:cNvSpPr/>
          <p:nvPr/>
        </p:nvSpPr>
        <p:spPr>
          <a:xfrm>
            <a:off x="6776779" y="2350008"/>
            <a:ext cx="1168281" cy="2423160"/>
          </a:xfrm>
          <a:prstGeom prst="roundRect">
            <a:avLst>
              <a:gd name="adj" fmla="val 12523"/>
            </a:avLst>
          </a:prstGeom>
          <a:solidFill>
            <a:srgbClr val="15171A"/>
          </a:solidFill>
          <a:ln w="12700">
            <a:solidFill>
              <a:srgbClr val="15171A"/>
            </a:solidFill>
            <a:prstDash val="solid"/>
          </a:ln>
        </p:spPr>
      </p:sp>
      <p:pic>
        <p:nvPicPr>
          <p:cNvPr id="23" name="요청 화면" descr="C:\Users\user\Desktop\albaguard기술창업\docs\screenshots\4-request.jpg">    </p:cNvPr>
          <p:cNvPicPr>
            <a:picLocks noChangeAspect="1"/>
          </p:cNvPicPr>
          <p:nvPr/>
        </p:nvPicPr>
        <p:blipFill>
          <a:blip r:embed="rId3"/>
          <a:stretch>
            <a:fillRect/>
          </a:stretch>
        </p:blipFill>
        <p:spPr>
          <a:xfrm>
            <a:off x="6822499" y="2395728"/>
            <a:ext cx="1076841" cy="2331720"/>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차별점과 한계</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600200"/>
                <a:gridCol w="3703320"/>
                <a:gridCol w="292608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이유</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150" b="1" dirty="0">
                          <a:solidFill>
                            <a:srgbClr val="15171A"/>
                          </a:solidFill>
                        </a:rPr>
                        <a:t>프런트엔드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React + Vite, PWA (홈 화면에 추가, 오프라인 실행)</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스토어 없이 링크로 바로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백엔드</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별도 서버 없음 + Supabase REST</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근무 내용은 폰 안에만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731520">
                <a:tc>
                  <a:txBody>
                    <a:bodyPr/>
                    <a:lstStyle/>
                    <a:p>
                      <a:pPr indent="0" marL="0">
                        <a:buNone/>
                      </a:pPr>
                      <a:r>
                        <a:rPr lang="en-US" sz="1150" b="1" dirty="0">
                          <a:solidFill>
                            <a:srgbClr val="15171A"/>
                          </a:solidFill>
                        </a:rPr>
                        <a:t>데이터베이스</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폰: localStorage(기록) · IndexedDB(사진)</a:t>
                      </a:r>
                      <a:endParaRPr lang="en-US" sz="1150" dirty="0"/>
                    </a:p>
                    <a:p>
                      <a:pPr indent="0" marL="0">
                        <a:buNone/>
                      </a:pPr>
                      <a:r>
                        <a:rPr lang="en-US" sz="1150" dirty="0">
                          <a:solidFill>
                            <a:srgbClr val="15171A"/>
                          </a:solidFill>
                        </a:rPr>
                        <a:t>서버: Supabase PostgreSQL (stamps · survey)</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공개키로는 넣기 · 읽기만</a:t>
                      </a:r>
                      <a:endParaRPr lang="en-US" sz="1150" dirty="0"/>
                    </a:p>
                    <a:p>
                      <a:pPr indent="0" marL="0">
                        <a:buNone/>
                      </a:pPr>
                      <a:r>
                        <a:rPr lang="en-US" sz="1150" dirty="0">
                          <a:solidFill>
                            <a:srgbClr val="15171A"/>
                          </a:solidFill>
                        </a:rPr>
                        <a:t>시각은 서버가 찍음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클라우드 · 인프라</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GitHub Pages + GitHub Actions</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올리면 자동 배포</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AI</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Claude API (선택, 개발 환경에서만)</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기록을 밖으로 안 보내려고 기본은 끔</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150" b="1" dirty="0">
                          <a:solidFill>
                            <a:srgbClr val="15171A"/>
                          </a:solidFill>
                        </a:rPr>
                        <a:t>SaaS · 분석</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설문 페이지 + 자동 집계 페이지, 직접 인터뷰</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150" dirty="0">
                          <a:solidFill>
                            <a:srgbClr val="15171A"/>
                          </a:solidFill>
                        </a:rPr>
                        <a:t>로그인이 없어 설문 · 인터뷰로 측정</a:t>
                      </a:r>
                      <a:endParaRPr lang="en-US" sz="11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확인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914400" cy="274320"/>
          </a:xfrm>
          <a:prstGeom prst="rect">
            <a:avLst/>
          </a:prstGeom>
          <a:noFill/>
          <a:ln/>
        </p:spPr>
        <p:txBody>
          <a:bodyPr wrap="square" lIns="0" tIns="0" rIns="0" bIns="0" rtlCol="0" anchor="ctr"/>
          <a:lstStyle/>
          <a:p>
            <a:pPr indent="0" marL="0">
              <a:buNone/>
            </a:pPr>
            <a:r>
              <a:rPr lang="en-US" sz="850" dirty="0">
                <a:solidFill>
                  <a:schemeClr val="tx2"/>
                </a:solidFill>
              </a:rPr>
              <a:t>등록 시각 조회</a:t>
            </a:r>
            <a:endParaRPr lang="en-US" sz="85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인터넷이 없으면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2026.10.25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sp>
        <p:nvSpPr>
          <p:cNvPr id="4" name="캘린더 틀"/>
          <p:cNvSpPr/>
          <p:nvPr/>
        </p:nvSpPr>
        <p:spPr>
          <a:xfrm>
            <a:off x="411480" y="1234440"/>
            <a:ext cx="1358312" cy="2834640"/>
          </a:xfrm>
          <a:prstGeom prst="roundRect">
            <a:avLst>
              <a:gd name="adj" fmla="val 10771"/>
            </a:avLst>
          </a:prstGeom>
          <a:solidFill>
            <a:srgbClr val="15171A"/>
          </a:solidFill>
          <a:ln w="12700">
            <a:solidFill>
              <a:srgbClr val="15171A"/>
            </a:solidFill>
            <a:prstDash val="solid"/>
          </a:ln>
        </p:spPr>
      </p:sp>
      <p:pic>
        <p:nvPicPr>
          <p:cNvPr id="5" name="캘린더" descr="C:\Users\user\Desktop\albaguard기술창업\docs\screenshots\2-calendar.jpg">    </p:cNvPr>
          <p:cNvPicPr>
            <a:picLocks noChangeAspect="1"/>
          </p:cNvPicPr>
          <p:nvPr/>
        </p:nvPicPr>
        <p:blipFill>
          <a:blip r:embed="rId1"/>
          <a:stretch>
            <a:fillRect/>
          </a:stretch>
        </p:blipFill>
        <p:spPr>
          <a:xfrm>
            <a:off x="457200" y="1280160"/>
            <a:ext cx="1266872" cy="2743200"/>
          </a:xfrm>
          <a:prstGeom prst="rect">
            <a:avLst/>
          </a:prstGeom>
        </p:spPr>
      </p:pic>
      <p:sp>
        <p:nvSpPr>
          <p:cNvPr id="6" name="Text 3"/>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7" name="Text 4"/>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 (연장 · 대타 · 단축)</a:t>
            </a:r>
            <a:endParaRPr lang="en-US" sz="900" dirty="0"/>
          </a:p>
        </p:txBody>
      </p:sp>
      <p:sp>
        <p:nvSpPr>
          <p:cNvPr id="8" name="설정 틀"/>
          <p:cNvSpPr/>
          <p:nvPr/>
        </p:nvSpPr>
        <p:spPr>
          <a:xfrm>
            <a:off x="2732389" y="1234440"/>
            <a:ext cx="1358312" cy="2834640"/>
          </a:xfrm>
          <a:prstGeom prst="roundRect">
            <a:avLst>
              <a:gd name="adj" fmla="val 10771"/>
            </a:avLst>
          </a:prstGeom>
          <a:solidFill>
            <a:srgbClr val="15171A"/>
          </a:solidFill>
          <a:ln w="12700">
            <a:solidFill>
              <a:srgbClr val="15171A"/>
            </a:solidFill>
            <a:prstDash val="solid"/>
          </a:ln>
        </p:spPr>
      </p:sp>
      <p:pic>
        <p:nvPicPr>
          <p:cNvPr id="9" name="설정" descr="C:\Users\user\Desktop\albaguard기술창업\docs\screenshots\10-settings.jpg">    </p:cNvPr>
          <p:cNvPicPr>
            <a:picLocks noChangeAspect="1"/>
          </p:cNvPicPr>
          <p:nvPr/>
        </p:nvPicPr>
        <p:blipFill>
          <a:blip r:embed="rId2"/>
          <a:stretch>
            <a:fillRect/>
          </a:stretch>
        </p:blipFill>
        <p:spPr>
          <a:xfrm>
            <a:off x="2778109" y="1280160"/>
            <a:ext cx="1266872" cy="2743200"/>
          </a:xfrm>
          <a:prstGeom prst="rect">
            <a:avLst/>
          </a:prstGeom>
        </p:spPr>
      </p:pic>
      <p:sp>
        <p:nvSpPr>
          <p:cNvPr id="10" name="Text 6"/>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11" name="Text 7"/>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무엇이 서버로 가는지 · 백업</a:t>
            </a:r>
            <a:endParaRPr lang="en-US" sz="900" dirty="0"/>
          </a:p>
        </p:txBody>
      </p:sp>
      <p:sp>
        <p:nvSpPr>
          <p:cNvPr id="12" name="증빙 묶음 PDF 틀"/>
          <p:cNvSpPr/>
          <p:nvPr/>
        </p:nvSpPr>
        <p:spPr>
          <a:xfrm>
            <a:off x="5053299" y="1234440"/>
            <a:ext cx="1358312" cy="2834640"/>
          </a:xfrm>
          <a:prstGeom prst="roundRect">
            <a:avLst>
              <a:gd name="adj" fmla="val 10771"/>
            </a:avLst>
          </a:prstGeom>
          <a:solidFill>
            <a:srgbClr val="15171A"/>
          </a:solidFill>
          <a:ln w="12700">
            <a:solidFill>
              <a:srgbClr val="15171A"/>
            </a:solidFill>
            <a:prstDash val="solid"/>
          </a:ln>
        </p:spPr>
      </p:sp>
      <p:pic>
        <p:nvPicPr>
          <p:cNvPr id="13" name="증빙 묶음 PDF" descr="C:\Users\user\Desktop\albaguard기술창업\docs\screenshots\8-evidence.jpg">    </p:cNvPr>
          <p:cNvPicPr>
            <a:picLocks noChangeAspect="1"/>
          </p:cNvPicPr>
          <p:nvPr/>
        </p:nvPicPr>
        <p:blipFill>
          <a:blip r:embed="rId3"/>
          <a:stretch>
            <a:fillRect/>
          </a:stretch>
        </p:blipFill>
        <p:spPr>
          <a:xfrm>
            <a:off x="5099019" y="1280160"/>
            <a:ext cx="1266872" cy="2743200"/>
          </a:xfrm>
          <a:prstGeom prst="rect">
            <a:avLst/>
          </a:prstGeom>
        </p:spPr>
      </p:pic>
      <p:sp>
        <p:nvSpPr>
          <p:cNvPr id="14" name="Text 9"/>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5" name="Text 10"/>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근무 기록 · 수정 이력 · 계산 · 입금 · 사진 · 등록 확인</a:t>
            </a:r>
            <a:endParaRPr lang="en-US" sz="900" dirty="0"/>
          </a:p>
        </p:txBody>
      </p:sp>
      <p:sp>
        <p:nvSpPr>
          <p:cNvPr id="16" name="확인 페이지 틀"/>
          <p:cNvSpPr/>
          <p:nvPr/>
        </p:nvSpPr>
        <p:spPr>
          <a:xfrm>
            <a:off x="7374208" y="1234440"/>
            <a:ext cx="1358312" cy="2834640"/>
          </a:xfrm>
          <a:prstGeom prst="roundRect">
            <a:avLst>
              <a:gd name="adj" fmla="val 10771"/>
            </a:avLst>
          </a:prstGeom>
          <a:solidFill>
            <a:srgbClr val="15171A"/>
          </a:solidFill>
          <a:ln w="12700">
            <a:solidFill>
              <a:srgbClr val="15171A"/>
            </a:solidFill>
            <a:prstDash val="solid"/>
          </a:ln>
        </p:spPr>
      </p:sp>
      <p:pic>
        <p:nvPicPr>
          <p:cNvPr id="17" name="확인 페이지" descr="C:\Users\user\Desktop\albaguard기술창업\docs\screenshots\9-verify.jpg">    </p:cNvPr>
          <p:cNvPicPr>
            <a:picLocks noChangeAspect="1"/>
          </p:cNvPicPr>
          <p:nvPr/>
        </p:nvPicPr>
        <p:blipFill>
          <a:blip r:embed="rId4"/>
          <a:stretch>
            <a:fillRect/>
          </a:stretch>
        </p:blipFill>
        <p:spPr>
          <a:xfrm>
            <a:off x="7419928" y="1280160"/>
            <a:ext cx="1266872" cy="2743200"/>
          </a:xfrm>
          <a:prstGeom prst="rect">
            <a:avLst/>
          </a:prstGeom>
        </p:spPr>
      </p:pic>
      <p:sp>
        <p:nvSpPr>
          <p:cNvPr id="18" name="Text 12"/>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9" name="Text 13"/>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번호를 넣으면 서버 등록 시각이 나옴</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(녹화 영상 1분 46초, 멈춰 설명하며 약 3분)</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버튼 → 설정에서 "2건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기록할 때마다 서버에 확인 번호가 남음. 예시 데이터는 등록되지 않아 시연 중 남긴 2건만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생성 (3개월 합계)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경쟁 서비스 위치</a:t>
            </a:r>
            <a:endParaRPr lang="en-US" sz="2400" dirty="0"/>
          </a:p>
        </p:txBody>
      </p:sp>
      <p:sp>
        <p:nvSpPr>
          <p:cNvPr id="4" name="포지션 바탕"/>
          <p:cNvSpPr/>
          <p:nvPr/>
        </p:nvSpPr>
        <p:spPr>
          <a:xfrm>
            <a:off x="822960" y="1325880"/>
            <a:ext cx="4754880" cy="3017520"/>
          </a:xfrm>
          <a:prstGeom prst="rect">
            <a:avLst/>
          </a:prstGeom>
          <a:solidFill>
            <a:schemeClr val="bg2"/>
          </a:solidFill>
          <a:ln w="12700">
            <a:solidFill>
              <a:schemeClr val="bg2"/>
            </a:solidFill>
            <a:prstDash val="solid"/>
          </a:ln>
        </p:spPr>
      </p:sp>
      <p:sp>
        <p:nvSpPr>
          <p:cNvPr id="5" name="Shape 3"/>
          <p:cNvSpPr/>
          <p:nvPr/>
        </p:nvSpPr>
        <p:spPr>
          <a:xfrm>
            <a:off x="3200400" y="1325880"/>
            <a:ext cx="0" cy="3017520"/>
          </a:xfrm>
          <a:prstGeom prst="line">
            <a:avLst/>
          </a:prstGeom>
          <a:noFill/>
          <a:ln w="12700">
            <a:solidFill>
              <a:srgbClr val="DCD9D0"/>
            </a:solidFill>
            <a:prstDash val="solid"/>
          </a:ln>
        </p:spPr>
      </p:sp>
      <p:sp>
        <p:nvSpPr>
          <p:cNvPr id="6" name="Shape 4"/>
          <p:cNvSpPr/>
          <p:nvPr/>
        </p:nvSpPr>
        <p:spPr>
          <a:xfrm>
            <a:off x="822960" y="2834640"/>
            <a:ext cx="4754880" cy="0"/>
          </a:xfrm>
          <a:prstGeom prst="line">
            <a:avLst/>
          </a:prstGeom>
          <a:noFill/>
          <a:ln w="12700">
            <a:solidFill>
              <a:srgbClr val="DCD9D0"/>
            </a:solidFill>
            <a:prstDash val="solid"/>
          </a:ln>
        </p:spPr>
      </p:sp>
      <p:sp>
        <p:nvSpPr>
          <p:cNvPr id="7" name="Text 5"/>
          <p:cNvSpPr txBox="1"/>
          <p:nvPr/>
        </p:nvSpPr>
        <p:spPr>
          <a:xfrm>
            <a:off x="914400" y="256032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혼자 씀</a:t>
            </a:r>
            <a:endParaRPr lang="en-US" sz="900" dirty="0"/>
          </a:p>
        </p:txBody>
      </p:sp>
      <p:sp>
        <p:nvSpPr>
          <p:cNvPr id="8" name="Text 6"/>
          <p:cNvSpPr txBox="1"/>
          <p:nvPr/>
        </p:nvSpPr>
        <p:spPr>
          <a:xfrm>
            <a:off x="3749040" y="2560320"/>
            <a:ext cx="1737360" cy="274320"/>
          </a:xfrm>
          <a:prstGeom prst="rect">
            <a:avLst/>
          </a:prstGeom>
          <a:noFill/>
          <a:ln/>
        </p:spPr>
        <p:txBody>
          <a:bodyPr wrap="square" lIns="0" tIns="0" rIns="0" bIns="0" rtlCol="0" anchor="ctr"/>
          <a:lstStyle/>
          <a:p>
            <a:pPr algn="r" indent="0" marL="0">
              <a:buNone/>
            </a:pPr>
            <a:r>
              <a:rPr lang="en-US" sz="900" b="1" dirty="0">
                <a:solidFill>
                  <a:schemeClr val="accent5"/>
                </a:solidFill>
              </a:rPr>
              <a:t>사장 가입 · 증거가 먼저</a:t>
            </a:r>
            <a:endParaRPr lang="en-US" sz="900" dirty="0"/>
          </a:p>
        </p:txBody>
      </p:sp>
      <p:sp>
        <p:nvSpPr>
          <p:cNvPr id="9" name="Text 7"/>
          <p:cNvSpPr txBox="1"/>
          <p:nvPr/>
        </p:nvSpPr>
        <p:spPr>
          <a:xfrm>
            <a:off x="3273552" y="137160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대응까지</a:t>
            </a:r>
            <a:endParaRPr lang="en-US" sz="900" dirty="0"/>
          </a:p>
        </p:txBody>
      </p:sp>
      <p:sp>
        <p:nvSpPr>
          <p:cNvPr id="10" name="Text 8"/>
          <p:cNvSpPr txBox="1"/>
          <p:nvPr/>
        </p:nvSpPr>
        <p:spPr>
          <a:xfrm>
            <a:off x="3273552" y="4023360"/>
            <a:ext cx="1097280" cy="274320"/>
          </a:xfrm>
          <a:prstGeom prst="rect">
            <a:avLst/>
          </a:prstGeom>
          <a:noFill/>
          <a:ln/>
        </p:spPr>
        <p:txBody>
          <a:bodyPr wrap="square" lIns="0" tIns="0" rIns="0" bIns="0" rtlCol="0" anchor="ctr"/>
          <a:lstStyle/>
          <a:p>
            <a:pPr indent="0" marL="0">
              <a:buNone/>
            </a:pPr>
            <a:r>
              <a:rPr lang="en-US" sz="900" b="1" dirty="0">
                <a:solidFill>
                  <a:schemeClr val="accent5"/>
                </a:solidFill>
              </a:rPr>
              <a:t>계산까지</a:t>
            </a:r>
            <a:endParaRPr lang="en-US" sz="900" dirty="0"/>
          </a:p>
        </p:txBody>
      </p:sp>
      <p:sp>
        <p:nvSpPr>
          <p:cNvPr id="11" name="알바천국 · 알바몬 계산기 칩"/>
          <p:cNvSpPr/>
          <p:nvPr/>
        </p:nvSpPr>
        <p:spPr>
          <a:xfrm>
            <a:off x="1051560" y="3566160"/>
            <a:ext cx="1874520" cy="566928"/>
          </a:xfrm>
          <a:prstGeom prst="roundRect">
            <a:avLst>
              <a:gd name="adj" fmla="val 12903"/>
            </a:avLst>
          </a:prstGeom>
          <a:solidFill>
            <a:schemeClr val="bg1"/>
          </a:solidFill>
          <a:ln w="12700">
            <a:solidFill>
              <a:srgbClr val="DCD9D0"/>
            </a:solidFill>
            <a:prstDash val="solid"/>
          </a:ln>
        </p:spPr>
      </p:sp>
      <p:sp>
        <p:nvSpPr>
          <p:cNvPr id="12" name="Text 10"/>
          <p:cNvSpPr txBox="1"/>
          <p:nvPr/>
        </p:nvSpPr>
        <p:spPr>
          <a:xfrm>
            <a:off x="1124712" y="3566160"/>
            <a:ext cx="1728216" cy="566928"/>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850" dirty="0">
                <a:solidFill>
                  <a:schemeClr val="accent5"/>
                </a:solidFill>
              </a:rPr>
              <a:t>일회성 계산, 기록 없음</a:t>
            </a:r>
            <a:endParaRPr lang="en-US" sz="1050" dirty="0"/>
          </a:p>
        </p:txBody>
      </p:sp>
      <p:sp>
        <p:nvSpPr>
          <p:cNvPr id="13" name="하우머치 칩"/>
          <p:cNvSpPr/>
          <p:nvPr/>
        </p:nvSpPr>
        <p:spPr>
          <a:xfrm>
            <a:off x="1371600" y="2971800"/>
            <a:ext cx="1600200" cy="566928"/>
          </a:xfrm>
          <a:prstGeom prst="roundRect">
            <a:avLst>
              <a:gd name="adj" fmla="val 12903"/>
            </a:avLst>
          </a:prstGeom>
          <a:solidFill>
            <a:schemeClr val="bg1"/>
          </a:solidFill>
          <a:ln w="12700">
            <a:solidFill>
              <a:srgbClr val="DCD9D0"/>
            </a:solidFill>
            <a:prstDash val="solid"/>
          </a:ln>
        </p:spPr>
      </p:sp>
      <p:sp>
        <p:nvSpPr>
          <p:cNvPr id="14" name="Text 12"/>
          <p:cNvSpPr txBox="1"/>
          <p:nvPr/>
        </p:nvSpPr>
        <p:spPr>
          <a:xfrm>
            <a:off x="1444752" y="29718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850" dirty="0">
                <a:solidFill>
                  <a:schemeClr val="accent5"/>
                </a:solidFill>
              </a:rPr>
              <a:t>혼자 기록, 예상 급여까지</a:t>
            </a:r>
            <a:endParaRPr lang="en-US" sz="1050" dirty="0"/>
          </a:p>
        </p:txBody>
      </p:sp>
      <p:sp>
        <p:nvSpPr>
          <p:cNvPr id="15" name="기그 칩"/>
          <p:cNvSpPr/>
          <p:nvPr/>
        </p:nvSpPr>
        <p:spPr>
          <a:xfrm>
            <a:off x="3657600" y="3108960"/>
            <a:ext cx="1600200" cy="566928"/>
          </a:xfrm>
          <a:prstGeom prst="roundRect">
            <a:avLst>
              <a:gd name="adj" fmla="val 12903"/>
            </a:avLst>
          </a:prstGeom>
          <a:solidFill>
            <a:schemeClr val="bg1"/>
          </a:solidFill>
          <a:ln w="12700">
            <a:solidFill>
              <a:srgbClr val="DCD9D0"/>
            </a:solidFill>
            <a:prstDash val="solid"/>
          </a:ln>
        </p:spPr>
      </p:sp>
      <p:sp>
        <p:nvSpPr>
          <p:cNvPr id="16" name="Text 14"/>
          <p:cNvSpPr txBox="1"/>
          <p:nvPr/>
        </p:nvSpPr>
        <p:spPr>
          <a:xfrm>
            <a:off x="3730752" y="310896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850" dirty="0">
                <a:solidFill>
                  <a:schemeClr val="accent5"/>
                </a:solidFill>
              </a:rPr>
              <a:t>사장 연동 필요, 기록 · 계약서</a:t>
            </a:r>
            <a:endParaRPr lang="en-US" sz="1050" dirty="0"/>
          </a:p>
        </p:txBody>
      </p:sp>
      <p:sp>
        <p:nvSpPr>
          <p:cNvPr id="17" name="진정24 · 노동포털 칩"/>
          <p:cNvSpPr/>
          <p:nvPr/>
        </p:nvSpPr>
        <p:spPr>
          <a:xfrm>
            <a:off x="3657600" y="1600200"/>
            <a:ext cx="1600200" cy="566928"/>
          </a:xfrm>
          <a:prstGeom prst="roundRect">
            <a:avLst>
              <a:gd name="adj" fmla="val 12903"/>
            </a:avLst>
          </a:prstGeom>
          <a:solidFill>
            <a:schemeClr val="bg1"/>
          </a:solidFill>
          <a:ln w="12700">
            <a:solidFill>
              <a:srgbClr val="DCD9D0"/>
            </a:solidFill>
            <a:prstDash val="solid"/>
          </a:ln>
        </p:spPr>
      </p:sp>
      <p:sp>
        <p:nvSpPr>
          <p:cNvPr id="18" name="Text 16"/>
          <p:cNvSpPr txBox="1"/>
          <p:nvPr/>
        </p:nvSpPr>
        <p:spPr>
          <a:xfrm>
            <a:off x="3730752" y="1600200"/>
            <a:ext cx="1453896" cy="566928"/>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850" dirty="0">
                <a:solidFill>
                  <a:schemeClr val="accent5"/>
                </a:solidFill>
              </a:rPr>
              <a:t>증거가 있어야 시작</a:t>
            </a:r>
            <a:endParaRPr lang="en-US" sz="1050" dirty="0"/>
          </a:p>
        </p:txBody>
      </p:sp>
      <p:sp>
        <p:nvSpPr>
          <p:cNvPr id="19" name="알바가드 칩"/>
          <p:cNvSpPr/>
          <p:nvPr/>
        </p:nvSpPr>
        <p:spPr>
          <a:xfrm>
            <a:off x="1325880" y="1737360"/>
            <a:ext cx="1600200" cy="566928"/>
          </a:xfrm>
          <a:prstGeom prst="roundRect">
            <a:avLst>
              <a:gd name="adj" fmla="val 12903"/>
            </a:avLst>
          </a:prstGeom>
          <a:solidFill>
            <a:schemeClr val="accent1"/>
          </a:solidFill>
          <a:ln w="12700">
            <a:solidFill>
              <a:schemeClr val="accent1"/>
            </a:solidFill>
            <a:prstDash val="solid"/>
          </a:ln>
        </p:spPr>
      </p:sp>
      <p:sp>
        <p:nvSpPr>
          <p:cNvPr id="20" name="Text 18"/>
          <p:cNvSpPr txBox="1"/>
          <p:nvPr/>
        </p:nvSpPr>
        <p:spPr>
          <a:xfrm>
            <a:off x="1399032" y="1737360"/>
            <a:ext cx="1453896" cy="566928"/>
          </a:xfrm>
          <a:prstGeom prst="rect">
            <a:avLst/>
          </a:prstGeom>
          <a:noFill/>
          <a:ln/>
        </p:spPr>
        <p:txBody>
          <a:bodyPr wrap="square" lIns="0" tIns="0" rIns="0" bIns="0" rtlCol="0" anchor="ctr"/>
          <a:lstStyle/>
          <a:p>
            <a:pPr algn="ctr" indent="0" marL="0">
              <a:buNone/>
            </a:pPr>
            <a:r>
              <a:rPr lang="en-US" sz="1050" b="1" dirty="0">
                <a:solidFill>
                  <a:schemeClr val="bg1"/>
                </a:solidFill>
              </a:rPr>
              <a:t>알바가드</a:t>
            </a:r>
            <a:endParaRPr lang="en-US" sz="1050" dirty="0"/>
          </a:p>
          <a:p>
            <a:pPr algn="ctr" indent="0" marL="0">
              <a:buNone/>
            </a:pPr>
            <a:r>
              <a:rPr lang="en-US" sz="850" dirty="0">
                <a:solidFill>
                  <a:schemeClr val="bg2"/>
                </a:solidFill>
              </a:rPr>
              <a:t>혼자 기록 → 비교 → 요청 → 증빙</a:t>
            </a:r>
            <a:endParaRPr lang="en-US" sz="1050" dirty="0"/>
          </a:p>
        </p:txBody>
      </p:sp>
      <p:sp>
        <p:nvSpPr>
          <p:cNvPr id="21" name="Text 19"/>
          <p:cNvSpPr txBox="1"/>
          <p:nvPr/>
        </p:nvSpPr>
        <p:spPr>
          <a:xfrm>
            <a:off x="5943600" y="1371600"/>
            <a:ext cx="2743200" cy="548640"/>
          </a:xfrm>
          <a:prstGeom prst="rect">
            <a:avLst/>
          </a:prstGeom>
          <a:noFill/>
          <a:ln/>
        </p:spPr>
        <p:txBody>
          <a:bodyPr wrap="square" lIns="0" tIns="0" rIns="0" bIns="0" rtlCol="0" anchor="t"/>
          <a:lstStyle/>
          <a:p>
            <a:pPr indent="0" marL="0">
              <a:buNone/>
            </a:pPr>
            <a:r>
              <a:rPr lang="en-US" sz="1300" b="1" dirty="0">
                <a:solidFill>
                  <a:schemeClr val="tx2"/>
                </a:solidFill>
              </a:rPr>
              <a:t>혼자 대응까지 가는 건 알바가드뿐</a:t>
            </a:r>
            <a:endParaRPr lang="en-US" sz="1300" dirty="0"/>
          </a:p>
        </p:txBody>
      </p:sp>
      <p:sp>
        <p:nvSpPr>
          <p:cNvPr id="22" name="Text 20"/>
          <p:cNvSpPr txBox="1"/>
          <p:nvPr/>
        </p:nvSpPr>
        <p:spPr>
          <a:xfrm>
            <a:off x="5943600" y="1965960"/>
            <a:ext cx="2743200" cy="1280160"/>
          </a:xfrm>
          <a:prstGeom prst="rect">
            <a:avLst/>
          </a:prstGeom>
          <a:noFill/>
          <a:ln/>
        </p:spPr>
        <p:txBody>
          <a:bodyPr wrap="square" lIns="0" tIns="0" rIns="0" bIns="0" rtlCol="0" anchor="t"/>
          <a:lstStyle/>
          <a:p>
            <a:pPr indent="0" marL="0">
              <a:buNone/>
            </a:pPr>
            <a:r>
              <a:rPr lang="en-US" sz="1200" dirty="0">
                <a:solidFill>
                  <a:schemeClr val="tx1"/>
                </a:solidFill>
              </a:rPr>
              <a:t>계산기는 계산에서 멈추고, 기그는 사장이 가입해야, 진정24는 증거가 있어야 시작함</a:t>
            </a:r>
            <a:endParaRPr lang="en-US" sz="12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누르지만, 돈을 확인하는 건 급여일에 한 번. 그 사이 앱을 열 이유로 게임을 넣었고, 그 화면이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계획: 11월 설문 · 인터뷰로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것이다</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2743200"/>
                <a:gridCol w="3108960"/>
                <a:gridCol w="2377440"/>
              </a:tblGrid>
              <a:tr h="384048">
                <a:tc>
                  <a:txBody>
                    <a:bodyPr/>
                    <a:lstStyle/>
                    <a:p>
                      <a:pPr indent="0" marL="0">
                        <a:buNone/>
                      </a:pPr>
                      <a:r>
                        <a:rPr lang="en-US" sz="1100" b="1" dirty="0">
                          <a:solidFill>
                            <a:srgbClr val="5D636D"/>
                          </a:solidFill>
                        </a:rPr>
                        <a:t>확인할 것</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어떻게 · 기준 (팀이 정함)</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못 미치면</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00" b="1" dirty="0">
                          <a:solidFill>
                            <a:srgbClr val="15171A"/>
                          </a:solidFill>
                        </a:rPr>
                        <a:t>매달 받은 금액을 직접 넣음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5명 + 설문 · 5명 중 3명 "넣겠다"</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입금 문자 자동 인식을 앞당김</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요청 문구를 실제로 보낼 수 있음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인터뷰(문구를 보여 주고) · 5명 중 3명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문구 톤 · 단계를 다시 짬</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확인 번호 설명이 이해됨</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인터뷰 · 5명 중 4명</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설정 · 증빙 문구 수정</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타깃 중 주 15시간 이상이 다수</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30명 이상 · 알바 중 반 이상</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주휴수당 중심 메시지 변경</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00" b="1" dirty="0">
                          <a:solidFill>
                            <a:srgbClr val="15171A"/>
                          </a:solidFill>
                        </a:rPr>
                        <a:t>게임 화면 광고를 받아들임</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설문 + 인터뷰 · "싫다"가 반 미만</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00" dirty="0">
                          <a:solidFill>
                            <a:srgbClr val="15171A"/>
                          </a:solidFill>
                        </a:rPr>
                        <a:t>11/23 광고 대신 새 게임으로</a:t>
                      </a:r>
                      <a:endParaRPr lang="en-US" sz="12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각자 맡은 일은 오늘 발표한 장과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da3e2a7ad7e298db</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사용자 검증은 11월</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지금 답하면 기말 발표 때 결과로 공개</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2026-10-26T06:36:59Z</dcterms:created>
  <dcterms:modified xsi:type="dcterms:W3CDTF">2026-10-26T06:37:00Z</dcterms:modified>
</cp:coreProperties>
</file>