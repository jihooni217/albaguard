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6adcec9e-fdad-f654-ee3f-691d989c9e2d}">
          <p14:sldIdLst>
            <p14:sldId id="256"/>
            <p14:sldId id="257"/>
          </p14:sldIdLst>
        </p14:section>
        <p14:section name="② 문제 정의" id="{7dfd0d7a-d1f3-bf7d-725c-7915303a9971}">
          <p14:sldIdLst>
            <p14:sldId id="258"/>
            <p14:sldId id="259"/>
          </p14:sldIdLst>
        </p14:section>
        <p14:section name="③ 솔루션·핵심 가치" id="{d6e647c4-9ad8-639d-25da-c44335e398bb}">
          <p14:sldIdLst>
            <p14:sldId id="260"/>
            <p14:sldId id="261"/>
          </p14:sldIdLst>
        </p14:section>
        <p14:section name="④ SW 기술 아키텍처" id="{8157a3dc-5256-95ff-21a9-fbc835208215}">
          <p14:sldIdLst>
            <p14:sldId id="262"/>
            <p14:sldId id="263"/>
          </p14:sldIdLst>
        </p14:section>
        <p14:section name="⑤ 개발 현황·MVP 시연" id="{2b1f1dde-c198-87a6-8074-0b5f635775a1}">
          <p14:sldIdLst>
            <p14:sldId id="264"/>
            <p14:sldId id="265"/>
            <p14:sldId id="266"/>
          </p14:sldIdLst>
        </p14:section>
        <p14:section name="⑥ 시장 분석·비즈니스 모델" id="{8d5ee3a9-3065-1a45-421a-d7fa22b9d288}">
          <p14:sldIdLst>
            <p14:sldId id="267"/>
            <p14:sldId id="268"/>
            <p14:sldId id="269"/>
          </p14:sldIdLst>
        </p14:section>
        <p14:section name="⑦ 초기 시장 검증" id="{0cd959df-2bd2-7254-3765-df072be833a5}">
          <p14:sldIdLst>
            <p14:sldId id="270"/>
          </p14:sldIdLst>
        </p14:section>
        <p14:section name="⑧ 향후 계획·팀 역량" id="{82fffc0f-63c7-9158-d82e-33d6a741ae70}">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만드는 비용이 낮아서 먼저 만들어 보고 검증하는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솔직하게: 지금까지는 제가 만들었고, 오늘부터 팀원이 시장과 검증을 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문제를 숫자로 보여 줍니다. 모두 알바천국 설문이라 "플랫폼 설문"이라는 점을 말하고, 그래서 우리도 직접 설문을 돌리고 있다고 잇습니다. 33.2%는 노동절 수당 안내에 대한 숫자라 "수당 자체가 안내되지 않는다"까지만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앱의 진짜 경쟁자는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줄이 전부 X인 자리가 저희 자리입니다.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번째가 따라 하기 어려운 차별점입니다. 지금 확인 페이지는 번호의 서버 등록 시각까지 보여 주고, 기록 내용에서 번호를 다시 계산해 맞춰 보는 방법은 기말까지 만듭니다(그래서 9장에 70%). 약점은 먼저 말합니다. "법적 효력" 질문이 오면 보장하지 않는다고 답하고,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학기 안에 혼자 만들 수 있는 구성입니다. 서버를 최소로 둔 이유는 개인정보와 비용 둘 다입니다. 배포는 링크 하나라 사용자 의견을 듣고 바로 고칠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번호뿐입니다. 기기 번호는 처음 기록을 등록할 때 앱이 만든 난수라 휴대전화 번호가 아닙니다. 앱이 쓰는 공개 키로는 넣기와 읽기만 되고, 걸어 놓고 뚫어 봤습니다.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시점확인은 비용 때문에 계획입니다. 오른쪽은 기록 하나가 남을 때의 흐름입니다.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타겟 사용자(하우머치를 쓰는 친구)가 시안 12장 중 고른 통장 구성입니다. 잉크 남색은 "기록을 잉크로 남긴다"는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단계가 차별점과 1:1입니다. 등록 → 비교 → 요청 · 증빙 → 확인. 예시 데이터는 발표 전에 미리 넣어 둡니다(오늘 날짜는 비어 있어 출근 · 퇴근이 그대로 됩니다). 7번 표에는 시연 중 남긴 2건만 나옵니다. 예시 데이터는 진짜 시각이 아니라 등록하지 않기 때문입니다. 전날 할 일: Supabase 대시보드에서 프로젝트 상태를 확인하고(잠들어 있으면 Restore. 무료 요금제는 일주일 요청이 없으면 멈추고 앱 요청으로는 깨어나지 않음) 앱에서 출근 · 퇴근을 눌러 설정 탭에 "2건 등록됨"이 뜨는지, 확인 페이지가 열리는지 끝까지 본다. 인터넷이 안 되면 캡처 · 짧은 녹화로 대신한다.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동그라미 세 칸은 컴퓨터 동작 · 실제 폰 · 사용자 검증이고, 지금은 모두 첫 칸만 찼습니다. 뒤 두 칸이 11월 일정입니다.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타겟 규모는 어림이라 "약"을 붙여 말하고, 없는 숫자(지금 알바 중, 주 15시간 이상)는 미상으로 둡니다. "이 비율의 첫 조각은 지금 답하고 계신 설문에서 나옵니다. 다음 순서에서 박명진이 말씀드립니다."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2×2에서 알바가드는 "혼자 쓴다 × 대응까지"에 있습니다.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알바비 앱에 왜 게임이 있나: 핵심 기능은 한 달에 한 번이라 매일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필요합니다(린 캔버스와 같은 말). 2차 구독은 "기록이 폰에만 있다"는 약점을 돈 내고 없애는 선택 기능이라 "근무 내용은 폰 안에만" 원칙과 충돌하지 않습니다(원하는 사람만). 문서를 돈 받고 만들어 주는 건 법적 이유로 하지 않습니다. 운영 비용은 지금 0원이라 수익이 0이어도 서비스는 돌아갑니다.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 문장 그대로입니다. 표의 기준은 팀이 정한 목표이지 데이터가 아닙니다. 기말 발표에서 마지막 칸에 결과를 채워 보고합니다. 응답 수는 슬라이드에 적지 않고 당일 아침 결과 페이지에서 읽습니다. 0명이면 0명이라고 말합니다. 조건부: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오늘 이 자리에서 시작해 11/16까지 손유호가 30명을 모으고, 인터뷰 5명은 제가 11/3~11/9에 합니다.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역할은 앞으로 맡는 일과 오늘 발표한 장이 같습니다. 솔직하게: 지금까지는 팀장이 만들었고, 오늘부터 셋이 나눠 맡습니다.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 받겠습니다." 이 장은 질의응답 내내 띄워 둔다.
예상 질문
· 법적 효력 있나? → 보장하지 않는다. 판단은 감독관 · 법원. 우리는 판단할 자료를 정리하고, 수정 이력과 확인 번호로 "나중에 고친 게 아니다"까지 보여 준다. 통장 내역 · 카톡과 함께 내야 한다고 앱에도 적어 뒀다.
· 서버는 여러분이 관리하는데 고치면 그만 아닌가? → 맞다. 공개 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시점확인은 비용 때문에 계획. 서버에는 번호만 있어서 운영자가 서버를 고쳐도 폰의 근무 내용 자체는 못 바꾼다. (확인 페이지 본문의 "고치거나 지울 수 없습니다"는 "앱 쪽에서는"이라고 범위를 붙여 말할 것)
·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여쭤본다"는 확인 요청. 법률 자문 아님을 적어 두었고 1350 확인을 안내한다.
· 고객 검증도 전에 왜 먼저 만들었나? → 맞다. 다만 링크로 배포되는 웹앱이라 만들어 보여 주는 것이 가장 싸고 정확한 검증이었다. 9월 경쟁 앱 리뷰로 빈자리를 확인하고 10/13 정의서로 범위를 8개로 잘랐다. 설문에 캡처 3장을 넣고 "실제로 있다면 쓰겠나"를 묻는다. 12/7까지는 고치는 기간.
· 받은 금액을 매달 직접 넣어야 하는데 넣을까? → 가장 큰 가설이라 인터뷰 1번. 첫 화면에서 "9월 급여 받으셨나요?"라고 묻고 넣는 순간 덜 받은 돈이 보이게 했다. 5명 중 3명이 아니면 자동 인식을 앞당긴다.
· 하우머치가 따라 하면? → 비교 기능은 따라올 수 있다. 그래서 확인 번호(기록 신뢰성)와 요청 · 증빙까지 잇는 흐름이 차별점.
· 급여 앱에 게임이 왜? 근무 중에 게임을 권하나? → 핵심 기능은 한 달에 한 번이라 매일 열 이유. 처음엔 근무 중에만이었는데 팀원 의견으로 10/25 조건을 풀고 설정에서 숨길 수 있게 했다. 게임 기록은 문서에 안 섞인다. 안 되면 게임을 빼도 기록 → 비교 → 요청은 그대로.
· 같은 과 학생 설문이 무슨 의미? 편향 아닌가? → 맞다. "정식 조사 아님"을 적고 사람 수로만 말한다. 중복 응답도 막지 않았다(이름 · 기기 정보를 안 받는 대가). 11월 30명은 과 밖에서, 인터뷰 5명으로 이유를 듣는다.
· 법률 서비스 아닌가? → 무료, 본인 기록을 정해진 양식에 채울 뿐, 개별 사안 검토 · 대행 없음, 진정은 1350 · 노동포털로 연결만.
· 수익은? → 게임 화면 광고(가설). 운영 비용은 0원. 문서 유료화는 안 한다.
· 팀원은 뭘 했나? → 지금까지는 이지훈이 개발. 오늘부터 시장 · 설문(손유호), 인터뷰 · 검증 · 일정(박명진).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정했습니다</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먼저 만들어 봤습니다. 검증은 이제부터입니다</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10/13 MVP 기능 정의서 기준.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실제 사용자 검증은 11월부터</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시작 단계</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지금까지 기획 · 개발 · 배포는 팀장이</a:t>
            </a:r>
            <a:endParaRPr lang="en-US" sz="1300" dirty="0"/>
          </a:p>
          <a:p>
            <a:pPr indent="0" marL="0">
              <a:buNone/>
            </a:pPr>
            <a:r>
              <a:rPr lang="en-US" sz="950" dirty="0">
                <a:solidFill>
                  <a:schemeClr val="accent5"/>
                </a:solidFill>
              </a:rPr>
              <a:t>10/27부터 시장 · 수익(손유호), 검증 · 일정(박명진)을 나눠 맡는다</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셋이 나눔</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끝나고 한 번에 받겠습니다</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들으시면서 답해도 됩니다</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못한다</a:t>
            </a:r>
            <a:endParaRPr lang="en-US" sz="2400" dirty="0"/>
          </a:p>
        </p:txBody>
      </p:sp>
      <p:sp>
        <p:nvSpPr>
          <p:cNvPr id="4" name="타겟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타겟  </a:t>
            </a:r>
            <a:pPr indent="0" marL="0">
              <a:buNone/>
            </a:pPr>
            <a:r>
              <a:rPr lang="en-US" sz="1150" dirty="0">
                <a:solidFill>
                  <a:schemeClr val="tx1"/>
                </a:solidFill>
              </a:rPr>
              <a:t>주 15시간 이상 일하는 만 19~26세 시급제 알바 대학생 (카페 · 편의점 · 음식점). 근로계약서가 없거나 사본이 없고, 통장 총액만 확인하고, 사장님께 말을 꺼내기 부담스러워한다</a:t>
            </a:r>
            <a:endParaRPr lang="en-US" sz="1150" dirty="0"/>
          </a:p>
        </p:txBody>
      </p:sp>
      <p:sp>
        <p:nvSpPr>
          <p:cNvPr id="6" name="Text 4"/>
          <p:cNvSpPr txBox="1"/>
          <p:nvPr/>
        </p:nvSpPr>
        <p:spPr>
          <a:xfrm>
            <a:off x="45720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33.2%</a:t>
            </a:r>
            <a:endParaRPr lang="en-US" sz="3600" dirty="0"/>
          </a:p>
        </p:txBody>
      </p:sp>
      <p:sp>
        <p:nvSpPr>
          <p:cNvPr id="7" name="Text 5"/>
          <p:cNvSpPr txBox="1"/>
          <p:nvPr/>
        </p:nvSpPr>
        <p:spPr>
          <a:xfrm>
            <a:off x="45720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310128"/>
            <a:ext cx="2651760" cy="0"/>
          </a:xfrm>
          <a:prstGeom prst="line">
            <a:avLst/>
          </a:prstGeom>
          <a:noFill/>
          <a:ln w="9525">
            <a:solidFill>
              <a:srgbClr val="DCD9D0"/>
            </a:solidFill>
            <a:prstDash val="solid"/>
          </a:ln>
        </p:spPr>
      </p:sp>
      <p:sp>
        <p:nvSpPr>
          <p:cNvPr id="10" name="번호 1"/>
          <p:cNvSpPr/>
          <p:nvPr/>
        </p:nvSpPr>
        <p:spPr>
          <a:xfrm>
            <a:off x="457200" y="3456432"/>
            <a:ext cx="274320" cy="274320"/>
          </a:xfrm>
          <a:prstGeom prst="ellipse">
            <a:avLst/>
          </a:prstGeom>
          <a:solidFill>
            <a:schemeClr val="accent1"/>
          </a:solidFill>
          <a:ln w="12700">
            <a:solidFill>
              <a:schemeClr val="accent1"/>
            </a:solidFill>
            <a:prstDash val="solid"/>
          </a:ln>
        </p:spPr>
      </p:sp>
      <p:sp>
        <p:nvSpPr>
          <p:cNvPr id="11" name="Text 9"/>
          <p:cNvSpPr txBox="1"/>
          <p:nvPr/>
        </p:nvSpPr>
        <p:spPr>
          <a:xfrm>
            <a:off x="45720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2" name="Text 10"/>
          <p:cNvSpPr txBox="1"/>
          <p:nvPr/>
        </p:nvSpPr>
        <p:spPr>
          <a:xfrm>
            <a:off x="82296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얼마를 받아야 하는지</a:t>
            </a:r>
            <a:endParaRPr lang="en-US" sz="1300" dirty="0"/>
          </a:p>
          <a:p>
            <a:pPr indent="0" marL="0">
              <a:buNone/>
            </a:pPr>
            <a:r>
              <a:rPr lang="en-US" sz="1300" b="1" dirty="0">
                <a:solidFill>
                  <a:schemeClr val="tx2"/>
                </a:solidFill>
              </a:rPr>
              <a:t>계산하기 어렵다</a:t>
            </a:r>
            <a:endParaRPr lang="en-US" sz="1300" dirty="0"/>
          </a:p>
        </p:txBody>
      </p:sp>
      <p:sp>
        <p:nvSpPr>
          <p:cNvPr id="13" name="Text 11"/>
          <p:cNvSpPr txBox="1"/>
          <p:nvPr/>
        </p:nvSpPr>
        <p:spPr>
          <a:xfrm>
            <a:off x="45720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수당은 안내조차 안 되고, 주휴 · 야간 계산 기준은 더 모른다. 계산기는 있어도 넣을 기록이 없다</a:t>
            </a:r>
            <a:endParaRPr lang="en-US" sz="1050" dirty="0"/>
          </a:p>
        </p:txBody>
      </p:sp>
      <p:sp>
        <p:nvSpPr>
          <p:cNvPr id="14" name="Text 12"/>
          <p:cNvSpPr txBox="1"/>
          <p:nvPr/>
        </p:nvSpPr>
        <p:spPr>
          <a:xfrm>
            <a:off x="324612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48.0%</a:t>
            </a:r>
            <a:endParaRPr lang="en-US" sz="3600" dirty="0"/>
          </a:p>
        </p:txBody>
      </p:sp>
      <p:sp>
        <p:nvSpPr>
          <p:cNvPr id="15" name="Text 13"/>
          <p:cNvSpPr txBox="1"/>
          <p:nvPr/>
        </p:nvSpPr>
        <p:spPr>
          <a:xfrm>
            <a:off x="324612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겪었다 (수당 미지급 · 지연 37.3%)</a:t>
            </a:r>
            <a:endParaRPr lang="en-US" sz="1050" dirty="0"/>
          </a:p>
        </p:txBody>
      </p:sp>
      <p:sp>
        <p:nvSpPr>
          <p:cNvPr id="16" name="Text 14"/>
          <p:cNvSpPr txBox="1"/>
          <p:nvPr/>
        </p:nvSpPr>
        <p:spPr>
          <a:xfrm>
            <a:off x="324612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7" name="Shape 15"/>
          <p:cNvSpPr/>
          <p:nvPr/>
        </p:nvSpPr>
        <p:spPr>
          <a:xfrm>
            <a:off x="3246120" y="3310128"/>
            <a:ext cx="2651760" cy="0"/>
          </a:xfrm>
          <a:prstGeom prst="line">
            <a:avLst/>
          </a:prstGeom>
          <a:noFill/>
          <a:ln w="9525">
            <a:solidFill>
              <a:srgbClr val="DCD9D0"/>
            </a:solidFill>
            <a:prstDash val="solid"/>
          </a:ln>
        </p:spPr>
      </p:sp>
      <p:sp>
        <p:nvSpPr>
          <p:cNvPr id="18" name="번호 2"/>
          <p:cNvSpPr/>
          <p:nvPr/>
        </p:nvSpPr>
        <p:spPr>
          <a:xfrm>
            <a:off x="3246120" y="3456432"/>
            <a:ext cx="274320" cy="274320"/>
          </a:xfrm>
          <a:prstGeom prst="ellipse">
            <a:avLst/>
          </a:prstGeom>
          <a:solidFill>
            <a:schemeClr val="accent1"/>
          </a:solidFill>
          <a:ln w="12700">
            <a:solidFill>
              <a:schemeClr val="accent1"/>
            </a:solidFill>
            <a:prstDash val="solid"/>
          </a:ln>
        </p:spPr>
      </p:sp>
      <p:sp>
        <p:nvSpPr>
          <p:cNvPr id="19" name="Text 17"/>
          <p:cNvSpPr txBox="1"/>
          <p:nvPr/>
        </p:nvSpPr>
        <p:spPr>
          <a:xfrm>
            <a:off x="324612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0" name="Text 18"/>
          <p:cNvSpPr txBox="1"/>
          <p:nvPr/>
        </p:nvSpPr>
        <p:spPr>
          <a:xfrm>
            <a:off x="361188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덜 받아도</a:t>
            </a:r>
            <a:endParaRPr lang="en-US" sz="1300" dirty="0"/>
          </a:p>
          <a:p>
            <a:pPr indent="0" marL="0">
              <a:buNone/>
            </a:pPr>
            <a:r>
              <a:rPr lang="en-US" sz="1300" b="1" dirty="0">
                <a:solidFill>
                  <a:schemeClr val="tx2"/>
                </a:solidFill>
              </a:rPr>
              <a:t>알아채기 어렵다</a:t>
            </a:r>
            <a:endParaRPr lang="en-US" sz="1300" dirty="0"/>
          </a:p>
        </p:txBody>
      </p:sp>
      <p:sp>
        <p:nvSpPr>
          <p:cNvPr id="21" name="Text 19"/>
          <p:cNvSpPr txBox="1"/>
          <p:nvPr/>
        </p:nvSpPr>
        <p:spPr>
          <a:xfrm>
            <a:off x="324612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통장에 들어온 총액만 보고 넘어간다. 계약서가 없어 시급도 증명하기 어렵다</a:t>
            </a:r>
            <a:endParaRPr lang="en-US" sz="1050" dirty="0"/>
          </a:p>
        </p:txBody>
      </p:sp>
      <p:sp>
        <p:nvSpPr>
          <p:cNvPr id="22" name="Text 20"/>
          <p:cNvSpPr txBox="1"/>
          <p:nvPr/>
        </p:nvSpPr>
        <p:spPr>
          <a:xfrm>
            <a:off x="603504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49.3%</a:t>
            </a:r>
            <a:endParaRPr lang="en-US" sz="3600" dirty="0"/>
          </a:p>
        </p:txBody>
      </p:sp>
      <p:sp>
        <p:nvSpPr>
          <p:cNvPr id="23" name="Text 21"/>
          <p:cNvSpPr txBox="1"/>
          <p:nvPr/>
        </p:nvSpPr>
        <p:spPr>
          <a:xfrm>
            <a:off x="603504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하지 않았다</a:t>
            </a:r>
            <a:endParaRPr lang="en-US" sz="1050" dirty="0"/>
          </a:p>
        </p:txBody>
      </p:sp>
      <p:sp>
        <p:nvSpPr>
          <p:cNvPr id="24" name="Text 22"/>
          <p:cNvSpPr txBox="1"/>
          <p:nvPr/>
        </p:nvSpPr>
        <p:spPr>
          <a:xfrm>
            <a:off x="603504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5" name="Shape 23"/>
          <p:cNvSpPr/>
          <p:nvPr/>
        </p:nvSpPr>
        <p:spPr>
          <a:xfrm>
            <a:off x="6035040" y="3310128"/>
            <a:ext cx="2651760" cy="0"/>
          </a:xfrm>
          <a:prstGeom prst="line">
            <a:avLst/>
          </a:prstGeom>
          <a:noFill/>
          <a:ln w="9525">
            <a:solidFill>
              <a:srgbClr val="DCD9D0"/>
            </a:solidFill>
            <a:prstDash val="solid"/>
          </a:ln>
        </p:spPr>
      </p:sp>
      <p:sp>
        <p:nvSpPr>
          <p:cNvPr id="26" name="번호 3"/>
          <p:cNvSpPr/>
          <p:nvPr/>
        </p:nvSpPr>
        <p:spPr>
          <a:xfrm>
            <a:off x="6035040" y="3456432"/>
            <a:ext cx="274320" cy="274320"/>
          </a:xfrm>
          <a:prstGeom prst="ellipse">
            <a:avLst/>
          </a:prstGeom>
          <a:solidFill>
            <a:schemeClr val="accent1"/>
          </a:solidFill>
          <a:ln w="12700">
            <a:solidFill>
              <a:schemeClr val="accent1"/>
            </a:solidFill>
            <a:prstDash val="solid"/>
          </a:ln>
        </p:spPr>
      </p:sp>
      <p:sp>
        <p:nvSpPr>
          <p:cNvPr id="27" name="Text 25"/>
          <p:cNvSpPr txBox="1"/>
          <p:nvPr/>
        </p:nvSpPr>
        <p:spPr>
          <a:xfrm>
            <a:off x="603504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8" name="Text 26"/>
          <p:cNvSpPr txBox="1"/>
          <p:nvPr/>
        </p:nvSpPr>
        <p:spPr>
          <a:xfrm>
            <a:off x="640080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알아도</a:t>
            </a:r>
            <a:endParaRPr lang="en-US" sz="1300" dirty="0"/>
          </a:p>
          <a:p>
            <a:pPr indent="0" marL="0">
              <a:buNone/>
            </a:pPr>
            <a:r>
              <a:rPr lang="en-US" sz="1300" b="1" dirty="0">
                <a:solidFill>
                  <a:schemeClr val="tx2"/>
                </a:solidFill>
              </a:rPr>
              <a:t>말을 꺼내기 어렵다</a:t>
            </a:r>
            <a:endParaRPr lang="en-US" sz="1300" dirty="0"/>
          </a:p>
        </p:txBody>
      </p:sp>
      <p:sp>
        <p:nvSpPr>
          <p:cNvPr id="29" name="Text 27"/>
          <p:cNvSpPr txBox="1"/>
          <p:nvPr/>
        </p:nvSpPr>
        <p:spPr>
          <a:xfrm>
            <a:off x="603504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관계 걱정, 작은 금액, 근거 없음. 메모장 기록은 "나중에 지어낸 것 아니냐" 한마디에 무너진다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"얼마 받아야 하나"까지는 있다. "어떻게 받아내나"는 없다</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050" b="1" dirty="0">
                <a:solidFill>
                  <a:schemeClr val="tx2"/>
                </a:solidFill>
              </a:rPr>
              <a:t>빈자리  </a:t>
            </a:r>
            <a:pPr indent="0" marL="0">
              <a:buNone/>
            </a:pPr>
            <a:r>
              <a:rPr lang="en-US" sz="1050" dirty="0">
                <a:solidFill>
                  <a:schemeClr val="tx1"/>
                </a:solidFill>
              </a:rPr>
              <a:t>신고 창구가 없어서 덮이는 게 아니다. 말을 꺼낼 근거와 시점이 없어서 덮인다. 알바가드는 그 앞 단계를 채운다. 마지막 줄의 X는 일부러 비웠다  (각 앱 공식 소개 · 리뷰, 2026.9 기준)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 → 비교, 문제 3 → 요청, 기록은 셋의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채운다</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남는다</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기본급 + 주휴 + 야간수당으로 "받았어야 할 돈"을 계산하고, 실제 받은 돈과의 차액을 보여 준다</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푼다</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 셋, 그리고 먼저 인정하는 약점 하나</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쓴다</a:t>
            </a:r>
            <a:pPr indent="0" marL="0">
              <a:buNone/>
            </a:pPr>
            <a:r>
              <a:rPr lang="en-US" sz="900" dirty="0">
                <a:solidFill>
                  <a:schemeClr val="accent5"/>
                </a:solidFill>
              </a:rPr>
              <a:t>   타겟: 사장 협조 없이</a:t>
            </a:r>
            <a:endParaRPr lang="en-US" sz="1350" dirty="0"/>
          </a:p>
        </p:txBody>
      </p:sp>
      <p:sp>
        <p:nvSpPr>
          <p:cNvPr id="7" name="Text 5"/>
          <p:cNvSpPr txBox="1"/>
          <p:nvPr/>
        </p:nvSpPr>
        <p:spPr>
          <a:xfrm>
            <a:off x="914400" y="1664208"/>
            <a:ext cx="4480560" cy="603504"/>
          </a:xfrm>
          <a:prstGeom prst="rect">
            <a:avLst/>
          </a:prstGeom>
          <a:noFill/>
          <a:ln/>
        </p:spPr>
        <p:txBody>
          <a:bodyPr wrap="square" lIns="0" tIns="0" rIns="0" bIns="0" rtlCol="0" anchor="t"/>
          <a:lstStyle/>
          <a:p>
            <a:pPr indent="0" marL="0">
              <a:buNone/>
            </a:pPr>
            <a:r>
              <a:rPr lang="en-US" sz="1000" dirty="0">
                <a:solidFill>
                  <a:schemeClr val="accent5"/>
                </a:solidFill>
              </a:rPr>
              <a:t>근무지만 직접 등록. 기그처럼 사장이 가입할 필요가 없다</a:t>
            </a:r>
            <a:endParaRPr lang="en-US" sz="100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2의 답</a:t>
            </a:r>
            <a:endParaRPr lang="en-US" sz="1350" dirty="0"/>
          </a:p>
        </p:txBody>
      </p:sp>
      <p:sp>
        <p:nvSpPr>
          <p:cNvPr id="12" name="Text 10"/>
          <p:cNvSpPr txBox="1"/>
          <p:nvPr/>
        </p:nvSpPr>
        <p:spPr>
          <a:xfrm>
            <a:off x="914400" y="2688336"/>
            <a:ext cx="4480560" cy="603504"/>
          </a:xfrm>
          <a:prstGeom prst="rect">
            <a:avLst/>
          </a:prstGeom>
          <a:noFill/>
          <a:ln/>
        </p:spPr>
        <p:txBody>
          <a:bodyPr wrap="square" lIns="0" tIns="0" rIns="0" bIns="0" rtlCol="0" anchor="t"/>
          <a:lstStyle/>
          <a:p>
            <a:pPr indent="0" marL="0">
              <a:buNone/>
            </a:pPr>
            <a:r>
              <a:rPr lang="en-US" sz="1000" dirty="0">
                <a:solidFill>
                  <a:schemeClr val="accent5"/>
                </a:solidFill>
              </a:rPr>
              <a:t>실제 받은 돈과 비교해 차액을 찾고, 요청 문구와 증빙 묶음까지 잇는다. 비교한 네 서비스 모두 없는 부분</a:t>
            </a:r>
            <a:endParaRPr lang="en-US" sz="100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답</a:t>
            </a:r>
            <a:endParaRPr lang="en-US" sz="1350" dirty="0"/>
          </a:p>
        </p:txBody>
      </p:sp>
      <p:sp>
        <p:nvSpPr>
          <p:cNvPr id="17" name="Text 15"/>
          <p:cNvSpPr txBox="1"/>
          <p:nvPr/>
        </p:nvSpPr>
        <p:spPr>
          <a:xfrm>
            <a:off x="914400" y="3712464"/>
            <a:ext cx="4480560" cy="603504"/>
          </a:xfrm>
          <a:prstGeom prst="rect">
            <a:avLst/>
          </a:prstGeom>
          <a:noFill/>
          <a:ln/>
        </p:spPr>
        <p:txBody>
          <a:bodyPr wrap="square" lIns="0" tIns="0" rIns="0" bIns="0" rtlCol="0" anchor="t"/>
          <a:lstStyle/>
          <a:p>
            <a:pPr indent="0" marL="0">
              <a:buNone/>
            </a:pPr>
            <a:r>
              <a:rPr lang="en-US" sz="1000" dirty="0">
                <a:solidFill>
                  <a:schemeClr val="accent5"/>
                </a:solidFill>
              </a:rPr>
              <a:t>기록할 때마다 기록 내용으로 만든 확인 번호가 서버에 남고, 누구나 확인 페이지에서 그 번호의 서버 등록 시각을 볼 수 있다. 내용에서 번호를 다시 계산해 맞춰 보는 방법은 기말까지 만든다. 근무지 · 시각 · 금액은 서버로 가지 않고, "그날 실제로 일했다"까지는 증명하지 못한다</a:t>
            </a:r>
            <a:endParaRPr lang="en-US" sz="100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600200"/>
          </a:xfrm>
          <a:prstGeom prst="roundRect">
            <a:avLst>
              <a:gd name="adj" fmla="val 5714"/>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먼저 인정하는 약점</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100" dirty="0">
                <a:solidFill>
                  <a:schemeClr val="tx1"/>
                </a:solidFill>
              </a:rPr>
              <a:t>비교 기능은 하우머치가 "받은 금액 입력" 칸 하나로 따라올 수 있다. 그래서 다음 단계는 기록의 신뢰성, 즉 3번이다.</a:t>
            </a:r>
            <a:endParaRPr lang="en-US" sz="1100" dirty="0"/>
          </a:p>
        </p:txBody>
      </p:sp>
      <p:sp>
        <p:nvSpPr>
          <p:cNvPr id="22" name="Text 20"/>
          <p:cNvSpPr txBox="1"/>
          <p:nvPr/>
        </p:nvSpPr>
        <p:spPr>
          <a:xfrm>
            <a:off x="5852160" y="306324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생긴다</a:t>
            </a:r>
            <a:endParaRPr lang="en-US" sz="1050" dirty="0"/>
          </a:p>
          <a:p>
            <a:pPr indent="0" marL="0">
              <a:buNone/>
            </a:pPr>
            <a:r>
              <a:rPr lang="en-US" sz="950" dirty="0">
                <a:solidFill>
                  <a:schemeClr val="accent5"/>
                </a:solidFill>
              </a:rPr>
              <a:t>앱의 증빙 문서 맨 아래에 그렇게 적어 두었다</a:t>
            </a:r>
            <a:endParaRPr lang="en-US" sz="1050" dirty="0"/>
          </a:p>
        </p:txBody>
      </p:sp>
      <p:sp>
        <p:nvSpPr>
          <p:cNvPr id="23" name="Text 21"/>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1050" i="1" dirty="0">
                <a:solidFill>
                  <a:schemeClr val="accent5"/>
                </a:solidFill>
              </a:rPr>
              <a:t>법적 효력을 보장한다고 말하지 않는다. 근로감독관 · 법원이 판단할 자료를 정리해 준다.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서버 없이 시작하고, 서버는 "확인 번호"에만 쓴다</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3291840"/>
                <a:gridCol w="3657600"/>
              </a:tblGrid>
              <a:tr h="329184">
                <a:tc>
                  <a:txBody>
                    <a:bodyPr/>
                    <a:lstStyle/>
                    <a:p>
                      <a:pPr indent="0" marL="0">
                        <a:buNone/>
                      </a:pPr>
                      <a:r>
                        <a:rPr lang="en-US" sz="1050" b="1" dirty="0">
                          <a:solidFill>
                            <a:srgbClr val="5D636D"/>
                          </a:solidFill>
                        </a:rPr>
                        <a:t>구분</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선택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이유</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050" b="1" dirty="0">
                          <a:solidFill>
                            <a:srgbClr val="15171A"/>
                          </a:solidFill>
                        </a:rPr>
                        <a:t>프론트엔드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React + Vite, PWA (홈 화면에 추가, 오프라인 실행)</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스토어 없이 링크로 배포. 의견을 듣고 바로 고쳐 다시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백엔드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별도 서버 없음 + Supabase REST</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근무 내용은 폰 밖으로 안 나감. 서버는 확인 번호 등록 · 설문 수집에만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050" b="1" dirty="0">
                          <a:solidFill>
                            <a:srgbClr val="15171A"/>
                          </a:solidFill>
                        </a:rPr>
                        <a:t>데이터베이스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폰: localStorage(기록) · IndexedDB(사진)</a:t>
                      </a:r>
                      <a:endParaRPr lang="en-US" sz="1050" dirty="0"/>
                    </a:p>
                    <a:p>
                      <a:pPr indent="0" marL="0">
                        <a:buNone/>
                      </a:pPr>
                      <a:r>
                        <a:rPr lang="en-US" sz="1050" dirty="0">
                          <a:solidFill>
                            <a:srgbClr val="15171A"/>
                          </a:solidFill>
                        </a:rPr>
                        <a:t>서버: Supabase PostgreSQL (stamps · survey)</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기록 소유권은 사용자에게. 공개 키로는 넣기 · 읽기만(RLS), 시각은 서버가 찍음. 운영자 조작까지 막는 건 아님(외부 시점확인은 계획)</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84048">
                <a:tc>
                  <a:txBody>
                    <a:bodyPr/>
                    <a:lstStyle/>
                    <a:p>
                      <a:pPr indent="0" marL="0">
                        <a:buNone/>
                      </a:pPr>
                      <a:r>
                        <a:rPr lang="en-US" sz="1050" b="1" dirty="0">
                          <a:solidFill>
                            <a:srgbClr val="15171A"/>
                          </a:solidFill>
                        </a:rPr>
                        <a:t>인프라</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GitHub Pages + GitHub Actions</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main에 올리면 자동 빌드 ·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050" b="1" dirty="0">
                          <a:solidFill>
                            <a:srgbClr val="15171A"/>
                          </a:solidFill>
                        </a:rPr>
                        <a:t>AI</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Claude API (선택, 개발 환경에서만)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배포 앱은 API 키 없이 정해진 문구로 동작. 기록을 밖으로 안 보내려고 기본은 끔</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분석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페이지 + 자동 집계 페이지, 직접 인터뷰</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로그인이 없어 사용 로그 대신 설문 · 인터뷰로 측정</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확인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000" b="1" dirty="0">
                <a:solidFill>
                  <a:schemeClr val="tx1"/>
                </a:solidFill>
              </a:rPr>
              <a:t>화면 (React)</a:t>
            </a:r>
            <a:endParaRPr lang="en-US" sz="1000" dirty="0"/>
          </a:p>
          <a:p>
            <a:pPr algn="ctr" indent="0" marL="0">
              <a:buNone/>
            </a:pPr>
            <a:r>
              <a:rPr lang="en-US" sz="900" dirty="0">
                <a:solidFill>
                  <a:schemeClr val="accent5"/>
                </a:solidFill>
              </a:rPr>
              <a:t>근무 기록 · 캘린더 · 급여 비교 · 정산 요청 · 설정</a:t>
            </a:r>
            <a:endParaRPr lang="en-US" sz="10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000" b="1" dirty="0">
                <a:solidFill>
                  <a:schemeClr val="tx1"/>
                </a:solidFill>
              </a:rPr>
              <a:t>계산 모듈</a:t>
            </a:r>
            <a:endParaRPr lang="en-US" sz="1000" dirty="0"/>
          </a:p>
          <a:p>
            <a:pPr algn="ctr" indent="0" marL="0">
              <a:buNone/>
            </a:pPr>
            <a:r>
              <a:rPr lang="en-US" sz="900" dirty="0">
                <a:solidFill>
                  <a:schemeClr val="accent5"/>
                </a:solidFill>
              </a:rPr>
              <a:t>급여(주휴 · 야간) · 예정 vs 실제 · 요청 문구 · PDF · 확인 번호(SHA-256)</a:t>
            </a:r>
            <a:endParaRPr lang="en-US" sz="10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000" b="1" dirty="0">
                <a:solidFill>
                  <a:schemeClr val="tx1"/>
                </a:solidFill>
              </a:rPr>
              <a:t>저장</a:t>
            </a:r>
            <a:endParaRPr lang="en-US" sz="1000" dirty="0"/>
          </a:p>
          <a:p>
            <a:pPr algn="ctr" indent="0" marL="0">
              <a:buNone/>
            </a:pPr>
            <a:r>
              <a:rPr lang="en-US" sz="900" dirty="0">
                <a:solidFill>
                  <a:schemeClr val="accent5"/>
                </a:solidFill>
              </a:rPr>
              <a:t>localStorage(기록 · 수정 이력) · IndexedDB(증빙 사진)</a:t>
            </a:r>
            <a:endParaRPr lang="en-US" sz="10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828800"/>
            <a:ext cx="1417320" cy="475488"/>
          </a:xfrm>
          <a:prstGeom prst="rect">
            <a:avLst/>
          </a:prstGeom>
          <a:noFill/>
          <a:ln/>
        </p:spPr>
        <p:txBody>
          <a:bodyPr wrap="square" lIns="0" tIns="0" rIns="0" bIns="0" rtlCol="0" anchor="b"/>
          <a:lstStyle/>
          <a:p>
            <a:pPr algn="ctr" indent="0" marL="0">
              <a:buNone/>
            </a:pPr>
            <a:r>
              <a:rPr lang="en-US" sz="850" b="1" dirty="0">
                <a:solidFill>
                  <a:schemeClr val="tx2"/>
                </a:solidFill>
              </a:rPr>
              <a:t>확인 번호 · 기록 번호</a:t>
            </a:r>
            <a:endParaRPr lang="en-US" sz="850" dirty="0"/>
          </a:p>
          <a:p>
            <a:pPr algn="ctr" indent="0" marL="0">
              <a:buNone/>
            </a:pPr>
            <a:r>
              <a:rPr lang="en-US" sz="850" b="1" dirty="0">
                <a:solidFill>
                  <a:schemeClr val="tx2"/>
                </a:solidFill>
              </a:rPr>
              <a:t>· 무작위 기기 번호</a:t>
            </a:r>
            <a:endParaRPr lang="en-US" sz="850" dirty="0"/>
          </a:p>
        </p:txBody>
      </p:sp>
      <p:sp>
        <p:nvSpPr>
          <p:cNvPr id="17" name="Text 15"/>
          <p:cNvSpPr txBox="1"/>
          <p:nvPr/>
        </p:nvSpPr>
        <p:spPr>
          <a:xfrm>
            <a:off x="3611880" y="2377440"/>
            <a:ext cx="1417320" cy="457200"/>
          </a:xfrm>
          <a:prstGeom prst="rect">
            <a:avLst/>
          </a:prstGeom>
          <a:noFill/>
          <a:ln/>
        </p:spPr>
        <p:txBody>
          <a:bodyPr wrap="square" lIns="0" tIns="0" rIns="0" bIns="0" rtlCol="0" anchor="t"/>
          <a:lstStyle/>
          <a:p>
            <a:pPr algn="ctr" indent="0" marL="0">
              <a:buNone/>
            </a:pPr>
            <a:r>
              <a:rPr lang="en-US" sz="850" dirty="0">
                <a:solidFill>
                  <a:schemeClr val="accent3"/>
                </a:solidFill>
              </a:rPr>
              <a:t>근무지 · 시각 · 금액은</a:t>
            </a:r>
            <a:endParaRPr lang="en-US" sz="850" dirty="0"/>
          </a:p>
          <a:p>
            <a:pPr algn="ctr" indent="0" marL="0">
              <a:buNone/>
            </a:pPr>
            <a:r>
              <a:rPr lang="en-US" sz="850" dirty="0">
                <a:solidFill>
                  <a:schemeClr val="accent3"/>
                </a:solidFill>
              </a:rPr>
              <a:t>가지 않음</a:t>
            </a:r>
            <a:endParaRPr lang="en-US" sz="8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050" b="1" dirty="0">
                <a:solidFill>
                  <a:schemeClr val="tx2"/>
                </a:solidFill>
              </a:rPr>
              <a:t>Supabase</a:t>
            </a:r>
            <a:endParaRPr lang="en-US" sz="1050" dirty="0"/>
          </a:p>
          <a:p>
            <a:pPr indent="0" marL="0">
              <a:spcAft>
                <a:spcPts val="200"/>
              </a:spcAft>
              <a:buNone/>
            </a:pPr>
            <a:r>
              <a:rPr lang="en-US" sz="1050" b="1" dirty="0">
                <a:solidFill>
                  <a:schemeClr val="tx1"/>
                </a:solidFill>
              </a:rPr>
              <a:t>stamps 표</a:t>
            </a:r>
            <a:endParaRPr lang="en-US" sz="1050" dirty="0"/>
          </a:p>
          <a:p>
            <a:pPr indent="0" marL="0">
              <a:spcAft>
                <a:spcPts val="200"/>
              </a:spcAft>
              <a:buNone/>
            </a:pPr>
            <a:r>
              <a:rPr lang="en-US" sz="900" dirty="0">
                <a:solidFill>
                  <a:schemeClr val="accent5"/>
                </a:solidFill>
              </a:rPr>
              <a:t>확인 번호 · 기록 번호 · 무작위 기기 번호 · 서버 등록 시각</a:t>
            </a:r>
            <a:endParaRPr lang="en-US" sz="1050" dirty="0"/>
          </a:p>
          <a:p>
            <a:pPr indent="0" marL="0">
              <a:spcAft>
                <a:spcPts val="200"/>
              </a:spcAft>
              <a:buNone/>
            </a:pPr>
            <a:r>
              <a:rPr lang="en-US" sz="900" dirty="0">
                <a:solidFill>
                  <a:schemeClr val="accent5"/>
                </a:solidFill>
              </a:rPr>
              <a:t>공개 키로는 넣기 · 읽기만(RLS). 시각은 트리거가 서버 시각으로 강제</a:t>
            </a:r>
            <a:endParaRPr lang="en-US" sz="1050" dirty="0"/>
          </a:p>
          <a:p>
            <a:pPr indent="0" marL="0">
              <a:spcAft>
                <a:spcPts val="200"/>
              </a:spcAft>
              <a:buNone/>
            </a:pPr>
            <a:r>
              <a:rPr lang="en-US" sz="850" b="1" dirty="0">
                <a:solidFill>
                  <a:schemeClr val="accent2"/>
                </a:solidFill>
              </a:rPr>
              <a:t>확인함: 2000년 시각을 보내도 서버 시각으로 저장 · 수정 · 삭제 요청은 거부(401)</a:t>
            </a:r>
            <a:endParaRPr lang="en-US" sz="10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050" b="1" dirty="0">
                <a:solidFill>
                  <a:schemeClr val="tx2"/>
                </a:solidFill>
              </a:rPr>
              <a:t>확인 페이지 (verify.html)</a:t>
            </a:r>
            <a:endParaRPr lang="en-US" sz="1050" dirty="0"/>
          </a:p>
          <a:p>
            <a:pPr indent="0" marL="0">
              <a:buNone/>
            </a:pPr>
            <a:r>
              <a:rPr lang="en-US" sz="900" dirty="0">
                <a:solidFill>
                  <a:schemeClr val="accent5"/>
                </a:solidFill>
              </a:rPr>
              <a:t>누구나 확인 번호 → 서버 등록 시각. 앱 데이터 없이 동작</a:t>
            </a:r>
            <a:endParaRPr lang="en-US" sz="105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27632"/>
            <a:ext cx="219456" cy="219456"/>
          </a:xfrm>
          <a:prstGeom prst="ellipse">
            <a:avLst/>
          </a:prstGeom>
          <a:solidFill>
            <a:schemeClr val="accent1"/>
          </a:solidFill>
          <a:ln w="12700">
            <a:solidFill>
              <a:schemeClr val="accent1"/>
            </a:solidFill>
            <a:prstDash val="solid"/>
          </a:ln>
        </p:spPr>
      </p:sp>
      <p:sp>
        <p:nvSpPr>
          <p:cNvPr id="26" name="Text 24"/>
          <p:cNvSpPr txBox="1"/>
          <p:nvPr/>
        </p:nvSpPr>
        <p:spPr>
          <a:xfrm>
            <a:off x="7223760" y="1627632"/>
            <a:ext cx="219456" cy="219456"/>
          </a:xfrm>
          <a:prstGeom prst="rect">
            <a:avLst/>
          </a:prstGeom>
          <a:noFill/>
          <a:ln/>
        </p:spPr>
        <p:txBody>
          <a:bodyPr wrap="square" lIns="0" tIns="0" rIns="0" bIns="0" rtlCol="0" anchor="ctr"/>
          <a:lstStyle/>
          <a:p>
            <a:pPr algn="ctr" indent="0" marL="0">
              <a:buNone/>
            </a:pPr>
            <a:r>
              <a:rPr lang="en-US" sz="850" b="1" dirty="0">
                <a:solidFill>
                  <a:schemeClr val="bg1"/>
                </a:solidFill>
              </a:rPr>
              <a:t>1</a:t>
            </a:r>
            <a:endParaRPr lang="en-US" sz="850" dirty="0"/>
          </a:p>
        </p:txBody>
      </p:sp>
      <p:sp>
        <p:nvSpPr>
          <p:cNvPr id="27" name="Text 25"/>
          <p:cNvSpPr txBox="1"/>
          <p:nvPr/>
        </p:nvSpPr>
        <p:spPr>
          <a:xfrm>
            <a:off x="7498080" y="1572768"/>
            <a:ext cx="1280160" cy="548640"/>
          </a:xfrm>
          <a:prstGeom prst="rect">
            <a:avLst/>
          </a:prstGeom>
          <a:noFill/>
          <a:ln/>
        </p:spPr>
        <p:txBody>
          <a:bodyPr wrap="square" lIns="0" tIns="0" rIns="0" bIns="0" rtlCol="0" anchor="t"/>
          <a:lstStyle/>
          <a:p>
            <a:pPr indent="0" marL="0">
              <a:buNone/>
            </a:pPr>
            <a:r>
              <a:rPr lang="en-US" sz="850" dirty="0">
                <a:solidFill>
                  <a:schemeClr val="tx1"/>
                </a:solidFill>
              </a:rPr>
              <a:t>출근 버튼: 기록 번호를 만들고 출근 시각 기록의 확인 번호 등록</a:t>
            </a:r>
            <a:endParaRPr lang="en-US" sz="850" dirty="0"/>
          </a:p>
        </p:txBody>
      </p:sp>
      <p:sp>
        <p:nvSpPr>
          <p:cNvPr id="28" name="번호 2"/>
          <p:cNvSpPr/>
          <p:nvPr/>
        </p:nvSpPr>
        <p:spPr>
          <a:xfrm>
            <a:off x="7223760" y="2194560"/>
            <a:ext cx="219456" cy="219456"/>
          </a:xfrm>
          <a:prstGeom prst="ellipse">
            <a:avLst/>
          </a:prstGeom>
          <a:solidFill>
            <a:schemeClr val="accent1"/>
          </a:solidFill>
          <a:ln w="12700">
            <a:solidFill>
              <a:schemeClr val="accent1"/>
            </a:solidFill>
            <a:prstDash val="solid"/>
          </a:ln>
        </p:spPr>
      </p:sp>
      <p:sp>
        <p:nvSpPr>
          <p:cNvPr id="29" name="Text 27"/>
          <p:cNvSpPr txBox="1"/>
          <p:nvPr/>
        </p:nvSpPr>
        <p:spPr>
          <a:xfrm>
            <a:off x="7223760" y="2194560"/>
            <a:ext cx="219456" cy="219456"/>
          </a:xfrm>
          <a:prstGeom prst="rect">
            <a:avLst/>
          </a:prstGeom>
          <a:noFill/>
          <a:ln/>
        </p:spPr>
        <p:txBody>
          <a:bodyPr wrap="square" lIns="0" tIns="0" rIns="0" bIns="0" rtlCol="0" anchor="ctr"/>
          <a:lstStyle/>
          <a:p>
            <a:pPr algn="ctr" indent="0" marL="0">
              <a:buNone/>
            </a:pPr>
            <a:r>
              <a:rPr lang="en-US" sz="850" b="1" dirty="0">
                <a:solidFill>
                  <a:schemeClr val="bg1"/>
                </a:solidFill>
              </a:rPr>
              <a:t>2</a:t>
            </a:r>
            <a:endParaRPr lang="en-US" sz="850" dirty="0"/>
          </a:p>
        </p:txBody>
      </p:sp>
      <p:sp>
        <p:nvSpPr>
          <p:cNvPr id="30" name="Text 28"/>
          <p:cNvSpPr txBox="1"/>
          <p:nvPr/>
        </p:nvSpPr>
        <p:spPr>
          <a:xfrm>
            <a:off x="7498080" y="2139696"/>
            <a:ext cx="1280160" cy="548640"/>
          </a:xfrm>
          <a:prstGeom prst="rect">
            <a:avLst/>
          </a:prstGeom>
          <a:noFill/>
          <a:ln/>
        </p:spPr>
        <p:txBody>
          <a:bodyPr wrap="square" lIns="0" tIns="0" rIns="0" bIns="0" rtlCol="0" anchor="t"/>
          <a:lstStyle/>
          <a:p>
            <a:pPr indent="0" marL="0">
              <a:buNone/>
            </a:pPr>
            <a:r>
              <a:rPr lang="en-US" sz="850" dirty="0">
                <a:solidFill>
                  <a:schemeClr val="tx1"/>
                </a:solidFill>
              </a:rPr>
              <a:t>퇴근 버튼: 완성된 기록의 확인 번호 등록</a:t>
            </a:r>
            <a:endParaRPr lang="en-US" sz="850" dirty="0"/>
          </a:p>
        </p:txBody>
      </p:sp>
      <p:sp>
        <p:nvSpPr>
          <p:cNvPr id="31" name="번호 3"/>
          <p:cNvSpPr/>
          <p:nvPr/>
        </p:nvSpPr>
        <p:spPr>
          <a:xfrm>
            <a:off x="7223760" y="2761488"/>
            <a:ext cx="219456" cy="219456"/>
          </a:xfrm>
          <a:prstGeom prst="ellipse">
            <a:avLst/>
          </a:prstGeom>
          <a:solidFill>
            <a:schemeClr val="accent1"/>
          </a:solidFill>
          <a:ln w="12700">
            <a:solidFill>
              <a:schemeClr val="accent1"/>
            </a:solidFill>
            <a:prstDash val="solid"/>
          </a:ln>
        </p:spPr>
      </p:sp>
      <p:sp>
        <p:nvSpPr>
          <p:cNvPr id="32" name="Text 30"/>
          <p:cNvSpPr txBox="1"/>
          <p:nvPr/>
        </p:nvSpPr>
        <p:spPr>
          <a:xfrm>
            <a:off x="7223760" y="2761488"/>
            <a:ext cx="219456" cy="219456"/>
          </a:xfrm>
          <a:prstGeom prst="rect">
            <a:avLst/>
          </a:prstGeom>
          <a:noFill/>
          <a:ln/>
        </p:spPr>
        <p:txBody>
          <a:bodyPr wrap="square" lIns="0" tIns="0" rIns="0" bIns="0" rtlCol="0" anchor="ctr"/>
          <a:lstStyle/>
          <a:p>
            <a:pPr algn="ctr" indent="0" marL="0">
              <a:buNone/>
            </a:pPr>
            <a:r>
              <a:rPr lang="en-US" sz="850" b="1" dirty="0">
                <a:solidFill>
                  <a:schemeClr val="bg1"/>
                </a:solidFill>
              </a:rPr>
              <a:t>3</a:t>
            </a:r>
            <a:endParaRPr lang="en-US" sz="850" dirty="0"/>
          </a:p>
        </p:txBody>
      </p:sp>
      <p:sp>
        <p:nvSpPr>
          <p:cNvPr id="33" name="Text 31"/>
          <p:cNvSpPr txBox="1"/>
          <p:nvPr/>
        </p:nvSpPr>
        <p:spPr>
          <a:xfrm>
            <a:off x="7498080" y="2706624"/>
            <a:ext cx="1280160" cy="548640"/>
          </a:xfrm>
          <a:prstGeom prst="rect">
            <a:avLst/>
          </a:prstGeom>
          <a:noFill/>
          <a:ln/>
        </p:spPr>
        <p:txBody>
          <a:bodyPr wrap="square" lIns="0" tIns="0" rIns="0" bIns="0" rtlCol="0" anchor="t"/>
          <a:lstStyle/>
          <a:p>
            <a:pPr indent="0" marL="0">
              <a:buNone/>
            </a:pPr>
            <a:r>
              <a:rPr lang="en-US" sz="850" dirty="0">
                <a:solidFill>
                  <a:schemeClr val="tx1"/>
                </a:solidFill>
              </a:rPr>
              <a:t>수정 · 삭제: 수정 이력이 붙은 새 내용으로 다시 등록 (줄이 늘어남)</a:t>
            </a:r>
            <a:endParaRPr lang="en-US" sz="850" dirty="0"/>
          </a:p>
        </p:txBody>
      </p:sp>
      <p:sp>
        <p:nvSpPr>
          <p:cNvPr id="34" name="번호 4"/>
          <p:cNvSpPr/>
          <p:nvPr/>
        </p:nvSpPr>
        <p:spPr>
          <a:xfrm>
            <a:off x="7223760" y="3328416"/>
            <a:ext cx="219456" cy="219456"/>
          </a:xfrm>
          <a:prstGeom prst="ellipse">
            <a:avLst/>
          </a:prstGeom>
          <a:solidFill>
            <a:schemeClr val="accent1"/>
          </a:solidFill>
          <a:ln w="12700">
            <a:solidFill>
              <a:schemeClr val="accent1"/>
            </a:solidFill>
            <a:prstDash val="solid"/>
          </a:ln>
        </p:spPr>
      </p:sp>
      <p:sp>
        <p:nvSpPr>
          <p:cNvPr id="35" name="Text 33"/>
          <p:cNvSpPr txBox="1"/>
          <p:nvPr/>
        </p:nvSpPr>
        <p:spPr>
          <a:xfrm>
            <a:off x="7223760" y="3328416"/>
            <a:ext cx="219456" cy="219456"/>
          </a:xfrm>
          <a:prstGeom prst="rect">
            <a:avLst/>
          </a:prstGeom>
          <a:noFill/>
          <a:ln/>
        </p:spPr>
        <p:txBody>
          <a:bodyPr wrap="square" lIns="0" tIns="0" rIns="0" bIns="0" rtlCol="0" anchor="ctr"/>
          <a:lstStyle/>
          <a:p>
            <a:pPr algn="ctr" indent="0" marL="0">
              <a:buNone/>
            </a:pPr>
            <a:r>
              <a:rPr lang="en-US" sz="850" b="1" dirty="0">
                <a:solidFill>
                  <a:schemeClr val="bg1"/>
                </a:solidFill>
              </a:rPr>
              <a:t>4</a:t>
            </a:r>
            <a:endParaRPr lang="en-US" sz="850" dirty="0"/>
          </a:p>
        </p:txBody>
      </p:sp>
      <p:sp>
        <p:nvSpPr>
          <p:cNvPr id="36" name="Text 34"/>
          <p:cNvSpPr txBox="1"/>
          <p:nvPr/>
        </p:nvSpPr>
        <p:spPr>
          <a:xfrm>
            <a:off x="7498080" y="3273552"/>
            <a:ext cx="1280160" cy="548640"/>
          </a:xfrm>
          <a:prstGeom prst="rect">
            <a:avLst/>
          </a:prstGeom>
          <a:noFill/>
          <a:ln/>
        </p:spPr>
        <p:txBody>
          <a:bodyPr wrap="square" lIns="0" tIns="0" rIns="0" bIns="0" rtlCol="0" anchor="t"/>
          <a:lstStyle/>
          <a:p>
            <a:pPr indent="0" marL="0">
              <a:buNone/>
            </a:pPr>
            <a:r>
              <a:rPr lang="en-US" sz="850" dirty="0">
                <a:solidFill>
                  <a:schemeClr val="tx1"/>
                </a:solidFill>
              </a:rPr>
              <a:t>인터넷이 없으면 대기열에 두었다가 연결되면 전송</a:t>
            </a:r>
            <a:endParaRPr lang="en-US" sz="850" dirty="0"/>
          </a:p>
        </p:txBody>
      </p:sp>
      <p:sp>
        <p:nvSpPr>
          <p:cNvPr id="37" name="번호 5"/>
          <p:cNvSpPr/>
          <p:nvPr/>
        </p:nvSpPr>
        <p:spPr>
          <a:xfrm>
            <a:off x="7223760" y="3895344"/>
            <a:ext cx="219456" cy="219456"/>
          </a:xfrm>
          <a:prstGeom prst="ellipse">
            <a:avLst/>
          </a:prstGeom>
          <a:solidFill>
            <a:schemeClr val="accent1"/>
          </a:solidFill>
          <a:ln w="12700">
            <a:solidFill>
              <a:schemeClr val="accent1"/>
            </a:solidFill>
            <a:prstDash val="solid"/>
          </a:ln>
        </p:spPr>
      </p:sp>
      <p:sp>
        <p:nvSpPr>
          <p:cNvPr id="38" name="Text 36"/>
          <p:cNvSpPr txBox="1"/>
          <p:nvPr/>
        </p:nvSpPr>
        <p:spPr>
          <a:xfrm>
            <a:off x="7223760" y="3895344"/>
            <a:ext cx="219456" cy="219456"/>
          </a:xfrm>
          <a:prstGeom prst="rect">
            <a:avLst/>
          </a:prstGeom>
          <a:noFill/>
          <a:ln/>
        </p:spPr>
        <p:txBody>
          <a:bodyPr wrap="square" lIns="0" tIns="0" rIns="0" bIns="0" rtlCol="0" anchor="ctr"/>
          <a:lstStyle/>
          <a:p>
            <a:pPr algn="ctr" indent="0" marL="0">
              <a:buNone/>
            </a:pPr>
            <a:r>
              <a:rPr lang="en-US" sz="850" b="1" dirty="0">
                <a:solidFill>
                  <a:schemeClr val="bg1"/>
                </a:solidFill>
              </a:rPr>
              <a:t>5</a:t>
            </a:r>
            <a:endParaRPr lang="en-US" sz="850" dirty="0"/>
          </a:p>
        </p:txBody>
      </p:sp>
      <p:sp>
        <p:nvSpPr>
          <p:cNvPr id="39" name="Text 37"/>
          <p:cNvSpPr txBox="1"/>
          <p:nvPr/>
        </p:nvSpPr>
        <p:spPr>
          <a:xfrm>
            <a:off x="7498080" y="3840480"/>
            <a:ext cx="1280160" cy="548640"/>
          </a:xfrm>
          <a:prstGeom prst="rect">
            <a:avLst/>
          </a:prstGeom>
          <a:noFill/>
          <a:ln/>
        </p:spPr>
        <p:txBody>
          <a:bodyPr wrap="square" lIns="0" tIns="0" rIns="0" bIns="0" rtlCol="0" anchor="t"/>
          <a:lstStyle/>
          <a:p>
            <a:pPr indent="0" marL="0">
              <a:buNone/>
            </a:pPr>
            <a:r>
              <a:rPr lang="en-US" sz="850" dirty="0">
                <a:solidFill>
                  <a:schemeClr val="tx1"/>
                </a:solidFill>
              </a:rPr>
              <a:t>증빙 묶음 PDF 7번 표에 기록별 확인 번호 · 등록 시각</a:t>
            </a:r>
            <a:endParaRPr lang="en-US" sz="850" dirty="0"/>
          </a:p>
        </p:txBody>
      </p:sp>
      <p:sp>
        <p:nvSpPr>
          <p:cNvPr id="40" name="Text 38"/>
          <p:cNvSpPr txBox="1"/>
          <p:nvPr/>
        </p:nvSpPr>
        <p:spPr>
          <a:xfrm>
            <a:off x="457200" y="4498848"/>
            <a:ext cx="8229600" cy="256032"/>
          </a:xfrm>
          <a:prstGeom prst="rect">
            <a:avLst/>
          </a:prstGeom>
          <a:noFill/>
          <a:ln/>
        </p:spPr>
        <p:txBody>
          <a:bodyPr wrap="square" lIns="0" tIns="0" rIns="0" bIns="0" rtlCol="0" anchor="t"/>
          <a:lstStyle/>
          <a:p>
            <a:pPr indent="0" marL="0">
              <a:buNone/>
            </a:pPr>
            <a:r>
              <a:rPr lang="en-US" sz="900" dirty="0">
                <a:solidFill>
                  <a:schemeClr val="accent5"/>
                </a:solidFill>
              </a:rPr>
              <a:t>배포: GitHub main → Actions → Pages (링크 하나로 설치)  ·  설문: survey.html → Supabase survey 표(넣기 · 읽기만) → 결과 페이지 자동 집계</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지금 열린다</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실제를 비교해 연장 · 대타만 글자로</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근무 기록 · 수정 이력 · 계산 · 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번호를 넣으면 서버 등록 시각이 나온다</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보여 드리는 것 (약 3분, 실제 배포된 앱으로)</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512064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남는다. 예시 데이터는 등록되지 않으니 오늘 남긴 2건만 보인다</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512064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바뀐다</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512064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512064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있다</a:t>
            </a:r>
            <a:endParaRPr lang="en-US" sz="1000" dirty="0"/>
          </a:p>
        </p:txBody>
      </p:sp>
      <p:sp>
        <p:nvSpPr>
          <p:cNvPr id="20" name="말로 대신 칸"/>
          <p:cNvSpPr/>
          <p:nvPr/>
        </p:nvSpPr>
        <p:spPr>
          <a:xfrm>
            <a:off x="6309360" y="1325880"/>
            <a:ext cx="2377440" cy="1920240"/>
          </a:xfrm>
          <a:prstGeom prst="roundRect">
            <a:avLst>
              <a:gd name="adj" fmla="val 4762"/>
            </a:avLst>
          </a:prstGeom>
          <a:solidFill>
            <a:schemeClr val="bg2"/>
          </a:solidFill>
          <a:ln w="12700">
            <a:solidFill>
              <a:schemeClr val="bg2"/>
            </a:solidFill>
            <a:prstDash val="solid"/>
          </a:ln>
        </p:spPr>
      </p:sp>
      <p:sp>
        <p:nvSpPr>
          <p:cNvPr id="21" name="Text 19"/>
          <p:cNvSpPr txBox="1"/>
          <p:nvPr/>
        </p:nvSpPr>
        <p:spPr>
          <a:xfrm>
            <a:off x="6492240" y="1417320"/>
            <a:ext cx="2103120" cy="1783080"/>
          </a:xfrm>
          <a:prstGeom prst="rect">
            <a:avLst/>
          </a:prstGeom>
          <a:noFill/>
          <a:ln/>
        </p:spPr>
        <p:txBody>
          <a:bodyPr wrap="square" lIns="0" tIns="0" rIns="0" bIns="0" rtlCol="0" anchor="t"/>
          <a:lstStyle/>
          <a:p>
            <a:pPr indent="0" marL="0">
              <a:spcAft>
                <a:spcPts val="300"/>
              </a:spcAft>
              <a:buNone/>
            </a:pPr>
            <a:r>
              <a:rPr lang="en-US" sz="1000" b="1" dirty="0">
                <a:solidFill>
                  <a:schemeClr val="tx2"/>
                </a:solidFill>
              </a:rPr>
              <a:t>말로 대신하는 것</a:t>
            </a:r>
            <a:endParaRPr lang="en-US" sz="1000" dirty="0"/>
          </a:p>
          <a:p>
            <a:pPr marL="127000" indent="-127000">
              <a:spcAft>
                <a:spcPts val="300"/>
              </a:spcAft>
              <a:buSzPct val="100000"/>
              <a:buChar char="•"/>
            </a:pPr>
            <a:r>
              <a:rPr lang="en-US" sz="1000" dirty="0">
                <a:solidFill>
                  <a:schemeClr val="tx1"/>
                </a:solidFill>
              </a:rPr>
              <a:t>캘린더의 연장 · 대타 표시</a:t>
            </a:r>
            <a:endParaRPr lang="en-US" sz="1000" dirty="0"/>
          </a:p>
          <a:p>
            <a:pPr marL="127000" indent="-127000">
              <a:spcAft>
                <a:spcPts val="300"/>
              </a:spcAft>
              <a:buSzPct val="100000"/>
              <a:buChar char="•"/>
            </a:pPr>
            <a:r>
              <a:rPr lang="en-US" sz="1000" dirty="0">
                <a:solidFill>
                  <a:schemeClr val="tx1"/>
                </a:solidFill>
              </a:rPr>
              <a:t>3단계 진정 안내: 1350 · 노동포털 연결. 진정서는 만들지 않는다</a:t>
            </a:r>
            <a:endParaRPr lang="en-US" sz="1000" dirty="0"/>
          </a:p>
          <a:p>
            <a:pPr marL="127000" indent="-127000">
              <a:spcAft>
                <a:spcPts val="300"/>
              </a:spcAft>
              <a:buSzPct val="100000"/>
              <a:buChar char="•"/>
            </a:pPr>
            <a:r>
              <a:rPr lang="en-US" sz="1000" dirty="0">
                <a:solidFill>
                  <a:schemeClr val="tx1"/>
                </a:solidFill>
              </a:rPr>
              <a:t>예시 데이터는 발표 전에 넣어 둔다</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852160" y="987552"/>
            <a:ext cx="548640" cy="228600"/>
          </a:xfrm>
          <a:prstGeom prst="rect">
            <a:avLst/>
          </a:prstGeom>
          <a:noFill/>
          <a:ln/>
        </p:spPr>
        <p:txBody>
          <a:bodyPr wrap="square" lIns="0" tIns="0" rIns="0" bIns="0" rtlCol="0" anchor="ctr"/>
          <a:lstStyle/>
          <a:p>
            <a:pPr algn="ctr" indent="0" marL="0">
              <a:buNone/>
            </a:pPr>
            <a:r>
              <a:rPr lang="en-US" sz="750" b="1" dirty="0">
                <a:solidFill>
                  <a:schemeClr val="accent5"/>
                </a:solidFill>
              </a:rPr>
              <a:t>동작</a:t>
            </a:r>
            <a:endParaRPr lang="en-US" sz="750" dirty="0"/>
          </a:p>
        </p:txBody>
      </p:sp>
      <p:sp>
        <p:nvSpPr>
          <p:cNvPr id="5" name="Text 3"/>
          <p:cNvSpPr txBox="1"/>
          <p:nvPr/>
        </p:nvSpPr>
        <p:spPr>
          <a:xfrm>
            <a:off x="6126480" y="987552"/>
            <a:ext cx="548640" cy="228600"/>
          </a:xfrm>
          <a:prstGeom prst="rect">
            <a:avLst/>
          </a:prstGeom>
          <a:noFill/>
          <a:ln/>
        </p:spPr>
        <p:txBody>
          <a:bodyPr wrap="square" lIns="0" tIns="0" rIns="0" bIns="0" rtlCol="0" anchor="ctr"/>
          <a:lstStyle/>
          <a:p>
            <a:pPr algn="ctr" indent="0" marL="0">
              <a:buNone/>
            </a:pPr>
            <a:r>
              <a:rPr lang="en-US" sz="750" b="1" dirty="0">
                <a:solidFill>
                  <a:schemeClr val="accent5"/>
                </a:solidFill>
              </a:rPr>
              <a:t>폰</a:t>
            </a:r>
            <a:endParaRPr lang="en-US" sz="750" dirty="0"/>
          </a:p>
        </p:txBody>
      </p:sp>
      <p:sp>
        <p:nvSpPr>
          <p:cNvPr id="6" name="Text 4"/>
          <p:cNvSpPr txBox="1"/>
          <p:nvPr/>
        </p:nvSpPr>
        <p:spPr>
          <a:xfrm>
            <a:off x="6400800" y="987552"/>
            <a:ext cx="548640" cy="228600"/>
          </a:xfrm>
          <a:prstGeom prst="rect">
            <a:avLst/>
          </a:prstGeom>
          <a:noFill/>
          <a:ln/>
        </p:spPr>
        <p:txBody>
          <a:bodyPr wrap="square" lIns="0" tIns="0" rIns="0" bIns="0" rtlCol="0" anchor="ctr"/>
          <a:lstStyle/>
          <a:p>
            <a:pPr algn="ctr" indent="0" marL="0">
              <a:buNone/>
            </a:pPr>
            <a:r>
              <a:rPr lang="en-US" sz="750" b="1" dirty="0">
                <a:solidFill>
                  <a:schemeClr val="accent5"/>
                </a:solidFill>
              </a:rPr>
              <a:t>사용자</a:t>
            </a:r>
            <a:endParaRPr lang="en-US" sz="750" dirty="0"/>
          </a:p>
        </p:txBody>
      </p:sp>
      <p:sp>
        <p:nvSpPr>
          <p:cNvPr id="7" name="Text 5"/>
          <p:cNvSpPr txBox="1"/>
          <p:nvPr/>
        </p:nvSpPr>
        <p:spPr>
          <a:xfrm>
            <a:off x="6903720" y="987552"/>
            <a:ext cx="1783080" cy="228600"/>
          </a:xfrm>
          <a:prstGeom prst="rect">
            <a:avLst/>
          </a:prstGeom>
          <a:noFill/>
          <a:ln/>
        </p:spPr>
        <p:txBody>
          <a:bodyPr wrap="square" lIns="0" tIns="0" rIns="0" bIns="0" rtlCol="0" anchor="ctr"/>
          <a:lstStyle/>
          <a:p>
            <a:pPr indent="0" marL="0">
              <a:buNone/>
            </a:pPr>
            <a:r>
              <a:rPr lang="en-US" sz="750" b="1" dirty="0">
                <a:solidFill>
                  <a:schemeClr val="accent5"/>
                </a:solidFill>
              </a:rPr>
              <a:t>남은 일</a:t>
            </a:r>
            <a:endParaRPr lang="en-US" sz="750" dirty="0"/>
          </a:p>
        </p:txBody>
      </p:sp>
      <p:sp>
        <p:nvSpPr>
          <p:cNvPr id="8" name="Text 6"/>
          <p:cNvSpPr txBox="1"/>
          <p:nvPr/>
        </p:nvSpPr>
        <p:spPr>
          <a:xfrm>
            <a:off x="457200" y="1261872"/>
            <a:ext cx="3611880" cy="384048"/>
          </a:xfrm>
          <a:prstGeom prst="rect">
            <a:avLst/>
          </a:prstGeom>
          <a:noFill/>
          <a:ln/>
        </p:spPr>
        <p:txBody>
          <a:bodyPr wrap="square" lIns="0" tIns="0" rIns="0" bIns="0" rtlCol="0" anchor="ctr"/>
          <a:lstStyle/>
          <a:p>
            <a:pPr indent="0" marL="0">
              <a:buNone/>
            </a:pPr>
            <a:r>
              <a:rPr lang="en-US" sz="1000" dirty="0">
                <a:solidFill>
                  <a:schemeClr val="tx1"/>
                </a:solidFill>
              </a:rPr>
              <a:t>근무 기록 (수정 이력 · 직접 추가 · 퇴근 누락 보호)</a:t>
            </a:r>
            <a:endParaRPr lang="en-US" sz="1000" dirty="0"/>
          </a:p>
        </p:txBody>
      </p:sp>
      <p:sp>
        <p:nvSpPr>
          <p:cNvPr id="9" name="근무 기록 (수정 이력 · 직접 추가 · 퇴근 누락 보호) 바탕"/>
          <p:cNvSpPr/>
          <p:nvPr/>
        </p:nvSpPr>
        <p:spPr>
          <a:xfrm>
            <a:off x="4160520" y="1389888"/>
            <a:ext cx="1280160" cy="128016"/>
          </a:xfrm>
          <a:prstGeom prst="roundRect">
            <a:avLst>
              <a:gd name="adj" fmla="val 50000"/>
            </a:avLst>
          </a:prstGeom>
          <a:solidFill>
            <a:schemeClr val="bg2"/>
          </a:solidFill>
          <a:ln w="12700">
            <a:solidFill>
              <a:schemeClr val="bg2"/>
            </a:solidFill>
            <a:prstDash val="solid"/>
          </a:ln>
        </p:spPr>
      </p:sp>
      <p:sp>
        <p:nvSpPr>
          <p:cNvPr id="10" name="근무 기록 (수정 이력 · 직접 추가 · 퇴근 누락 보호) 진행"/>
          <p:cNvSpPr/>
          <p:nvPr/>
        </p:nvSpPr>
        <p:spPr>
          <a:xfrm>
            <a:off x="4160520" y="1389888"/>
            <a:ext cx="1152144"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495544" y="1261872"/>
            <a:ext cx="411480" cy="384048"/>
          </a:xfrm>
          <a:prstGeom prst="rect">
            <a:avLst/>
          </a:prstGeom>
          <a:noFill/>
          <a:ln/>
        </p:spPr>
        <p:txBody>
          <a:bodyPr wrap="square" lIns="0" tIns="0" rIns="0" bIns="0" rtlCol="0" anchor="ctr"/>
          <a:lstStyle/>
          <a:p>
            <a:pPr indent="0" marL="0">
              <a:buNone/>
            </a:pPr>
            <a:r>
              <a:rPr lang="en-US" sz="1000" b="1" dirty="0">
                <a:solidFill>
                  <a:schemeClr val="tx2"/>
                </a:solidFill>
              </a:rPr>
              <a:t>90%</a:t>
            </a:r>
            <a:endParaRPr lang="en-US" sz="1000" dirty="0"/>
          </a:p>
        </p:txBody>
      </p:sp>
      <p:sp>
        <p:nvSpPr>
          <p:cNvPr id="12" name="근무 기록 (수정 이력 · 직접 추가 · 퇴근 누락 보호) 확인 0"/>
          <p:cNvSpPr/>
          <p:nvPr/>
        </p:nvSpPr>
        <p:spPr>
          <a:xfrm>
            <a:off x="6044184" y="1371600"/>
            <a:ext cx="164592" cy="164592"/>
          </a:xfrm>
          <a:prstGeom prst="ellipse">
            <a:avLst/>
          </a:prstGeom>
          <a:solidFill>
            <a:schemeClr val="accent1"/>
          </a:solidFill>
          <a:ln w="9525">
            <a:solidFill>
              <a:schemeClr val="accent1"/>
            </a:solidFill>
            <a:prstDash val="solid"/>
          </a:ln>
        </p:spPr>
      </p:sp>
      <p:sp>
        <p:nvSpPr>
          <p:cNvPr id="13" name="근무 기록 (수정 이력 · 직접 추가 · 퇴근 누락 보호) 확인 1"/>
          <p:cNvSpPr/>
          <p:nvPr/>
        </p:nvSpPr>
        <p:spPr>
          <a:xfrm>
            <a:off x="6318504" y="1371600"/>
            <a:ext cx="164592" cy="164592"/>
          </a:xfrm>
          <a:prstGeom prst="ellipse">
            <a:avLst/>
          </a:prstGeom>
          <a:solidFill>
            <a:schemeClr val="bg1"/>
          </a:solidFill>
          <a:ln w="9525">
            <a:solidFill>
              <a:srgbClr val="5D636D"/>
            </a:solidFill>
            <a:prstDash val="solid"/>
          </a:ln>
        </p:spPr>
      </p:sp>
      <p:sp>
        <p:nvSpPr>
          <p:cNvPr id="14" name="근무 기록 (수정 이력 · 직접 추가 · 퇴근 누락 보호) 확인 2"/>
          <p:cNvSpPr/>
          <p:nvPr/>
        </p:nvSpPr>
        <p:spPr>
          <a:xfrm>
            <a:off x="6592824" y="1371600"/>
            <a:ext cx="164592" cy="164592"/>
          </a:xfrm>
          <a:prstGeom prst="ellipse">
            <a:avLst/>
          </a:prstGeom>
          <a:solidFill>
            <a:schemeClr val="bg1"/>
          </a:solidFill>
          <a:ln w="9525">
            <a:solidFill>
              <a:srgbClr val="5D636D"/>
            </a:solidFill>
            <a:prstDash val="solid"/>
          </a:ln>
        </p:spPr>
      </p:sp>
      <p:sp>
        <p:nvSpPr>
          <p:cNvPr id="15" name="Text 13"/>
          <p:cNvSpPr txBox="1"/>
          <p:nvPr/>
        </p:nvSpPr>
        <p:spPr>
          <a:xfrm>
            <a:off x="6903720" y="1261872"/>
            <a:ext cx="1783080" cy="384048"/>
          </a:xfrm>
          <a:prstGeom prst="rect">
            <a:avLst/>
          </a:prstGeom>
          <a:noFill/>
          <a:ln/>
        </p:spPr>
        <p:txBody>
          <a:bodyPr wrap="square" lIns="0" tIns="0" rIns="0" bIns="0" rtlCol="0" anchor="ctr"/>
          <a:lstStyle/>
          <a:p>
            <a:pPr indent="0" marL="0">
              <a:buNone/>
            </a:pPr>
            <a:r>
              <a:rPr lang="en-US" sz="850" dirty="0">
                <a:solidFill>
                  <a:schemeClr val="accent5"/>
                </a:solidFill>
              </a:rPr>
              <a:t>실제 폰에서 장기 사용 확인</a:t>
            </a:r>
            <a:endParaRPr lang="en-US" sz="850" dirty="0"/>
          </a:p>
        </p:txBody>
      </p:sp>
      <p:sp>
        <p:nvSpPr>
          <p:cNvPr id="16" name="Shape 14"/>
          <p:cNvSpPr/>
          <p:nvPr/>
        </p:nvSpPr>
        <p:spPr>
          <a:xfrm>
            <a:off x="457200" y="1645920"/>
            <a:ext cx="8229600" cy="0"/>
          </a:xfrm>
          <a:prstGeom prst="line">
            <a:avLst/>
          </a:prstGeom>
          <a:noFill/>
          <a:ln w="9525">
            <a:solidFill>
              <a:srgbClr val="DCD9D0"/>
            </a:solidFill>
            <a:prstDash val="solid"/>
          </a:ln>
        </p:spPr>
      </p:sp>
      <p:sp>
        <p:nvSpPr>
          <p:cNvPr id="17" name="Text 15"/>
          <p:cNvSpPr txBox="1"/>
          <p:nvPr/>
        </p:nvSpPr>
        <p:spPr>
          <a:xfrm>
            <a:off x="457200" y="1645920"/>
            <a:ext cx="3611880" cy="384048"/>
          </a:xfrm>
          <a:prstGeom prst="rect">
            <a:avLst/>
          </a:prstGeom>
          <a:noFill/>
          <a:ln/>
        </p:spPr>
        <p:txBody>
          <a:bodyPr wrap="square" lIns="0" tIns="0" rIns="0" bIns="0" rtlCol="0" anchor="ctr"/>
          <a:lstStyle/>
          <a:p>
            <a:pPr indent="0" marL="0">
              <a:buNone/>
            </a:pPr>
            <a:r>
              <a:rPr lang="en-US" sz="1000" dirty="0">
                <a:solidFill>
                  <a:schemeClr val="tx1"/>
                </a:solidFill>
              </a:rPr>
              <a:t>캘린더 (예정 vs 실제, 연장 · 대타 · 합의 휴무)</a:t>
            </a:r>
            <a:endParaRPr lang="en-US" sz="1000" dirty="0"/>
          </a:p>
        </p:txBody>
      </p:sp>
      <p:sp>
        <p:nvSpPr>
          <p:cNvPr id="18" name="캘린더 (예정 vs 실제, 연장 · 대타 · 합의 휴무) 바탕"/>
          <p:cNvSpPr/>
          <p:nvPr/>
        </p:nvSpPr>
        <p:spPr>
          <a:xfrm>
            <a:off x="4160520" y="1773936"/>
            <a:ext cx="128016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 합의 휴무) 진행"/>
          <p:cNvSpPr/>
          <p:nvPr/>
        </p:nvSpPr>
        <p:spPr>
          <a:xfrm>
            <a:off x="4160520" y="1773936"/>
            <a:ext cx="1088136"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495544" y="1645920"/>
            <a:ext cx="411480" cy="384048"/>
          </a:xfrm>
          <a:prstGeom prst="rect">
            <a:avLst/>
          </a:prstGeom>
          <a:noFill/>
          <a:ln/>
        </p:spPr>
        <p:txBody>
          <a:bodyPr wrap="square" lIns="0" tIns="0" rIns="0" bIns="0" rtlCol="0" anchor="ctr"/>
          <a:lstStyle/>
          <a:p>
            <a:pPr indent="0" marL="0">
              <a:buNone/>
            </a:pPr>
            <a:r>
              <a:rPr lang="en-US" sz="1000" b="1" dirty="0">
                <a:solidFill>
                  <a:schemeClr val="tx2"/>
                </a:solidFill>
              </a:rPr>
              <a:t>85%</a:t>
            </a:r>
            <a:endParaRPr lang="en-US" sz="1000" dirty="0"/>
          </a:p>
        </p:txBody>
      </p:sp>
      <p:sp>
        <p:nvSpPr>
          <p:cNvPr id="21" name="캘린더 (예정 vs 실제, 연장 · 대타 · 합의 휴무) 확인 0"/>
          <p:cNvSpPr/>
          <p:nvPr/>
        </p:nvSpPr>
        <p:spPr>
          <a:xfrm>
            <a:off x="6044184" y="1755648"/>
            <a:ext cx="164592" cy="164592"/>
          </a:xfrm>
          <a:prstGeom prst="ellipse">
            <a:avLst/>
          </a:prstGeom>
          <a:solidFill>
            <a:schemeClr val="accent1"/>
          </a:solidFill>
          <a:ln w="9525">
            <a:solidFill>
              <a:schemeClr val="accent1"/>
            </a:solidFill>
            <a:prstDash val="solid"/>
          </a:ln>
        </p:spPr>
      </p:sp>
      <p:sp>
        <p:nvSpPr>
          <p:cNvPr id="22" name="캘린더 (예정 vs 실제, 연장 · 대타 · 합의 휴무) 확인 1"/>
          <p:cNvSpPr/>
          <p:nvPr/>
        </p:nvSpPr>
        <p:spPr>
          <a:xfrm>
            <a:off x="6318504" y="1755648"/>
            <a:ext cx="164592" cy="164592"/>
          </a:xfrm>
          <a:prstGeom prst="ellipse">
            <a:avLst/>
          </a:prstGeom>
          <a:solidFill>
            <a:schemeClr val="bg1"/>
          </a:solidFill>
          <a:ln w="9525">
            <a:solidFill>
              <a:srgbClr val="5D636D"/>
            </a:solidFill>
            <a:prstDash val="solid"/>
          </a:ln>
        </p:spPr>
      </p:sp>
      <p:sp>
        <p:nvSpPr>
          <p:cNvPr id="23" name="캘린더 (예정 vs 실제, 연장 · 대타 · 합의 휴무) 확인 2"/>
          <p:cNvSpPr/>
          <p:nvPr/>
        </p:nvSpPr>
        <p:spPr>
          <a:xfrm>
            <a:off x="6592824" y="1755648"/>
            <a:ext cx="164592" cy="164592"/>
          </a:xfrm>
          <a:prstGeom prst="ellipse">
            <a:avLst/>
          </a:prstGeom>
          <a:solidFill>
            <a:schemeClr val="bg1"/>
          </a:solidFill>
          <a:ln w="9525">
            <a:solidFill>
              <a:srgbClr val="5D636D"/>
            </a:solidFill>
            <a:prstDash val="solid"/>
          </a:ln>
        </p:spPr>
      </p:sp>
      <p:sp>
        <p:nvSpPr>
          <p:cNvPr id="24" name="Text 22"/>
          <p:cNvSpPr txBox="1"/>
          <p:nvPr/>
        </p:nvSpPr>
        <p:spPr>
          <a:xfrm>
            <a:off x="6903720" y="1645920"/>
            <a:ext cx="1783080" cy="384048"/>
          </a:xfrm>
          <a:prstGeom prst="rect">
            <a:avLst/>
          </a:prstGeom>
          <a:noFill/>
          <a:ln/>
        </p:spPr>
        <p:txBody>
          <a:bodyPr wrap="square" lIns="0" tIns="0" rIns="0" bIns="0" rtlCol="0" anchor="ctr"/>
          <a:lstStyle/>
          <a:p>
            <a:pPr indent="0" marL="0">
              <a:buNone/>
            </a:pPr>
            <a:r>
              <a:rPr lang="en-US" sz="850" dirty="0">
                <a:solidFill>
                  <a:schemeClr val="accent5"/>
                </a:solidFill>
              </a:rPr>
              <a:t>반복 스케줄 입력 편의</a:t>
            </a:r>
            <a:endParaRPr lang="en-US" sz="850" dirty="0"/>
          </a:p>
        </p:txBody>
      </p:sp>
      <p:sp>
        <p:nvSpPr>
          <p:cNvPr id="25" name="Shape 23"/>
          <p:cNvSpPr/>
          <p:nvPr/>
        </p:nvSpPr>
        <p:spPr>
          <a:xfrm>
            <a:off x="457200" y="2029968"/>
            <a:ext cx="8229600" cy="0"/>
          </a:xfrm>
          <a:prstGeom prst="line">
            <a:avLst/>
          </a:prstGeom>
          <a:noFill/>
          <a:ln w="9525">
            <a:solidFill>
              <a:srgbClr val="DCD9D0"/>
            </a:solidFill>
            <a:prstDash val="solid"/>
          </a:ln>
        </p:spPr>
      </p:sp>
      <p:sp>
        <p:nvSpPr>
          <p:cNvPr id="26" name="Text 24"/>
          <p:cNvSpPr txBox="1"/>
          <p:nvPr/>
        </p:nvSpPr>
        <p:spPr>
          <a:xfrm>
            <a:off x="457200" y="2029968"/>
            <a:ext cx="3611880" cy="384048"/>
          </a:xfrm>
          <a:prstGeom prst="rect">
            <a:avLst/>
          </a:prstGeom>
          <a:noFill/>
          <a:ln/>
        </p:spPr>
        <p:txBody>
          <a:bodyPr wrap="square" lIns="0" tIns="0" rIns="0" bIns="0" rtlCol="0" anchor="ctr"/>
          <a:lstStyle/>
          <a:p>
            <a:pPr indent="0" marL="0">
              <a:buNone/>
            </a:pPr>
            <a:r>
              <a:rPr lang="en-US" sz="1000" dirty="0">
                <a:solidFill>
                  <a:schemeClr val="tx1"/>
                </a:solidFill>
              </a:rPr>
              <a:t>급여 계산 (주휴 · 야간 · 휴게 · 시급 이력 · 연도별 최저임금)</a:t>
            </a:r>
            <a:endParaRPr lang="en-US" sz="1000" dirty="0"/>
          </a:p>
        </p:txBody>
      </p:sp>
      <p:sp>
        <p:nvSpPr>
          <p:cNvPr id="27" name="급여 계산 (주휴 · 야간 · 휴게 · 시급 이력 · 연도별 최저임금) 바탕"/>
          <p:cNvSpPr/>
          <p:nvPr/>
        </p:nvSpPr>
        <p:spPr>
          <a:xfrm>
            <a:off x="4160520" y="2157984"/>
            <a:ext cx="1280160" cy="128016"/>
          </a:xfrm>
          <a:prstGeom prst="roundRect">
            <a:avLst>
              <a:gd name="adj" fmla="val 50000"/>
            </a:avLst>
          </a:prstGeom>
          <a:solidFill>
            <a:schemeClr val="bg2"/>
          </a:solidFill>
          <a:ln w="12700">
            <a:solidFill>
              <a:schemeClr val="bg2"/>
            </a:solidFill>
            <a:prstDash val="solid"/>
          </a:ln>
        </p:spPr>
      </p:sp>
      <p:sp>
        <p:nvSpPr>
          <p:cNvPr id="28" name="급여 계산 (주휴 · 야간 · 휴게 · 시급 이력 · 연도별 최저임금) 진행"/>
          <p:cNvSpPr/>
          <p:nvPr/>
        </p:nvSpPr>
        <p:spPr>
          <a:xfrm>
            <a:off x="4160520" y="2157984"/>
            <a:ext cx="1088136"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495544" y="2029968"/>
            <a:ext cx="411480" cy="384048"/>
          </a:xfrm>
          <a:prstGeom prst="rect">
            <a:avLst/>
          </a:prstGeom>
          <a:noFill/>
          <a:ln/>
        </p:spPr>
        <p:txBody>
          <a:bodyPr wrap="square" lIns="0" tIns="0" rIns="0" bIns="0" rtlCol="0" anchor="ctr"/>
          <a:lstStyle/>
          <a:p>
            <a:pPr indent="0" marL="0">
              <a:buNone/>
            </a:pPr>
            <a:r>
              <a:rPr lang="en-US" sz="1000" b="1" dirty="0">
                <a:solidFill>
                  <a:schemeClr val="tx2"/>
                </a:solidFill>
              </a:rPr>
              <a:t>85%</a:t>
            </a:r>
            <a:endParaRPr lang="en-US" sz="1000" dirty="0"/>
          </a:p>
        </p:txBody>
      </p:sp>
      <p:sp>
        <p:nvSpPr>
          <p:cNvPr id="30" name="급여 계산 (주휴 · 야간 · 휴게 · 시급 이력 · 연도별 최저임금) 확인 0"/>
          <p:cNvSpPr/>
          <p:nvPr/>
        </p:nvSpPr>
        <p:spPr>
          <a:xfrm>
            <a:off x="6044184" y="2139696"/>
            <a:ext cx="164592" cy="164592"/>
          </a:xfrm>
          <a:prstGeom prst="ellipse">
            <a:avLst/>
          </a:prstGeom>
          <a:solidFill>
            <a:schemeClr val="accent1"/>
          </a:solidFill>
          <a:ln w="9525">
            <a:solidFill>
              <a:schemeClr val="accent1"/>
            </a:solidFill>
            <a:prstDash val="solid"/>
          </a:ln>
        </p:spPr>
      </p:sp>
      <p:sp>
        <p:nvSpPr>
          <p:cNvPr id="31" name="급여 계산 (주휴 · 야간 · 휴게 · 시급 이력 · 연도별 최저임금) 확인 1"/>
          <p:cNvSpPr/>
          <p:nvPr/>
        </p:nvSpPr>
        <p:spPr>
          <a:xfrm>
            <a:off x="6318504" y="2139696"/>
            <a:ext cx="164592" cy="164592"/>
          </a:xfrm>
          <a:prstGeom prst="ellipse">
            <a:avLst/>
          </a:prstGeom>
          <a:solidFill>
            <a:schemeClr val="bg1"/>
          </a:solidFill>
          <a:ln w="9525">
            <a:solidFill>
              <a:srgbClr val="5D636D"/>
            </a:solidFill>
            <a:prstDash val="solid"/>
          </a:ln>
        </p:spPr>
      </p:sp>
      <p:sp>
        <p:nvSpPr>
          <p:cNvPr id="32" name="급여 계산 (주휴 · 야간 · 휴게 · 시급 이력 · 연도별 최저임금) 확인 2"/>
          <p:cNvSpPr/>
          <p:nvPr/>
        </p:nvSpPr>
        <p:spPr>
          <a:xfrm>
            <a:off x="6592824" y="2139696"/>
            <a:ext cx="164592" cy="164592"/>
          </a:xfrm>
          <a:prstGeom prst="ellipse">
            <a:avLst/>
          </a:prstGeom>
          <a:solidFill>
            <a:schemeClr val="bg1"/>
          </a:solidFill>
          <a:ln w="9525">
            <a:solidFill>
              <a:srgbClr val="5D636D"/>
            </a:solidFill>
            <a:prstDash val="solid"/>
          </a:ln>
        </p:spPr>
      </p:sp>
      <p:sp>
        <p:nvSpPr>
          <p:cNvPr id="33" name="Text 31"/>
          <p:cNvSpPr txBox="1"/>
          <p:nvPr/>
        </p:nvSpPr>
        <p:spPr>
          <a:xfrm>
            <a:off x="6903720" y="2029968"/>
            <a:ext cx="1783080" cy="384048"/>
          </a:xfrm>
          <a:prstGeom prst="rect">
            <a:avLst/>
          </a:prstGeom>
          <a:noFill/>
          <a:ln/>
        </p:spPr>
        <p:txBody>
          <a:bodyPr wrap="square" lIns="0" tIns="0" rIns="0" bIns="0" rtlCol="0" anchor="ctr"/>
          <a:lstStyle/>
          <a:p>
            <a:pPr indent="0" marL="0">
              <a:buNone/>
            </a:pPr>
            <a:r>
              <a:rPr lang="en-US" sz="850" dirty="0">
                <a:solidFill>
                  <a:schemeClr val="accent5"/>
                </a:solidFill>
              </a:rPr>
              <a:t>연장근로 가산 미반영</a:t>
            </a:r>
            <a:endParaRPr lang="en-US" sz="850" dirty="0"/>
          </a:p>
        </p:txBody>
      </p:sp>
      <p:sp>
        <p:nvSpPr>
          <p:cNvPr id="34" name="Shape 32"/>
          <p:cNvSpPr/>
          <p:nvPr/>
        </p:nvSpPr>
        <p:spPr>
          <a:xfrm>
            <a:off x="457200" y="2414016"/>
            <a:ext cx="8229600" cy="0"/>
          </a:xfrm>
          <a:prstGeom prst="line">
            <a:avLst/>
          </a:prstGeom>
          <a:noFill/>
          <a:ln w="9525">
            <a:solidFill>
              <a:srgbClr val="DCD9D0"/>
            </a:solidFill>
            <a:prstDash val="solid"/>
          </a:ln>
        </p:spPr>
      </p:sp>
      <p:sp>
        <p:nvSpPr>
          <p:cNvPr id="35" name="Text 33"/>
          <p:cNvSpPr txBox="1"/>
          <p:nvPr/>
        </p:nvSpPr>
        <p:spPr>
          <a:xfrm>
            <a:off x="457200" y="2414016"/>
            <a:ext cx="3611880" cy="384048"/>
          </a:xfrm>
          <a:prstGeom prst="rect">
            <a:avLst/>
          </a:prstGeom>
          <a:noFill/>
          <a:ln/>
        </p:spPr>
        <p:txBody>
          <a:bodyPr wrap="square" lIns="0" tIns="0" rIns="0" bIns="0" rtlCol="0" anchor="ctr"/>
          <a:lstStyle/>
          <a:p>
            <a:pPr indent="0" marL="0">
              <a:buNone/>
            </a:pPr>
            <a:r>
              <a:rPr lang="en-US" sz="1000" dirty="0">
                <a:solidFill>
                  <a:schemeClr val="tx1"/>
                </a:solidFill>
              </a:rPr>
              <a:t>입금액 비교 · 차액 알림 (여러 달 합계, 3.3% 세금)</a:t>
            </a:r>
            <a:endParaRPr lang="en-US" sz="1000" dirty="0"/>
          </a:p>
        </p:txBody>
      </p:sp>
      <p:sp>
        <p:nvSpPr>
          <p:cNvPr id="36" name="입금액 비교 · 차액 알림 (여러 달 합계, 3.3% 세금) 바탕"/>
          <p:cNvSpPr/>
          <p:nvPr/>
        </p:nvSpPr>
        <p:spPr>
          <a:xfrm>
            <a:off x="4160520" y="2542032"/>
            <a:ext cx="1280160" cy="128016"/>
          </a:xfrm>
          <a:prstGeom prst="roundRect">
            <a:avLst>
              <a:gd name="adj" fmla="val 50000"/>
            </a:avLst>
          </a:prstGeom>
          <a:solidFill>
            <a:schemeClr val="bg2"/>
          </a:solidFill>
          <a:ln w="12700">
            <a:solidFill>
              <a:schemeClr val="bg2"/>
            </a:solidFill>
            <a:prstDash val="solid"/>
          </a:ln>
        </p:spPr>
      </p:sp>
      <p:sp>
        <p:nvSpPr>
          <p:cNvPr id="37" name="입금액 비교 · 차액 알림 (여러 달 합계, 3.3% 세금) 진행"/>
          <p:cNvSpPr/>
          <p:nvPr/>
        </p:nvSpPr>
        <p:spPr>
          <a:xfrm>
            <a:off x="4160520" y="2542032"/>
            <a:ext cx="1024128"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495544" y="2414016"/>
            <a:ext cx="411480" cy="384048"/>
          </a:xfrm>
          <a:prstGeom prst="rect">
            <a:avLst/>
          </a:prstGeom>
          <a:noFill/>
          <a:ln/>
        </p:spPr>
        <p:txBody>
          <a:bodyPr wrap="square" lIns="0" tIns="0" rIns="0" bIns="0" rtlCol="0" anchor="ctr"/>
          <a:lstStyle/>
          <a:p>
            <a:pPr indent="0" marL="0">
              <a:buNone/>
            </a:pPr>
            <a:r>
              <a:rPr lang="en-US" sz="1000" b="1" dirty="0">
                <a:solidFill>
                  <a:schemeClr val="tx2"/>
                </a:solidFill>
              </a:rPr>
              <a:t>80%</a:t>
            </a:r>
            <a:endParaRPr lang="en-US" sz="1000" dirty="0"/>
          </a:p>
        </p:txBody>
      </p:sp>
      <p:sp>
        <p:nvSpPr>
          <p:cNvPr id="39" name="입금액 비교 · 차액 알림 (여러 달 합계, 3.3% 세금) 확인 0"/>
          <p:cNvSpPr/>
          <p:nvPr/>
        </p:nvSpPr>
        <p:spPr>
          <a:xfrm>
            <a:off x="6044184" y="2523744"/>
            <a:ext cx="164592" cy="164592"/>
          </a:xfrm>
          <a:prstGeom prst="ellipse">
            <a:avLst/>
          </a:prstGeom>
          <a:solidFill>
            <a:schemeClr val="accent1"/>
          </a:solidFill>
          <a:ln w="9525">
            <a:solidFill>
              <a:schemeClr val="accent1"/>
            </a:solidFill>
            <a:prstDash val="solid"/>
          </a:ln>
        </p:spPr>
      </p:sp>
      <p:sp>
        <p:nvSpPr>
          <p:cNvPr id="40" name="입금액 비교 · 차액 알림 (여러 달 합계, 3.3% 세금) 확인 1"/>
          <p:cNvSpPr/>
          <p:nvPr/>
        </p:nvSpPr>
        <p:spPr>
          <a:xfrm>
            <a:off x="6318504" y="2523744"/>
            <a:ext cx="164592" cy="164592"/>
          </a:xfrm>
          <a:prstGeom prst="ellipse">
            <a:avLst/>
          </a:prstGeom>
          <a:solidFill>
            <a:schemeClr val="bg1"/>
          </a:solidFill>
          <a:ln w="9525">
            <a:solidFill>
              <a:srgbClr val="5D636D"/>
            </a:solidFill>
            <a:prstDash val="solid"/>
          </a:ln>
        </p:spPr>
      </p:sp>
      <p:sp>
        <p:nvSpPr>
          <p:cNvPr id="41" name="입금액 비교 · 차액 알림 (여러 달 합계, 3.3% 세금) 확인 2"/>
          <p:cNvSpPr/>
          <p:nvPr/>
        </p:nvSpPr>
        <p:spPr>
          <a:xfrm>
            <a:off x="6592824" y="2523744"/>
            <a:ext cx="164592" cy="164592"/>
          </a:xfrm>
          <a:prstGeom prst="ellipse">
            <a:avLst/>
          </a:prstGeom>
          <a:solidFill>
            <a:schemeClr val="bg1"/>
          </a:solidFill>
          <a:ln w="9525">
            <a:solidFill>
              <a:srgbClr val="5D636D"/>
            </a:solidFill>
            <a:prstDash val="solid"/>
          </a:ln>
        </p:spPr>
      </p:sp>
      <p:sp>
        <p:nvSpPr>
          <p:cNvPr id="42" name="Text 40"/>
          <p:cNvSpPr txBox="1"/>
          <p:nvPr/>
        </p:nvSpPr>
        <p:spPr>
          <a:xfrm>
            <a:off x="6903720" y="2414016"/>
            <a:ext cx="1783080" cy="384048"/>
          </a:xfrm>
          <a:prstGeom prst="rect">
            <a:avLst/>
          </a:prstGeom>
          <a:noFill/>
          <a:ln/>
        </p:spPr>
        <p:txBody>
          <a:bodyPr wrap="square" lIns="0" tIns="0" rIns="0" bIns="0" rtlCol="0" anchor="ctr"/>
          <a:lstStyle/>
          <a:p>
            <a:pPr indent="0" marL="0">
              <a:buNone/>
            </a:pPr>
            <a:r>
              <a:rPr lang="en-US" sz="850" dirty="0">
                <a:solidFill>
                  <a:schemeClr val="accent5"/>
                </a:solidFill>
              </a:rPr>
              <a:t>입금 문자 · 명세서 사진 자동 인식은 보류</a:t>
            </a:r>
            <a:endParaRPr lang="en-US" sz="850" dirty="0"/>
          </a:p>
        </p:txBody>
      </p:sp>
      <p:sp>
        <p:nvSpPr>
          <p:cNvPr id="43" name="Shape 41"/>
          <p:cNvSpPr/>
          <p:nvPr/>
        </p:nvSpPr>
        <p:spPr>
          <a:xfrm>
            <a:off x="457200" y="2798064"/>
            <a:ext cx="8229600" cy="0"/>
          </a:xfrm>
          <a:prstGeom prst="line">
            <a:avLst/>
          </a:prstGeom>
          <a:noFill/>
          <a:ln w="9525">
            <a:solidFill>
              <a:srgbClr val="DCD9D0"/>
            </a:solidFill>
            <a:prstDash val="solid"/>
          </a:ln>
        </p:spPr>
      </p:sp>
      <p:sp>
        <p:nvSpPr>
          <p:cNvPr id="44" name="Text 42"/>
          <p:cNvSpPr txBox="1"/>
          <p:nvPr/>
        </p:nvSpPr>
        <p:spPr>
          <a:xfrm>
            <a:off x="457200" y="2798064"/>
            <a:ext cx="3611880" cy="384048"/>
          </a:xfrm>
          <a:prstGeom prst="rect">
            <a:avLst/>
          </a:prstGeom>
          <a:noFill/>
          <a:ln/>
        </p:spPr>
        <p:txBody>
          <a:bodyPr wrap="square" lIns="0" tIns="0" rIns="0" bIns="0" rtlCol="0" anchor="ctr"/>
          <a:lstStyle/>
          <a:p>
            <a:pPr indent="0" marL="0">
              <a:buNone/>
            </a:pPr>
            <a:r>
              <a:rPr lang="en-US" sz="1000" dirty="0">
                <a:solidFill>
                  <a:schemeClr val="tx1"/>
                </a:solidFill>
              </a:rPr>
              <a:t>단계별 정산 요청 (메시지 · 내용증명 · 진정 안내, 보낸 날짜)</a:t>
            </a:r>
            <a:endParaRPr lang="en-US" sz="1000" dirty="0"/>
          </a:p>
        </p:txBody>
      </p:sp>
      <p:sp>
        <p:nvSpPr>
          <p:cNvPr id="45" name="단계별 정산 요청 (메시지 · 내용증명 · 진정 안내, 보낸 날짜) 바탕"/>
          <p:cNvSpPr/>
          <p:nvPr/>
        </p:nvSpPr>
        <p:spPr>
          <a:xfrm>
            <a:off x="4160520" y="2926080"/>
            <a:ext cx="1280160" cy="128016"/>
          </a:xfrm>
          <a:prstGeom prst="roundRect">
            <a:avLst>
              <a:gd name="adj" fmla="val 50000"/>
            </a:avLst>
          </a:prstGeom>
          <a:solidFill>
            <a:schemeClr val="bg2"/>
          </a:solidFill>
          <a:ln w="12700">
            <a:solidFill>
              <a:schemeClr val="bg2"/>
            </a:solidFill>
            <a:prstDash val="solid"/>
          </a:ln>
        </p:spPr>
      </p:sp>
      <p:sp>
        <p:nvSpPr>
          <p:cNvPr id="46" name="단계별 정산 요청 (메시지 · 내용증명 · 진정 안내, 보낸 날짜) 진행"/>
          <p:cNvSpPr/>
          <p:nvPr/>
        </p:nvSpPr>
        <p:spPr>
          <a:xfrm>
            <a:off x="4160520" y="2926080"/>
            <a:ext cx="96012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495544" y="2798064"/>
            <a:ext cx="411480" cy="384048"/>
          </a:xfrm>
          <a:prstGeom prst="rect">
            <a:avLst/>
          </a:prstGeom>
          <a:noFill/>
          <a:ln/>
        </p:spPr>
        <p:txBody>
          <a:bodyPr wrap="square" lIns="0" tIns="0" rIns="0" bIns="0" rtlCol="0" anchor="ctr"/>
          <a:lstStyle/>
          <a:p>
            <a:pPr indent="0" marL="0">
              <a:buNone/>
            </a:pPr>
            <a:r>
              <a:rPr lang="en-US" sz="1000" b="1" dirty="0">
                <a:solidFill>
                  <a:schemeClr val="tx2"/>
                </a:solidFill>
              </a:rPr>
              <a:t>75%</a:t>
            </a:r>
            <a:endParaRPr lang="en-US" sz="1000" dirty="0"/>
          </a:p>
        </p:txBody>
      </p:sp>
      <p:sp>
        <p:nvSpPr>
          <p:cNvPr id="48" name="단계별 정산 요청 (메시지 · 내용증명 · 진정 안내, 보낸 날짜) 확인 0"/>
          <p:cNvSpPr/>
          <p:nvPr/>
        </p:nvSpPr>
        <p:spPr>
          <a:xfrm>
            <a:off x="6044184" y="2907792"/>
            <a:ext cx="164592" cy="164592"/>
          </a:xfrm>
          <a:prstGeom prst="ellipse">
            <a:avLst/>
          </a:prstGeom>
          <a:solidFill>
            <a:schemeClr val="accent1"/>
          </a:solidFill>
          <a:ln w="9525">
            <a:solidFill>
              <a:schemeClr val="accent1"/>
            </a:solidFill>
            <a:prstDash val="solid"/>
          </a:ln>
        </p:spPr>
      </p:sp>
      <p:sp>
        <p:nvSpPr>
          <p:cNvPr id="49" name="단계별 정산 요청 (메시지 · 내용증명 · 진정 안내, 보낸 날짜) 확인 1"/>
          <p:cNvSpPr/>
          <p:nvPr/>
        </p:nvSpPr>
        <p:spPr>
          <a:xfrm>
            <a:off x="6318504" y="2907792"/>
            <a:ext cx="164592" cy="164592"/>
          </a:xfrm>
          <a:prstGeom prst="ellipse">
            <a:avLst/>
          </a:prstGeom>
          <a:solidFill>
            <a:schemeClr val="bg1"/>
          </a:solidFill>
          <a:ln w="9525">
            <a:solidFill>
              <a:srgbClr val="5D636D"/>
            </a:solidFill>
            <a:prstDash val="solid"/>
          </a:ln>
        </p:spPr>
      </p:sp>
      <p:sp>
        <p:nvSpPr>
          <p:cNvPr id="50" name="단계별 정산 요청 (메시지 · 내용증명 · 진정 안내, 보낸 날짜) 확인 2"/>
          <p:cNvSpPr/>
          <p:nvPr/>
        </p:nvSpPr>
        <p:spPr>
          <a:xfrm>
            <a:off x="6592824" y="2907792"/>
            <a:ext cx="164592" cy="164592"/>
          </a:xfrm>
          <a:prstGeom prst="ellipse">
            <a:avLst/>
          </a:prstGeom>
          <a:solidFill>
            <a:schemeClr val="bg1"/>
          </a:solidFill>
          <a:ln w="9525">
            <a:solidFill>
              <a:srgbClr val="5D636D"/>
            </a:solidFill>
            <a:prstDash val="solid"/>
          </a:ln>
        </p:spPr>
      </p:sp>
      <p:sp>
        <p:nvSpPr>
          <p:cNvPr id="51" name="Text 49"/>
          <p:cNvSpPr txBox="1"/>
          <p:nvPr/>
        </p:nvSpPr>
        <p:spPr>
          <a:xfrm>
            <a:off x="6903720" y="2798064"/>
            <a:ext cx="1783080" cy="384048"/>
          </a:xfrm>
          <a:prstGeom prst="rect">
            <a:avLst/>
          </a:prstGeom>
          <a:noFill/>
          <a:ln/>
        </p:spPr>
        <p:txBody>
          <a:bodyPr wrap="square" lIns="0" tIns="0" rIns="0" bIns="0" rtlCol="0" anchor="ctr"/>
          <a:lstStyle/>
          <a:p>
            <a:pPr indent="0" marL="0">
              <a:buNone/>
            </a:pPr>
            <a:r>
              <a:rPr lang="en-US" sz="850" dirty="0">
                <a:solidFill>
                  <a:schemeClr val="accent5"/>
                </a:solidFill>
              </a:rPr>
              <a:t>문구 톤 사용자 검증, AI 문구는 선택</a:t>
            </a:r>
            <a:endParaRPr lang="en-US" sz="850" dirty="0"/>
          </a:p>
        </p:txBody>
      </p:sp>
      <p:sp>
        <p:nvSpPr>
          <p:cNvPr id="52" name="Shape 50"/>
          <p:cNvSpPr/>
          <p:nvPr/>
        </p:nvSpPr>
        <p:spPr>
          <a:xfrm>
            <a:off x="457200" y="3182112"/>
            <a:ext cx="8229600" cy="0"/>
          </a:xfrm>
          <a:prstGeom prst="line">
            <a:avLst/>
          </a:prstGeom>
          <a:noFill/>
          <a:ln w="9525">
            <a:solidFill>
              <a:srgbClr val="DCD9D0"/>
            </a:solidFill>
            <a:prstDash val="solid"/>
          </a:ln>
        </p:spPr>
      </p:sp>
      <p:sp>
        <p:nvSpPr>
          <p:cNvPr id="53" name="Text 51"/>
          <p:cNvSpPr txBox="1"/>
          <p:nvPr/>
        </p:nvSpPr>
        <p:spPr>
          <a:xfrm>
            <a:off x="457200" y="3182112"/>
            <a:ext cx="3611880" cy="384048"/>
          </a:xfrm>
          <a:prstGeom prst="rect">
            <a:avLst/>
          </a:prstGeom>
          <a:noFill/>
          <a:ln/>
        </p:spPr>
        <p:txBody>
          <a:bodyPr wrap="square" lIns="0" tIns="0" rIns="0" bIns="0" rtlCol="0" anchor="ctr"/>
          <a:lstStyle/>
          <a:p>
            <a:pPr indent="0" marL="0">
              <a:buNone/>
            </a:pPr>
            <a:r>
              <a:rPr lang="en-US" sz="1000" dirty="0">
                <a:solidFill>
                  <a:schemeClr val="tx1"/>
                </a:solidFill>
              </a:rPr>
              <a:t>증빙 묶음 PDF (7개 항목, 첨부 사진)</a:t>
            </a:r>
            <a:endParaRPr lang="en-US" sz="1000" dirty="0"/>
          </a:p>
        </p:txBody>
      </p:sp>
      <p:sp>
        <p:nvSpPr>
          <p:cNvPr id="54" name="증빙 묶음 PDF (7개 항목, 첨부 사진) 바탕"/>
          <p:cNvSpPr/>
          <p:nvPr/>
        </p:nvSpPr>
        <p:spPr>
          <a:xfrm>
            <a:off x="4160520" y="3310128"/>
            <a:ext cx="1280160" cy="128016"/>
          </a:xfrm>
          <a:prstGeom prst="roundRect">
            <a:avLst>
              <a:gd name="adj" fmla="val 50000"/>
            </a:avLst>
          </a:prstGeom>
          <a:solidFill>
            <a:schemeClr val="bg2"/>
          </a:solidFill>
          <a:ln w="12700">
            <a:solidFill>
              <a:schemeClr val="bg2"/>
            </a:solidFill>
            <a:prstDash val="solid"/>
          </a:ln>
        </p:spPr>
      </p:sp>
      <p:sp>
        <p:nvSpPr>
          <p:cNvPr id="55" name="증빙 묶음 PDF (7개 항목, 첨부 사진) 진행"/>
          <p:cNvSpPr/>
          <p:nvPr/>
        </p:nvSpPr>
        <p:spPr>
          <a:xfrm>
            <a:off x="4160520" y="3310128"/>
            <a:ext cx="1024128"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495544" y="3182112"/>
            <a:ext cx="411480" cy="384048"/>
          </a:xfrm>
          <a:prstGeom prst="rect">
            <a:avLst/>
          </a:prstGeom>
          <a:noFill/>
          <a:ln/>
        </p:spPr>
        <p:txBody>
          <a:bodyPr wrap="square" lIns="0" tIns="0" rIns="0" bIns="0" rtlCol="0" anchor="ctr"/>
          <a:lstStyle/>
          <a:p>
            <a:pPr indent="0" marL="0">
              <a:buNone/>
            </a:pPr>
            <a:r>
              <a:rPr lang="en-US" sz="1000" b="1" dirty="0">
                <a:solidFill>
                  <a:schemeClr val="tx2"/>
                </a:solidFill>
              </a:rPr>
              <a:t>80%</a:t>
            </a:r>
            <a:endParaRPr lang="en-US" sz="1000" dirty="0"/>
          </a:p>
        </p:txBody>
      </p:sp>
      <p:sp>
        <p:nvSpPr>
          <p:cNvPr id="57" name="증빙 묶음 PDF (7개 항목, 첨부 사진) 확인 0"/>
          <p:cNvSpPr/>
          <p:nvPr/>
        </p:nvSpPr>
        <p:spPr>
          <a:xfrm>
            <a:off x="6044184" y="3291840"/>
            <a:ext cx="164592" cy="164592"/>
          </a:xfrm>
          <a:prstGeom prst="ellipse">
            <a:avLst/>
          </a:prstGeom>
          <a:solidFill>
            <a:schemeClr val="accent1"/>
          </a:solidFill>
          <a:ln w="9525">
            <a:solidFill>
              <a:schemeClr val="accent1"/>
            </a:solidFill>
            <a:prstDash val="solid"/>
          </a:ln>
        </p:spPr>
      </p:sp>
      <p:sp>
        <p:nvSpPr>
          <p:cNvPr id="58" name="증빙 묶음 PDF (7개 항목, 첨부 사진) 확인 1"/>
          <p:cNvSpPr/>
          <p:nvPr/>
        </p:nvSpPr>
        <p:spPr>
          <a:xfrm>
            <a:off x="6318504" y="3291840"/>
            <a:ext cx="164592" cy="164592"/>
          </a:xfrm>
          <a:prstGeom prst="ellipse">
            <a:avLst/>
          </a:prstGeom>
          <a:solidFill>
            <a:schemeClr val="bg1"/>
          </a:solidFill>
          <a:ln w="9525">
            <a:solidFill>
              <a:srgbClr val="5D636D"/>
            </a:solidFill>
            <a:prstDash val="solid"/>
          </a:ln>
        </p:spPr>
      </p:sp>
      <p:sp>
        <p:nvSpPr>
          <p:cNvPr id="59" name="증빙 묶음 PDF (7개 항목, 첨부 사진) 확인 2"/>
          <p:cNvSpPr/>
          <p:nvPr/>
        </p:nvSpPr>
        <p:spPr>
          <a:xfrm>
            <a:off x="6592824" y="3291840"/>
            <a:ext cx="164592" cy="164592"/>
          </a:xfrm>
          <a:prstGeom prst="ellipse">
            <a:avLst/>
          </a:prstGeom>
          <a:solidFill>
            <a:schemeClr val="bg1"/>
          </a:solidFill>
          <a:ln w="9525">
            <a:solidFill>
              <a:srgbClr val="5D636D"/>
            </a:solidFill>
            <a:prstDash val="solid"/>
          </a:ln>
        </p:spPr>
      </p:sp>
      <p:sp>
        <p:nvSpPr>
          <p:cNvPr id="60" name="Text 58"/>
          <p:cNvSpPr txBox="1"/>
          <p:nvPr/>
        </p:nvSpPr>
        <p:spPr>
          <a:xfrm>
            <a:off x="6903720" y="3182112"/>
            <a:ext cx="1783080" cy="384048"/>
          </a:xfrm>
          <a:prstGeom prst="rect">
            <a:avLst/>
          </a:prstGeom>
          <a:noFill/>
          <a:ln/>
        </p:spPr>
        <p:txBody>
          <a:bodyPr wrap="square" lIns="0" tIns="0" rIns="0" bIns="0" rtlCol="0" anchor="ctr"/>
          <a:lstStyle/>
          <a:p>
            <a:pPr indent="0" marL="0">
              <a:buNone/>
            </a:pPr>
            <a:r>
              <a:rPr lang="en-US" sz="850" dirty="0">
                <a:solidFill>
                  <a:schemeClr val="accent5"/>
                </a:solidFill>
              </a:rPr>
              <a:t>실제 폰에서 PDF 저장 확인</a:t>
            </a:r>
            <a:endParaRPr lang="en-US" sz="850" dirty="0"/>
          </a:p>
        </p:txBody>
      </p:sp>
      <p:sp>
        <p:nvSpPr>
          <p:cNvPr id="61" name="Shape 59"/>
          <p:cNvSpPr/>
          <p:nvPr/>
        </p:nvSpPr>
        <p:spPr>
          <a:xfrm>
            <a:off x="457200" y="3566160"/>
            <a:ext cx="8229600" cy="0"/>
          </a:xfrm>
          <a:prstGeom prst="line">
            <a:avLst/>
          </a:prstGeom>
          <a:noFill/>
          <a:ln w="9525">
            <a:solidFill>
              <a:srgbClr val="DCD9D0"/>
            </a:solidFill>
            <a:prstDash val="solid"/>
          </a:ln>
        </p:spPr>
      </p:sp>
      <p:sp>
        <p:nvSpPr>
          <p:cNvPr id="62" name="Text 60"/>
          <p:cNvSpPr txBox="1"/>
          <p:nvPr/>
        </p:nvSpPr>
        <p:spPr>
          <a:xfrm>
            <a:off x="457200" y="3566160"/>
            <a:ext cx="3611880" cy="384048"/>
          </a:xfrm>
          <a:prstGeom prst="rect">
            <a:avLst/>
          </a:prstGeom>
          <a:noFill/>
          <a:ln/>
        </p:spPr>
        <p:txBody>
          <a:bodyPr wrap="square" lIns="0" tIns="0" rIns="0" bIns="0" rtlCol="0" anchor="ctr"/>
          <a:lstStyle/>
          <a:p>
            <a:pPr indent="0" marL="0">
              <a:buNone/>
            </a:pPr>
            <a:r>
              <a:rPr lang="en-US" sz="1000" dirty="0">
                <a:solidFill>
                  <a:schemeClr val="tx1"/>
                </a:solidFill>
              </a:rPr>
              <a:t>기록 등록 (확인 번호 · 등록 시각, 확인 페이지)</a:t>
            </a:r>
            <a:endParaRPr lang="en-US" sz="1000" dirty="0"/>
          </a:p>
        </p:txBody>
      </p:sp>
      <p:sp>
        <p:nvSpPr>
          <p:cNvPr id="63" name="기록 등록 (확인 번호 · 등록 시각, 확인 페이지) 바탕"/>
          <p:cNvSpPr/>
          <p:nvPr/>
        </p:nvSpPr>
        <p:spPr>
          <a:xfrm>
            <a:off x="4160520" y="3694176"/>
            <a:ext cx="128016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확인 페이지) 진행"/>
          <p:cNvSpPr/>
          <p:nvPr/>
        </p:nvSpPr>
        <p:spPr>
          <a:xfrm>
            <a:off x="4160520" y="3694176"/>
            <a:ext cx="896112"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495544" y="3566160"/>
            <a:ext cx="411480" cy="384048"/>
          </a:xfrm>
          <a:prstGeom prst="rect">
            <a:avLst/>
          </a:prstGeom>
          <a:noFill/>
          <a:ln/>
        </p:spPr>
        <p:txBody>
          <a:bodyPr wrap="square" lIns="0" tIns="0" rIns="0" bIns="0" rtlCol="0" anchor="ctr"/>
          <a:lstStyle/>
          <a:p>
            <a:pPr indent="0" marL="0">
              <a:buNone/>
            </a:pPr>
            <a:r>
              <a:rPr lang="en-US" sz="1000" b="1" dirty="0">
                <a:solidFill>
                  <a:schemeClr val="tx2"/>
                </a:solidFill>
              </a:rPr>
              <a:t>70%</a:t>
            </a:r>
            <a:endParaRPr lang="en-US" sz="1000" dirty="0"/>
          </a:p>
        </p:txBody>
      </p:sp>
      <p:sp>
        <p:nvSpPr>
          <p:cNvPr id="66" name="기록 등록 (확인 번호 · 등록 시각, 확인 페이지) 확인 0"/>
          <p:cNvSpPr/>
          <p:nvPr/>
        </p:nvSpPr>
        <p:spPr>
          <a:xfrm>
            <a:off x="6044184" y="3675888"/>
            <a:ext cx="164592" cy="164592"/>
          </a:xfrm>
          <a:prstGeom prst="ellipse">
            <a:avLst/>
          </a:prstGeom>
          <a:solidFill>
            <a:schemeClr val="accent1"/>
          </a:solidFill>
          <a:ln w="9525">
            <a:solidFill>
              <a:schemeClr val="accent1"/>
            </a:solidFill>
            <a:prstDash val="solid"/>
          </a:ln>
        </p:spPr>
      </p:sp>
      <p:sp>
        <p:nvSpPr>
          <p:cNvPr id="67" name="기록 등록 (확인 번호 · 등록 시각, 확인 페이지) 확인 1"/>
          <p:cNvSpPr/>
          <p:nvPr/>
        </p:nvSpPr>
        <p:spPr>
          <a:xfrm>
            <a:off x="6318504" y="3675888"/>
            <a:ext cx="164592" cy="164592"/>
          </a:xfrm>
          <a:prstGeom prst="ellipse">
            <a:avLst/>
          </a:prstGeom>
          <a:solidFill>
            <a:schemeClr val="bg1"/>
          </a:solidFill>
          <a:ln w="9525">
            <a:solidFill>
              <a:srgbClr val="5D636D"/>
            </a:solidFill>
            <a:prstDash val="solid"/>
          </a:ln>
        </p:spPr>
      </p:sp>
      <p:sp>
        <p:nvSpPr>
          <p:cNvPr id="68" name="기록 등록 (확인 번호 · 등록 시각, 확인 페이지) 확인 2"/>
          <p:cNvSpPr/>
          <p:nvPr/>
        </p:nvSpPr>
        <p:spPr>
          <a:xfrm>
            <a:off x="6592824" y="3675888"/>
            <a:ext cx="164592" cy="164592"/>
          </a:xfrm>
          <a:prstGeom prst="ellipse">
            <a:avLst/>
          </a:prstGeom>
          <a:solidFill>
            <a:schemeClr val="bg1"/>
          </a:solidFill>
          <a:ln w="9525">
            <a:solidFill>
              <a:srgbClr val="5D636D"/>
            </a:solidFill>
            <a:prstDash val="solid"/>
          </a:ln>
        </p:spPr>
      </p:sp>
      <p:sp>
        <p:nvSpPr>
          <p:cNvPr id="69" name="Text 67"/>
          <p:cNvSpPr txBox="1"/>
          <p:nvPr/>
        </p:nvSpPr>
        <p:spPr>
          <a:xfrm>
            <a:off x="6903720" y="3566160"/>
            <a:ext cx="1783080" cy="384048"/>
          </a:xfrm>
          <a:prstGeom prst="rect">
            <a:avLst/>
          </a:prstGeom>
          <a:noFill/>
          <a:ln/>
        </p:spPr>
        <p:txBody>
          <a:bodyPr wrap="square" lIns="0" tIns="0" rIns="0" bIns="0" rtlCol="0" anchor="ctr"/>
          <a:lstStyle/>
          <a:p>
            <a:pPr indent="0" marL="0">
              <a:buNone/>
            </a:pPr>
            <a:r>
              <a:rPr lang="en-US" sz="850" dirty="0">
                <a:solidFill>
                  <a:schemeClr val="accent5"/>
                </a:solidFill>
              </a:rPr>
              <a:t>제3자가 내용으로 번호를 다시 계산하는 방법</a:t>
            </a:r>
            <a:endParaRPr lang="en-US" sz="850" dirty="0"/>
          </a:p>
        </p:txBody>
      </p:sp>
      <p:sp>
        <p:nvSpPr>
          <p:cNvPr id="70" name="Shape 68"/>
          <p:cNvSpPr/>
          <p:nvPr/>
        </p:nvSpPr>
        <p:spPr>
          <a:xfrm>
            <a:off x="457200" y="3950208"/>
            <a:ext cx="8229600" cy="0"/>
          </a:xfrm>
          <a:prstGeom prst="line">
            <a:avLst/>
          </a:prstGeom>
          <a:noFill/>
          <a:ln w="9525">
            <a:solidFill>
              <a:srgbClr val="DCD9D0"/>
            </a:solidFill>
            <a:prstDash val="solid"/>
          </a:ln>
        </p:spPr>
      </p:sp>
      <p:sp>
        <p:nvSpPr>
          <p:cNvPr id="71" name="Text 69"/>
          <p:cNvSpPr txBox="1"/>
          <p:nvPr/>
        </p:nvSpPr>
        <p:spPr>
          <a:xfrm>
            <a:off x="457200" y="3950208"/>
            <a:ext cx="3611880" cy="384048"/>
          </a:xfrm>
          <a:prstGeom prst="rect">
            <a:avLst/>
          </a:prstGeom>
          <a:noFill/>
          <a:ln/>
        </p:spPr>
        <p:txBody>
          <a:bodyPr wrap="square" lIns="0" tIns="0" rIns="0" bIns="0" rtlCol="0" anchor="ctr"/>
          <a:lstStyle/>
          <a:p>
            <a:pPr indent="0" marL="0">
              <a:buNone/>
            </a:pPr>
            <a:r>
              <a:rPr lang="en-US" sz="1000" dirty="0">
                <a:solidFill>
                  <a:schemeClr val="tx1"/>
                </a:solidFill>
              </a:rPr>
              <a:t>기록 백업 · 불러오기</a:t>
            </a:r>
            <a:endParaRPr lang="en-US" sz="1000" dirty="0"/>
          </a:p>
        </p:txBody>
      </p:sp>
      <p:sp>
        <p:nvSpPr>
          <p:cNvPr id="72" name="기록 백업 · 불러오기 바탕"/>
          <p:cNvSpPr/>
          <p:nvPr/>
        </p:nvSpPr>
        <p:spPr>
          <a:xfrm>
            <a:off x="4160520" y="4078224"/>
            <a:ext cx="128016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4160520" y="4078224"/>
            <a:ext cx="1024128"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495544" y="3950208"/>
            <a:ext cx="411480" cy="384048"/>
          </a:xfrm>
          <a:prstGeom prst="rect">
            <a:avLst/>
          </a:prstGeom>
          <a:noFill/>
          <a:ln/>
        </p:spPr>
        <p:txBody>
          <a:bodyPr wrap="square" lIns="0" tIns="0" rIns="0" bIns="0" rtlCol="0" anchor="ctr"/>
          <a:lstStyle/>
          <a:p>
            <a:pPr indent="0" marL="0">
              <a:buNone/>
            </a:pPr>
            <a:r>
              <a:rPr lang="en-US" sz="1000" b="1" dirty="0">
                <a:solidFill>
                  <a:schemeClr val="tx2"/>
                </a:solidFill>
              </a:rPr>
              <a:t>80%</a:t>
            </a:r>
            <a:endParaRPr lang="en-US" sz="1000" dirty="0"/>
          </a:p>
        </p:txBody>
      </p:sp>
      <p:sp>
        <p:nvSpPr>
          <p:cNvPr id="75" name="기록 백업 · 불러오기 확인 0"/>
          <p:cNvSpPr/>
          <p:nvPr/>
        </p:nvSpPr>
        <p:spPr>
          <a:xfrm>
            <a:off x="6044184" y="4059936"/>
            <a:ext cx="164592" cy="164592"/>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318504" y="4059936"/>
            <a:ext cx="164592" cy="164592"/>
          </a:xfrm>
          <a:prstGeom prst="ellipse">
            <a:avLst/>
          </a:prstGeom>
          <a:solidFill>
            <a:schemeClr val="bg1"/>
          </a:solidFill>
          <a:ln w="9525">
            <a:solidFill>
              <a:srgbClr val="5D636D"/>
            </a:solidFill>
            <a:prstDash val="solid"/>
          </a:ln>
        </p:spPr>
      </p:sp>
      <p:sp>
        <p:nvSpPr>
          <p:cNvPr id="77" name="기록 백업 · 불러오기 확인 2"/>
          <p:cNvSpPr/>
          <p:nvPr/>
        </p:nvSpPr>
        <p:spPr>
          <a:xfrm>
            <a:off x="6592824" y="4059936"/>
            <a:ext cx="164592" cy="164592"/>
          </a:xfrm>
          <a:prstGeom prst="ellipse">
            <a:avLst/>
          </a:prstGeom>
          <a:solidFill>
            <a:schemeClr val="bg1"/>
          </a:solidFill>
          <a:ln w="9525">
            <a:solidFill>
              <a:srgbClr val="5D636D"/>
            </a:solidFill>
            <a:prstDash val="solid"/>
          </a:ln>
        </p:spPr>
      </p:sp>
      <p:sp>
        <p:nvSpPr>
          <p:cNvPr id="78" name="Text 76"/>
          <p:cNvSpPr txBox="1"/>
          <p:nvPr/>
        </p:nvSpPr>
        <p:spPr>
          <a:xfrm>
            <a:off x="6903720" y="3950208"/>
            <a:ext cx="1783080" cy="384048"/>
          </a:xfrm>
          <a:prstGeom prst="rect">
            <a:avLst/>
          </a:prstGeom>
          <a:noFill/>
          <a:ln/>
        </p:spPr>
        <p:txBody>
          <a:bodyPr wrap="square" lIns="0" tIns="0" rIns="0" bIns="0" rtlCol="0" anchor="ctr"/>
          <a:lstStyle/>
          <a:p>
            <a:pPr indent="0" marL="0">
              <a:buNone/>
            </a:pPr>
            <a:r>
              <a:rPr lang="en-US" sz="850" dirty="0">
                <a:solidFill>
                  <a:schemeClr val="accent5"/>
                </a:solidFill>
              </a:rPr>
              <a:t>실제 폰에서 파일 저장 확인</a:t>
            </a:r>
            <a:endParaRPr lang="en-US" sz="850" dirty="0"/>
          </a:p>
        </p:txBody>
      </p:sp>
      <p:sp>
        <p:nvSpPr>
          <p:cNvPr id="79" name="Shape 77"/>
          <p:cNvSpPr/>
          <p:nvPr/>
        </p:nvSpPr>
        <p:spPr>
          <a:xfrm>
            <a:off x="457200" y="4334256"/>
            <a:ext cx="8229600" cy="0"/>
          </a:xfrm>
          <a:prstGeom prst="line">
            <a:avLst/>
          </a:prstGeom>
          <a:noFill/>
          <a:ln w="9525">
            <a:solidFill>
              <a:srgbClr val="DCD9D0"/>
            </a:solidFill>
            <a:prstDash val="solid"/>
          </a:ln>
        </p:spPr>
      </p:sp>
      <p:sp>
        <p:nvSpPr>
          <p:cNvPr id="80" name="Text 78"/>
          <p:cNvSpPr txBox="1"/>
          <p:nvPr/>
        </p:nvSpPr>
        <p:spPr>
          <a:xfrm>
            <a:off x="457200" y="4389120"/>
            <a:ext cx="8229600" cy="384048"/>
          </a:xfrm>
          <a:prstGeom prst="rect">
            <a:avLst/>
          </a:prstGeom>
          <a:noFill/>
          <a:ln/>
        </p:spPr>
        <p:txBody>
          <a:bodyPr wrap="square" lIns="0" tIns="0" rIns="0" bIns="0" rtlCol="0" anchor="t"/>
          <a:lstStyle/>
          <a:p>
            <a:pPr indent="0" marL="0">
              <a:spcAft>
                <a:spcPts val="100"/>
              </a:spcAft>
              <a:buNone/>
            </a:pPr>
            <a:r>
              <a:rPr lang="en-US" sz="850" b="1" dirty="0">
                <a:solidFill>
                  <a:schemeClr val="tx2"/>
                </a:solidFill>
              </a:rPr>
              <a:t>계획 기준  </a:t>
            </a:r>
            <a:pPr indent="0" marL="0">
              <a:spcAft>
                <a:spcPts val="100"/>
              </a:spcAft>
              <a:buNone/>
            </a:pPr>
            <a:r>
              <a:rPr lang="en-US" sz="850" dirty="0">
                <a:solidFill>
                  <a:schemeClr val="tx1"/>
                </a:solidFill>
              </a:rPr>
              <a:t>10/13 MVP 기능 정의서의 포함 기능 8개(모두 동작)와 제외 기능 6개(금액 자동 인식 · 푸시 알림 · AI 문구 · 광고 · 로그인 · 진정서. 계획대로 넣지 않음)</a:t>
            </a:r>
            <a:endParaRPr lang="en-US" sz="850" dirty="0"/>
          </a:p>
          <a:p>
            <a:pPr indent="0" marL="0">
              <a:spcAft>
                <a:spcPts val="100"/>
              </a:spcAft>
              <a:buNone/>
            </a:pPr>
            <a:r>
              <a:rPr lang="en-US" sz="850" b="1" dirty="0">
                <a:solidFill>
                  <a:schemeClr val="tx2"/>
                </a:solidFill>
              </a:rPr>
              <a:t>% 기준  </a:t>
            </a:r>
            <a:pPr indent="0" marL="0">
              <a:spcAft>
                <a:spcPts val="100"/>
              </a:spcAft>
              <a:buNone/>
            </a:pPr>
            <a:r>
              <a:rPr lang="en-US" sz="850" dirty="0">
                <a:solidFill>
                  <a:schemeClr val="tx1"/>
                </a:solidFill>
              </a:rPr>
              <a:t>구현 + 실제 폰 확인 + 사용자 검증을 100으로 보고 남은 일만큼 뺀 자체 평가. 동작은 컴퓨터(폰 크기 화면)에서, 실제 폰은 설치까지 확인</a:t>
            </a:r>
            <a:endParaRPr lang="en-US" sz="8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음식점이 여기에</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950" b="1" dirty="0">
                <a:solidFill>
                  <a:schemeClr val="tx2"/>
                </a:solidFill>
              </a:rPr>
              <a:t>타겟 규모(어림)  </a:t>
            </a:r>
            <a:pPr indent="0" marL="0">
              <a:spcAft>
                <a:spcPts val="100"/>
              </a:spcAft>
              <a:buNone/>
            </a:pPr>
            <a:r>
              <a:rPr lang="en-US" sz="950" dirty="0">
                <a:solidFill>
                  <a:schemeClr val="tx1"/>
                </a:solidFill>
              </a:rPr>
              <a:t>재적학생 307만 명(교육부 2026, 대학원 포함) → 알바 경험 67~88%(학교 단위 조사, 대표값 아님) → 지금 알바 중 · 주 15시간 이상: 미상, 11월 설문으로. 경험 기준 상한 약 210~270만 명</a:t>
            </a:r>
            <a:endParaRPr lang="en-US" sz="950" dirty="0"/>
          </a:p>
          <a:p>
            <a:pPr indent="0" marL="0">
              <a:spcAft>
                <a:spcPts val="100"/>
              </a:spcAft>
              <a:buNone/>
            </a:pPr>
            <a:r>
              <a:rPr lang="en-US" sz="950" b="1" dirty="0">
                <a:solidFill>
                  <a:schemeClr val="tx2"/>
                </a:solidFill>
              </a:rPr>
              <a:t>타이밍  </a:t>
            </a:r>
            <a:pPr indent="0" marL="0">
              <a:spcAft>
                <a:spcPts val="100"/>
              </a:spcAft>
              <a:buNone/>
            </a:pPr>
            <a:r>
              <a:rPr lang="en-US" sz="950" dirty="0">
                <a:solidFill>
                  <a:schemeClr val="tx1"/>
                </a:solidFill>
              </a:rPr>
              <a:t>2025.9 임금체불 근절 대책(대지급금 확대), 2025.10 개정 근로기준법 시행(상습 체불 제재). 근거를 남겨 둔 사람이 돌려받기 쉬워지는 때</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사이의 빈자리</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쓴다</a:t>
            </a:r>
            <a:endParaRPr lang="en-US" sz="900" dirty="0"/>
          </a:p>
        </p:txBody>
      </p:sp>
      <p:sp>
        <p:nvSpPr>
          <p:cNvPr id="8" name="Text 6"/>
          <p:cNvSpPr txBox="1"/>
          <p:nvPr/>
        </p:nvSpPr>
        <p:spPr>
          <a:xfrm>
            <a:off x="4389120" y="2560320"/>
            <a:ext cx="109728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사장과 함께</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320040"/>
          </a:xfrm>
          <a:prstGeom prst="rect">
            <a:avLst/>
          </a:prstGeom>
          <a:noFill/>
          <a:ln/>
        </p:spPr>
        <p:txBody>
          <a:bodyPr wrap="square" lIns="0" tIns="0" rIns="0" bIns="0" rtlCol="0" anchor="ctr"/>
          <a:lstStyle/>
          <a:p>
            <a:pPr indent="0" marL="0">
              <a:buNone/>
            </a:pPr>
            <a:r>
              <a:rPr lang="en-US" sz="1300" b="1" dirty="0">
                <a:solidFill>
                  <a:schemeClr val="tx2"/>
                </a:solidFill>
              </a:rPr>
              <a:t>왼쪽 위가 비어 있다</a:t>
            </a:r>
            <a:endParaRPr lang="en-US" sz="1300" dirty="0"/>
          </a:p>
        </p:txBody>
      </p:sp>
      <p:sp>
        <p:nvSpPr>
          <p:cNvPr id="22" name="Text 20"/>
          <p:cNvSpPr txBox="1"/>
          <p:nvPr/>
        </p:nvSpPr>
        <p:spPr>
          <a:xfrm>
            <a:off x="5943600" y="1737360"/>
            <a:ext cx="2743200" cy="2560320"/>
          </a:xfrm>
          <a:prstGeom prst="rect">
            <a:avLst/>
          </a:prstGeom>
          <a:noFill/>
          <a:ln/>
        </p:spPr>
        <p:txBody>
          <a:bodyPr wrap="square" lIns="0" tIns="0" rIns="0" bIns="0" rtlCol="0" anchor="t"/>
          <a:lstStyle/>
          <a:p>
            <a:pPr indent="0" marL="0">
              <a:buNone/>
            </a:pPr>
            <a:r>
              <a:rPr lang="en-US" sz="1050" dirty="0">
                <a:solidFill>
                  <a:schemeClr val="tx1"/>
                </a:solidFill>
              </a:rPr>
              <a:t>혼자 쓰면서 대응까지 가는 서비스가 없다. 하우머치 · 계산기는 계산에서 멈추고, 기그는 사장이 있어야 하고, 진정24는 증거가 있어야 한다.</a:t>
            </a:r>
            <a:endParaRPr lang="en-US" sz="1050" dirty="0"/>
          </a:p>
          <a:p>
            <a:pPr indent="0" marL="0">
              <a:buNone/>
            </a:pPr>
            <a:r>
              <a:rPr lang="en-US" sz="600" dirty="0">
                <a:solidFill>
                  <a:schemeClr val="tx1"/>
                </a:solidFill>
              </a:rPr>
              <a:t> </a:t>
            </a:r>
            <a:endParaRPr lang="en-US" sz="1050" dirty="0"/>
          </a:p>
          <a:p>
            <a:pPr indent="0" marL="0">
              <a:buNone/>
            </a:pPr>
            <a:r>
              <a:rPr lang="en-US" sz="1050" dirty="0">
                <a:solidFill>
                  <a:schemeClr val="tx1"/>
                </a:solidFill>
              </a:rPr>
              <a:t>먼저 노리는 사람은 하우머치 사용자가 아니다. 카톡 · 메모에 적거나 아예 안 적고 통장 총액만 보는 학생이다. 하우머치가 비교 칸을 넣으면 따라올 수 있으니, 따라 하기 어려운 쪽(기록 등록)을 키운다.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핵심 기능은 한 달에 한 번, 급여일에 쓴다. 매일 열 이유를 만들려고 쉬는 틈 게임을 넣었고, 그 화면이 광고 자리다.</a:t>
            </a:r>
            <a:endParaRPr lang="en-US" sz="1100" dirty="0"/>
          </a:p>
        </p:txBody>
      </p:sp>
      <p:sp>
        <p:nvSpPr>
          <p:cNvPr id="5" name="Text 3"/>
          <p:cNvSpPr txBox="1"/>
          <p:nvPr/>
        </p:nvSpPr>
        <p:spPr>
          <a:xfrm>
            <a:off x="457200" y="1508760"/>
            <a:ext cx="6583680" cy="603504"/>
          </a:xfrm>
          <a:prstGeom prst="rect">
            <a:avLst/>
          </a:prstGeom>
          <a:noFill/>
          <a:ln/>
        </p:spPr>
        <p:txBody>
          <a:bodyPr wrap="square" lIns="0" tIns="0" rIns="0" bIns="0" rtlCol="0" anchor="ctr"/>
          <a:lstStyle/>
          <a:p>
            <a:pPr indent="0" marL="0">
              <a:buNone/>
            </a:pPr>
            <a:r>
              <a:rPr lang="en-US" sz="1200" b="1" dirty="0">
                <a:solidFill>
                  <a:schemeClr val="tx1"/>
                </a:solidFill>
              </a:rPr>
              <a:t>핵심 화면: 기록 · 비교 · 요청 · 증빙</a:t>
            </a:r>
            <a:endParaRPr lang="en-US" sz="1200" dirty="0"/>
          </a:p>
          <a:p>
            <a:pPr indent="0" marL="0">
              <a:buNone/>
            </a:pPr>
            <a:r>
              <a:rPr lang="en-US" sz="900" dirty="0">
                <a:solidFill>
                  <a:schemeClr val="accent5"/>
                </a:solidFill>
              </a:rPr>
              <a:t>신뢰가 핵심인 화면에는 광고를 섞지 않는다. 사장님께 보낼 문서를 만드는 화면에 광고가 보이면 신뢰가 깎인다</a:t>
            </a:r>
            <a:endParaRPr lang="en-US" sz="1200" dirty="0"/>
          </a:p>
        </p:txBody>
      </p:sp>
      <p:sp>
        <p:nvSpPr>
          <p:cNvPr id="6" name="Text 4"/>
          <p:cNvSpPr txBox="1"/>
          <p:nvPr/>
        </p:nvSpPr>
        <p:spPr>
          <a:xfrm>
            <a:off x="7040880" y="1508760"/>
            <a:ext cx="1645920" cy="603504"/>
          </a:xfrm>
          <a:prstGeom prst="rect">
            <a:avLst/>
          </a:prstGeom>
          <a:noFill/>
          <a:ln/>
        </p:spPr>
        <p:txBody>
          <a:bodyPr wrap="square" lIns="0" tIns="0" rIns="0" bIns="0" rtlCol="0" anchor="ctr"/>
          <a:lstStyle/>
          <a:p>
            <a:pPr algn="r" indent="0" marL="0">
              <a:buNone/>
            </a:pPr>
            <a:r>
              <a:rPr lang="en-US" sz="1200" b="1" dirty="0">
                <a:solidFill>
                  <a:schemeClr val="accent2"/>
                </a:solidFill>
              </a:rPr>
              <a:t>무료 · 광고 없음</a:t>
            </a:r>
            <a:endParaRPr lang="en-US" sz="1200" dirty="0"/>
          </a:p>
        </p:txBody>
      </p:sp>
      <p:sp>
        <p:nvSpPr>
          <p:cNvPr id="7" name="Shape 5"/>
          <p:cNvSpPr/>
          <p:nvPr/>
        </p:nvSpPr>
        <p:spPr>
          <a:xfrm>
            <a:off x="457200" y="2112264"/>
            <a:ext cx="8229600" cy="0"/>
          </a:xfrm>
          <a:prstGeom prst="line">
            <a:avLst/>
          </a:prstGeom>
          <a:noFill/>
          <a:ln w="9525">
            <a:solidFill>
              <a:srgbClr val="DCD9D0"/>
            </a:solidFill>
            <a:prstDash val="solid"/>
          </a:ln>
        </p:spPr>
      </p:sp>
      <p:sp>
        <p:nvSpPr>
          <p:cNvPr id="8" name="Text 6"/>
          <p:cNvSpPr txBox="1"/>
          <p:nvPr/>
        </p:nvSpPr>
        <p:spPr>
          <a:xfrm>
            <a:off x="457200" y="2112264"/>
            <a:ext cx="6583680" cy="603504"/>
          </a:xfrm>
          <a:prstGeom prst="rect">
            <a:avLst/>
          </a:prstGeom>
          <a:noFill/>
          <a:ln/>
        </p:spPr>
        <p:txBody>
          <a:bodyPr wrap="square" lIns="0" tIns="0" rIns="0" bIns="0" rtlCol="0" anchor="ctr"/>
          <a:lstStyle/>
          <a:p>
            <a:pPr indent="0" marL="0">
              <a:buNone/>
            </a:pPr>
            <a:r>
              <a:rPr lang="en-US" sz="1200" b="1" dirty="0">
                <a:solidFill>
                  <a:schemeClr val="tx1"/>
                </a:solidFill>
              </a:rPr>
              <a:t>1차 (가설): 쉬는 틈 게임 화면 광고</a:t>
            </a:r>
            <a:endParaRPr lang="en-US" sz="1200" dirty="0"/>
          </a:p>
          <a:p>
            <a:pPr indent="0" marL="0">
              <a:buNone/>
            </a:pPr>
            <a:r>
              <a:rPr lang="en-US" sz="900" dirty="0">
                <a:solidFill>
                  <a:schemeClr val="accent5"/>
                </a:solidFill>
              </a:rPr>
              <a:t>웹앱이라 배너 · 전면이 기본, 보상형은 승인 뒤(미신청). 단가 · 체류 시간은 측정 전이라 매출 추정은 적지 않는다. 가설 확인: 설문 "게임 화면 광고" 문항, 승인 뒤 게임 화면 열람 수</a:t>
            </a:r>
            <a:endParaRPr lang="en-US" sz="1200" dirty="0"/>
          </a:p>
        </p:txBody>
      </p:sp>
      <p:sp>
        <p:nvSpPr>
          <p:cNvPr id="9" name="Text 7"/>
          <p:cNvSpPr txBox="1"/>
          <p:nvPr/>
        </p:nvSpPr>
        <p:spPr>
          <a:xfrm>
            <a:off x="7040880" y="2112264"/>
            <a:ext cx="1645920" cy="603504"/>
          </a:xfrm>
          <a:prstGeom prst="rect">
            <a:avLst/>
          </a:prstGeom>
          <a:noFill/>
          <a:ln/>
        </p:spPr>
        <p:txBody>
          <a:bodyPr wrap="square" lIns="0" tIns="0" rIns="0" bIns="0" rtlCol="0" anchor="ctr"/>
          <a:lstStyle/>
          <a:p>
            <a:pPr algn="r" indent="0" marL="0">
              <a:buNone/>
            </a:pPr>
            <a:r>
              <a:rPr lang="en-US" sz="1200" b="1" dirty="0">
                <a:solidFill>
                  <a:schemeClr val="tx2"/>
                </a:solidFill>
              </a:rPr>
              <a:t>게임 화면만</a:t>
            </a:r>
            <a:endParaRPr lang="en-US" sz="1200" dirty="0"/>
          </a:p>
        </p:txBody>
      </p:sp>
      <p:sp>
        <p:nvSpPr>
          <p:cNvPr id="10" name="Shape 8"/>
          <p:cNvSpPr/>
          <p:nvPr/>
        </p:nvSpPr>
        <p:spPr>
          <a:xfrm>
            <a:off x="457200" y="2715768"/>
            <a:ext cx="8229600" cy="0"/>
          </a:xfrm>
          <a:prstGeom prst="line">
            <a:avLst/>
          </a:prstGeom>
          <a:noFill/>
          <a:ln w="9525">
            <a:solidFill>
              <a:srgbClr val="DCD9D0"/>
            </a:solidFill>
            <a:prstDash val="solid"/>
          </a:ln>
        </p:spPr>
      </p:sp>
      <p:sp>
        <p:nvSpPr>
          <p:cNvPr id="11" name="Text 9"/>
          <p:cNvSpPr txBox="1"/>
          <p:nvPr/>
        </p:nvSpPr>
        <p:spPr>
          <a:xfrm>
            <a:off x="457200" y="2715768"/>
            <a:ext cx="6583680" cy="603504"/>
          </a:xfrm>
          <a:prstGeom prst="rect">
            <a:avLst/>
          </a:prstGeom>
          <a:noFill/>
          <a:ln/>
        </p:spPr>
        <p:txBody>
          <a:bodyPr wrap="square" lIns="0" tIns="0" rIns="0" bIns="0" rtlCol="0" anchor="ctr"/>
          <a:lstStyle/>
          <a:p>
            <a:pPr indent="0" marL="0">
              <a:buNone/>
            </a:pPr>
            <a:r>
              <a:rPr lang="en-US" sz="1200" b="1" dirty="0">
                <a:solidFill>
                  <a:schemeClr val="tx1"/>
                </a:solidFill>
              </a:rPr>
              <a:t>2차 (후보): 편의 기능 구독</a:t>
            </a:r>
            <a:endParaRPr lang="en-US" sz="1200" dirty="0"/>
          </a:p>
          <a:p>
            <a:pPr indent="0" marL="0">
              <a:buNone/>
            </a:pPr>
            <a:r>
              <a:rPr lang="en-US" sz="900" dirty="0">
                <a:solidFill>
                  <a:schemeClr val="accent5"/>
                </a:solidFill>
              </a:rPr>
              <a:t>여러 폰 동기화 · 자동 백업: "기록이 폰에만 있다"는 약점을 돈 내고 없애는 선택 기능. 문서 · 법률과 무관</a:t>
            </a:r>
            <a:endParaRPr lang="en-US" sz="1200" dirty="0"/>
          </a:p>
        </p:txBody>
      </p:sp>
      <p:sp>
        <p:nvSpPr>
          <p:cNvPr id="12" name="Text 10"/>
          <p:cNvSpPr txBox="1"/>
          <p:nvPr/>
        </p:nvSpPr>
        <p:spPr>
          <a:xfrm>
            <a:off x="7040880" y="2715768"/>
            <a:ext cx="1645920" cy="603504"/>
          </a:xfrm>
          <a:prstGeom prst="rect">
            <a:avLst/>
          </a:prstGeom>
          <a:noFill/>
          <a:ln/>
        </p:spPr>
        <p:txBody>
          <a:bodyPr wrap="square" lIns="0" tIns="0" rIns="0" bIns="0" rtlCol="0" anchor="ctr"/>
          <a:lstStyle/>
          <a:p>
            <a:pPr algn="r" indent="0" marL="0">
              <a:buNone/>
            </a:pPr>
            <a:r>
              <a:rPr lang="en-US" sz="1200" b="1" dirty="0">
                <a:solidFill>
                  <a:schemeClr val="tx2"/>
                </a:solidFill>
              </a:rPr>
              <a:t>구독</a:t>
            </a:r>
            <a:endParaRPr lang="en-US" sz="1200" dirty="0"/>
          </a:p>
        </p:txBody>
      </p:sp>
      <p:sp>
        <p:nvSpPr>
          <p:cNvPr id="13" name="Shape 11"/>
          <p:cNvSpPr/>
          <p:nvPr/>
        </p:nvSpPr>
        <p:spPr>
          <a:xfrm>
            <a:off x="457200" y="3319272"/>
            <a:ext cx="8229600" cy="0"/>
          </a:xfrm>
          <a:prstGeom prst="line">
            <a:avLst/>
          </a:prstGeom>
          <a:noFill/>
          <a:ln w="9525">
            <a:solidFill>
              <a:srgbClr val="DCD9D0"/>
            </a:solidFill>
            <a:prstDash val="solid"/>
          </a:ln>
        </p:spPr>
      </p:sp>
      <p:sp>
        <p:nvSpPr>
          <p:cNvPr id="14" name="Text 12"/>
          <p:cNvSpPr txBox="1"/>
          <p:nvPr/>
        </p:nvSpPr>
        <p:spPr>
          <a:xfrm>
            <a:off x="457200" y="3319272"/>
            <a:ext cx="6583680" cy="603504"/>
          </a:xfrm>
          <a:prstGeom prst="rect">
            <a:avLst/>
          </a:prstGeom>
          <a:noFill/>
          <a:ln/>
        </p:spPr>
        <p:txBody>
          <a:bodyPr wrap="square" lIns="0" tIns="0" rIns="0" bIns="0" rtlCol="0" anchor="ctr"/>
          <a:lstStyle/>
          <a:p>
            <a:pPr indent="0" marL="0">
              <a:buNone/>
            </a:pPr>
            <a:r>
              <a:rPr lang="en-US" sz="1200" b="1" dirty="0">
                <a:solidFill>
                  <a:schemeClr val="accent3"/>
                </a:solidFill>
              </a:rPr>
              <a:t>하지 않는 것: 정산 문구 · 내용증명 · 증빙 묶음 유료화</a:t>
            </a:r>
            <a:endParaRPr lang="en-US" sz="1200" dirty="0"/>
          </a:p>
          <a:p>
            <a:pPr indent="0" marL="0">
              <a:buNone/>
            </a:pPr>
            <a:r>
              <a:rPr lang="en-US" sz="900" dirty="0">
                <a:solidFill>
                  <a:schemeClr val="accent5"/>
                </a:solidFill>
              </a:rPr>
              <a:t>돈을 받고 문서를 만들어 주면 변호사법 · 공인노무사법 문제에 가까워진다 (웹 조사 기준). 비용은 지금 서버 0원 · 배포 0원, 인건비는 팀 3명</a:t>
            </a:r>
            <a:endParaRPr lang="en-US" sz="1200" dirty="0"/>
          </a:p>
        </p:txBody>
      </p:sp>
      <p:sp>
        <p:nvSpPr>
          <p:cNvPr id="15" name="Text 13"/>
          <p:cNvSpPr txBox="1"/>
          <p:nvPr/>
        </p:nvSpPr>
        <p:spPr>
          <a:xfrm>
            <a:off x="7040880" y="3319272"/>
            <a:ext cx="1645920" cy="603504"/>
          </a:xfrm>
          <a:prstGeom prst="rect">
            <a:avLst/>
          </a:prstGeom>
          <a:noFill/>
          <a:ln/>
        </p:spPr>
        <p:txBody>
          <a:bodyPr wrap="square" lIns="0" tIns="0" rIns="0" bIns="0" rtlCol="0" anchor="ctr"/>
          <a:lstStyle/>
          <a:p>
            <a:pPr algn="r" indent="0" marL="0">
              <a:buNone/>
            </a:pPr>
            <a:r>
              <a:rPr lang="en-US" sz="1200" b="1" dirty="0">
                <a:solidFill>
                  <a:schemeClr val="accent3"/>
                </a:solidFill>
              </a:rPr>
              <a:t>유료화 안 함</a:t>
            </a:r>
            <a:endParaRPr lang="en-US" sz="1200" dirty="0"/>
          </a:p>
        </p:txBody>
      </p:sp>
      <p:sp>
        <p:nvSpPr>
          <p:cNvPr id="16" name="Shape 14"/>
          <p:cNvSpPr/>
          <p:nvPr/>
        </p:nvSpPr>
        <p:spPr>
          <a:xfrm>
            <a:off x="457200" y="3922776"/>
            <a:ext cx="8229600" cy="0"/>
          </a:xfrm>
          <a:prstGeom prst="line">
            <a:avLst/>
          </a:prstGeom>
          <a:noFill/>
          <a:ln w="9525">
            <a:solidFill>
              <a:srgbClr val="DCD9D0"/>
            </a:solidFill>
            <a:prstDash val="solid"/>
          </a:ln>
        </p:spPr>
      </p:sp>
      <p:sp>
        <p:nvSpPr>
          <p:cNvPr id="17" name="Text 15"/>
          <p:cNvSpPr txBox="1"/>
          <p:nvPr/>
        </p:nvSpPr>
        <p:spPr>
          <a:xfrm>
            <a:off x="457200" y="40233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4023360"/>
            <a:ext cx="7040880" cy="347472"/>
          </a:xfrm>
          <a:prstGeom prst="rect">
            <a:avLst/>
          </a:prstGeom>
          <a:noFill/>
          <a:ln/>
        </p:spPr>
        <p:txBody>
          <a:bodyPr wrap="square" lIns="0" tIns="0" rIns="0" bIns="0" rtlCol="0" anchor="t"/>
          <a:lstStyle/>
          <a:p>
            <a:pPr indent="0" marL="0">
              <a:buNone/>
            </a:pPr>
            <a:r>
              <a:rPr lang="en-US" sz="1000" dirty="0">
                <a:solidFill>
                  <a:schemeClr val="tx1"/>
                </a:solidFill>
              </a:rPr>
              <a:t>링크 하나로 설치되니 에브리타임 · 학과 · 동아리 단톡 · 알바 커뮤니티에 링크로 전파. "주휴수당 계산법" 같은 짧은 영상으로 유입</a:t>
            </a:r>
            <a:endParaRPr lang="en-US" sz="1000" dirty="0"/>
          </a:p>
        </p:txBody>
      </p:sp>
      <p:sp>
        <p:nvSpPr>
          <p:cNvPr id="19" name="Text 17"/>
          <p:cNvSpPr txBox="1"/>
          <p:nvPr/>
        </p:nvSpPr>
        <p:spPr>
          <a:xfrm>
            <a:off x="457200" y="4407408"/>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407408"/>
            <a:ext cx="7040880" cy="320040"/>
          </a:xfrm>
          <a:prstGeom prst="rect">
            <a:avLst/>
          </a:prstGeom>
          <a:noFill/>
          <a:ln/>
        </p:spPr>
        <p:txBody>
          <a:bodyPr wrap="square" lIns="0" tIns="0" rIns="0" bIns="0" rtlCol="0" anchor="t"/>
          <a:lstStyle/>
          <a:p>
            <a:pPr indent="0" marL="0">
              <a:buNone/>
            </a:pPr>
            <a:r>
              <a:rPr lang="en-US" sz="1000" b="1" dirty="0">
                <a:solidFill>
                  <a:schemeClr val="tx2"/>
                </a:solidFill>
              </a:rPr>
              <a:t>홈 화면 추가 → 첫 기록 → 받은 금액 입력 → 차액 발견 → 요청 보냄 → 실제로 받음 (인터뷰)</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확인할 가설 하나, 11월에 재는 법 다섯</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6" name="검증 계획 표"/>
          <p:cNvGraphicFramePr>
            <a:graphicFrameLocks noGrp="1"/>
          </p:cNvGraphicFramePr>
          <p:nvPr>
            <p:extLst>
              <p:ext uri="{D42A27DB-BD31-4B8C-83A1-F6EECF244321}">
                <p14:modId xmlns:p14="http://schemas.microsoft.com/office/powerpoint/2010/main" val="1579011935"/>
              </p:ext>
            </p:extLst>
          </p:nvPr>
        </p:nvGraphicFramePr>
        <p:xfrm>
          <a:off x="457200" y="1572768"/>
          <a:ext cx="8229600" cy="914400"/>
        </p:xfrm>
        <a:graphic>
          <a:graphicData uri="http://schemas.openxmlformats.org/drawingml/2006/table">
            <a:tbl>
              <a:tblPr/>
              <a:tblGrid>
                <a:gridCol w="2377440"/>
                <a:gridCol w="2286000"/>
                <a:gridCol w="1554480"/>
                <a:gridCol w="2011680"/>
              </a:tblGrid>
              <a:tr h="274320">
                <a:tc>
                  <a:txBody>
                    <a:bodyPr/>
                    <a:lstStyle/>
                    <a:p>
                      <a:pPr indent="0" marL="0">
                        <a:buNone/>
                      </a:pPr>
                      <a:r>
                        <a:rPr lang="en-US" sz="900" b="1" dirty="0">
                          <a:solidFill>
                            <a:srgbClr val="5D636D"/>
                          </a:solidFill>
                        </a:rPr>
                        <a:t>재는 것</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900" b="1" dirty="0">
                          <a:solidFill>
                            <a:srgbClr val="5D636D"/>
                          </a:solidFill>
                        </a:rPr>
                        <a:t>방법</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900" b="1" dirty="0">
                          <a:solidFill>
                            <a:srgbClr val="5D636D"/>
                          </a:solidFill>
                        </a:rPr>
                        <a:t>기준 (팀이 정함)</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900" b="1" dirty="0">
                          <a:solidFill>
                            <a:srgbClr val="5D636D"/>
                          </a:solidFill>
                        </a:rPr>
                        <a:t>못 미치면</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29184">
                <a:tc>
                  <a:txBody>
                    <a:bodyPr/>
                    <a:lstStyle/>
                    <a:p>
                      <a:pPr indent="0" marL="0">
                        <a:buNone/>
                      </a:pPr>
                      <a:r>
                        <a:rPr lang="en-US" sz="900" b="1" dirty="0">
                          <a:solidFill>
                            <a:srgbClr val="15171A"/>
                          </a:solidFill>
                        </a:rPr>
                        <a:t>매달 받은 금액을 직접 넣는다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인터뷰 5명(22번) + 설문 "매달 받은 금액 직접 넣기"</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5명 중 3명 "넣겠다"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보류한 입금 문자 · 명세서 자동 인식을 앞당긴다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29184">
                <a:tc>
                  <a:txBody>
                    <a:bodyPr/>
                    <a:lstStyle/>
                    <a:p>
                      <a:pPr indent="0" marL="0">
                        <a:buNone/>
                      </a:pPr>
                      <a:r>
                        <a:rPr lang="en-US" sz="900" b="1" dirty="0">
                          <a:solidFill>
                            <a:srgbClr val="15171A"/>
                          </a:solidFill>
                        </a:rPr>
                        <a:t>만든 요청 문구를 실제로 보낼 수 있다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인터뷰(문구를 보여 주고, 20번)</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5명 중 3명 "보내겠다"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문구 톤 · 단계를 다시 짠다 (11/10~)</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29184">
                <a:tc>
                  <a:txBody>
                    <a:bodyPr/>
                    <a:lstStyle/>
                    <a:p>
                      <a:pPr indent="0" marL="0">
                        <a:buNone/>
                      </a:pPr>
                      <a:r>
                        <a:rPr lang="en-US" sz="900" b="1" dirty="0">
                          <a:solidFill>
                            <a:srgbClr val="15171A"/>
                          </a:solidFill>
                        </a:rPr>
                        <a:t>확인 번호 설명을 듣고 무엇인지 말할 수 있다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인터뷰(21번)</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5명 중 4명</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설정 · 증빙 문구를 고친다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29184">
                <a:tc>
                  <a:txBody>
                    <a:bodyPr/>
                    <a:lstStyle/>
                    <a:p>
                      <a:pPr indent="0" marL="0">
                        <a:buNone/>
                      </a:pPr>
                      <a:r>
                        <a:rPr lang="en-US" sz="900" b="1" dirty="0">
                          <a:solidFill>
                            <a:srgbClr val="15171A"/>
                          </a:solidFill>
                        </a:rPr>
                        <a:t>타겟 중 주 15시간 이상이 다수다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설문 "주당 근무 시간"</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응답 30명 넘을 때 비율로</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주휴수당 중심 메시지를 바꾼다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29184">
                <a:tc>
                  <a:txBody>
                    <a:bodyPr/>
                    <a:lstStyle/>
                    <a:p>
                      <a:pPr indent="0" marL="0">
                        <a:buNone/>
                      </a:pPr>
                      <a:r>
                        <a:rPr lang="en-US" sz="900" b="1" dirty="0">
                          <a:solidFill>
                            <a:srgbClr val="15171A"/>
                          </a:solidFill>
                        </a:rPr>
                        <a:t>게임 화면 광고를 받아들인다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설문 "게임 화면 광고" + 인터뷰(23 · 24번)</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"싫다"가 반을 넘지 않는다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11/23 광고 실험 대신 새 게임으로</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3611880"/>
            <a:ext cx="8229600" cy="365760"/>
          </a:xfrm>
          <a:prstGeom prst="rect">
            <a:avLst/>
          </a:prstGeom>
          <a:noFill/>
          <a:ln/>
        </p:spPr>
        <p:txBody>
          <a:bodyPr wrap="square" lIns="0" tIns="0" rIns="0" bIns="0" rtlCol="0" anchor="ctr"/>
          <a:lstStyle/>
          <a:p>
            <a:pPr indent="0" marL="0">
              <a:buNone/>
            </a:pPr>
            <a:r>
              <a:rPr lang="en-US" sz="950" dirty="0">
                <a:solidFill>
                  <a:schemeClr val="tx1"/>
                </a:solidFill>
              </a:rPr>
              <a:t>모집: 설문은 학과 · 동아리 단톡, 에브리타임, 그리고 오늘 이 자리(QR). 인터뷰 5명은 지인 중 지금 알바 중인 사람, 11/3~11/9, 1명당 20분</a:t>
            </a:r>
            <a:endParaRPr lang="en-US" sz="950" dirty="0"/>
          </a:p>
        </p:txBody>
      </p:sp>
      <p:sp>
        <p:nvSpPr>
          <p:cNvPr id="7" name="Shape 4"/>
          <p:cNvSpPr/>
          <p:nvPr/>
        </p:nvSpPr>
        <p:spPr>
          <a:xfrm>
            <a:off x="457200" y="3977640"/>
            <a:ext cx="8229600" cy="0"/>
          </a:xfrm>
          <a:prstGeom prst="line">
            <a:avLst/>
          </a:prstGeom>
          <a:noFill/>
          <a:ln w="9525">
            <a:solidFill>
              <a:srgbClr val="DCD9D0"/>
            </a:solidFill>
            <a:prstDash val="solid"/>
          </a:ln>
        </p:spPr>
      </p:sp>
      <p:sp>
        <p:nvSpPr>
          <p:cNvPr id="8" name="Text 5"/>
          <p:cNvSpPr txBox="1"/>
          <p:nvPr/>
        </p:nvSpPr>
        <p:spPr>
          <a:xfrm>
            <a:off x="457200" y="3977640"/>
            <a:ext cx="8229600" cy="365760"/>
          </a:xfrm>
          <a:prstGeom prst="rect">
            <a:avLst/>
          </a:prstGeom>
          <a:noFill/>
          <a:ln/>
        </p:spPr>
        <p:txBody>
          <a:bodyPr wrap="square" lIns="0" tIns="0" rIns="0" bIns="0" rtlCol="0" anchor="ctr"/>
          <a:lstStyle/>
          <a:p>
            <a:pPr indent="0" marL="0">
              <a:buNone/>
            </a:pPr>
            <a:r>
              <a:rPr lang="en-US" sz="950" dirty="0">
                <a:solidFill>
                  <a:schemeClr val="tx1"/>
                </a:solidFill>
              </a:rPr>
              <a:t>들은 것(정식 조사 아님): 타겟 사용자 1명이 디자인 시안 12장 중 통장 구성을 골랐다 · 링크 설문은 10/23 공개, 응답 수는 발표 당일 결과 페이지에서 읽는다</a:t>
            </a:r>
            <a:endParaRPr lang="en-US" sz="950" dirty="0"/>
          </a:p>
        </p:txBody>
      </p:sp>
      <p:sp>
        <p:nvSpPr>
          <p:cNvPr id="9" name="Shape 6"/>
          <p:cNvSpPr/>
          <p:nvPr/>
        </p:nvSpPr>
        <p:spPr>
          <a:xfrm>
            <a:off x="457200" y="4343400"/>
            <a:ext cx="8229600" cy="0"/>
          </a:xfrm>
          <a:prstGeom prst="line">
            <a:avLst/>
          </a:prstGeom>
          <a:noFill/>
          <a:ln w="9525">
            <a:solidFill>
              <a:srgbClr val="DCD9D0"/>
            </a:solidFill>
            <a:prstDash val="solid"/>
          </a:ln>
        </p:spPr>
      </p:sp>
      <p:sp>
        <p:nvSpPr>
          <p:cNvPr id="10" name="Text 7"/>
          <p:cNvSpPr txBox="1"/>
          <p:nvPr/>
        </p:nvSpPr>
        <p:spPr>
          <a:xfrm>
            <a:off x="457200" y="4343400"/>
            <a:ext cx="8229600" cy="365760"/>
          </a:xfrm>
          <a:prstGeom prst="rect">
            <a:avLst/>
          </a:prstGeom>
          <a:noFill/>
          <a:ln/>
        </p:spPr>
        <p:txBody>
          <a:bodyPr wrap="square" lIns="0" tIns="0" rIns="0" bIns="0" rtlCol="0" anchor="ctr"/>
          <a:lstStyle/>
          <a:p>
            <a:pPr indent="0" marL="0">
              <a:buNone/>
            </a:pPr>
            <a:r>
              <a:rPr lang="en-US" sz="950" dirty="0">
                <a:solidFill>
                  <a:schemeClr val="tx1"/>
                </a:solidFill>
              </a:rPr>
              <a:t>왜 검증보다 개발이 먼저였나: 링크로 배포되는 웹앱이라 만들어 보여 주는 게 가장 싼 검증이었다. 설문에도 앱 캡처 3장을 넣고 "실제로 있다면 쓰겠나"를 묻는다</a:t>
            </a:r>
            <a:endParaRPr lang="en-US" sz="950" dirty="0"/>
          </a:p>
        </p:txBody>
      </p:sp>
      <p:sp>
        <p:nvSpPr>
          <p:cNvPr id="11" name="Shape 8"/>
          <p:cNvSpPr/>
          <p:nvPr/>
        </p:nvSpPr>
        <p:spPr>
          <a:xfrm>
            <a:off x="457200" y="4709160"/>
            <a:ext cx="8229600" cy="0"/>
          </a:xfrm>
          <a:prstGeom prst="line">
            <a:avLst/>
          </a:prstGeom>
          <a:noFill/>
          <a:ln w="9525">
            <a:solidFill>
              <a:srgbClr val="DCD9D0"/>
            </a:solidFill>
            <a:prstDash val="solid"/>
          </a:ln>
        </p:spPr>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52851" y="1746504"/>
            <a:ext cx="1463040" cy="164592"/>
          </a:xfrm>
          <a:prstGeom prst="rect">
            <a:avLst/>
          </a:prstGeom>
          <a:noFill/>
          <a:ln/>
        </p:spPr>
        <p:txBody>
          <a:bodyPr wrap="square" lIns="0" tIns="0" rIns="0" bIns="0" rtlCol="0" anchor="t"/>
          <a:lstStyle/>
          <a:p>
            <a:pPr algn="ctr" indent="0" marL="0">
              <a:buNone/>
            </a:pPr>
            <a:r>
              <a:rPr lang="en-US" sz="700" b="1" dirty="0">
                <a:solidFill>
                  <a:schemeClr val="accent3"/>
                </a:solidFill>
              </a:rPr>
              <a:t>11/9 설문 1차 · 인터뷰</a:t>
            </a:r>
            <a:endParaRPr lang="en-US" sz="7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093823" y="1901952"/>
            <a:ext cx="1463040" cy="164592"/>
          </a:xfrm>
          <a:prstGeom prst="rect">
            <a:avLst/>
          </a:prstGeom>
          <a:noFill/>
          <a:ln/>
        </p:spPr>
        <p:txBody>
          <a:bodyPr wrap="square" lIns="0" tIns="0" rIns="0" bIns="0" rtlCol="0" anchor="t"/>
          <a:lstStyle/>
          <a:p>
            <a:pPr algn="ctr" indent="0" marL="0">
              <a:buNone/>
            </a:pPr>
            <a:r>
              <a:rPr lang="en-US" sz="700" b="1" dirty="0">
                <a:solidFill>
                  <a:schemeClr val="accent3"/>
                </a:solidFill>
              </a:rPr>
              <a:t>11/23 반영 배포 · 광고 결정</a:t>
            </a:r>
            <a:endParaRPr lang="en-US" sz="7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14309" y="1746504"/>
            <a:ext cx="1463040" cy="164592"/>
          </a:xfrm>
          <a:prstGeom prst="rect">
            <a:avLst/>
          </a:prstGeom>
          <a:noFill/>
          <a:ln/>
        </p:spPr>
        <p:txBody>
          <a:bodyPr wrap="square" lIns="0" tIns="0" rIns="0" bIns="0" rtlCol="0" anchor="t"/>
          <a:lstStyle/>
          <a:p>
            <a:pPr algn="ctr" indent="0" marL="0">
              <a:buNone/>
            </a:pPr>
            <a:r>
              <a:rPr lang="en-US" sz="700" b="1" dirty="0">
                <a:solidFill>
                  <a:schemeClr val="accent3"/>
                </a:solidFill>
              </a:rPr>
              <a:t>11/30 폰 검증 끝</a:t>
            </a:r>
            <a:endParaRPr lang="en-US" sz="7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34794" y="1901952"/>
            <a:ext cx="1463040" cy="164592"/>
          </a:xfrm>
          <a:prstGeom prst="rect">
            <a:avLst/>
          </a:prstGeom>
          <a:noFill/>
          <a:ln/>
        </p:spPr>
        <p:txBody>
          <a:bodyPr wrap="square" lIns="0" tIns="0" rIns="0" bIns="0" rtlCol="0" anchor="t"/>
          <a:lstStyle/>
          <a:p>
            <a:pPr algn="ctr" indent="0" marL="0">
              <a:buNone/>
            </a:pPr>
            <a:r>
              <a:rPr lang="en-US" sz="700" b="1" dirty="0">
                <a:solidFill>
                  <a:schemeClr val="accent3"/>
                </a:solidFill>
              </a:rPr>
              <a:t>12/7 기능 동결</a:t>
            </a:r>
            <a:endParaRPr lang="en-US" sz="7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7955280" y="1746504"/>
            <a:ext cx="1463040" cy="164592"/>
          </a:xfrm>
          <a:prstGeom prst="rect">
            <a:avLst/>
          </a:prstGeom>
          <a:noFill/>
          <a:ln/>
        </p:spPr>
        <p:txBody>
          <a:bodyPr wrap="square" lIns="0" tIns="0" rIns="0" bIns="0" rtlCol="0" anchor="t"/>
          <a:lstStyle/>
          <a:p>
            <a:pPr algn="ctr" indent="0" marL="0">
              <a:buNone/>
            </a:pPr>
            <a:r>
              <a:rPr lang="en-US" sz="700" b="1" dirty="0">
                <a:solidFill>
                  <a:schemeClr val="accent3"/>
                </a:solidFill>
              </a:rPr>
              <a:t>12/15 기말</a:t>
            </a:r>
            <a:endParaRPr lang="en-US" sz="7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800" b="1" dirty="0">
                <a:solidFill>
                  <a:schemeClr val="accent3"/>
                </a:solidFill>
              </a:rPr>
              <a:t>마일스톤</a:t>
            </a:r>
            <a:endParaRPr lang="en-US" sz="80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900" b="1" dirty="0">
                <a:solidFill>
                  <a:schemeClr val="accent5"/>
                </a:solidFill>
              </a:rPr>
              <a:t>10/27</a:t>
            </a:r>
            <a:endParaRPr lang="en-US" sz="9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900" b="1" dirty="0">
                <a:solidFill>
                  <a:schemeClr val="accent5"/>
                </a:solidFill>
              </a:rPr>
              <a:t>11/3</a:t>
            </a:r>
            <a:endParaRPr lang="en-US" sz="9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900" b="1" dirty="0">
                <a:solidFill>
                  <a:schemeClr val="accent5"/>
                </a:solidFill>
              </a:rPr>
              <a:t>11/10</a:t>
            </a:r>
            <a:endParaRPr lang="en-US" sz="9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900" b="1" dirty="0">
                <a:solidFill>
                  <a:schemeClr val="accent5"/>
                </a:solidFill>
              </a:rPr>
              <a:t>11/17</a:t>
            </a:r>
            <a:endParaRPr lang="en-US" sz="9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900" b="1" dirty="0">
                <a:solidFill>
                  <a:schemeClr val="accent5"/>
                </a:solidFill>
              </a:rPr>
              <a:t>11/24</a:t>
            </a:r>
            <a:endParaRPr lang="en-US" sz="9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900" b="1" dirty="0">
                <a:solidFill>
                  <a:schemeClr val="accent5"/>
                </a:solidFill>
              </a:rPr>
              <a:t>12/1</a:t>
            </a:r>
            <a:endParaRPr lang="en-US" sz="9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900" b="1" dirty="0">
                <a:solidFill>
                  <a:schemeClr val="accent5"/>
                </a:solidFill>
              </a:rPr>
              <a:t>12/8</a:t>
            </a:r>
            <a:endParaRPr lang="en-US" sz="9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담당</a:t>
            </a:r>
            <a:endParaRPr lang="en-US" sz="9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950" dirty="0">
                <a:solidFill>
                  <a:schemeClr val="tx1"/>
                </a:solidFill>
              </a:rPr>
              <a:t>설문 30명 수집 · 집계</a:t>
            </a:r>
            <a:endParaRPr lang="en-US" sz="95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800" dirty="0">
                <a:solidFill>
                  <a:schemeClr val="accent5"/>
                </a:solidFill>
              </a:rPr>
              <a:t>손유호</a:t>
            </a:r>
            <a:endParaRPr lang="en-US" sz="80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950" dirty="0">
                <a:solidFill>
                  <a:schemeClr val="tx1"/>
                </a:solidFill>
              </a:rPr>
              <a:t>직접 인터뷰 5명</a:t>
            </a:r>
            <a:endParaRPr lang="en-US" sz="95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800" dirty="0">
                <a:solidFill>
                  <a:schemeClr val="accent5"/>
                </a:solidFill>
              </a:rPr>
              <a:t>박명진</a:t>
            </a:r>
            <a:endParaRPr lang="en-US" sz="80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950" dirty="0">
                <a:solidFill>
                  <a:schemeClr val="tx1"/>
                </a:solidFill>
              </a:rPr>
              <a:t>피드백 반영 1차 (문구 · 화면)</a:t>
            </a:r>
            <a:endParaRPr lang="en-US" sz="95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800" dirty="0">
                <a:solidFill>
                  <a:schemeClr val="accent5"/>
                </a:solidFill>
              </a:rPr>
              <a:t>이지훈</a:t>
            </a:r>
            <a:endParaRPr lang="en-US" sz="80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문구 · 화면)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950" dirty="0">
                <a:solidFill>
                  <a:schemeClr val="tx1"/>
                </a:solidFill>
              </a:rPr>
              <a:t>실제 폰 검증 (아이폰 · 갤럭시)</a:t>
            </a:r>
            <a:endParaRPr lang="en-US" sz="95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800" dirty="0">
                <a:solidFill>
                  <a:schemeClr val="accent5"/>
                </a:solidFill>
              </a:rPr>
              <a:t>이지훈(아이폰) · 박명진(갤럭시 주관)</a:t>
            </a:r>
            <a:endParaRPr lang="en-US" sz="80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950" dirty="0">
                <a:solidFill>
                  <a:schemeClr val="tx1"/>
                </a:solidFill>
              </a:rPr>
              <a:t>기록 등록 보강 (내용으로 번호 다시 계산)</a:t>
            </a:r>
            <a:endParaRPr lang="en-US" sz="95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800" dirty="0">
                <a:solidFill>
                  <a:schemeClr val="accent5"/>
                </a:solidFill>
              </a:rPr>
              <a:t>이지훈</a:t>
            </a:r>
            <a:endParaRPr lang="en-US" sz="80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내용으로 번호 다시 계산)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950" dirty="0">
                <a:solidFill>
                  <a:schemeClr val="tx1"/>
                </a:solidFill>
              </a:rPr>
              <a:t>광고 실험 또는 새 게임 (11/23 설문 결과로 하나를 정함)</a:t>
            </a:r>
            <a:endParaRPr lang="en-US" sz="95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800" dirty="0">
                <a:solidFill>
                  <a:schemeClr val="accent5"/>
                </a:solidFill>
              </a:rPr>
              <a:t>손유호(승인 신청) · 이지훈(코드)</a:t>
            </a:r>
            <a:endParaRPr lang="en-US" sz="80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설문 결과로 하나를 정함)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950" dirty="0">
                <a:solidFill>
                  <a:schemeClr val="tx1"/>
                </a:solidFill>
              </a:rPr>
              <a:t>최종 보고서 · 발표 준비</a:t>
            </a:r>
            <a:endParaRPr lang="en-US" sz="95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800" dirty="0">
                <a:solidFill>
                  <a:schemeClr val="accent5"/>
                </a:solidFill>
              </a:rPr>
              <a:t>전원</a:t>
            </a:r>
            <a:endParaRPr lang="en-US" sz="80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 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 (지금까지)</a:t>
            </a:r>
            <a:endParaRPr lang="en-US" sz="1150" dirty="0"/>
          </a:p>
          <a:p>
            <a:pPr marL="152400" indent="-152400">
              <a:spcAft>
                <a:spcPts val="400"/>
              </a:spcAft>
              <a:buSzPct val="100000"/>
              <a:buChar char="•"/>
            </a:pPr>
            <a:r>
              <a:rPr lang="en-US" sz="1150" dirty="0">
                <a:solidFill>
                  <a:schemeClr val="bg1"/>
                </a:solidFill>
              </a:rPr>
              <a:t>기록 등록 보강, 실제 폰 검증 (앞으로)</a:t>
            </a:r>
            <a:endParaRPr lang="en-US" sz="1150" dirty="0"/>
          </a:p>
          <a:p>
            <a:pPr marL="152400" indent="-152400">
              <a:spcAft>
                <a:spcPts val="400"/>
              </a:spcAft>
              <a:buSzPct val="100000"/>
              <a:buChar char="•"/>
            </a:pPr>
            <a:r>
              <a:rPr lang="en-US" sz="1150" dirty="0">
                <a:solidFill>
                  <a:schemeClr val="bg1"/>
                </a:solidFill>
              </a:rPr>
              <a:t>기술 · 차별점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모으기 · 집계</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운영</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사용자 인터뷰 5명 · 검증</a:t>
            </a:r>
            <a:endParaRPr lang="en-US" sz="1150" dirty="0"/>
          </a:p>
          <a:p>
            <a:pPr marL="152400" indent="-152400">
              <a:spcAft>
                <a:spcPts val="400"/>
              </a:spcAft>
              <a:buSzPct val="100000"/>
              <a:buChar char="•"/>
            </a:pPr>
            <a:r>
              <a:rPr lang="en-US" sz="1150" dirty="0">
                <a:solidFill>
                  <a:schemeClr val="bg1"/>
                </a:solidFill>
              </a:rPr>
              <a:t>실제 폰 검증 주관 (갤럭시)</a:t>
            </a:r>
            <a:endParaRPr lang="en-US" sz="1150" dirty="0"/>
          </a:p>
          <a:p>
            <a:pPr marL="152400" indent="-152400">
              <a:spcAft>
                <a:spcPts val="400"/>
              </a:spcAft>
              <a:buSzPct val="100000"/>
              <a:buChar char="•"/>
            </a:pPr>
            <a:r>
              <a:rPr lang="en-US" sz="1150" dirty="0">
                <a:solidFill>
                  <a:schemeClr val="bg1"/>
                </a:solidFill>
              </a:rPr>
              <a:t>일정 관리, 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지금까지는 팀장이 만들었고, 오늘부터 셋이 나눠 맡습니다</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답해 주시면 기말 발표 때 결과로 보여 드립니다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 발표</dc:title>
  <dc:subject>PptxGenJS Presentation</dc:subject>
  <dc:creator>4조</dc:creator>
  <cp:lastModifiedBy>4조</cp:lastModifiedBy>
  <cp:revision>1</cp:revision>
  <dcterms:created xsi:type="dcterms:W3CDTF">2026-10-25T13:28:43Z</dcterms:created>
  <dcterms:modified xsi:type="dcterms:W3CDTF">2026-10-25T13:28:43Z</dcterms:modified>
</cp:coreProperties>
</file>