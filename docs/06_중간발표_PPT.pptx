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① 표지·팀 소개" id="{e7d288c3-0361-35a1-4b0c-8a74b05872b6}">
          <p14:sldIdLst>
            <p14:sldId id="256"/>
            <p14:sldId id="257"/>
          </p14:sldIdLst>
        </p14:section>
        <p14:section name="② 문제 정의" id="{1479644c-9c61-324a-022d-e62c43cf08c3}">
          <p14:sldIdLst>
            <p14:sldId id="258"/>
            <p14:sldId id="259"/>
          </p14:sldIdLst>
        </p14:section>
        <p14:section name="③ 솔루션·핵심 가치" id="{153e4016-be10-1880-4cf0-83ef913cc55f}">
          <p14:sldIdLst>
            <p14:sldId id="260"/>
            <p14:sldId id="261"/>
          </p14:sldIdLst>
        </p14:section>
        <p14:section name="④ SW 기술 아키텍처" id="{61814e0f-efc5-b40e-ba47-65ab9e68a611}">
          <p14:sldIdLst>
            <p14:sldId id="262"/>
            <p14:sldId id="263"/>
          </p14:sldIdLst>
        </p14:section>
        <p14:section name="⑤ 개발 현황·MVP 시연" id="{39c1ef8c-c2b4-7fbb-4d20-b518d3eaf207}">
          <p14:sldIdLst>
            <p14:sldId id="264"/>
            <p14:sldId id="265"/>
            <p14:sldId id="266"/>
            <p14:sldId id="267"/>
          </p14:sldIdLst>
        </p14:section>
        <p14:section name="⑥ 시장 분석·비즈니스 모델" id="{d4f165c5-10b4-21b8-68e5-4abf08d1d13b}">
          <p14:sldIdLst>
            <p14:sldId id="268"/>
            <p14:sldId id="269"/>
            <p14:sldId id="270"/>
          </p14:sldIdLst>
        </p14:section>
        <p14:section name="⑦ 초기 시장 검증" id="{773894f4-a283-298d-47b0-a911f76deb5d}">
          <p14:sldIdLst>
            <p14:sldId id="271"/>
          </p14:sldIdLst>
        </p14:section>
        <p14:section name="⑧ 향후 계획·팀 역량" id="{7abda316-f843-b66f-0e29-02ad88872ebf}">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D636D"/>
                </a:solidFill>
                <a:latin typeface="+mn-lt"/>
              </a:defRPr>
            </a:pPr>
            <a:r>
              <a:rPr sz="1100" b="0" i="0" u="none" strike="noStrike">
                <a:solidFill>
                  <a:srgbClr val="5D636D"/>
                </a:solidFill>
                <a:latin typeface="+mn-lt"/>
              </a:rPr>
              <a:t>임금체불액 (억 원, 고용노동부)</a:t>
            </a:r>
          </a:p>
        </c:rich>
      </c:tx>
      <c:layout/>
      <c:overlay val="0"/>
    </c:title>
    <c:autoTitleDeleted val="0"/>
    <c:plotArea>
      <c:layout/>
      <c:barChart>
        <c:barDir val="col"/>
        <c:grouping val="clustered"/>
        <c:varyColors val="0"/>
        <c:ser>
          <c:idx val="0"/>
          <c:order val="0"/>
          <c:tx>
            <c:strRef>
              <c:f>Sheet1!$B$1</c:f>
              <c:strCache>
                <c:ptCount val="1"/>
                <c:pt idx="0">
                  <c:v>임금체불액 (억 원)</c:v>
                </c:pt>
              </c:strCache>
            </c:strRef>
          </c:tx>
          <c:spPr>
            <a:solidFill>
              <a:srgbClr val="2A3193"/>
            </a:solidFill>
            <a:effectLst/>
          </c:spPr>
          <c:invertIfNegative val="0"/>
          <c:dLbls>
            <c:numFmt formatCode="#,##0" sourceLinked="0"/>
            <c:txPr>
              <a:bodyPr/>
              <a:lstStyle/>
              <a:p>
                <a:pPr>
                  <a:defRPr b="0" i="0" strike="noStrike" sz="1100" u="none">
                    <a:solidFill>
                      <a:srgbClr val="15171A"/>
                    </a:solidFill>
                    <a:latin typeface="+mn-lt"/>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17845</c:v>
                </c:pt>
                <c:pt idx="1">
                  <c:v>20448</c:v>
                </c:pt>
                <c:pt idx="2">
                  <c:v>20679</c:v>
                </c:pt>
              </c:numCache>
            </c:numRef>
          </c:val>
        </c:ser>
        <c:dLbls>
          <c:numFmt formatCode="#,##0" sourceLinked="0"/>
          <c:txPr>
            <a:bodyPr/>
            <a:lstStyle/>
            <a:p>
              <a:pPr>
                <a:defRPr b="0" i="0" strike="noStrike" sz="1100" u="none">
                  <a:solidFill>
                    <a:srgbClr val="15171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D636D"/>
                </a:solidFill>
                <a:latin typeface="+mn-lt"/>
              </a:defRPr>
            </a:pPr>
            <a:endParaRPr lang="en-US"/>
          </a:p>
        </c:txPr>
        <c:crossAx val="2094734552"/>
        <c:crosses val="autoZero"/>
        <c:auto val="1"/>
        <c:lblAlgn val="ctr"/>
        <c:noMultiLvlLbl val="1"/>
      </c:catAx>
      <c:valAx>
        <c:axId val="2094734552"/>
        <c:scaling>
          <c:orientation val="minMax"/>
          <c:max val="24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팀장이 엽니다. "알바비를 덜 받아도 모르고, 알아도 말을 못 하는 대학생을 위해, 기록 → 비교 → 요청까지 한 앱으로 잇는 알바가드입니다." 팀명은 앱 이름과 같은 알바가드입니다.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팀장. "교수님이 아직 구현 전일 거라 하셨는데, 저희는 웹앱이라 빨리 만들 수 있어서, 화면을 먼저 만들고 그걸 보여 주며 묻는 순서를 택했습니다. 오늘 보여 드리는 건 완성품이 아니라 검증용 도구입니다." 사용자 검증은 11월에 합니다. 오른쪽 QR은 앱과 설문입니다. 설문은 이름을 받지 않고 3분이라, 들으시면서 답해 주셔도 됩니다. 역할은 개발 이지훈, 시장 · 수익 손유호, 검증 · 일정 박명진이고 발표도 그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타깃: 근로계약서가 없거나 사본이 없고, 통장 총액만 확인하고, 사장님께 말을 꺼내기 부담스러워하는 학생입니다. 주 15시간은 주휴수당이 생기는 선입니다. 문제 1: 수당 안내를 못 받는 경우가 많고 주휴 · 야간 계산 기준은 알기 어렵습니다. 계산기는 있어도 넣을 기록이 없습니다. 문제 2: 통장에 들어온 총액만 보고 넘어가고, 계약서가 없어 시급도 증명하기 어렵습니다. 문제 3: 관계 걱정, 작은 금액, 근거 없음이 겹치고, 메모장 기록은 "나중에 지어낸 것 아니냐?" 한마디에 무너집니다. 세 문제를 숫자로 보여 줍니다. 모두 알바천국 설문이라 "플랫폼 설문"이라는 점을 말하고, 그래서 우리도 직접 설문을 돌리고 있다고 잇습니다. 33.2%는 노동절 수당 안내에 대한 숫자라 "수당 자체가 안내되지 않는다"까지만 말하고, 주휴 · 야간 계산 자신감은 우리 설문 문항으로 직접 묻고 있다고 덧붙입니다.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무료 앱이 실제로 겨루는 상대는 다른 앱보다 메모장과 통장 확인입니다. 그래서 첫 열에 넣었습니다. 하우머치는 혼자 쓸 수 있지만 예상 급여에서 멈추고, 기그는 사장 연동이 필요하고, 계산기는 기록이 없고, 진정24는 증거가 있어야 시작합니다. 가운데 세 줄은 다른 서비스가 모두 X이고 알바가드만 O입니다. 그 세 줄이 저희가 채우는 부분입니다. 마지막 줄 진정 접수는 저희가 일부러 안 합니다. 1350과 노동포털로 연결만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단계를 한 앱에서 잇는 것이 핵심입니다. 사장 연동 없이, 로그인 없이, 근무 내용은 폰 안에만 둡니다. 화면은 통장처럼 "일하면 돈이 쌓인다"가 보이게 만들었습니다.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1번은 기그와 달리 사장이 가입하지 않아도 된다는 뜻입니다. 2번은 실제 받은 돈과 비교해 차액을 찾고 요청 문구와 증빙 묶음까지 잇는 것으로, 비교한 네 서비스 모두 없습니다. 3번은 누구나 확인 페이지에서 등록 시각을 볼 수 있고, 내용으로 번호를 다시 계산하는 방법은 기말까지 만듭니다. 한계 상자의 "기록 구조"는 사유 없이 못 고침 · 삭제도 흔적 · 고치면 다시 등록입니다. 통장 내역 · 메시지와 함께 내야 힘이 생긴다는 말은 앱의 증빙 문서 맨 아래에도 적혀 있습니다. 법적 효력을 보장한다고 말하지 않고, 근로감독관 · 법원이 판단할 자료를 정리해 준다고 말합니다. 세 번째가 따라 하기 어려운 차별점입니다. 기능 하나가 아니라 기록 구조라서, 사유 없이는 못 고치고 삭제해도 흔적이 남고 고치면 다시 등록됩니다. 기존 급여 앱이 넣으려면 사용자가 기록을 마음대로 고치던 방식을 포기해야 합니다. 지금 확인 페이지는 번호의 서버 등록 시각까지 보여 주고, 기록 내용에서 번호를 다시 계산해 맞춰 보는 방법은 기말까지 만듭니다(그래서 12장에서 70%). 근무지 · 시각 · 금액은 서버로 가지 않고, "그날 실제로 일했다"까지는 증명하지 못합니다. 한계는 먼저 말합니다. "법적 효력" 질문이 오면 보장하지 않는다고 답하고, 판단할 자료를 정리해 준다고 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표의 이유를 풀면: 스토어 심사 없이 링크로 배포해 의견을 듣고 바로 고칩니다. 서버는 확인 번호 등록과 설문 수집에만 씁니다. 공개키로는 넣기 · 읽기만 되고(RLS) 시각은 서버가 찍지만, 운영자 조작까지 막지는 못합니다. main에 올리면 GitHub Actions가 자동으로 빌드 · 배포합니다. 배포 앱은 API 키 없이 정해진 문구로 동작합니다. 한 학기 안에 혼자 만들 수 있는 구성입니다. 서버를 최소로 둔 이유는 개인정보와 비용 둘 다입니다. 배포는 링크 하나라 사용자 의견을 듣고 바로 고칠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상자를 풀면: 화면은 근무 기록 · 캘린더 · 급여 비교 · 정산 요청 · 설정, 계산 모듈은 급여(주휴 · 야간) · 예정 vs 실제 · 요청 문구 · PDF · 확인 번호, 저장은 localStorage(기록 · 수정 이력)와 IndexedDB(사진)입니다. stamps 표에는 확인 번호 · 기록 번호 · 무작위 기기 번호 · 등록 시각이 들어갑니다. 확인함: 공개키로 수정 · 삭제 요청을 보내면 401로 거부되고, 2000년 시각을 보내도 서버 시각으로 저장됩니다. 확인 페이지는 앱 데이터 없이 동작합니다. 왼쪽 폰 안에서 모든 계산이 끝나고, 서버로 가는 건 확인 번호뿐입니다. 기기 번호는 처음 기록을 등록할 때 앱이 만든 난수라 휴대전화 번호가 아닙니다. 앱이 쓰는 공개키로는 넣기와 읽기만 되고, 직접 요청을 보내 확인했습니다. 2000년 시각을 보내도 서버 시각으로 들어가고, 수정 · 삭제는 401로 거부됩니다. 다만 운영자 권한으로는 고칠 수 있어서, 지금 막는 건 "사용자가 나중에 고쳐 쓰기"까지입니다. 운영자까지 못 고치게 하는 외부 시점 확인은 비용 때문에 계획입니다. 오른쪽은 기록 하나가 남을 때의 흐름입니다. 증빙 묶음 PDF 7번 표에 기록별 확인 번호와 등록 시각이 들어갑니다. 배포는 GitHub main에 올리면 Actions가 Pages로 자동 배포합니다. 지금 답하고 계신 설문도 같은 서버의 survey 표로 가고, 권한 원칙이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디자인은 타깃 사용자(하우머치를 쓰는 친구)가 시안 12장 중 고른 통장 구성입니다. 잉크 남색은 "기록을 잉크로 남긴다"라는 뜻입니다. 증빙 묶음은 인쇄 창에서 PDF로 저장합니다.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단계(등록 → 비교 → 요청 · 증빙 → 확인)가 차별점과 하나씩 맞물립니다. 영상에 안 나오는 것은 말로 짚습니다: 캘린더의 연장 · 대타 표시(9장 캡처), 3단계 진정 안내(1350 · 노동포털 연결, 진정서는 만들지 않음). 예시 데이터는 발표 전에 미리 넣어 둡니다(오늘 날짜는 비어 있어 출근 · 퇴근이 그대로 됩니다). 7번 표에는 시연 중 남긴 2건만 나옵니다. 예시 데이터는 진짜 시각이 아니라 등록하지 않기 때문입니다. 시연은 다음 장의 녹화 영상(1분 46초)으로 하고, 단계마다 멈춰서 설명하면 약 3분입니다. 영상은 배포된 앱을 실제로 눌러 찍은 것이라 서버 등록과 확인 번호가 진짜입니다(10/26 오전 9시 36분 녹화. 화면의 시각은 녹화한 시각). 질문이 오면 실제 앱으로 1단계(출근 · 퇴근 → "2건 등록됨")만 보여 줍니다. 전날 할 일: Supabase 대시보드에서 프로젝트 상태를 확인하고(잠들어 있으면 Restore) 앱에서 출근 · 퇴근을 눌러 설정 탭에 "2건 등록됨"이 뜨는지 본다. 그다음 폰의 와이파이를 끄고 데이터로 확인 페이지(jihooni217.github.io/albaguard/verify.html?h=da3e2a7ad7e298db)를 열어 등록 시각이 나오는지 본다. 당일 아침에도 한 번 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재생 전에 한 문장: "보실 것 하나만 말씀드리면 마지막 장면의 등록 시각입니다. 지금 서버에 그대로 있는 값입니다." 영상을 누르면 재생됩니다. 왼쪽이 폰 화면, 오른쪽 위는 지금 단계(기록 · 비교 · 요청 · 확인), 그 아래가 자막입니다. 1 출근 · 퇴근 → 설정 "2건 등록됨"(0:10~0:30), 2 받은 금액 입력 → 빨간 차액(0:30~0:50), 3 메시지 생성 → 증빙 묶음 PDF 7번 표(0:50~1:28), 4 확인 페이지 → 서버 등록 시각(1:28~1:42). 시작 3초는 제목 화면, 끝 4초는 확인 페이지 주소와 확인 번호 화면입니다. 단계가 바뀔 때 멈추고 한두 문장씩 설명합니다. 영상이 안 열리면 docs/08_시연_영상.mp4를 따로 틀어도 됩니다. 영상 마지막에 나오는 확인 번호는 da3e2a7ad7e298db입니다. "녹화라서 못 믿겠다"라는 질문이 오면 "지금 폰으로 jihooni217.github.io/albaguard/verify.html?h=da3e2a7ad7e298db 를 열어 보셔도 됩니다. 서버가 찍은 시각이 녹화 시각(10/26)과 같습니다"라고 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직후에 보여 줍니다. "방금 보신 것이 8개 중 이만큼"입니다. 100%는 쓰지 않았습니다. 계획 기준은 9월 기획서의 기능 4개에서 출발해, 10/13 MVP 기능 정의서에서 포함 8개 · 제외 6개(금액 자동 인식 · 푸시 알림 · AI 문구 · 광고 · 로그인 · 진정서)로 고정한 것입니다. %는 구현 + 실제 폰 확인 + 사용자 검증을 100으로 보고 남은 일만큼 뺀 자체 평가이고, 동작은 컴퓨터의 폰 크기 화면에서, 실제 폰은 설치까지 확인했습니다. 동그라미 세 칸은 컴퓨터 동작 · 실제 폰 · 사용자 검증이고, 지금은 모두 첫 칸만 찼습니다. 뒤 두 칸이 11월 일정입니다. 세 칸 중 첫 칸만 찼는데 왜 80~90%냐고 물으시면, %는 칸수가 아니라 남은 일의 크기로 어림한 것이고 11월 검증에서 큰 수정이 나오면 내려갈 수 있다고 답합니다. 이 장이 끝나면 손유호에게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손유호. 타깃 규모에서 지금 알바 중인 사람과 주 15시간 이상인 사람은 공식 통계가 없어 미상입니다. 상한 210~270만 명은 알바 경험 기준입니다. 타이밍: 2025년 9월 임금체불 근절 대책과 10월 23일 개정 근로기준법 시행으로 체불 제재가 세졌고, 근거를 남긴 사람이 받아 내기 쉬워졌습니다. 임금체불은 2년 연속 2조 원이고 30인 미만 사업장에 몰려 있습니다. 타깃 규모는 어림이라 "약"을 붙여 말하고, 없는 숫자(지금 알바 중, 주 15시간 이상)는 미상으로 둡니다. 재적학생은 교육부 2026 교육기본통계(대학원 포함), 알바 경험률은 알바몬 설문(1,193명, 여름방학 알바 88.9%, 2023)과 동대신문 설문(200명, 67.5%)이라 대푯값이 아닙니다. 근절 대책은 대지급금을 3개월분에서 6개월분으로 늘렸고, 개정법은 상습 체불 사업주에게 신용 제재를 겁니다. 체불 통계는 문제의 크기이지 알바 시장의 크기가 아닙니다. 알바생 몫은 이 통계에서 알 수 없어 미상으로 둡니다. "주 15시간 이상이 다수인지의 첫 조각은 지금 답하고 계신 설문에서 나오지만, 규모 추정이 아니라 메시지를 정하는 참고값입니다. 다음 순서에서 박명진이 말씀드립니다." 출처: 고용노동부 노동포털 임금체불 통계현황, 알바천국 설문, 교육부 교육기본통계.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손유호. 첫 사용자로 보는 사람은 하우머치 사용자가 아니라, 카톡 · 메모에 적거나 아예 안 적고 통장 총액만 보는 학생입니다. 하우머치가 비교 칸을 넣으면 따라올 수 있으니, 따라 하기 어려운 쪽(기록 등록)을 키웁니다. 2×2에서 알바가드는 "혼자 쓴다 × 대응까지"에 있습니다. 오른쪽 열은 혼자서는 시작할 수 없는 서비스입니다. 기그는 사장이 가입해야 하고, 진정24는 증거가 먼저 있어야 합니다. 경쟁 서비스 정보는 2026년 9월 각 앱의 공식 소개와 리뷰 기준입니다.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손유호. 핵심 화면은 신뢰가 핵심이라 광고를 섞지 않습니다. 단가를 모르니 매출 추정은 적지 않았습니다. 정산 문구 · 내용증명 · 증빙 묶음을 돈 받고 만들면 변호사법 · 공인노무사법 문제에 가까워져서 유료화하지 않습니다. 유저 확보는 에브리타임 · 학과 단톡 · 알바 커뮤니티에 링크를 올리고, "주휴수당 계산법" 같은 짧은 영상을 만듭니다. 알바비 앱에 왜 게임이 있나: 출퇴근은 일하는 날마다 누르지만, 돈을 확인하는 건 급여일에 한 번이라, 그 사이에도 앱을 열 이유로 넣었고 그 화면이 광고 자리입니다. 처음엔 근무 중에만 열렸는데 팀원 의견으로 10/25에 조건을 풀고 설정에서 숨길 수 있게 했습니다. 광고 형식은 웹앱이라 배너 · 전면이 기본이고 보상형은 승인이 필요합니다. 2차 구독은 폰을 바꾸거나 잃어버려도 기록이 남게 하는 선택 기능이고, 원하는 사람만 쓰므로 "근무 내용은 폰 안에만" 원칙과 부딪히지 않습니다. 문서를 돈 받고 만들어 주는 건 법적 이유로 하지 않습니다(웹 조사 기준, 전문가 검토 아님). 광고 가설은 설문의 "게임 화면 광고" 문항과 승인 뒤 게임 화면 열람 수로 확인합니다. 운영 비용은 지금 서버 0원 · 배포 0원이라 수익이 0이어도 서비스는 돌아가고, 인건비는 팀 3명입니다.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박명진. 모집은 학과 · 동아리 단톡, 에브리타임, 그리고 오늘 이 자리(QR)입니다. 인터뷰 5명은 지인 중 지금 알바 중인 사람으로 11/3~11/9에 합니다. 왜 먼저 만들었나: 웹앱이라 빨리 만들 수 있고, 화면을 보여 주며 물어야 답이 정확하다고 봤습니다. 가설은 9월 기획서 문장 그대로입니다. 표의 기준은 팀이 정한 목표이지 데이터가 아닙니다. 인터뷰 문항은 설문지 20~24번입니다. 지금까지 들은 것은 정식 조사가 아닙니다: 타깃 사용자 1명이 디자인 시안 12장 중 통장 구성을 골랐고, 링크 설문은 10/23에 공개했습니다. 기말 발표에서 이 표에 결과를 더해 보고합니다. 응답 수는 슬라이드에 적지 않고 당일 아침 결과 페이지에서 읽습니다. 0명이면 0명이라고 말합니다. 다만 당일 아침 응답이 10명 이상이고, 강의실 인터넷이 되고, 교수님 양해를 받았으면 결과 페이지(survey-results.html)를 60초만 띄워 세 문항(주당 근무 시간 · 적게 받은 것 같았던 적 · 매달 받은 금액 직접 넣기)만 읽습니다. 자유 의견은 띄우지 않습니다. 아니면 당일 아침 캡처로 대신합니다. 테스트 응답 2건(10/23)은 미리 지워 둡니다. 결과는 사람 수로만 말하고 %는 30명을 넘을 때만 씁니다. 1행은 의향을 묻는 것이라 한계가 있습니다. 인터뷰 때 앱을 설치하게 하고, 실제로 넣는지는 급여일이 지난 뒤 따로 봅니다(기말 이후까지 걸릴 수 있음). 지인은 호의적으로 답하기 쉬워서 "넣겠다"를 그대로 믿지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박명진. 7주 일정이고 빨간 마름모가 마일스톤입니다. 설문은 오늘 이 자리에서 시작해 11/16까지 손유호가 30명을 모으고, 인터뷰 5명은 11/3~11/9에 손유호 3명, 제가 2명을 합니다. 폰 검증은 아이폰은 팀장, 갤럭시는 제가 주관합니다. 광고 승인 신청은 손유호, 코드는 팀장입니다. 마일스톤: 11/9 설문 1차 집계 · 인터뷰 마감, 11/23 피드백 반영 배포와 광고 결정, 11/30 폰 검증 끝, 12/7 기록 등록 보강 배포와 기능 동결, 12/15 기말. 11/23에 설문의 광고 문항 결과로 광고 실험과 새 게임 중 하나를 정합니다. 12/7 이후에는 코드를 바꾸지 않고 보고서와 발표를 준비합니다. 위험과 대안은 보고서 5.4에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박명진. 앞으로 맡는 일은 오늘 각자 발표한 장과 같습니다. 개발은 팀장, 시장과 설문 · 인터뷰 3명은 손유호, 인터뷰 2명과 갤럭시 테스트 · 일정 · 보고서는 저입니다. 다음 장으로 넘겨 팀장이 마무리합니다.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팀장 마무리(20초): "저희가 여쭙고 싶은 것 두 가지입니다. 문서 유료화를 피하면서 가능한 수익 모델이 더 있을지, 그리고 설문 30명 · 인터뷰 5명이면 충분한지입니다. 질문받겠습니다." 이 장은 질의응답 내내 띄워 둔다.
예상 질문 (이름 붙은 사람이 먼저 답하고, 모자라면 팀장이 보탠다)
· [이지훈] 법적 효력 있나? → 보장하지 않는다. 판단은 감독관 · 법원. 우리는 판단할 자료를 정리하고, 수정 이력과 확인 번호로 "나중에 고친 게 아니다"까지 보여 준다. 통장 내역 · 카톡과 함께 내야 한다고 앱에도 적어 뒀다.
· [이지훈] 서버는 여러분이 관리하는데 고치면 그만 아닌가? → 맞다. 공개키로는 넣기 · 읽기만 되고 시각은 서버가 찍는 것까지 확인했지만, 프로젝트 소유자 권한으로는 고칠 수 있다. 한계로 인정한다. 지금 막는 건 "사용자 본인이 나중에 고쳐 쓰기"까지. 운영자까지 못 고치게 하는 외부 공인 시점 확인은 비용 때문에 계획. 서버에는 번호만 있어서 운영자가 서버를 고쳐도 폰의 근무 내용 자체는 못 바꾼다. (확인 페이지 본문의 "고치거나 지울 수 없습니다"는 "앱 쪽에서는"이라고 범위를 붙여 말할 것)
· [이지훈] 확인 번호가 그 기록에서 나온 건지 어떻게 아나? → 지금은 번호와 서버 등록 시각까지 보여 주고, 기록 내용에서 번호를 다시 계산해 맞춰 보는 방법은 기말까지 만든다(그래서 70%). 지금은 앱 · 백업 파일을 함께 봐야 한다.
· [이지훈] 본인이 쓴 기록을 믿을 수 있나? → 거짓 기록은 막을 수 없다고 인정. 막는 건 "나중에 고쳐 쓰기". 영세 사업장은 기록이 없는 경우가 많아 알바생 기록이 거의 유일한 자료가 되기 쉽다. 사장에게는 임금대장 · 계약 서류 보존 의무가 있다(근로기준법 48 · 42조).
· [이지훈] 앱 계산이 틀리면 분쟁이 커지는 것 아닌가? 책임은? → 계산을 단정으로 내놓지 않는다. 항목별 · 주별 이유를 펼쳐 보여 주고, 안 넣은 것(연장근로 가산)과 유리하게 본 것(합의 휴무)은 화면에 적었다. 1단계 문구는 청구서가 아니라 "제가 계산을 잘 몰라서 여쭤본다"라는 확인 요청. 법률 자문 아님을 적어 두었고 1350 확인을 안내한다.
· [이지훈] 고객 검증도 전에 왜 먼저 만들었나? → 맞다. 다만 링크로 배포되는 웹앱이라 빨리 만들 수 있었고, 말로 설명하기보다 화면을 보여 주며 물어야 정확한 답을 듣는다고 봤다. 9월 경쟁 앱 리뷰로 빈자리를 확인하고 10/13 정의서로 범위를 8개로 잘랐다. 설문에 캡처 3장을 넣고 "실제로 있다면 쓰겠나"를 묻는다. 12/7까지는 고치는 기간.
· [박명진] 받은 금액을 매달 직접 넣어야 하는데 넣을까? → 가장 큰 가설이라 인터뷰 1번. 첫 화면에서 "9월 급여 받으셨나요?"라고 묻고 넣는 순간 덜 받은 돈이 보이게 했다. 5명 중 3명이 아니면 자동 인식을 앞당긴다.
· [이지훈] 하우머치가 따라 하면? → 비교 기능은 따라올 수 있다. 해시를 서버에 넣는 기술 자체도 어렵지 않다고 인정한다. 어려운 것은 그 번호가 뜻이 있게 기록 구조를 짜는 일이다. 사유 없이 못 고치고, 삭제도 흔적이 남고, 고칠 때마다 다시 등록돼야 "몇 번 고쳤나"가 보인다. 기존 앱이 따라오려면 기록을 마음대로 고치던 방식을 바꿔야 해서 쉽게 따라오지 않는다고 본다. 그래도 따라오면 요청 · 증빙까지 잇는 흐름으로 간다. 우리도 "내용으로 번호 다시 계산"이 남아 70%다.
· [손유호] 급여 앱에 게임이 왜? 근무 중에 게임을 권하나? → 출퇴근은 일하는 날마다 누르지만, 돈을 확인하는 건 급여일에 한 번이라, 그 사이에도 앱을 열 이유로 넣은 것. 처음엔 근무 중에만이었는데 팀원 의견으로 10/25 조건을 풀고 설정에서 숨길 수 있게 했다. 게임 기록은 문서에 안 섞인다. 안 되면 게임을 빼도 기록 → 비교 → 요청은 그대로.
· [박명진] 같은 과 학생 설문이 무슨 의미? 편향 아닌가? → 맞다. "정식 조사 아님"을 적고 사람 수로만 말한다. 중복 응답도 막지 않았다(이름 · 기기 정보를 안 받는 대가). 11월 30명은 과 밖에서, 인터뷰 5명으로 이유를 듣는다.
· [이지훈] 법률 서비스 아닌가? → 무료, 본인 기록을 정해진 양식에 채울 뿐, 개별 사안 검토 · 대행 없음, 진정은 1350 · 노동포털로 연결만.
· [손유호] 수익은? → 게임 화면 광고(가설). 운영 비용은 0원. 문서 유료화는 안 한다.
· [이지훈] 정의서를 개발 중에 썼는데 계획 대비가 의미 있나? → 맞다. 원래 계획은 9월 기획서의 기능 4개(기록 · 비교 · 요청 · 증빙)다. 10/13 정의서는 만들면서 필요해진 것(기록 등록 · 백업)을 더해 8개로 고정하고, 넣지 않을 6개를 정한 문서다. 그 뒤 포함 기능을 늘리지 않았고 뺀 6개는 지금도 없다. 8/8은 "다 했다"가 아니라 "범위를 지켰다"로 읽어 달라.
· [이지훈] 등록 시각이 출근 시각인가? 인터넷이 없을 때 기록하면? → 아니다. 등록 시각은 확인 번호가 서버에 도착한 시각이고, 보여 주는 것은 "늦어도 이 시각에는 이 내용이 있었다"까지다. 인터넷이 없으면 대기열에 있다가 연결될 때 보내지므로 그만큼 늦어진다. "나중에 입력"한 기록도 입력했을 때 등록되고, 기록에는 나중에 입력했다는 표시와 사유가 같이 남는다. 출근 시각 자체를 증명하는 것은 아니다.
· [이지훈] 아무 번호나 넣으면? 두 기록이 같은 번호가 될 수 있나? → 확인 페이지는 앞 16자와 64자 전체를 둘 다 받고, 서버에 없는 번호는 등록된 것이 없다고 나온다. 서버 표에서 번호는 중복을 허용하지 않는다. 재료에 기록 번호와 만든 시각이 들어가서 서로 다른 기록이 같은 번호가 될 일은 사실상 없다.
· [이지훈] 카톡 나에게 보내기로 매일 적으면 같지 않나? → 시각만 보면 카톡이 더 믿을 만하다. 카카오가 찍은 시각이라 우리와 무관하다. 다른 점은 둘이다. 카톡은 고치면 새 메시지가 하나 더 생길 뿐 무엇을 왜 고쳤는지 안 남고, 그 기록으로 계산 · 비교 · 요청 · 증빙 묶음까지 이어지지 않는다. 그래서 카톡에 적던 사람이 첫 타깃이고, 카톡 캡처는 함께 내라고 앱에도 적었다.
· [이지훈] AI는 어디에 썼나? Claude 문구는 실제로 써 봤나? → 앱 기능으로는 정산 요청 문구 생성 하나이고 선택 사항이다. 배포 앱은 API 키 없이 근무 기록과 계산 내역을 채운 정해진 문장으로 만든다. 기본을 끈 이유는 기록 내용이 폰 밖으로 나가면 개인정보 안내와 동의가 먼저 필요해서다. 키가 없어 Claude 문구를 실제로 돌려 본 적은 아직 없다.
· [이지훈] 코드는 누가 짰고 이해하고 있나? → (사실대로. 틀: 개발 도구로 AI 코딩 도우미를 썼다. 기능 범위 8개, 계산 규칙(주휴 · 야간 · 휴게시간 · 연도별 최저임금), 기록 구조(수정 이력, 삭제 흔적, 사유 없이는 저장 안 됨), 법적 문구 원칙은 팀장이 정하고 하나씩 확인하며 올렸다. 서버 권한은 2000년 시각과 수정 · 삭제 요청을 직접 보내 확인했다.)
· [이지훈] 왜 Supabase인가? 설문은 서버에 두면서 근무 기록은 왜 안 두나? → 서버 코드 없이 REST로 표에 넣고 읽을 수 있고, 표 단위 권한(RLS)과 트리거로 "시각은 서버가 찍는다"를 걸 수 있어서다. 일주일 요청이 없으면 멈추는 단점은 알고 있다. 설문은 이름 없는 답 묶음이고 근무 기록은 근무지 · 시각 · 금액이라 민감도가 다르다. 권한 원칙은 두 표가 같다.
· [이지훈] 폰을 바꾸거나 서비스가 없어지면 기록은? → 폰을 바꾸면 백업 파일로 옮긴다(설정 탭). 서비스가 없어져도 폰의 기록, 백업 파일, 저장해 둔 증빙 묶음 PDF는 사용자 손에 남는다. 이 문제를 푸는 것이 2차 구독(동기화 · 자동 백업)이다.
· [이지훈] 개인정보는? 동의는? → 로그인이 없고 서버에는 이름 · 근무지 · 시각 · 금액이 가지 않는다. 가는 것은 확인 번호 · 기록 번호 · 무작위 기기 번호뿐이고, 무엇이 가는지 설정 탭에 적고 끌 수 있게 했다. 설문도 이름 · 연락처를 받지 않는다. 기록 내용을 밖으로 보내는 기능을 켜면 그때 안내와 동의가 필요하다.
· [박명진] 왜 설문 30명 · 인터뷰 5명인가? → 9월 기획서는 인터뷰 10~15명이었다. 사람 수는 링크 설문으로 채우고, 앱을 써 보게 하는 20분 인터뷰는 7주 안에 셋이 할 수 있는 5명으로 줄였다. 충분한지는 마지막에 여쭙는 것 중 하나다.
· [손유호] 광고 수익이 생기면 "무료라서 괜찮다"가 깨지지 않나? → 광고는 게임 화면에만 나오고 문서 기능과 떼어 놓았다. 문서를 만든 대가로 받는 돈이 아니게 구조를 잡은 것이다. 다만 웹 조사 기준 판단이고 전문가 검토는 아니다.
· [박명진 → 손유호 순으로 각자] 팀원은 뭘 했나? → 개발은 이지훈. 손유호는 수업 시간의 계획서 일부를 썼고(내용은 팀장이 반영), 앞으로 시장 · 설문 · 인터뷰 3명. 박명진은 지금까지 의견을 낸 정도이고, 앞으로 인터뷰 2명 · 갤럭시 테스트 · 일정 · 보고서 편집.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773168"/>
            <a:ext cx="4572000" cy="256032"/>
          </a:xfrm>
          <a:prstGeom prst="rect">
            <a:avLst/>
          </a:prstGeom>
          <a:noFill/>
          <a:ln/>
        </p:spPr>
        <p:txBody>
          <a:bodyPr wrap="square" lIns="0" tIns="0" rIns="0" bIns="0" rtlCol="0" anchor="ctr"/>
          <a:lstStyle/>
          <a:p>
            <a:pPr indent="0" marL="0">
              <a:buNone/>
            </a:pPr>
            <a:r>
              <a:rPr lang="en-US" sz="900" dirty="0">
                <a:solidFill>
                  <a:schemeClr val="accent5"/>
                </a:solidFill>
              </a:rPr>
              <a:t>알바가드 · SW기술창업 중간발표 · 4조</a:t>
            </a:r>
            <a:endParaRPr lang="en-US" sz="900" dirty="0"/>
          </a:p>
        </p:txBody>
      </p:sp>
      <p:sp>
        <p:nvSpPr>
          <p:cNvPr id="3" name="Text 1"/>
          <p:cNvSpPr/>
          <p:nvPr>
            <p:ph idx="101" type="body" hasCustomPrompt="1"/>
          </p:nvPr>
        </p:nvSpPr>
        <p:spPr>
          <a:xfrm>
            <a:off x="457200" y="274320"/>
            <a:ext cx="7772400" cy="256032"/>
          </a:xfrm>
          <a:prstGeom prst="rect">
            <a:avLst/>
          </a:prstGeom>
          <a:noFill/>
          <a:ln/>
        </p:spPr>
        <p:txBody>
          <a:bodyPr wrap="square" rtlCol="0"/>
          <a:lstStyle>
            <a:lvl1pPr indent="0" marL="0">
              <a:buNone/>
              <a:defRPr lang="en-US" sz="1050" b="1" dirty="0">
                <a:solidFill>
                  <a:schemeClr val="accent5"/>
                </a:solidFill>
              </a:defRPr>
            </a:lvl1pPr>
          </a:lstStyle>
          <a:p>
            <a:pPr indent="0" marL="0">
              <a:buNone/>
            </a:pPr>
            <a:endParaRPr lang="en-US" sz="1050" dirty="0"/>
          </a:p>
        </p:txBody>
      </p:sp>
      <p:sp>
        <p:nvSpPr>
          <p:cNvPr id="4" name="Text 1"/>
          <p:cNvSpPr/>
          <p:nvPr>
            <p:ph idx="102" type="title" hasCustomPrompt="1"/>
          </p:nvPr>
        </p:nvSpPr>
        <p:spPr>
          <a:xfrm>
            <a:off x="457200" y="502920"/>
            <a:ext cx="8229600" cy="566928"/>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A319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video" Target="../media/media-11-1.mp4"/><Relationship Id="rId2" Type="http://schemas.microsoft.com/office/2007/relationships/media" Target="../media/media-11-1.mp4"/><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앱 아이콘" descr="C:\Users\user\Desktop\albaguard기술창업\public\icon-512.png">    </p:cNvPr>
          <p:cNvPicPr>
            <a:picLocks noChangeAspect="1"/>
          </p:cNvPicPr>
          <p:nvPr/>
        </p:nvPicPr>
        <p:blipFill>
          <a:blip r:embed="rId1"/>
          <a:stretch>
            <a:fillRect/>
          </a:stretch>
        </p:blipFill>
        <p:spPr>
          <a:xfrm>
            <a:off x="548640" y="548640"/>
            <a:ext cx="731520" cy="731520"/>
          </a:xfrm>
          <a:prstGeom prst="rect">
            <a:avLst/>
          </a:prstGeom>
        </p:spPr>
      </p:pic>
      <p:sp>
        <p:nvSpPr>
          <p:cNvPr id="3" name="Text 0"/>
          <p:cNvSpPr txBox="1"/>
          <p:nvPr/>
        </p:nvSpPr>
        <p:spPr>
          <a:xfrm>
            <a:off x="548640" y="1371600"/>
            <a:ext cx="5486400" cy="914400"/>
          </a:xfrm>
          <a:prstGeom prst="rect">
            <a:avLst/>
          </a:prstGeom>
          <a:noFill/>
          <a:ln/>
        </p:spPr>
        <p:txBody>
          <a:bodyPr wrap="square" lIns="0" tIns="0" rIns="0" bIns="0" rtlCol="0" anchor="ctr"/>
          <a:lstStyle/>
          <a:p>
            <a:pPr indent="0" marL="0">
              <a:buNone/>
            </a:pPr>
            <a:r>
              <a:rPr lang="en-US" sz="5400" b="1" dirty="0">
                <a:solidFill>
                  <a:schemeClr val="bg1"/>
                </a:solidFill>
              </a:rPr>
              <a:t>알바가드</a:t>
            </a:r>
            <a:endParaRPr lang="en-US" sz="5400" dirty="0"/>
          </a:p>
        </p:txBody>
      </p:sp>
      <p:sp>
        <p:nvSpPr>
          <p:cNvPr id="4" name="Text 1"/>
          <p:cNvSpPr txBox="1"/>
          <p:nvPr/>
        </p:nvSpPr>
        <p:spPr>
          <a:xfrm>
            <a:off x="548640" y="2331720"/>
            <a:ext cx="5486400" cy="411480"/>
          </a:xfrm>
          <a:prstGeom prst="rect">
            <a:avLst/>
          </a:prstGeom>
          <a:noFill/>
          <a:ln/>
        </p:spPr>
        <p:txBody>
          <a:bodyPr wrap="square" lIns="0" tIns="0" rIns="0" bIns="0" rtlCol="0" anchor="ctr"/>
          <a:lstStyle/>
          <a:p>
            <a:pPr indent="0" marL="0">
              <a:buNone/>
            </a:pPr>
            <a:r>
              <a:rPr lang="en-US" sz="2000" dirty="0">
                <a:solidFill>
                  <a:schemeClr val="bg2"/>
                </a:solidFill>
              </a:rPr>
              <a:t>못 받은 알바비, 기록으로 찾는 앱</a:t>
            </a:r>
            <a:endParaRPr lang="en-US" sz="2000" dirty="0"/>
          </a:p>
        </p:txBody>
      </p:sp>
      <p:sp>
        <p:nvSpPr>
          <p:cNvPr id="5" name="Shape 2"/>
          <p:cNvSpPr/>
          <p:nvPr/>
        </p:nvSpPr>
        <p:spPr>
          <a:xfrm>
            <a:off x="548640" y="3108960"/>
            <a:ext cx="4937760" cy="0"/>
          </a:xfrm>
          <a:prstGeom prst="line">
            <a:avLst/>
          </a:prstGeom>
          <a:noFill/>
          <a:ln w="9525">
            <a:solidFill>
              <a:srgbClr val="FFFFFF">
                <a:alpha val="40000"/>
              </a:srgbClr>
            </a:solidFill>
            <a:prstDash val="solid"/>
          </a:ln>
        </p:spPr>
      </p:sp>
      <p:sp>
        <p:nvSpPr>
          <p:cNvPr id="6" name="Text 3"/>
          <p:cNvSpPr txBox="1"/>
          <p:nvPr/>
        </p:nvSpPr>
        <p:spPr>
          <a:xfrm>
            <a:off x="548640" y="3127248"/>
            <a:ext cx="3108960" cy="457200"/>
          </a:xfrm>
          <a:prstGeom prst="rect">
            <a:avLst/>
          </a:prstGeom>
          <a:noFill/>
          <a:ln/>
        </p:spPr>
        <p:txBody>
          <a:bodyPr wrap="square" lIns="0" tIns="0" rIns="0" bIns="0" rtlCol="0" anchor="ctr"/>
          <a:lstStyle/>
          <a:p>
            <a:pPr indent="0" marL="0">
              <a:buNone/>
            </a:pPr>
            <a:r>
              <a:rPr lang="en-US" sz="1400" dirty="0">
                <a:solidFill>
                  <a:schemeClr val="bg1"/>
                </a:solidFill>
              </a:rPr>
              <a:t>덜 받은 급여 · 2개월</a:t>
            </a:r>
            <a:endParaRPr lang="en-US" sz="1400" dirty="0"/>
          </a:p>
        </p:txBody>
      </p:sp>
      <p:sp>
        <p:nvSpPr>
          <p:cNvPr id="7" name="Text 4"/>
          <p:cNvSpPr txBox="1"/>
          <p:nvPr/>
        </p:nvSpPr>
        <p:spPr>
          <a:xfrm>
            <a:off x="3657600" y="3127248"/>
            <a:ext cx="1828800" cy="457200"/>
          </a:xfrm>
          <a:prstGeom prst="rect">
            <a:avLst/>
          </a:prstGeom>
          <a:noFill/>
          <a:ln/>
        </p:spPr>
        <p:txBody>
          <a:bodyPr wrap="square" lIns="0" tIns="0" rIns="0" bIns="0" rtlCol="0" anchor="ctr"/>
          <a:lstStyle/>
          <a:p>
            <a:pPr algn="r" indent="0" marL="0">
              <a:buNone/>
            </a:pPr>
            <a:r>
              <a:rPr lang="en-US" sz="2000" b="1" dirty="0">
                <a:solidFill>
                  <a:srgbClr val="F5A08F"/>
                </a:solidFill>
              </a:rPr>
              <a:t>269,352원</a:t>
            </a:r>
            <a:endParaRPr lang="en-US" sz="2000" dirty="0"/>
          </a:p>
        </p:txBody>
      </p:sp>
      <p:sp>
        <p:nvSpPr>
          <p:cNvPr id="8" name="Shape 5"/>
          <p:cNvSpPr/>
          <p:nvPr/>
        </p:nvSpPr>
        <p:spPr>
          <a:xfrm>
            <a:off x="548640" y="3602736"/>
            <a:ext cx="4937760" cy="0"/>
          </a:xfrm>
          <a:prstGeom prst="line">
            <a:avLst/>
          </a:prstGeom>
          <a:noFill/>
          <a:ln w="9525">
            <a:solidFill>
              <a:srgbClr val="FFFFFF">
                <a:alpha val="40000"/>
              </a:srgbClr>
            </a:solidFill>
            <a:prstDash val="solid"/>
          </a:ln>
        </p:spPr>
      </p:sp>
      <p:sp>
        <p:nvSpPr>
          <p:cNvPr id="9" name="Text 6"/>
          <p:cNvSpPr txBox="1"/>
          <p:nvPr/>
        </p:nvSpPr>
        <p:spPr>
          <a:xfrm>
            <a:off x="548640" y="3639312"/>
            <a:ext cx="4937760" cy="274320"/>
          </a:xfrm>
          <a:prstGeom prst="rect">
            <a:avLst/>
          </a:prstGeom>
          <a:noFill/>
          <a:ln/>
        </p:spPr>
        <p:txBody>
          <a:bodyPr wrap="square" lIns="0" tIns="0" rIns="0" bIns="0" rtlCol="0" anchor="ctr"/>
          <a:lstStyle/>
          <a:p>
            <a:pPr indent="0" marL="0">
              <a:buNone/>
            </a:pPr>
            <a:r>
              <a:rPr lang="en-US" sz="900" dirty="0">
                <a:solidFill>
                  <a:schemeClr val="bg2"/>
                </a:solidFill>
              </a:rPr>
              <a:t>앱 첫 화면의 알림 줄 (예시 데이터)</a:t>
            </a:r>
            <a:endParaRPr lang="en-US" sz="900" dirty="0"/>
          </a:p>
        </p:txBody>
      </p:sp>
      <p:sp>
        <p:nvSpPr>
          <p:cNvPr id="10" name="Text 7"/>
          <p:cNvSpPr txBox="1"/>
          <p:nvPr/>
        </p:nvSpPr>
        <p:spPr>
          <a:xfrm>
            <a:off x="548640" y="4297680"/>
            <a:ext cx="5486400" cy="320040"/>
          </a:xfrm>
          <a:prstGeom prst="rect">
            <a:avLst/>
          </a:prstGeom>
          <a:noFill/>
          <a:ln/>
        </p:spPr>
        <p:txBody>
          <a:bodyPr wrap="square" lIns="0" tIns="0" rIns="0" bIns="0" rtlCol="0" anchor="ctr"/>
          <a:lstStyle/>
          <a:p>
            <a:pPr indent="0" marL="0">
              <a:buNone/>
            </a:pPr>
            <a:r>
              <a:rPr lang="en-US" sz="1200" dirty="0">
                <a:solidFill>
                  <a:schemeClr val="bg2"/>
                </a:solidFill>
              </a:rPr>
              <a:t>SW기술창업 중간발표 · 4조 · 2026.10.27</a:t>
            </a:r>
            <a:endParaRPr lang="en-US" sz="1200" dirty="0"/>
          </a:p>
        </p:txBody>
      </p:sp>
      <p:sp>
        <p:nvSpPr>
          <p:cNvPr id="11" name="Text 8"/>
          <p:cNvSpPr txBox="1"/>
          <p:nvPr/>
        </p:nvSpPr>
        <p:spPr>
          <a:xfrm>
            <a:off x="6126480" y="1417320"/>
            <a:ext cx="2560320" cy="274320"/>
          </a:xfrm>
          <a:prstGeom prst="rect">
            <a:avLst/>
          </a:prstGeom>
          <a:noFill/>
          <a:ln/>
        </p:spPr>
        <p:txBody>
          <a:bodyPr wrap="square" lIns="0" tIns="0" rIns="0" bIns="0" rtlCol="0" anchor="ctr"/>
          <a:lstStyle/>
          <a:p>
            <a:pPr indent="0" marL="0">
              <a:buNone/>
            </a:pPr>
            <a:r>
              <a:rPr lang="en-US" sz="1000" b="1" dirty="0">
                <a:solidFill>
                  <a:schemeClr val="bg2"/>
                </a:solidFill>
              </a:rPr>
              <a:t>팀명</a:t>
            </a:r>
            <a:endParaRPr lang="en-US" sz="1000" dirty="0"/>
          </a:p>
        </p:txBody>
      </p:sp>
      <p:sp>
        <p:nvSpPr>
          <p:cNvPr id="12" name="Text 9"/>
          <p:cNvSpPr txBox="1"/>
          <p:nvPr/>
        </p:nvSpPr>
        <p:spPr>
          <a:xfrm>
            <a:off x="6126480" y="1691640"/>
            <a:ext cx="2560320" cy="548640"/>
          </a:xfrm>
          <a:prstGeom prst="rect">
            <a:avLst/>
          </a:prstGeom>
          <a:noFill/>
          <a:ln/>
        </p:spPr>
        <p:txBody>
          <a:bodyPr wrap="square" lIns="0" tIns="0" rIns="0" bIns="0" rtlCol="0" anchor="ctr"/>
          <a:lstStyle/>
          <a:p>
            <a:pPr indent="0" marL="0">
              <a:buNone/>
            </a:pPr>
            <a:r>
              <a:rPr lang="en-US" sz="2400" b="1" dirty="0">
                <a:solidFill>
                  <a:schemeClr val="bg1"/>
                </a:solidFill>
              </a:rPr>
              <a:t>알바가드</a:t>
            </a:r>
            <a:endParaRPr lang="en-US" sz="2400" dirty="0"/>
          </a:p>
        </p:txBody>
      </p:sp>
      <p:sp>
        <p:nvSpPr>
          <p:cNvPr id="13" name="Text 10"/>
          <p:cNvSpPr txBox="1"/>
          <p:nvPr/>
        </p:nvSpPr>
        <p:spPr>
          <a:xfrm>
            <a:off x="6126480" y="2240280"/>
            <a:ext cx="2560320" cy="274320"/>
          </a:xfrm>
          <a:prstGeom prst="rect">
            <a:avLst/>
          </a:prstGeom>
          <a:noFill/>
          <a:ln/>
        </p:spPr>
        <p:txBody>
          <a:bodyPr wrap="square" lIns="0" tIns="0" rIns="0" bIns="0" rtlCol="0" anchor="ctr"/>
          <a:lstStyle/>
          <a:p>
            <a:pPr indent="0" marL="0">
              <a:buNone/>
            </a:pPr>
            <a:r>
              <a:rPr lang="en-US" sz="950" dirty="0">
                <a:solidFill>
                  <a:schemeClr val="bg2"/>
                </a:solidFill>
              </a:rPr>
              <a:t>4조 · 앱 이름과 같게 정했습니다</a:t>
            </a:r>
            <a:endParaRPr lang="en-US" sz="950" dirty="0"/>
          </a:p>
        </p:txBody>
      </p:sp>
      <p:sp>
        <p:nvSpPr>
          <p:cNvPr id="14" name="Shape 11"/>
          <p:cNvSpPr/>
          <p:nvPr/>
        </p:nvSpPr>
        <p:spPr>
          <a:xfrm>
            <a:off x="6126480" y="2651760"/>
            <a:ext cx="2560320" cy="0"/>
          </a:xfrm>
          <a:prstGeom prst="line">
            <a:avLst/>
          </a:prstGeom>
          <a:noFill/>
          <a:ln w="9525">
            <a:solidFill>
              <a:srgbClr val="FFFFFF">
                <a:alpha val="40000"/>
              </a:srgbClr>
            </a:solidFill>
            <a:prstDash val="solid"/>
          </a:ln>
        </p:spPr>
      </p:sp>
      <p:sp>
        <p:nvSpPr>
          <p:cNvPr id="15" name="Text 12"/>
          <p:cNvSpPr txBox="1"/>
          <p:nvPr/>
        </p:nvSpPr>
        <p:spPr>
          <a:xfrm>
            <a:off x="6126480" y="2743200"/>
            <a:ext cx="2560320" cy="274320"/>
          </a:xfrm>
          <a:prstGeom prst="rect">
            <a:avLst/>
          </a:prstGeom>
          <a:noFill/>
          <a:ln/>
        </p:spPr>
        <p:txBody>
          <a:bodyPr wrap="square" lIns="0" tIns="0" rIns="0" bIns="0" rtlCol="0" anchor="ctr"/>
          <a:lstStyle/>
          <a:p>
            <a:pPr indent="0" marL="0">
              <a:buNone/>
            </a:pPr>
            <a:r>
              <a:rPr lang="en-US" sz="1000" b="1" dirty="0">
                <a:solidFill>
                  <a:schemeClr val="bg2"/>
                </a:solidFill>
              </a:rPr>
              <a:t>팀원</a:t>
            </a:r>
            <a:endParaRPr lang="en-US" sz="1000" dirty="0"/>
          </a:p>
        </p:txBody>
      </p:sp>
      <p:sp>
        <p:nvSpPr>
          <p:cNvPr id="16" name="Text 13"/>
          <p:cNvSpPr txBox="1"/>
          <p:nvPr/>
        </p:nvSpPr>
        <p:spPr>
          <a:xfrm>
            <a:off x="6126480" y="3017520"/>
            <a:ext cx="2560320" cy="1737360"/>
          </a:xfrm>
          <a:prstGeom prst="rect">
            <a:avLst/>
          </a:prstGeom>
          <a:noFill/>
          <a:ln/>
        </p:spPr>
        <p:txBody>
          <a:bodyPr wrap="square" lIns="0" tIns="0" rIns="0" bIns="0" rtlCol="0" anchor="t"/>
          <a:lstStyle/>
          <a:p>
            <a:pPr indent="0" marL="0">
              <a:spcAft>
                <a:spcPts val="200"/>
              </a:spcAft>
              <a:buNone/>
            </a:pPr>
            <a:r>
              <a:rPr lang="en-US" sz="1250" b="1" dirty="0">
                <a:solidFill>
                  <a:schemeClr val="bg1"/>
                </a:solidFill>
              </a:rPr>
              <a:t>팀장 이지훈</a:t>
            </a:r>
            <a:endParaRPr lang="en-US" sz="1250" dirty="0"/>
          </a:p>
          <a:p>
            <a:pPr indent="0" marL="0">
              <a:spcAft>
                <a:spcPts val="200"/>
              </a:spcAft>
              <a:buNone/>
            </a:pPr>
            <a:r>
              <a:rPr lang="en-US" sz="1000" dirty="0">
                <a:solidFill>
                  <a:schemeClr val="bg2"/>
                </a:solidFill>
              </a:rPr>
              <a:t>컴퓨터소프트웨어 22학번</a:t>
            </a:r>
            <a:endParaRPr lang="en-US" sz="1250" dirty="0"/>
          </a:p>
          <a:p>
            <a:pPr indent="0" marL="0">
              <a:spcAft>
                <a:spcPts val="200"/>
              </a:spcAft>
              <a:buNone/>
            </a:pPr>
            <a:r>
              <a:rPr lang="en-US" sz="1250" b="1" dirty="0">
                <a:solidFill>
                  <a:schemeClr val="bg1"/>
                </a:solidFill>
              </a:rPr>
              <a:t>손유호</a:t>
            </a:r>
            <a:endParaRPr lang="en-US" sz="1250" dirty="0"/>
          </a:p>
          <a:p>
            <a:pPr indent="0" marL="0">
              <a:spcAft>
                <a:spcPts val="200"/>
              </a:spcAft>
              <a:buNone/>
            </a:pPr>
            <a:r>
              <a:rPr lang="en-US" sz="1000" dirty="0">
                <a:solidFill>
                  <a:schemeClr val="bg2"/>
                </a:solidFill>
              </a:rPr>
              <a:t>컴퓨터소프트웨어 __학번</a:t>
            </a:r>
            <a:endParaRPr lang="en-US" sz="1250" dirty="0"/>
          </a:p>
          <a:p>
            <a:pPr indent="0" marL="0">
              <a:spcAft>
                <a:spcPts val="200"/>
              </a:spcAft>
              <a:buNone/>
            </a:pPr>
            <a:r>
              <a:rPr lang="en-US" sz="1250" b="1" dirty="0">
                <a:solidFill>
                  <a:schemeClr val="bg1"/>
                </a:solidFill>
              </a:rPr>
              <a:t>박명진</a:t>
            </a:r>
            <a:endParaRPr lang="en-US" sz="1250" dirty="0"/>
          </a:p>
          <a:p>
            <a:pPr indent="0" marL="0">
              <a:spcAft>
                <a:spcPts val="200"/>
              </a:spcAft>
              <a:buNone/>
            </a:pPr>
            <a:r>
              <a:rPr lang="en-US" sz="1000" dirty="0">
                <a:solidFill>
                  <a:schemeClr val="bg2"/>
                </a:solidFill>
              </a:rPr>
              <a:t>컴퓨터소프트웨어 __학번</a:t>
            </a:r>
            <a:endParaRPr lang="en-US" sz="1250" dirty="0"/>
          </a:p>
        </p:txBody>
      </p:sp>
      <p:sp>
        <p:nvSpPr>
          <p:cNvPr id="18" name="Text 0"/>
          <p:cNvSpPr/>
          <p:nvPr>
            <p:ph idx="100" type="title" hasCustomPrompt="1"/>
          </p:nvPr>
        </p:nvSpPr>
        <p:spPr>
          <a:xfrm>
            <a:off x="548640" y="457200"/>
            <a:ext cx="8046720" cy="731520"/>
          </a:xfrm>
          <a:prstGeom prst="rect">
            <a:avLst/>
          </a:prstGeom>
          <a:noFill/>
          <a:ln/>
        </p:spPr>
        <p:txBody>
          <a:bodyPr wrap="square" lIns="0" tIns="0" rIns="0" bIns="0" rtlCol="0" anchor="t"/>
          <a:lstStyle/>
          <a:p>
            <a:pPr algn="l"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① 오늘 발표</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지금 상태: 앱은 배포됐고, 사용자 검증은 11월부터</a:t>
            </a:r>
            <a:endParaRPr lang="en-US" sz="2400" dirty="0"/>
          </a:p>
        </p:txBody>
      </p:sp>
      <p:sp>
        <p:nvSpPr>
          <p:cNvPr id="4" name="Text 2"/>
          <p:cNvSpPr txBox="1"/>
          <p:nvPr/>
        </p:nvSpPr>
        <p:spPr>
          <a:xfrm>
            <a:off x="457200" y="1325880"/>
            <a:ext cx="3877056" cy="658368"/>
          </a:xfrm>
          <a:prstGeom prst="rect">
            <a:avLst/>
          </a:prstGeom>
          <a:noFill/>
          <a:ln/>
        </p:spPr>
        <p:txBody>
          <a:bodyPr wrap="square" lIns="0" tIns="0" rIns="0" bIns="0" rtlCol="0" anchor="ctr"/>
          <a:lstStyle/>
          <a:p>
            <a:pPr indent="0" marL="0">
              <a:buNone/>
            </a:pPr>
            <a:r>
              <a:rPr lang="en-US" sz="1300" b="1" dirty="0">
                <a:solidFill>
                  <a:schemeClr val="tx1"/>
                </a:solidFill>
              </a:rPr>
              <a:t>계획한 기능 8개 모두 동작</a:t>
            </a:r>
            <a:endParaRPr lang="en-US" sz="1300" dirty="0"/>
          </a:p>
          <a:p>
            <a:pPr indent="0" marL="0">
              <a:buNone/>
            </a:pPr>
            <a:r>
              <a:rPr lang="en-US" sz="950" dirty="0">
                <a:solidFill>
                  <a:schemeClr val="accent5"/>
                </a:solidFill>
              </a:rPr>
              <a:t>9월 기획서 4개 → 10/13 정의서 8개로 고정. 완성도 평균 약 80%</a:t>
            </a:r>
            <a:endParaRPr lang="en-US" sz="1300" dirty="0"/>
          </a:p>
        </p:txBody>
      </p:sp>
      <p:sp>
        <p:nvSpPr>
          <p:cNvPr id="5" name="Text 3"/>
          <p:cNvSpPr txBox="1"/>
          <p:nvPr/>
        </p:nvSpPr>
        <p:spPr>
          <a:xfrm>
            <a:off x="4334256" y="1325880"/>
            <a:ext cx="969264" cy="658368"/>
          </a:xfrm>
          <a:prstGeom prst="rect">
            <a:avLst/>
          </a:prstGeom>
          <a:noFill/>
          <a:ln/>
        </p:spPr>
        <p:txBody>
          <a:bodyPr wrap="square" lIns="0" tIns="0" rIns="0" bIns="0" rtlCol="0" anchor="ctr"/>
          <a:lstStyle/>
          <a:p>
            <a:pPr algn="r" indent="0" marL="0">
              <a:buNone/>
            </a:pPr>
            <a:r>
              <a:rPr lang="en-US" sz="1300" b="1" dirty="0">
                <a:solidFill>
                  <a:schemeClr val="tx2"/>
                </a:solidFill>
              </a:rPr>
              <a:t>8 / 8</a:t>
            </a:r>
            <a:endParaRPr lang="en-US" sz="1300" dirty="0"/>
          </a:p>
        </p:txBody>
      </p:sp>
      <p:sp>
        <p:nvSpPr>
          <p:cNvPr id="6" name="Shape 4"/>
          <p:cNvSpPr/>
          <p:nvPr/>
        </p:nvSpPr>
        <p:spPr>
          <a:xfrm>
            <a:off x="457200" y="1984248"/>
            <a:ext cx="4846320" cy="0"/>
          </a:xfrm>
          <a:prstGeom prst="line">
            <a:avLst/>
          </a:prstGeom>
          <a:noFill/>
          <a:ln w="9525">
            <a:solidFill>
              <a:srgbClr val="DCD9D0"/>
            </a:solidFill>
            <a:prstDash val="solid"/>
          </a:ln>
        </p:spPr>
      </p:sp>
      <p:sp>
        <p:nvSpPr>
          <p:cNvPr id="7" name="Text 5"/>
          <p:cNvSpPr txBox="1"/>
          <p:nvPr/>
        </p:nvSpPr>
        <p:spPr>
          <a:xfrm>
            <a:off x="457200" y="1984248"/>
            <a:ext cx="3877056" cy="658368"/>
          </a:xfrm>
          <a:prstGeom prst="rect">
            <a:avLst/>
          </a:prstGeom>
          <a:noFill/>
          <a:ln/>
        </p:spPr>
        <p:txBody>
          <a:bodyPr wrap="square" lIns="0" tIns="0" rIns="0" bIns="0" rtlCol="0" anchor="ctr"/>
          <a:lstStyle/>
          <a:p>
            <a:pPr indent="0" marL="0">
              <a:buNone/>
            </a:pPr>
            <a:r>
              <a:rPr lang="en-US" sz="1300" b="1" dirty="0">
                <a:solidFill>
                  <a:schemeClr val="tx1"/>
                </a:solidFill>
              </a:rPr>
              <a:t>실제 사용자 검증은 11월부터</a:t>
            </a:r>
            <a:endParaRPr lang="en-US" sz="1300" dirty="0"/>
          </a:p>
          <a:p>
            <a:pPr indent="0" marL="0">
              <a:buNone/>
            </a:pPr>
            <a:r>
              <a:rPr lang="en-US" sz="950" dirty="0">
                <a:solidFill>
                  <a:schemeClr val="accent5"/>
                </a:solidFill>
              </a:rPr>
              <a:t>링크 설문 30명 · 직접 인터뷰 5명</a:t>
            </a:r>
            <a:endParaRPr lang="en-US" sz="1300" dirty="0"/>
          </a:p>
        </p:txBody>
      </p:sp>
      <p:sp>
        <p:nvSpPr>
          <p:cNvPr id="8" name="Text 6"/>
          <p:cNvSpPr txBox="1"/>
          <p:nvPr/>
        </p:nvSpPr>
        <p:spPr>
          <a:xfrm>
            <a:off x="4334256" y="1984248"/>
            <a:ext cx="969264" cy="658368"/>
          </a:xfrm>
          <a:prstGeom prst="rect">
            <a:avLst/>
          </a:prstGeom>
          <a:noFill/>
          <a:ln/>
        </p:spPr>
        <p:txBody>
          <a:bodyPr wrap="square" lIns="0" tIns="0" rIns="0" bIns="0" rtlCol="0" anchor="ctr"/>
          <a:lstStyle/>
          <a:p>
            <a:pPr algn="r" indent="0" marL="0">
              <a:buNone/>
            </a:pPr>
            <a:r>
              <a:rPr lang="en-US" sz="1300" b="1" dirty="0">
                <a:solidFill>
                  <a:schemeClr val="accent5"/>
                </a:solidFill>
              </a:rPr>
              <a:t>설문 열림</a:t>
            </a:r>
            <a:endParaRPr lang="en-US" sz="1300" dirty="0"/>
          </a:p>
        </p:txBody>
      </p:sp>
      <p:sp>
        <p:nvSpPr>
          <p:cNvPr id="9" name="Shape 7"/>
          <p:cNvSpPr/>
          <p:nvPr/>
        </p:nvSpPr>
        <p:spPr>
          <a:xfrm>
            <a:off x="457200" y="2642616"/>
            <a:ext cx="4846320" cy="0"/>
          </a:xfrm>
          <a:prstGeom prst="line">
            <a:avLst/>
          </a:prstGeom>
          <a:noFill/>
          <a:ln w="9525">
            <a:solidFill>
              <a:srgbClr val="DCD9D0"/>
            </a:solidFill>
            <a:prstDash val="solid"/>
          </a:ln>
        </p:spPr>
      </p:sp>
      <p:sp>
        <p:nvSpPr>
          <p:cNvPr id="10" name="Text 8"/>
          <p:cNvSpPr txBox="1"/>
          <p:nvPr/>
        </p:nvSpPr>
        <p:spPr>
          <a:xfrm>
            <a:off x="457200" y="2642616"/>
            <a:ext cx="3877056" cy="658368"/>
          </a:xfrm>
          <a:prstGeom prst="rect">
            <a:avLst/>
          </a:prstGeom>
          <a:noFill/>
          <a:ln/>
        </p:spPr>
        <p:txBody>
          <a:bodyPr wrap="square" lIns="0" tIns="0" rIns="0" bIns="0" rtlCol="0" anchor="ctr"/>
          <a:lstStyle/>
          <a:p>
            <a:pPr indent="0" marL="0">
              <a:buNone/>
            </a:pPr>
            <a:r>
              <a:rPr lang="en-US" sz="1300" b="1" dirty="0">
                <a:solidFill>
                  <a:schemeClr val="tx1"/>
                </a:solidFill>
              </a:rPr>
              <a:t>역할: 개발 이지훈 · 시장 손유호 · 검증 박명진</a:t>
            </a:r>
            <a:endParaRPr lang="en-US" sz="1300" dirty="0"/>
          </a:p>
          <a:p>
            <a:pPr indent="0" marL="0">
              <a:buNone/>
            </a:pPr>
            <a:r>
              <a:rPr lang="en-US" sz="950" dirty="0">
                <a:solidFill>
                  <a:schemeClr val="accent5"/>
                </a:solidFill>
              </a:rPr>
              <a:t>발표도 같은 순서로 나눠서 합니다</a:t>
            </a:r>
            <a:endParaRPr lang="en-US" sz="1300" dirty="0"/>
          </a:p>
        </p:txBody>
      </p:sp>
      <p:sp>
        <p:nvSpPr>
          <p:cNvPr id="11" name="Text 9"/>
          <p:cNvSpPr txBox="1"/>
          <p:nvPr/>
        </p:nvSpPr>
        <p:spPr>
          <a:xfrm>
            <a:off x="4334256" y="2642616"/>
            <a:ext cx="969264" cy="658368"/>
          </a:xfrm>
          <a:prstGeom prst="rect">
            <a:avLst/>
          </a:prstGeom>
          <a:noFill/>
          <a:ln/>
        </p:spPr>
        <p:txBody>
          <a:bodyPr wrap="square" lIns="0" tIns="0" rIns="0" bIns="0" rtlCol="0" anchor="ctr"/>
          <a:lstStyle/>
          <a:p>
            <a:pPr algn="r" indent="0" marL="0">
              <a:buNone/>
            </a:pPr>
            <a:r>
              <a:rPr lang="en-US" sz="1300" b="1" dirty="0">
                <a:solidFill>
                  <a:schemeClr val="accent5"/>
                </a:solidFill>
              </a:rPr>
              <a:t>3명</a:t>
            </a:r>
            <a:endParaRPr lang="en-US" sz="1300" dirty="0"/>
          </a:p>
        </p:txBody>
      </p:sp>
      <p:sp>
        <p:nvSpPr>
          <p:cNvPr id="12" name="Shape 10"/>
          <p:cNvSpPr/>
          <p:nvPr/>
        </p:nvSpPr>
        <p:spPr>
          <a:xfrm>
            <a:off x="457200" y="3300984"/>
            <a:ext cx="4846320" cy="0"/>
          </a:xfrm>
          <a:prstGeom prst="line">
            <a:avLst/>
          </a:prstGeom>
          <a:noFill/>
          <a:ln w="9525">
            <a:solidFill>
              <a:srgbClr val="DCD9D0"/>
            </a:solidFill>
            <a:prstDash val="solid"/>
          </a:ln>
        </p:spPr>
      </p:sp>
      <p:sp>
        <p:nvSpPr>
          <p:cNvPr id="13" name="Text 11"/>
          <p:cNvSpPr txBox="1"/>
          <p:nvPr/>
        </p:nvSpPr>
        <p:spPr>
          <a:xfrm>
            <a:off x="457200" y="3429000"/>
            <a:ext cx="4846320" cy="274320"/>
          </a:xfrm>
          <a:prstGeom prst="rect">
            <a:avLst/>
          </a:prstGeom>
          <a:noFill/>
          <a:ln/>
        </p:spPr>
        <p:txBody>
          <a:bodyPr wrap="square" lIns="0" tIns="0" rIns="0" bIns="0" rtlCol="0" anchor="ctr"/>
          <a:lstStyle/>
          <a:p>
            <a:pPr indent="0" marL="0">
              <a:buNone/>
            </a:pPr>
            <a:r>
              <a:rPr lang="en-US" sz="1000" b="1" dirty="0">
                <a:solidFill>
                  <a:schemeClr val="accent5"/>
                </a:solidFill>
              </a:rPr>
              <a:t>오늘 순서</a:t>
            </a:r>
            <a:endParaRPr lang="en-US" sz="1000" dirty="0"/>
          </a:p>
        </p:txBody>
      </p:sp>
      <p:sp>
        <p:nvSpPr>
          <p:cNvPr id="14" name="Text 12"/>
          <p:cNvSpPr txBox="1"/>
          <p:nvPr/>
        </p:nvSpPr>
        <p:spPr>
          <a:xfrm>
            <a:off x="457200" y="3703320"/>
            <a:ext cx="4846320" cy="365760"/>
          </a:xfrm>
          <a:prstGeom prst="rect">
            <a:avLst/>
          </a:prstGeom>
          <a:noFill/>
          <a:ln/>
        </p:spPr>
        <p:txBody>
          <a:bodyPr wrap="square" lIns="0" tIns="0" rIns="0" bIns="0" rtlCol="0" anchor="ctr"/>
          <a:lstStyle/>
          <a:p>
            <a:pPr indent="0" marL="0">
              <a:buNone/>
            </a:pPr>
            <a:r>
              <a:rPr lang="en-US" sz="1250" b="1" dirty="0">
                <a:solidFill>
                  <a:schemeClr val="tx2"/>
                </a:solidFill>
              </a:rPr>
              <a:t>문제 → 솔루션 → 기술 → 시연 3분 → 시장 · 수익 → 검증 · 일정</a:t>
            </a:r>
            <a:endParaRPr lang="en-US" sz="1250" dirty="0"/>
          </a:p>
        </p:txBody>
      </p:sp>
      <p:sp>
        <p:nvSpPr>
          <p:cNvPr id="15" name="Text 13"/>
          <p:cNvSpPr txBox="1"/>
          <p:nvPr/>
        </p:nvSpPr>
        <p:spPr>
          <a:xfrm>
            <a:off x="457200" y="4114800"/>
            <a:ext cx="4846320" cy="274320"/>
          </a:xfrm>
          <a:prstGeom prst="rect">
            <a:avLst/>
          </a:prstGeom>
          <a:noFill/>
          <a:ln/>
        </p:spPr>
        <p:txBody>
          <a:bodyPr wrap="square" lIns="0" tIns="0" rIns="0" bIns="0" rtlCol="0" anchor="ctr"/>
          <a:lstStyle/>
          <a:p>
            <a:pPr indent="0" marL="0">
              <a:buNone/>
            </a:pPr>
            <a:r>
              <a:rPr lang="en-US" sz="1000" dirty="0">
                <a:solidFill>
                  <a:schemeClr val="accent5"/>
                </a:solidFill>
              </a:rPr>
              <a:t>질문은 끝나고 한 번에 받겠습니다</a:t>
            </a:r>
            <a:endParaRPr lang="en-US" sz="1000" dirty="0"/>
          </a:p>
        </p:txBody>
      </p:sp>
      <p:pic>
        <p:nvPicPr>
          <p:cNvPr id="16" name="앱 설치" descr="C:\Users\user\Desktop\albaguard기술창업\docs\report_src\qr_app.png">    </p:cNvPr>
          <p:cNvPicPr>
            <a:picLocks noChangeAspect="1"/>
          </p:cNvPicPr>
          <p:nvPr/>
        </p:nvPicPr>
        <p:blipFill>
          <a:blip r:embed="rId1"/>
          <a:stretch>
            <a:fillRect/>
          </a:stretch>
        </p:blipFill>
        <p:spPr>
          <a:xfrm>
            <a:off x="5669280" y="1325880"/>
            <a:ext cx="1417320" cy="1417320"/>
          </a:xfrm>
          <a:prstGeom prst="rect">
            <a:avLst/>
          </a:prstGeom>
        </p:spPr>
      </p:pic>
      <p:sp>
        <p:nvSpPr>
          <p:cNvPr id="17" name="Text 14"/>
          <p:cNvSpPr txBox="1"/>
          <p:nvPr/>
        </p:nvSpPr>
        <p:spPr>
          <a:xfrm>
            <a:off x="5532120" y="2788920"/>
            <a:ext cx="1691640" cy="274320"/>
          </a:xfrm>
          <a:prstGeom prst="rect">
            <a:avLst/>
          </a:prstGeom>
          <a:noFill/>
          <a:ln/>
        </p:spPr>
        <p:txBody>
          <a:bodyPr wrap="square" lIns="0" tIns="0" rIns="0" bIns="0" rtlCol="0" anchor="ctr"/>
          <a:lstStyle/>
          <a:p>
            <a:pPr algn="ctr" indent="0" marL="0">
              <a:buNone/>
            </a:pPr>
            <a:r>
              <a:rPr lang="en-US" sz="1100" b="1" dirty="0">
                <a:solidFill>
                  <a:schemeClr val="tx2"/>
                </a:solidFill>
              </a:rPr>
              <a:t>앱 설치</a:t>
            </a:r>
            <a:endParaRPr lang="en-US" sz="1100" dirty="0"/>
          </a:p>
        </p:txBody>
      </p:sp>
      <p:sp>
        <p:nvSpPr>
          <p:cNvPr id="18" name="Text 15"/>
          <p:cNvSpPr txBox="1"/>
          <p:nvPr/>
        </p:nvSpPr>
        <p:spPr>
          <a:xfrm>
            <a:off x="5440680" y="3063240"/>
            <a:ext cx="1874520" cy="457200"/>
          </a:xfrm>
          <a:prstGeom prst="rect">
            <a:avLst/>
          </a:prstGeom>
          <a:noFill/>
          <a:ln/>
        </p:spPr>
        <p:txBody>
          <a:bodyPr wrap="square" lIns="0" tIns="0" rIns="0" bIns="0" rtlCol="0" anchor="t"/>
          <a:lstStyle/>
          <a:p>
            <a:pPr algn="ctr" indent="0" marL="0">
              <a:buNone/>
            </a:pPr>
            <a:r>
              <a:rPr lang="en-US" sz="900" dirty="0">
                <a:solidFill>
                  <a:schemeClr val="accent5"/>
                </a:solidFill>
              </a:rPr>
              <a:t>폰 브라우저로 열고</a:t>
            </a:r>
            <a:endParaRPr lang="en-US" sz="900" dirty="0"/>
          </a:p>
          <a:p>
            <a:pPr algn="ctr" indent="0" marL="0">
              <a:buNone/>
            </a:pPr>
            <a:r>
              <a:rPr lang="en-US" sz="900" dirty="0">
                <a:solidFill>
                  <a:schemeClr val="accent5"/>
                </a:solidFill>
              </a:rPr>
              <a:t>"홈 화면에 추가"</a:t>
            </a:r>
            <a:endParaRPr lang="en-US" sz="900" dirty="0"/>
          </a:p>
        </p:txBody>
      </p:sp>
      <p:pic>
        <p:nvPicPr>
          <p:cNvPr id="19" name="설문 3분" descr="C:\Users\user\Desktop\albaguard기술창업\docs\report_src\qr_survey.png">    </p:cNvPr>
          <p:cNvPicPr>
            <a:picLocks noChangeAspect="1"/>
          </p:cNvPicPr>
          <p:nvPr/>
        </p:nvPicPr>
        <p:blipFill>
          <a:blip r:embed="rId2"/>
          <a:stretch>
            <a:fillRect/>
          </a:stretch>
        </p:blipFill>
        <p:spPr>
          <a:xfrm>
            <a:off x="7315200" y="1325880"/>
            <a:ext cx="1417320" cy="1417320"/>
          </a:xfrm>
          <a:prstGeom prst="rect">
            <a:avLst/>
          </a:prstGeom>
        </p:spPr>
      </p:pic>
      <p:sp>
        <p:nvSpPr>
          <p:cNvPr id="20" name="Text 16"/>
          <p:cNvSpPr txBox="1"/>
          <p:nvPr/>
        </p:nvSpPr>
        <p:spPr>
          <a:xfrm>
            <a:off x="7178040" y="2788920"/>
            <a:ext cx="1691640" cy="274320"/>
          </a:xfrm>
          <a:prstGeom prst="rect">
            <a:avLst/>
          </a:prstGeom>
          <a:noFill/>
          <a:ln/>
        </p:spPr>
        <p:txBody>
          <a:bodyPr wrap="square" lIns="0" tIns="0" rIns="0" bIns="0" rtlCol="0" anchor="ctr"/>
          <a:lstStyle/>
          <a:p>
            <a:pPr algn="ctr" indent="0" marL="0">
              <a:buNone/>
            </a:pPr>
            <a:r>
              <a:rPr lang="en-US" sz="1100" b="1" dirty="0">
                <a:solidFill>
                  <a:schemeClr val="tx2"/>
                </a:solidFill>
              </a:rPr>
              <a:t>설문 3분</a:t>
            </a:r>
            <a:endParaRPr lang="en-US" sz="1100" dirty="0"/>
          </a:p>
        </p:txBody>
      </p:sp>
      <p:sp>
        <p:nvSpPr>
          <p:cNvPr id="21" name="Text 17"/>
          <p:cNvSpPr txBox="1"/>
          <p:nvPr/>
        </p:nvSpPr>
        <p:spPr>
          <a:xfrm>
            <a:off x="7086600" y="3063240"/>
            <a:ext cx="1874520" cy="457200"/>
          </a:xfrm>
          <a:prstGeom prst="rect">
            <a:avLst/>
          </a:prstGeom>
          <a:noFill/>
          <a:ln/>
        </p:spPr>
        <p:txBody>
          <a:bodyPr wrap="square" lIns="0" tIns="0" rIns="0" bIns="0" rtlCol="0" anchor="t"/>
          <a:lstStyle/>
          <a:p>
            <a:pPr algn="ctr" indent="0" marL="0">
              <a:buNone/>
            </a:pPr>
            <a:r>
              <a:rPr lang="en-US" sz="900" dirty="0">
                <a:solidFill>
                  <a:schemeClr val="accent5"/>
                </a:solidFill>
              </a:rPr>
              <a:t>이름 · 연락처 없음</a:t>
            </a:r>
            <a:endParaRPr lang="en-US" sz="900" dirty="0"/>
          </a:p>
          <a:p>
            <a:pPr algn="ctr" indent="0" marL="0">
              <a:buNone/>
            </a:pPr>
            <a:r>
              <a:rPr lang="en-US" sz="900" dirty="0">
                <a:solidFill>
                  <a:schemeClr val="accent5"/>
                </a:solidFill>
              </a:rPr>
              <a:t>들으시면서 답해도 됩니다</a:t>
            </a:r>
            <a:endParaRPr lang="en-US" sz="900" dirty="0"/>
          </a:p>
        </p:txBody>
      </p:sp>
      <p:sp>
        <p:nvSpPr>
          <p:cNvPr id="22" name="Text 18"/>
          <p:cNvSpPr txBox="1"/>
          <p:nvPr/>
        </p:nvSpPr>
        <p:spPr>
          <a:xfrm>
            <a:off x="5486400" y="3611880"/>
            <a:ext cx="3200400" cy="274320"/>
          </a:xfrm>
          <a:prstGeom prst="rect">
            <a:avLst/>
          </a:prstGeom>
          <a:noFill/>
          <a:ln/>
        </p:spPr>
        <p:txBody>
          <a:bodyPr wrap="square" lIns="0" tIns="0" rIns="0" bIns="0" rtlCol="0" anchor="ctr"/>
          <a:lstStyle/>
          <a:p>
            <a:pPr algn="ctr" indent="0" marL="0">
              <a:buNone/>
            </a:pPr>
            <a:r>
              <a:rPr lang="en-US" sz="950" dirty="0">
                <a:solidFill>
                  <a:schemeClr val="accent5"/>
                </a:solidFill>
              </a:rPr>
              <a:t>jihooni217.github.io/albaguard</a:t>
            </a:r>
            <a:endParaRPr lang="en-US" sz="9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② 문제 정의 · 페인 포인트</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덜 받아도 모르고, 알아도 말하지 못한다</a:t>
            </a:r>
            <a:endParaRPr lang="en-US" sz="2400" dirty="0"/>
          </a:p>
        </p:txBody>
      </p:sp>
      <p:sp>
        <p:nvSpPr>
          <p:cNvPr id="4" name="타깃 칸"/>
          <p:cNvSpPr/>
          <p:nvPr/>
        </p:nvSpPr>
        <p:spPr>
          <a:xfrm>
            <a:off x="457200" y="1188720"/>
            <a:ext cx="8229600" cy="566928"/>
          </a:xfrm>
          <a:prstGeom prst="roundRect">
            <a:avLst>
              <a:gd name="adj" fmla="val 16129"/>
            </a:avLst>
          </a:prstGeom>
          <a:solidFill>
            <a:schemeClr val="bg2"/>
          </a:solidFill>
          <a:ln w="12700">
            <a:solidFill>
              <a:schemeClr val="bg2"/>
            </a:solidFill>
            <a:prstDash val="solid"/>
          </a:ln>
        </p:spPr>
      </p:sp>
      <p:sp>
        <p:nvSpPr>
          <p:cNvPr id="5" name="Text 3"/>
          <p:cNvSpPr txBox="1"/>
          <p:nvPr/>
        </p:nvSpPr>
        <p:spPr>
          <a:xfrm>
            <a:off x="640080" y="1188720"/>
            <a:ext cx="7863840" cy="566928"/>
          </a:xfrm>
          <a:prstGeom prst="rect">
            <a:avLst/>
          </a:prstGeom>
          <a:noFill/>
          <a:ln/>
        </p:spPr>
        <p:txBody>
          <a:bodyPr wrap="square" lIns="0" tIns="0" rIns="0" bIns="0" rtlCol="0" anchor="ctr"/>
          <a:lstStyle/>
          <a:p>
            <a:pPr indent="0" marL="0">
              <a:buNone/>
            </a:pPr>
            <a:r>
              <a:rPr lang="en-US" sz="1150" b="1" dirty="0">
                <a:solidFill>
                  <a:schemeClr val="tx2"/>
                </a:solidFill>
              </a:rPr>
              <a:t>타깃  </a:t>
            </a:r>
            <a:pPr indent="0" marL="0">
              <a:buNone/>
            </a:pPr>
            <a:r>
              <a:rPr lang="en-US" sz="1150" dirty="0">
                <a:solidFill>
                  <a:schemeClr val="tx1"/>
                </a:solidFill>
              </a:rPr>
              <a:t>주 15시간 이상 일하는 만 19~26세 시급제 알바 대학생 · 계약서 없음 · 통장 총액만 확인 · 말 꺼내기 부담</a:t>
            </a:r>
            <a:endParaRPr lang="en-US" sz="1150" dirty="0"/>
          </a:p>
        </p:txBody>
      </p:sp>
      <p:sp>
        <p:nvSpPr>
          <p:cNvPr id="6" name="Text 4"/>
          <p:cNvSpPr txBox="1"/>
          <p:nvPr/>
        </p:nvSpPr>
        <p:spPr>
          <a:xfrm>
            <a:off x="457200" y="2057400"/>
            <a:ext cx="2651760" cy="685800"/>
          </a:xfrm>
          <a:prstGeom prst="rect">
            <a:avLst/>
          </a:prstGeom>
          <a:noFill/>
          <a:ln/>
        </p:spPr>
        <p:txBody>
          <a:bodyPr wrap="square" lIns="0" tIns="0" rIns="0" bIns="0" rtlCol="0" anchor="b"/>
          <a:lstStyle/>
          <a:p>
            <a:pPr indent="0" marL="0">
              <a:buNone/>
            </a:pPr>
            <a:r>
              <a:rPr lang="en-US" sz="4000" b="1" dirty="0">
                <a:solidFill>
                  <a:schemeClr val="accent3"/>
                </a:solidFill>
              </a:rPr>
              <a:t>33.2%</a:t>
            </a:r>
            <a:endParaRPr lang="en-US" sz="4000" dirty="0"/>
          </a:p>
        </p:txBody>
      </p:sp>
      <p:sp>
        <p:nvSpPr>
          <p:cNvPr id="7" name="Text 5"/>
          <p:cNvSpPr txBox="1"/>
          <p:nvPr/>
        </p:nvSpPr>
        <p:spPr>
          <a:xfrm>
            <a:off x="457200" y="2761488"/>
            <a:ext cx="2651760" cy="457200"/>
          </a:xfrm>
          <a:prstGeom prst="rect">
            <a:avLst/>
          </a:prstGeom>
          <a:noFill/>
          <a:ln/>
        </p:spPr>
        <p:txBody>
          <a:bodyPr wrap="square" lIns="0" tIns="0" rIns="0" bIns="0" rtlCol="0" anchor="t"/>
          <a:lstStyle/>
          <a:p>
            <a:pPr indent="0" marL="0">
              <a:buNone/>
            </a:pPr>
            <a:r>
              <a:rPr lang="en-US" sz="1050" dirty="0">
                <a:solidFill>
                  <a:schemeClr val="tx1"/>
                </a:solidFill>
              </a:rPr>
              <a:t>노동절에 일하고도 수당을 받는지 "안내받지 못해 모르겠다"</a:t>
            </a:r>
            <a:endParaRPr lang="en-US" sz="1050" dirty="0"/>
          </a:p>
        </p:txBody>
      </p:sp>
      <p:sp>
        <p:nvSpPr>
          <p:cNvPr id="8" name="Text 6"/>
          <p:cNvSpPr txBox="1"/>
          <p:nvPr/>
        </p:nvSpPr>
        <p:spPr>
          <a:xfrm>
            <a:off x="457200" y="3200400"/>
            <a:ext cx="2651760" cy="228600"/>
          </a:xfrm>
          <a:prstGeom prst="rect">
            <a:avLst/>
          </a:prstGeom>
          <a:noFill/>
          <a:ln/>
        </p:spPr>
        <p:txBody>
          <a:bodyPr wrap="square" lIns="0" tIns="0" rIns="0" bIns="0" rtlCol="0" anchor="t"/>
          <a:lstStyle/>
          <a:p>
            <a:pPr indent="0" marL="0">
              <a:buNone/>
            </a:pPr>
            <a:r>
              <a:rPr lang="en-US" sz="850" dirty="0">
                <a:solidFill>
                  <a:schemeClr val="accent5"/>
                </a:solidFill>
              </a:rPr>
              <a:t>노동절 근무 알바생 749명, 알바천국 2026.4</a:t>
            </a:r>
            <a:endParaRPr lang="en-US" sz="850" dirty="0"/>
          </a:p>
        </p:txBody>
      </p:sp>
      <p:sp>
        <p:nvSpPr>
          <p:cNvPr id="9" name="Shape 7"/>
          <p:cNvSpPr/>
          <p:nvPr/>
        </p:nvSpPr>
        <p:spPr>
          <a:xfrm>
            <a:off x="457200" y="3520440"/>
            <a:ext cx="2651760" cy="0"/>
          </a:xfrm>
          <a:prstGeom prst="line">
            <a:avLst/>
          </a:prstGeom>
          <a:noFill/>
          <a:ln w="9525">
            <a:solidFill>
              <a:srgbClr val="DCD9D0"/>
            </a:solidFill>
            <a:prstDash val="solid"/>
          </a:ln>
        </p:spPr>
      </p:sp>
      <p:sp>
        <p:nvSpPr>
          <p:cNvPr id="10" name="번호 1"/>
          <p:cNvSpPr/>
          <p:nvPr/>
        </p:nvSpPr>
        <p:spPr>
          <a:xfrm>
            <a:off x="457200" y="3703320"/>
            <a:ext cx="310896" cy="310896"/>
          </a:xfrm>
          <a:prstGeom prst="ellipse">
            <a:avLst/>
          </a:prstGeom>
          <a:solidFill>
            <a:schemeClr val="accent1"/>
          </a:solidFill>
          <a:ln w="12700">
            <a:solidFill>
              <a:schemeClr val="accent1"/>
            </a:solidFill>
            <a:prstDash val="solid"/>
          </a:ln>
        </p:spPr>
      </p:sp>
      <p:sp>
        <p:nvSpPr>
          <p:cNvPr id="11" name="Text 9"/>
          <p:cNvSpPr txBox="1"/>
          <p:nvPr/>
        </p:nvSpPr>
        <p:spPr>
          <a:xfrm>
            <a:off x="457200" y="370332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Text 10"/>
          <p:cNvSpPr txBox="1"/>
          <p:nvPr/>
        </p:nvSpPr>
        <p:spPr>
          <a:xfrm>
            <a:off x="868680" y="3648456"/>
            <a:ext cx="2240280" cy="603504"/>
          </a:xfrm>
          <a:prstGeom prst="rect">
            <a:avLst/>
          </a:prstGeom>
          <a:noFill/>
          <a:ln/>
        </p:spPr>
        <p:txBody>
          <a:bodyPr wrap="square" lIns="0" tIns="0" rIns="0" bIns="0" rtlCol="0" anchor="t"/>
          <a:lstStyle/>
          <a:p>
            <a:pPr indent="0" marL="0">
              <a:buNone/>
            </a:pPr>
            <a:r>
              <a:rPr lang="en-US" sz="1400" b="1" dirty="0">
                <a:solidFill>
                  <a:schemeClr val="tx2"/>
                </a:solidFill>
              </a:rPr>
              <a:t>얼마를 받아야 하는지</a:t>
            </a:r>
            <a:endParaRPr lang="en-US" sz="1400" dirty="0"/>
          </a:p>
          <a:p>
            <a:pPr indent="0" marL="0">
              <a:buNone/>
            </a:pPr>
            <a:r>
              <a:rPr lang="en-US" sz="1400" b="1" dirty="0">
                <a:solidFill>
                  <a:schemeClr val="tx2"/>
                </a:solidFill>
              </a:rPr>
              <a:t>계산하기 어렵다</a:t>
            </a:r>
            <a:endParaRPr lang="en-US" sz="1400" dirty="0"/>
          </a:p>
        </p:txBody>
      </p:sp>
      <p:sp>
        <p:nvSpPr>
          <p:cNvPr id="13" name="Text 11"/>
          <p:cNvSpPr txBox="1"/>
          <p:nvPr/>
        </p:nvSpPr>
        <p:spPr>
          <a:xfrm>
            <a:off x="3246120" y="2057400"/>
            <a:ext cx="2651760" cy="685800"/>
          </a:xfrm>
          <a:prstGeom prst="rect">
            <a:avLst/>
          </a:prstGeom>
          <a:noFill/>
          <a:ln/>
        </p:spPr>
        <p:txBody>
          <a:bodyPr wrap="square" lIns="0" tIns="0" rIns="0" bIns="0" rtlCol="0" anchor="b"/>
          <a:lstStyle/>
          <a:p>
            <a:pPr indent="0" marL="0">
              <a:buNone/>
            </a:pPr>
            <a:r>
              <a:rPr lang="en-US" sz="4000" b="1" dirty="0">
                <a:solidFill>
                  <a:schemeClr val="accent3"/>
                </a:solidFill>
              </a:rPr>
              <a:t>48.0%</a:t>
            </a:r>
            <a:endParaRPr lang="en-US" sz="4000" dirty="0"/>
          </a:p>
        </p:txBody>
      </p:sp>
      <p:sp>
        <p:nvSpPr>
          <p:cNvPr id="14" name="Text 12"/>
          <p:cNvSpPr txBox="1"/>
          <p:nvPr/>
        </p:nvSpPr>
        <p:spPr>
          <a:xfrm>
            <a:off x="3246120" y="2761488"/>
            <a:ext cx="2651760" cy="457200"/>
          </a:xfrm>
          <a:prstGeom prst="rect">
            <a:avLst/>
          </a:prstGeom>
          <a:noFill/>
          <a:ln/>
        </p:spPr>
        <p:txBody>
          <a:bodyPr wrap="square" lIns="0" tIns="0" rIns="0" bIns="0" rtlCol="0" anchor="t"/>
          <a:lstStyle/>
          <a:p>
            <a:pPr indent="0" marL="0">
              <a:buNone/>
            </a:pPr>
            <a:r>
              <a:rPr lang="en-US" sz="1050" dirty="0">
                <a:solidFill>
                  <a:schemeClr val="tx1"/>
                </a:solidFill>
              </a:rPr>
              <a:t>임금 관련 문제를 겪었다 (수당 미지급 · 지연 37.3%)</a:t>
            </a:r>
            <a:endParaRPr lang="en-US" sz="1050" dirty="0"/>
          </a:p>
        </p:txBody>
      </p:sp>
      <p:sp>
        <p:nvSpPr>
          <p:cNvPr id="15" name="Text 13"/>
          <p:cNvSpPr txBox="1"/>
          <p:nvPr/>
        </p:nvSpPr>
        <p:spPr>
          <a:xfrm>
            <a:off x="3246120" y="3200400"/>
            <a:ext cx="2651760" cy="228600"/>
          </a:xfrm>
          <a:prstGeom prst="rect">
            <a:avLst/>
          </a:prstGeom>
          <a:noFill/>
          <a:ln/>
        </p:spPr>
        <p:txBody>
          <a:bodyPr wrap="square" lIns="0" tIns="0" rIns="0" bIns="0" rtlCol="0" anchor="t"/>
          <a:lstStyle/>
          <a:p>
            <a:pPr indent="0" marL="0">
              <a:buNone/>
            </a:pPr>
            <a:r>
              <a:rPr lang="en-US" sz="850" dirty="0">
                <a:solidFill>
                  <a:schemeClr val="accent5"/>
                </a:solidFill>
              </a:rPr>
              <a:t>알바생 2,457명, 알바천국 2025.1</a:t>
            </a:r>
            <a:endParaRPr lang="en-US" sz="850" dirty="0"/>
          </a:p>
        </p:txBody>
      </p:sp>
      <p:sp>
        <p:nvSpPr>
          <p:cNvPr id="16" name="Shape 14"/>
          <p:cNvSpPr/>
          <p:nvPr/>
        </p:nvSpPr>
        <p:spPr>
          <a:xfrm>
            <a:off x="3246120" y="3520440"/>
            <a:ext cx="2651760" cy="0"/>
          </a:xfrm>
          <a:prstGeom prst="line">
            <a:avLst/>
          </a:prstGeom>
          <a:noFill/>
          <a:ln w="9525">
            <a:solidFill>
              <a:srgbClr val="DCD9D0"/>
            </a:solidFill>
            <a:prstDash val="solid"/>
          </a:ln>
        </p:spPr>
      </p:sp>
      <p:sp>
        <p:nvSpPr>
          <p:cNvPr id="17" name="번호 2"/>
          <p:cNvSpPr/>
          <p:nvPr/>
        </p:nvSpPr>
        <p:spPr>
          <a:xfrm>
            <a:off x="3246120" y="3703320"/>
            <a:ext cx="310896" cy="310896"/>
          </a:xfrm>
          <a:prstGeom prst="ellipse">
            <a:avLst/>
          </a:prstGeom>
          <a:solidFill>
            <a:schemeClr val="accent1"/>
          </a:solidFill>
          <a:ln w="12700">
            <a:solidFill>
              <a:schemeClr val="accent1"/>
            </a:solidFill>
            <a:prstDash val="solid"/>
          </a:ln>
        </p:spPr>
      </p:sp>
      <p:sp>
        <p:nvSpPr>
          <p:cNvPr id="18" name="Text 16"/>
          <p:cNvSpPr txBox="1"/>
          <p:nvPr/>
        </p:nvSpPr>
        <p:spPr>
          <a:xfrm>
            <a:off x="3246120" y="370332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9" name="Text 17"/>
          <p:cNvSpPr txBox="1"/>
          <p:nvPr/>
        </p:nvSpPr>
        <p:spPr>
          <a:xfrm>
            <a:off x="3657600" y="3648456"/>
            <a:ext cx="2240280" cy="603504"/>
          </a:xfrm>
          <a:prstGeom prst="rect">
            <a:avLst/>
          </a:prstGeom>
          <a:noFill/>
          <a:ln/>
        </p:spPr>
        <p:txBody>
          <a:bodyPr wrap="square" lIns="0" tIns="0" rIns="0" bIns="0" rtlCol="0" anchor="t"/>
          <a:lstStyle/>
          <a:p>
            <a:pPr indent="0" marL="0">
              <a:buNone/>
            </a:pPr>
            <a:r>
              <a:rPr lang="en-US" sz="1400" b="1" dirty="0">
                <a:solidFill>
                  <a:schemeClr val="tx2"/>
                </a:solidFill>
              </a:rPr>
              <a:t>덜 받아도</a:t>
            </a:r>
            <a:endParaRPr lang="en-US" sz="1400" dirty="0"/>
          </a:p>
          <a:p>
            <a:pPr indent="0" marL="0">
              <a:buNone/>
            </a:pPr>
            <a:r>
              <a:rPr lang="en-US" sz="1400" b="1" dirty="0">
                <a:solidFill>
                  <a:schemeClr val="tx2"/>
                </a:solidFill>
              </a:rPr>
              <a:t>알아채기 어렵다</a:t>
            </a:r>
            <a:endParaRPr lang="en-US" sz="1400" dirty="0"/>
          </a:p>
        </p:txBody>
      </p:sp>
      <p:sp>
        <p:nvSpPr>
          <p:cNvPr id="20" name="Text 18"/>
          <p:cNvSpPr txBox="1"/>
          <p:nvPr/>
        </p:nvSpPr>
        <p:spPr>
          <a:xfrm>
            <a:off x="6035040" y="2057400"/>
            <a:ext cx="2651760" cy="685800"/>
          </a:xfrm>
          <a:prstGeom prst="rect">
            <a:avLst/>
          </a:prstGeom>
          <a:noFill/>
          <a:ln/>
        </p:spPr>
        <p:txBody>
          <a:bodyPr wrap="square" lIns="0" tIns="0" rIns="0" bIns="0" rtlCol="0" anchor="b"/>
          <a:lstStyle/>
          <a:p>
            <a:pPr indent="0" marL="0">
              <a:buNone/>
            </a:pPr>
            <a:r>
              <a:rPr lang="en-US" sz="4000" b="1" dirty="0">
                <a:solidFill>
                  <a:schemeClr val="accent3"/>
                </a:solidFill>
              </a:rPr>
              <a:t>49.3%</a:t>
            </a:r>
            <a:endParaRPr lang="en-US" sz="4000" dirty="0"/>
          </a:p>
        </p:txBody>
      </p:sp>
      <p:sp>
        <p:nvSpPr>
          <p:cNvPr id="21" name="Text 19"/>
          <p:cNvSpPr txBox="1"/>
          <p:nvPr/>
        </p:nvSpPr>
        <p:spPr>
          <a:xfrm>
            <a:off x="6035040" y="2761488"/>
            <a:ext cx="2651760" cy="457200"/>
          </a:xfrm>
          <a:prstGeom prst="rect">
            <a:avLst/>
          </a:prstGeom>
          <a:noFill/>
          <a:ln/>
        </p:spPr>
        <p:txBody>
          <a:bodyPr wrap="square" lIns="0" tIns="0" rIns="0" bIns="0" rtlCol="0" anchor="t"/>
          <a:lstStyle/>
          <a:p>
            <a:pPr indent="0" marL="0">
              <a:buNone/>
            </a:pPr>
            <a:r>
              <a:rPr lang="en-US" sz="1050" dirty="0">
                <a:solidFill>
                  <a:schemeClr val="tx1"/>
                </a:solidFill>
              </a:rPr>
              <a:t>최저시급 미달인데 아무 대응도 하지 않았다</a:t>
            </a:r>
            <a:endParaRPr lang="en-US" sz="1050" dirty="0"/>
          </a:p>
        </p:txBody>
      </p:sp>
      <p:sp>
        <p:nvSpPr>
          <p:cNvPr id="22" name="Text 20"/>
          <p:cNvSpPr txBox="1"/>
          <p:nvPr/>
        </p:nvSpPr>
        <p:spPr>
          <a:xfrm>
            <a:off x="6035040" y="3200400"/>
            <a:ext cx="2651760" cy="228600"/>
          </a:xfrm>
          <a:prstGeom prst="rect">
            <a:avLst/>
          </a:prstGeom>
          <a:noFill/>
          <a:ln/>
        </p:spPr>
        <p:txBody>
          <a:bodyPr wrap="square" lIns="0" tIns="0" rIns="0" bIns="0" rtlCol="0" anchor="t"/>
          <a:lstStyle/>
          <a:p>
            <a:pPr indent="0" marL="0">
              <a:buNone/>
            </a:pPr>
            <a:r>
              <a:rPr lang="en-US" sz="850" dirty="0">
                <a:solidFill>
                  <a:schemeClr val="accent5"/>
                </a:solidFill>
              </a:rPr>
              <a:t>최저시급 미달 경험자 기준 · 알바천국 2026.6 (응답 1,804명)</a:t>
            </a:r>
            <a:endParaRPr lang="en-US" sz="850" dirty="0"/>
          </a:p>
        </p:txBody>
      </p:sp>
      <p:sp>
        <p:nvSpPr>
          <p:cNvPr id="23" name="Shape 21"/>
          <p:cNvSpPr/>
          <p:nvPr/>
        </p:nvSpPr>
        <p:spPr>
          <a:xfrm>
            <a:off x="6035040" y="3520440"/>
            <a:ext cx="2651760" cy="0"/>
          </a:xfrm>
          <a:prstGeom prst="line">
            <a:avLst/>
          </a:prstGeom>
          <a:noFill/>
          <a:ln w="9525">
            <a:solidFill>
              <a:srgbClr val="DCD9D0"/>
            </a:solidFill>
            <a:prstDash val="solid"/>
          </a:ln>
        </p:spPr>
      </p:sp>
      <p:sp>
        <p:nvSpPr>
          <p:cNvPr id="24" name="번호 3"/>
          <p:cNvSpPr/>
          <p:nvPr/>
        </p:nvSpPr>
        <p:spPr>
          <a:xfrm>
            <a:off x="6035040" y="3703320"/>
            <a:ext cx="310896" cy="310896"/>
          </a:xfrm>
          <a:prstGeom prst="ellipse">
            <a:avLst/>
          </a:prstGeom>
          <a:solidFill>
            <a:schemeClr val="accent1"/>
          </a:solidFill>
          <a:ln w="12700">
            <a:solidFill>
              <a:schemeClr val="accent1"/>
            </a:solidFill>
            <a:prstDash val="solid"/>
          </a:ln>
        </p:spPr>
      </p:sp>
      <p:sp>
        <p:nvSpPr>
          <p:cNvPr id="25" name="Text 23"/>
          <p:cNvSpPr txBox="1"/>
          <p:nvPr/>
        </p:nvSpPr>
        <p:spPr>
          <a:xfrm>
            <a:off x="6035040" y="370332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6" name="Text 24"/>
          <p:cNvSpPr txBox="1"/>
          <p:nvPr/>
        </p:nvSpPr>
        <p:spPr>
          <a:xfrm>
            <a:off x="6446520" y="3648456"/>
            <a:ext cx="2240280" cy="603504"/>
          </a:xfrm>
          <a:prstGeom prst="rect">
            <a:avLst/>
          </a:prstGeom>
          <a:noFill/>
          <a:ln/>
        </p:spPr>
        <p:txBody>
          <a:bodyPr wrap="square" lIns="0" tIns="0" rIns="0" bIns="0" rtlCol="0" anchor="t"/>
          <a:lstStyle/>
          <a:p>
            <a:pPr indent="0" marL="0">
              <a:buNone/>
            </a:pPr>
            <a:r>
              <a:rPr lang="en-US" sz="1400" b="1" dirty="0">
                <a:solidFill>
                  <a:schemeClr val="tx2"/>
                </a:solidFill>
              </a:rPr>
              <a:t>알아도</a:t>
            </a:r>
            <a:endParaRPr lang="en-US" sz="1400" dirty="0"/>
          </a:p>
          <a:p>
            <a:pPr indent="0" marL="0">
              <a:buNone/>
            </a:pPr>
            <a:r>
              <a:rPr lang="en-US" sz="1400" b="1" dirty="0">
                <a:solidFill>
                  <a:schemeClr val="tx2"/>
                </a:solidFill>
              </a:rPr>
              <a:t>말을 꺼내기 어렵다</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② 문제 정의 · 기존 해결책의 한계</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기존 서비스: 계산까지는 있지만, 비교와 대응은 없다</a:t>
            </a:r>
            <a:endParaRPr lang="en-US" sz="2400" dirty="0"/>
          </a:p>
        </p:txBody>
      </p:sp>
      <p:graphicFrame>
        <p:nvGraphicFramePr>
          <p:cNvPr id="5" name="경쟁 서비스 표"/>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920240"/>
                <a:gridCol w="1051560"/>
                <a:gridCol w="1051560"/>
                <a:gridCol w="1051560"/>
                <a:gridCol w="1051560"/>
                <a:gridCol w="1051560"/>
                <a:gridCol w="1051560"/>
              </a:tblGrid>
              <a:tr h="365760">
                <a:tc>
                  <a:txBody>
                    <a:bodyPr/>
                    <a:lstStyle/>
                    <a:p>
                      <a:pPr algn="l" indent="0" marL="0">
                        <a:buNone/>
                      </a:pP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algn="ctr" indent="0" marL="0">
                        <a:buNone/>
                      </a:pPr>
                      <a:r>
                        <a:rPr lang="en-US" sz="950" b="1" dirty="0">
                          <a:solidFill>
                            <a:srgbClr val="5D636D"/>
                          </a:solidFill>
                        </a:rPr>
                        <a:t>메모 · 카톡</a:t>
                      </a: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algn="ctr" indent="0" marL="0">
                        <a:buNone/>
                      </a:pPr>
                      <a:r>
                        <a:rPr lang="en-US" sz="950" b="1" dirty="0">
                          <a:solidFill>
                            <a:srgbClr val="5D636D"/>
                          </a:solidFill>
                        </a:rPr>
                        <a:t>하우머치</a:t>
                      </a: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algn="ctr" indent="0" marL="0">
                        <a:buNone/>
                      </a:pPr>
                      <a:r>
                        <a:rPr lang="en-US" sz="950" b="1" dirty="0">
                          <a:solidFill>
                            <a:srgbClr val="5D636D"/>
                          </a:solidFill>
                        </a:rPr>
                        <a:t>기그</a:t>
                      </a: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algn="ctr" indent="0" marL="0">
                        <a:buNone/>
                      </a:pPr>
                      <a:r>
                        <a:rPr lang="en-US" sz="950" b="1" dirty="0">
                          <a:solidFill>
                            <a:srgbClr val="5D636D"/>
                          </a:solidFill>
                        </a:rPr>
                        <a:t>알바천국 · 알바몬 계산기</a:t>
                      </a: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algn="ctr" indent="0" marL="0">
                        <a:buNone/>
                      </a:pPr>
                      <a:r>
                        <a:rPr lang="en-US" sz="950" b="1" dirty="0">
                          <a:solidFill>
                            <a:srgbClr val="5D636D"/>
                          </a:solidFill>
                        </a:rPr>
                        <a:t>진정24 · 노동포털</a:t>
                      </a: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algn="ctr" indent="0" marL="0">
                        <a:buNone/>
                      </a:pPr>
                      <a:r>
                        <a:rPr lang="en-US" sz="950" b="1" dirty="0">
                          <a:solidFill>
                            <a:srgbClr val="2A3193"/>
                          </a:solidFill>
                        </a:rPr>
                        <a:t>알바가드</a:t>
                      </a:r>
                      <a:endParaRPr lang="en-US" sz="9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384048">
                <a:tc>
                  <a:txBody>
                    <a:bodyPr/>
                    <a:lstStyle/>
                    <a:p>
                      <a:pPr indent="0" marL="0">
                        <a:buNone/>
                      </a:pPr>
                      <a:r>
                        <a:rPr lang="en-US" sz="1050" b="1" dirty="0">
                          <a:solidFill>
                            <a:srgbClr val="15171A"/>
                          </a:solidFill>
                        </a:rPr>
                        <a:t>사장 없이 혼자 기록</a:t>
                      </a:r>
                      <a:endParaRPr lang="en-US" sz="10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pPr algn="ctr" indent="0" marL="0">
                        <a:buNone/>
                      </a:pPr>
                      <a:r>
                        <a:rPr lang="en-US" sz="800" dirty="0">
                          <a:solidFill>
                            <a:srgbClr val="5D636D"/>
                          </a:solidFill>
                        </a:rPr>
                        <a:t> 사장 가입</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850" b="1" dirty="0">
                          <a:solidFill>
                            <a:srgbClr val="5D636D"/>
                          </a:solidFill>
                        </a:rPr>
                        <a:t>해당 없음</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384048">
                <a:tc>
                  <a:txBody>
                    <a:bodyPr/>
                    <a:lstStyle/>
                    <a:p>
                      <a:pPr indent="0" marL="0">
                        <a:buNone/>
                      </a:pPr>
                      <a:r>
                        <a:rPr lang="en-US" sz="1050" b="1" dirty="0">
                          <a:solidFill>
                            <a:srgbClr val="15171A"/>
                          </a:solidFill>
                        </a:rPr>
                        <a:t>예상 급여 계산</a:t>
                      </a:r>
                      <a:endParaRPr lang="en-US" sz="10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pPr algn="ctr" indent="0" marL="0">
                        <a:buNone/>
                      </a:pPr>
                      <a:r>
                        <a:rPr lang="en-US" sz="800" dirty="0">
                          <a:solidFill>
                            <a:srgbClr val="5D636D"/>
                          </a:solidFill>
                        </a:rPr>
                        <a:t> 일회성</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pPr algn="ctr" indent="0" marL="0">
                        <a:buNone/>
                      </a:pPr>
                      <a:r>
                        <a:rPr lang="en-US" sz="800" dirty="0">
                          <a:solidFill>
                            <a:srgbClr val="5D636D"/>
                          </a:solidFill>
                        </a:rPr>
                        <a:t> 주휴 · 야간</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384048">
                <a:tc>
                  <a:txBody>
                    <a:bodyPr/>
                    <a:lstStyle/>
                    <a:p>
                      <a:pPr indent="0" marL="0">
                        <a:buNone/>
                      </a:pPr>
                      <a:r>
                        <a:rPr lang="en-US" sz="1050" b="1" dirty="0">
                          <a:solidFill>
                            <a:srgbClr val="15171A"/>
                          </a:solidFill>
                        </a:rPr>
                        <a:t>실제 입금액과 비교 · 차액</a:t>
                      </a:r>
                      <a:endParaRPr lang="en-US" sz="10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384048">
                <a:tc>
                  <a:txBody>
                    <a:bodyPr/>
                    <a:lstStyle/>
                    <a:p>
                      <a:pPr indent="0" marL="0">
                        <a:buNone/>
                      </a:pPr>
                      <a:r>
                        <a:rPr lang="en-US" sz="1050" b="1" dirty="0">
                          <a:solidFill>
                            <a:srgbClr val="15171A"/>
                          </a:solidFill>
                        </a:rPr>
                        <a:t>요청 문구 · 증빙 묶음</a:t>
                      </a:r>
                      <a:endParaRPr lang="en-US" sz="10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pPr algn="ctr" indent="0" marL="0">
                        <a:buNone/>
                      </a:pPr>
                      <a:r>
                        <a:rPr lang="en-US" sz="800" dirty="0">
                          <a:solidFill>
                            <a:srgbClr val="5D636D"/>
                          </a:solidFill>
                        </a:rPr>
                        <a:t> 진정서만</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384048">
                <a:tc>
                  <a:txBody>
                    <a:bodyPr/>
                    <a:lstStyle/>
                    <a:p>
                      <a:pPr indent="0" marL="0">
                        <a:buNone/>
                      </a:pPr>
                      <a:r>
                        <a:rPr lang="en-US" sz="1050" b="1" dirty="0">
                          <a:solidFill>
                            <a:srgbClr val="15171A"/>
                          </a:solidFill>
                        </a:rPr>
                        <a:t>수정 이력 · 등록 시각</a:t>
                      </a:r>
                      <a:endParaRPr lang="en-US" sz="10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5D636D"/>
                          </a:solidFill>
                        </a:rPr>
                        <a:t>△</a:t>
                      </a:r>
                      <a:pPr algn="ctr" indent="0" marL="0">
                        <a:buNone/>
                      </a:pPr>
                      <a:r>
                        <a:rPr lang="en-US" sz="800" dirty="0">
                          <a:solidFill>
                            <a:srgbClr val="5D636D"/>
                          </a:solidFill>
                        </a:rPr>
                        <a:t> 보낸 시각만</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384048">
                <a:tc>
                  <a:txBody>
                    <a:bodyPr/>
                    <a:lstStyle/>
                    <a:p>
                      <a:pPr indent="0" marL="0">
                        <a:buNone/>
                      </a:pPr>
                      <a:r>
                        <a:rPr lang="en-US" sz="1050" b="1" dirty="0">
                          <a:solidFill>
                            <a:srgbClr val="15171A"/>
                          </a:solidFill>
                        </a:rPr>
                        <a:t>진정 접수</a:t>
                      </a:r>
                      <a:endParaRPr lang="en-US" sz="105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0F7A55"/>
                          </a:solidFill>
                        </a:rPr>
                        <a:t>O</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algn="ctr" indent="0" marL="0">
                        <a:buNone/>
                      </a:pPr>
                      <a:r>
                        <a:rPr lang="en-US" sz="1200" b="1" dirty="0">
                          <a:solidFill>
                            <a:srgbClr val="C2331C"/>
                          </a:solidFill>
                        </a:rPr>
                        <a:t>X</a:t>
                      </a:r>
                      <a:pPr algn="ctr" indent="0" marL="0">
                        <a:buNone/>
                      </a:pPr>
                      <a:r>
                        <a:rPr lang="en-US" sz="800" dirty="0">
                          <a:solidFill>
                            <a:srgbClr val="5D636D"/>
                          </a:solidFill>
                        </a:rPr>
                        <a:t> 연결만</a:t>
                      </a:r>
                      <a:endParaRPr lang="en-US" sz="1200" dirty="0"/>
                    </a:p>
                  </a:txBody>
                  <a:tcPr marL="54864" marR="54864" marT="27432" marB="27432"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bl>
          </a:graphicData>
        </a:graphic>
      </p:graphicFrame>
      <p:sp>
        <p:nvSpPr>
          <p:cNvPr id="5" name="결론 칸"/>
          <p:cNvSpPr/>
          <p:nvPr/>
        </p:nvSpPr>
        <p:spPr>
          <a:xfrm>
            <a:off x="457200" y="4005072"/>
            <a:ext cx="8229600" cy="548640"/>
          </a:xfrm>
          <a:prstGeom prst="roundRect">
            <a:avLst>
              <a:gd name="adj" fmla="val 16667"/>
            </a:avLst>
          </a:prstGeom>
          <a:solidFill>
            <a:schemeClr val="bg2"/>
          </a:solidFill>
          <a:ln w="12700">
            <a:solidFill>
              <a:schemeClr val="bg2"/>
            </a:solidFill>
            <a:prstDash val="solid"/>
          </a:ln>
        </p:spPr>
      </p:sp>
      <p:sp>
        <p:nvSpPr>
          <p:cNvPr id="6" name="Text 3"/>
          <p:cNvSpPr txBox="1"/>
          <p:nvPr/>
        </p:nvSpPr>
        <p:spPr>
          <a:xfrm>
            <a:off x="640080" y="4005072"/>
            <a:ext cx="7863840" cy="548640"/>
          </a:xfrm>
          <a:prstGeom prst="rect">
            <a:avLst/>
          </a:prstGeom>
          <a:noFill/>
          <a:ln/>
        </p:spPr>
        <p:txBody>
          <a:bodyPr wrap="square" lIns="0" tIns="0" rIns="0" bIns="0" rtlCol="0" anchor="ctr"/>
          <a:lstStyle/>
          <a:p>
            <a:pPr indent="0" marL="0">
              <a:buNone/>
            </a:pPr>
            <a:r>
              <a:rPr lang="en-US" sz="1150" b="1" dirty="0">
                <a:solidFill>
                  <a:schemeClr val="tx2"/>
                </a:solidFill>
              </a:rPr>
              <a:t>알바가드만 O  </a:t>
            </a:r>
            <a:pPr indent="0" marL="0">
              <a:buNone/>
            </a:pPr>
            <a:r>
              <a:rPr lang="en-US" sz="1150" dirty="0">
                <a:solidFill>
                  <a:schemeClr val="tx1"/>
                </a:solidFill>
              </a:rPr>
              <a:t>가운데 세 줄(비교 · 요청 · 등록 시각)은 다른 서비스가 모두 X다. 진정 접수는 일부러 연결만 한다</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③ 솔루션 · 서비스 개요   ·   문제 1 · 2는 비교로, 문제 3은 요청으로 푼다. 기록이 그 바탕</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기록 → 비교 → 요청, 신고 이전 단계를 채운다</a:t>
            </a:r>
            <a:endParaRPr lang="en-US" sz="2400" dirty="0"/>
          </a:p>
        </p:txBody>
      </p:sp>
      <p:sp>
        <p:nvSpPr>
          <p:cNvPr id="4" name="번호 1"/>
          <p:cNvSpPr/>
          <p:nvPr/>
        </p:nvSpPr>
        <p:spPr>
          <a:xfrm>
            <a:off x="457200" y="1261872"/>
            <a:ext cx="310896" cy="310896"/>
          </a:xfrm>
          <a:prstGeom prst="ellipse">
            <a:avLst/>
          </a:prstGeom>
          <a:solidFill>
            <a:schemeClr val="accent1"/>
          </a:solidFill>
          <a:ln w="12700">
            <a:solidFill>
              <a:schemeClr val="accent1"/>
            </a:solidFill>
            <a:prstDash val="solid"/>
          </a:ln>
        </p:spPr>
      </p:sp>
      <p:sp>
        <p:nvSpPr>
          <p:cNvPr id="5" name="Text 3"/>
          <p:cNvSpPr txBox="1"/>
          <p:nvPr/>
        </p:nvSpPr>
        <p:spPr>
          <a:xfrm>
            <a:off x="457200" y="12618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4"/>
          <p:cNvSpPr txBox="1"/>
          <p:nvPr/>
        </p:nvSpPr>
        <p:spPr>
          <a:xfrm>
            <a:off x="868680" y="1216152"/>
            <a:ext cx="1371600" cy="411480"/>
          </a:xfrm>
          <a:prstGeom prst="rect">
            <a:avLst/>
          </a:prstGeom>
          <a:noFill/>
          <a:ln/>
        </p:spPr>
        <p:txBody>
          <a:bodyPr wrap="square" lIns="0" tIns="0" rIns="0" bIns="0" rtlCol="0" anchor="ctr"/>
          <a:lstStyle/>
          <a:p>
            <a:pPr indent="0" marL="0">
              <a:buNone/>
            </a:pPr>
            <a:r>
              <a:rPr lang="en-US" sz="1800" b="1" dirty="0">
                <a:solidFill>
                  <a:schemeClr val="tx2"/>
                </a:solidFill>
              </a:rPr>
              <a:t>기록</a:t>
            </a:r>
            <a:endParaRPr lang="en-US" sz="1800" dirty="0"/>
          </a:p>
        </p:txBody>
      </p:sp>
      <p:sp>
        <p:nvSpPr>
          <p:cNvPr id="7" name="Text 5"/>
          <p:cNvSpPr txBox="1"/>
          <p:nvPr/>
        </p:nvSpPr>
        <p:spPr>
          <a:xfrm>
            <a:off x="457200" y="1691640"/>
            <a:ext cx="2651760" cy="685800"/>
          </a:xfrm>
          <a:prstGeom prst="rect">
            <a:avLst/>
          </a:prstGeom>
          <a:noFill/>
          <a:ln/>
        </p:spPr>
        <p:txBody>
          <a:bodyPr wrap="square" lIns="0" tIns="0" rIns="0" bIns="0" rtlCol="0" anchor="t"/>
          <a:lstStyle/>
          <a:p>
            <a:pPr indent="0" marL="0">
              <a:buNone/>
            </a:pPr>
            <a:r>
              <a:rPr lang="en-US" sz="1050" dirty="0">
                <a:solidFill>
                  <a:schemeClr val="tx1"/>
                </a:solidFill>
              </a:rPr>
              <a:t>출근 · 퇴근 버튼 하나. 고치면 수정 전후와 사유가 남고, 삭제도 흔적이 남는다</a:t>
            </a:r>
            <a:endParaRPr lang="en-US" sz="1050" dirty="0"/>
          </a:p>
        </p:txBody>
      </p:sp>
      <p:sp>
        <p:nvSpPr>
          <p:cNvPr id="8" name="기록 화면 틀"/>
          <p:cNvSpPr/>
          <p:nvPr/>
        </p:nvSpPr>
        <p:spPr>
          <a:xfrm>
            <a:off x="1198939" y="2350008"/>
            <a:ext cx="1168281" cy="2423160"/>
          </a:xfrm>
          <a:prstGeom prst="roundRect">
            <a:avLst>
              <a:gd name="adj" fmla="val 12523"/>
            </a:avLst>
          </a:prstGeom>
          <a:solidFill>
            <a:srgbClr val="15171A"/>
          </a:solidFill>
          <a:ln w="12700">
            <a:solidFill>
              <a:srgbClr val="15171A"/>
            </a:solidFill>
            <a:prstDash val="solid"/>
          </a:ln>
        </p:spPr>
      </p:sp>
      <p:pic>
        <p:nvPicPr>
          <p:cNvPr id="9" name="기록 화면" descr="C:\Users\user\Desktop\albaguard기술창업\docs\screenshots\1-home.jpg">    </p:cNvPr>
          <p:cNvPicPr>
            <a:picLocks noChangeAspect="1"/>
          </p:cNvPicPr>
          <p:nvPr/>
        </p:nvPicPr>
        <p:blipFill>
          <a:blip r:embed="rId1"/>
          <a:stretch>
            <a:fillRect/>
          </a:stretch>
        </p:blipFill>
        <p:spPr>
          <a:xfrm>
            <a:off x="1244659" y="2395728"/>
            <a:ext cx="1076841" cy="2331720"/>
          </a:xfrm>
          <a:prstGeom prst="rect">
            <a:avLst/>
          </a:prstGeom>
        </p:spPr>
      </p:pic>
      <p:sp>
        <p:nvSpPr>
          <p:cNvPr id="10" name="Shape 7"/>
          <p:cNvSpPr/>
          <p:nvPr/>
        </p:nvSpPr>
        <p:spPr>
          <a:xfrm>
            <a:off x="3127248" y="1417320"/>
            <a:ext cx="100584" cy="0"/>
          </a:xfrm>
          <a:prstGeom prst="line">
            <a:avLst/>
          </a:prstGeom>
          <a:noFill/>
          <a:ln w="25400">
            <a:solidFill>
              <a:srgbClr val="DCD9D0"/>
            </a:solidFill>
            <a:prstDash val="solid"/>
            <a:tailEnd type="triangle"/>
          </a:ln>
        </p:spPr>
      </p:sp>
      <p:sp>
        <p:nvSpPr>
          <p:cNvPr id="11" name="번호 2"/>
          <p:cNvSpPr/>
          <p:nvPr/>
        </p:nvSpPr>
        <p:spPr>
          <a:xfrm>
            <a:off x="3246120" y="1261872"/>
            <a:ext cx="310896" cy="310896"/>
          </a:xfrm>
          <a:prstGeom prst="ellipse">
            <a:avLst/>
          </a:prstGeom>
          <a:solidFill>
            <a:schemeClr val="accent1"/>
          </a:solidFill>
          <a:ln w="12700">
            <a:solidFill>
              <a:schemeClr val="accent1"/>
            </a:solidFill>
            <a:prstDash val="solid"/>
          </a:ln>
        </p:spPr>
      </p:sp>
      <p:sp>
        <p:nvSpPr>
          <p:cNvPr id="12" name="Text 9"/>
          <p:cNvSpPr txBox="1"/>
          <p:nvPr/>
        </p:nvSpPr>
        <p:spPr>
          <a:xfrm>
            <a:off x="3246120" y="12618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Text 10"/>
          <p:cNvSpPr txBox="1"/>
          <p:nvPr/>
        </p:nvSpPr>
        <p:spPr>
          <a:xfrm>
            <a:off x="3657600" y="1216152"/>
            <a:ext cx="1371600" cy="411480"/>
          </a:xfrm>
          <a:prstGeom prst="rect">
            <a:avLst/>
          </a:prstGeom>
          <a:noFill/>
          <a:ln/>
        </p:spPr>
        <p:txBody>
          <a:bodyPr wrap="square" lIns="0" tIns="0" rIns="0" bIns="0" rtlCol="0" anchor="ctr"/>
          <a:lstStyle/>
          <a:p>
            <a:pPr indent="0" marL="0">
              <a:buNone/>
            </a:pPr>
            <a:r>
              <a:rPr lang="en-US" sz="1800" b="1" dirty="0">
                <a:solidFill>
                  <a:schemeClr val="tx2"/>
                </a:solidFill>
              </a:rPr>
              <a:t>비교</a:t>
            </a:r>
            <a:endParaRPr lang="en-US" sz="1800" dirty="0"/>
          </a:p>
        </p:txBody>
      </p:sp>
      <p:sp>
        <p:nvSpPr>
          <p:cNvPr id="14" name="Text 11"/>
          <p:cNvSpPr txBox="1"/>
          <p:nvPr/>
        </p:nvSpPr>
        <p:spPr>
          <a:xfrm>
            <a:off x="3246120" y="1691640"/>
            <a:ext cx="2651760" cy="685800"/>
          </a:xfrm>
          <a:prstGeom prst="rect">
            <a:avLst/>
          </a:prstGeom>
          <a:noFill/>
          <a:ln/>
        </p:spPr>
        <p:txBody>
          <a:bodyPr wrap="square" lIns="0" tIns="0" rIns="0" bIns="0" rtlCol="0" anchor="t"/>
          <a:lstStyle/>
          <a:p>
            <a:pPr indent="0" marL="0">
              <a:buNone/>
            </a:pPr>
            <a:r>
              <a:rPr lang="en-US" sz="1050" dirty="0">
                <a:solidFill>
                  <a:schemeClr val="tx1"/>
                </a:solidFill>
              </a:rPr>
              <a:t>기본급 + 주휴 + 야간수당으로 "받았어야 할 돈"을 계산하고, 실제 받은 돈과의 차액을 보여 준다</a:t>
            </a:r>
            <a:endParaRPr lang="en-US" sz="1050" dirty="0"/>
          </a:p>
        </p:txBody>
      </p:sp>
      <p:sp>
        <p:nvSpPr>
          <p:cNvPr id="15" name="비교 화면 틀"/>
          <p:cNvSpPr/>
          <p:nvPr/>
        </p:nvSpPr>
        <p:spPr>
          <a:xfrm>
            <a:off x="3987859" y="2350008"/>
            <a:ext cx="1168281" cy="2423160"/>
          </a:xfrm>
          <a:prstGeom prst="roundRect">
            <a:avLst>
              <a:gd name="adj" fmla="val 12523"/>
            </a:avLst>
          </a:prstGeom>
          <a:solidFill>
            <a:srgbClr val="15171A"/>
          </a:solidFill>
          <a:ln w="12700">
            <a:solidFill>
              <a:srgbClr val="15171A"/>
            </a:solidFill>
            <a:prstDash val="solid"/>
          </a:ln>
        </p:spPr>
      </p:sp>
      <p:pic>
        <p:nvPicPr>
          <p:cNvPr id="16" name="비교 화면" descr="C:\Users\user\Desktop\albaguard기술창업\docs\screenshots\3-pay.jpg">    </p:cNvPr>
          <p:cNvPicPr>
            <a:picLocks noChangeAspect="1"/>
          </p:cNvPicPr>
          <p:nvPr/>
        </p:nvPicPr>
        <p:blipFill>
          <a:blip r:embed="rId2"/>
          <a:stretch>
            <a:fillRect/>
          </a:stretch>
        </p:blipFill>
        <p:spPr>
          <a:xfrm>
            <a:off x="4033579" y="2395728"/>
            <a:ext cx="1076841" cy="2331720"/>
          </a:xfrm>
          <a:prstGeom prst="rect">
            <a:avLst/>
          </a:prstGeom>
        </p:spPr>
      </p:pic>
      <p:sp>
        <p:nvSpPr>
          <p:cNvPr id="17" name="Shape 13"/>
          <p:cNvSpPr/>
          <p:nvPr/>
        </p:nvSpPr>
        <p:spPr>
          <a:xfrm>
            <a:off x="5916168" y="1417320"/>
            <a:ext cx="100584" cy="0"/>
          </a:xfrm>
          <a:prstGeom prst="line">
            <a:avLst/>
          </a:prstGeom>
          <a:noFill/>
          <a:ln w="25400">
            <a:solidFill>
              <a:srgbClr val="DCD9D0"/>
            </a:solidFill>
            <a:prstDash val="solid"/>
            <a:tailEnd type="triangle"/>
          </a:ln>
        </p:spPr>
      </p:sp>
      <p:sp>
        <p:nvSpPr>
          <p:cNvPr id="18" name="번호 3"/>
          <p:cNvSpPr/>
          <p:nvPr/>
        </p:nvSpPr>
        <p:spPr>
          <a:xfrm>
            <a:off x="6035040" y="1261872"/>
            <a:ext cx="310896" cy="310896"/>
          </a:xfrm>
          <a:prstGeom prst="ellipse">
            <a:avLst/>
          </a:prstGeom>
          <a:solidFill>
            <a:schemeClr val="accent1"/>
          </a:solidFill>
          <a:ln w="12700">
            <a:solidFill>
              <a:schemeClr val="accent1"/>
            </a:solidFill>
            <a:prstDash val="solid"/>
          </a:ln>
        </p:spPr>
      </p:sp>
      <p:sp>
        <p:nvSpPr>
          <p:cNvPr id="19" name="Text 15"/>
          <p:cNvSpPr txBox="1"/>
          <p:nvPr/>
        </p:nvSpPr>
        <p:spPr>
          <a:xfrm>
            <a:off x="6035040" y="126187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20" name="Text 16"/>
          <p:cNvSpPr txBox="1"/>
          <p:nvPr/>
        </p:nvSpPr>
        <p:spPr>
          <a:xfrm>
            <a:off x="6446520" y="1216152"/>
            <a:ext cx="1371600" cy="411480"/>
          </a:xfrm>
          <a:prstGeom prst="rect">
            <a:avLst/>
          </a:prstGeom>
          <a:noFill/>
          <a:ln/>
        </p:spPr>
        <p:txBody>
          <a:bodyPr wrap="square" lIns="0" tIns="0" rIns="0" bIns="0" rtlCol="0" anchor="ctr"/>
          <a:lstStyle/>
          <a:p>
            <a:pPr indent="0" marL="0">
              <a:buNone/>
            </a:pPr>
            <a:r>
              <a:rPr lang="en-US" sz="1800" b="1" dirty="0">
                <a:solidFill>
                  <a:schemeClr val="tx2"/>
                </a:solidFill>
              </a:rPr>
              <a:t>요청</a:t>
            </a:r>
            <a:endParaRPr lang="en-US" sz="1800" dirty="0"/>
          </a:p>
        </p:txBody>
      </p:sp>
      <p:sp>
        <p:nvSpPr>
          <p:cNvPr id="21" name="Text 17"/>
          <p:cNvSpPr txBox="1"/>
          <p:nvPr/>
        </p:nvSpPr>
        <p:spPr>
          <a:xfrm>
            <a:off x="6035040" y="1691640"/>
            <a:ext cx="2651760" cy="685800"/>
          </a:xfrm>
          <a:prstGeom prst="rect">
            <a:avLst/>
          </a:prstGeom>
          <a:noFill/>
          <a:ln/>
        </p:spPr>
        <p:txBody>
          <a:bodyPr wrap="square" lIns="0" tIns="0" rIns="0" bIns="0" rtlCol="0" anchor="t"/>
          <a:lstStyle/>
          <a:p>
            <a:pPr indent="0" marL="0">
              <a:buNone/>
            </a:pPr>
            <a:r>
              <a:rPr lang="en-US" sz="1050" dirty="0">
                <a:solidFill>
                  <a:schemeClr val="tx1"/>
                </a:solidFill>
              </a:rPr>
              <a:t>정중한 메시지 → 내용증명 초안 → 진정 절차 안내(1350 · 노동포털). 대화로 먼저 푼다</a:t>
            </a:r>
            <a:endParaRPr lang="en-US" sz="1050" dirty="0"/>
          </a:p>
        </p:txBody>
      </p:sp>
      <p:sp>
        <p:nvSpPr>
          <p:cNvPr id="22" name="요청 화면 틀"/>
          <p:cNvSpPr/>
          <p:nvPr/>
        </p:nvSpPr>
        <p:spPr>
          <a:xfrm>
            <a:off x="6776779" y="2350008"/>
            <a:ext cx="1168281" cy="2423160"/>
          </a:xfrm>
          <a:prstGeom prst="roundRect">
            <a:avLst>
              <a:gd name="adj" fmla="val 12523"/>
            </a:avLst>
          </a:prstGeom>
          <a:solidFill>
            <a:srgbClr val="15171A"/>
          </a:solidFill>
          <a:ln w="12700">
            <a:solidFill>
              <a:srgbClr val="15171A"/>
            </a:solidFill>
            <a:prstDash val="solid"/>
          </a:ln>
        </p:spPr>
      </p:sp>
      <p:pic>
        <p:nvPicPr>
          <p:cNvPr id="23" name="요청 화면" descr="C:\Users\user\Desktop\albaguard기술창업\docs\screenshots\4-request.jpg">    </p:cNvPr>
          <p:cNvPicPr>
            <a:picLocks noChangeAspect="1"/>
          </p:cNvPicPr>
          <p:nvPr/>
        </p:nvPicPr>
        <p:blipFill>
          <a:blip r:embed="rId3"/>
          <a:stretch>
            <a:fillRect/>
          </a:stretch>
        </p:blipFill>
        <p:spPr>
          <a:xfrm>
            <a:off x="6822499" y="2395728"/>
            <a:ext cx="1076841" cy="2331720"/>
          </a:xfrm>
          <a:prstGeom prst="rect">
            <a:avLst/>
          </a:prstGeom>
        </p:spPr>
      </p:pic>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③ 솔루션 · 차별화 포인트</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차별점과 한계</a:t>
            </a:r>
            <a:endParaRPr lang="en-US" sz="2400" dirty="0"/>
          </a:p>
        </p:txBody>
      </p:sp>
      <p:sp>
        <p:nvSpPr>
          <p:cNvPr id="4" name="번호 1"/>
          <p:cNvSpPr/>
          <p:nvPr/>
        </p:nvSpPr>
        <p:spPr>
          <a:xfrm>
            <a:off x="457200" y="1325880"/>
            <a:ext cx="310896" cy="310896"/>
          </a:xfrm>
          <a:prstGeom prst="ellipse">
            <a:avLst/>
          </a:prstGeom>
          <a:solidFill>
            <a:schemeClr val="accent1"/>
          </a:solidFill>
          <a:ln w="12700">
            <a:solidFill>
              <a:schemeClr val="accent1"/>
            </a:solidFill>
            <a:prstDash val="solid"/>
          </a:ln>
        </p:spPr>
      </p:sp>
      <p:sp>
        <p:nvSpPr>
          <p:cNvPr id="5" name="Text 3"/>
          <p:cNvSpPr txBox="1"/>
          <p:nvPr/>
        </p:nvSpPr>
        <p:spPr>
          <a:xfrm>
            <a:off x="457200" y="13258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4"/>
          <p:cNvSpPr txBox="1"/>
          <p:nvPr/>
        </p:nvSpPr>
        <p:spPr>
          <a:xfrm>
            <a:off x="914400" y="1280160"/>
            <a:ext cx="4480560" cy="384048"/>
          </a:xfrm>
          <a:prstGeom prst="rect">
            <a:avLst/>
          </a:prstGeom>
          <a:noFill/>
          <a:ln/>
        </p:spPr>
        <p:txBody>
          <a:bodyPr wrap="square" lIns="0" tIns="0" rIns="0" bIns="0" rtlCol="0" anchor="ctr"/>
          <a:lstStyle/>
          <a:p>
            <a:pPr indent="0" marL="0">
              <a:buNone/>
            </a:pPr>
            <a:r>
              <a:rPr lang="en-US" sz="1350" b="1" dirty="0">
                <a:solidFill>
                  <a:schemeClr val="tx2"/>
                </a:solidFill>
              </a:rPr>
              <a:t>사장 연동 없이 혼자 쓴다</a:t>
            </a:r>
            <a:pPr indent="0" marL="0">
              <a:buNone/>
            </a:pPr>
            <a:r>
              <a:rPr lang="en-US" sz="900" dirty="0">
                <a:solidFill>
                  <a:schemeClr val="accent5"/>
                </a:solidFill>
              </a:rPr>
              <a:t>   사장 협조가 없어도</a:t>
            </a:r>
            <a:endParaRPr lang="en-US" sz="1350" dirty="0"/>
          </a:p>
        </p:txBody>
      </p:sp>
      <p:sp>
        <p:nvSpPr>
          <p:cNvPr id="7" name="Text 5"/>
          <p:cNvSpPr txBox="1"/>
          <p:nvPr/>
        </p:nvSpPr>
        <p:spPr>
          <a:xfrm>
            <a:off x="914400" y="1700784"/>
            <a:ext cx="4480560" cy="365760"/>
          </a:xfrm>
          <a:prstGeom prst="rect">
            <a:avLst/>
          </a:prstGeom>
          <a:noFill/>
          <a:ln/>
        </p:spPr>
        <p:txBody>
          <a:bodyPr wrap="square" lIns="0" tIns="0" rIns="0" bIns="0" rtlCol="0" anchor="t"/>
          <a:lstStyle/>
          <a:p>
            <a:pPr indent="0" marL="0">
              <a:buNone/>
            </a:pPr>
            <a:r>
              <a:rPr lang="en-US" sz="1150" dirty="0">
                <a:solidFill>
                  <a:schemeClr val="accent5"/>
                </a:solidFill>
              </a:rPr>
              <a:t>근무지만 직접 등록한다. 사장 가입이 필요 없다</a:t>
            </a:r>
            <a:endParaRPr lang="en-US" sz="1150" dirty="0"/>
          </a:p>
        </p:txBody>
      </p:sp>
      <p:sp>
        <p:nvSpPr>
          <p:cNvPr id="8" name="Shape 6"/>
          <p:cNvSpPr/>
          <p:nvPr/>
        </p:nvSpPr>
        <p:spPr>
          <a:xfrm>
            <a:off x="457200" y="2267712"/>
            <a:ext cx="4937760" cy="0"/>
          </a:xfrm>
          <a:prstGeom prst="line">
            <a:avLst/>
          </a:prstGeom>
          <a:noFill/>
          <a:ln w="9525">
            <a:solidFill>
              <a:srgbClr val="DCD9D0"/>
            </a:solidFill>
            <a:prstDash val="solid"/>
          </a:ln>
        </p:spPr>
      </p:sp>
      <p:sp>
        <p:nvSpPr>
          <p:cNvPr id="9" name="번호 2"/>
          <p:cNvSpPr/>
          <p:nvPr/>
        </p:nvSpPr>
        <p:spPr>
          <a:xfrm>
            <a:off x="457200" y="2350008"/>
            <a:ext cx="310896" cy="310896"/>
          </a:xfrm>
          <a:prstGeom prst="ellipse">
            <a:avLst/>
          </a:prstGeom>
          <a:solidFill>
            <a:schemeClr val="accent1"/>
          </a:solidFill>
          <a:ln w="12700">
            <a:solidFill>
              <a:schemeClr val="accent1"/>
            </a:solidFill>
            <a:prstDash val="solid"/>
          </a:ln>
        </p:spPr>
      </p:sp>
      <p:sp>
        <p:nvSpPr>
          <p:cNvPr id="10" name="Text 8"/>
          <p:cNvSpPr txBox="1"/>
          <p:nvPr/>
        </p:nvSpPr>
        <p:spPr>
          <a:xfrm>
            <a:off x="457200" y="23500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 9"/>
          <p:cNvSpPr txBox="1"/>
          <p:nvPr/>
        </p:nvSpPr>
        <p:spPr>
          <a:xfrm>
            <a:off x="914400" y="2304288"/>
            <a:ext cx="4480560" cy="384048"/>
          </a:xfrm>
          <a:prstGeom prst="rect">
            <a:avLst/>
          </a:prstGeom>
          <a:noFill/>
          <a:ln/>
        </p:spPr>
        <p:txBody>
          <a:bodyPr wrap="square" lIns="0" tIns="0" rIns="0" bIns="0" rtlCol="0" anchor="ctr"/>
          <a:lstStyle/>
          <a:p>
            <a:pPr indent="0" marL="0">
              <a:buNone/>
            </a:pPr>
            <a:r>
              <a:rPr lang="en-US" sz="1350" b="1" dirty="0">
                <a:solidFill>
                  <a:schemeClr val="tx2"/>
                </a:solidFill>
              </a:rPr>
              <a:t>입금액 비교 → 차액 → 요청 · 증빙까지</a:t>
            </a:r>
            <a:pPr indent="0" marL="0">
              <a:buNone/>
            </a:pPr>
            <a:r>
              <a:rPr lang="en-US" sz="900" dirty="0">
                <a:solidFill>
                  <a:schemeClr val="accent5"/>
                </a:solidFill>
              </a:rPr>
              <a:t>   문제 1 · 2 · 3의 답</a:t>
            </a:r>
            <a:endParaRPr lang="en-US" sz="1350" dirty="0"/>
          </a:p>
        </p:txBody>
      </p:sp>
      <p:sp>
        <p:nvSpPr>
          <p:cNvPr id="12" name="Text 10"/>
          <p:cNvSpPr txBox="1"/>
          <p:nvPr/>
        </p:nvSpPr>
        <p:spPr>
          <a:xfrm>
            <a:off x="914400" y="2724912"/>
            <a:ext cx="4480560" cy="365760"/>
          </a:xfrm>
          <a:prstGeom prst="rect">
            <a:avLst/>
          </a:prstGeom>
          <a:noFill/>
          <a:ln/>
        </p:spPr>
        <p:txBody>
          <a:bodyPr wrap="square" lIns="0" tIns="0" rIns="0" bIns="0" rtlCol="0" anchor="t"/>
          <a:lstStyle/>
          <a:p>
            <a:pPr indent="0" marL="0">
              <a:buNone/>
            </a:pPr>
            <a:r>
              <a:rPr lang="en-US" sz="1150" dirty="0">
                <a:solidFill>
                  <a:schemeClr val="accent5"/>
                </a:solidFill>
              </a:rPr>
              <a:t>실제 받은 돈과 비교해 요청 문구 · 증빙까지. 네 서비스 모두 없음</a:t>
            </a:r>
            <a:endParaRPr lang="en-US" sz="1150" dirty="0"/>
          </a:p>
        </p:txBody>
      </p:sp>
      <p:sp>
        <p:nvSpPr>
          <p:cNvPr id="13" name="Shape 11"/>
          <p:cNvSpPr/>
          <p:nvPr/>
        </p:nvSpPr>
        <p:spPr>
          <a:xfrm>
            <a:off x="457200" y="3291840"/>
            <a:ext cx="4937760" cy="0"/>
          </a:xfrm>
          <a:prstGeom prst="line">
            <a:avLst/>
          </a:prstGeom>
          <a:noFill/>
          <a:ln w="9525">
            <a:solidFill>
              <a:srgbClr val="DCD9D0"/>
            </a:solidFill>
            <a:prstDash val="solid"/>
          </a:ln>
        </p:spPr>
      </p:sp>
      <p:sp>
        <p:nvSpPr>
          <p:cNvPr id="14" name="번호 3"/>
          <p:cNvSpPr/>
          <p:nvPr/>
        </p:nvSpPr>
        <p:spPr>
          <a:xfrm>
            <a:off x="457200" y="3374136"/>
            <a:ext cx="310896" cy="310896"/>
          </a:xfrm>
          <a:prstGeom prst="ellipse">
            <a:avLst/>
          </a:prstGeom>
          <a:solidFill>
            <a:schemeClr val="accent1"/>
          </a:solidFill>
          <a:ln w="12700">
            <a:solidFill>
              <a:schemeClr val="accent1"/>
            </a:solidFill>
            <a:prstDash val="solid"/>
          </a:ln>
        </p:spPr>
      </p:sp>
      <p:sp>
        <p:nvSpPr>
          <p:cNvPr id="15" name="Text 13"/>
          <p:cNvSpPr txBox="1"/>
          <p:nvPr/>
        </p:nvSpPr>
        <p:spPr>
          <a:xfrm>
            <a:off x="457200" y="337413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4"/>
          <p:cNvSpPr txBox="1"/>
          <p:nvPr/>
        </p:nvSpPr>
        <p:spPr>
          <a:xfrm>
            <a:off x="914400" y="3328416"/>
            <a:ext cx="4480560" cy="384048"/>
          </a:xfrm>
          <a:prstGeom prst="rect">
            <a:avLst/>
          </a:prstGeom>
          <a:noFill/>
          <a:ln/>
        </p:spPr>
        <p:txBody>
          <a:bodyPr wrap="square" lIns="0" tIns="0" rIns="0" bIns="0" rtlCol="0" anchor="ctr"/>
          <a:lstStyle/>
          <a:p>
            <a:pPr indent="0" marL="0">
              <a:buNone/>
            </a:pPr>
            <a:r>
              <a:rPr lang="en-US" sz="1350" b="1" dirty="0">
                <a:solidFill>
                  <a:schemeClr val="tx2"/>
                </a:solidFill>
              </a:rPr>
              <a:t>기록 등록: 확인 번호 + 등록 시각</a:t>
            </a:r>
            <a:pPr indent="0" marL="0">
              <a:buNone/>
            </a:pPr>
            <a:r>
              <a:rPr lang="en-US" sz="900" dirty="0">
                <a:solidFill>
                  <a:schemeClr val="accent5"/>
                </a:solidFill>
              </a:rPr>
              <a:t>   문제 3의 근거</a:t>
            </a:r>
            <a:endParaRPr lang="en-US" sz="1350" dirty="0"/>
          </a:p>
        </p:txBody>
      </p:sp>
      <p:sp>
        <p:nvSpPr>
          <p:cNvPr id="17" name="Text 15"/>
          <p:cNvSpPr txBox="1"/>
          <p:nvPr/>
        </p:nvSpPr>
        <p:spPr>
          <a:xfrm>
            <a:off x="914400" y="3749040"/>
            <a:ext cx="4480560" cy="365760"/>
          </a:xfrm>
          <a:prstGeom prst="rect">
            <a:avLst/>
          </a:prstGeom>
          <a:noFill/>
          <a:ln/>
        </p:spPr>
        <p:txBody>
          <a:bodyPr wrap="square" lIns="0" tIns="0" rIns="0" bIns="0" rtlCol="0" anchor="t"/>
          <a:lstStyle/>
          <a:p>
            <a:pPr indent="0" marL="0">
              <a:buNone/>
            </a:pPr>
            <a:r>
              <a:rPr lang="en-US" sz="1150" dirty="0">
                <a:solidFill>
                  <a:schemeClr val="accent5"/>
                </a:solidFill>
              </a:rPr>
              <a:t>기록할 때마다 확인 번호와 서버 등록 시각이 남는다</a:t>
            </a:r>
            <a:endParaRPr lang="en-US" sz="1150" dirty="0"/>
          </a:p>
        </p:txBody>
      </p:sp>
      <p:sp>
        <p:nvSpPr>
          <p:cNvPr id="18" name="Shape 16"/>
          <p:cNvSpPr/>
          <p:nvPr/>
        </p:nvSpPr>
        <p:spPr>
          <a:xfrm>
            <a:off x="457200" y="4315968"/>
            <a:ext cx="4937760" cy="0"/>
          </a:xfrm>
          <a:prstGeom prst="line">
            <a:avLst/>
          </a:prstGeom>
          <a:noFill/>
          <a:ln w="9525">
            <a:solidFill>
              <a:srgbClr val="DCD9D0"/>
            </a:solidFill>
            <a:prstDash val="solid"/>
          </a:ln>
        </p:spPr>
      </p:sp>
      <p:sp>
        <p:nvSpPr>
          <p:cNvPr id="19" name="약점 칸"/>
          <p:cNvSpPr/>
          <p:nvPr/>
        </p:nvSpPr>
        <p:spPr>
          <a:xfrm>
            <a:off x="5852160" y="1280160"/>
            <a:ext cx="2834640" cy="1188720"/>
          </a:xfrm>
          <a:prstGeom prst="roundRect">
            <a:avLst>
              <a:gd name="adj" fmla="val 7692"/>
            </a:avLst>
          </a:prstGeom>
          <a:solidFill>
            <a:schemeClr val="bg2"/>
          </a:solidFill>
          <a:ln w="12700">
            <a:solidFill>
              <a:schemeClr val="bg2"/>
            </a:solidFill>
            <a:prstDash val="solid"/>
          </a:ln>
        </p:spPr>
      </p:sp>
      <p:sp>
        <p:nvSpPr>
          <p:cNvPr id="20" name="Text 18"/>
          <p:cNvSpPr txBox="1"/>
          <p:nvPr/>
        </p:nvSpPr>
        <p:spPr>
          <a:xfrm>
            <a:off x="6080760" y="1417320"/>
            <a:ext cx="2377440" cy="320040"/>
          </a:xfrm>
          <a:prstGeom prst="rect">
            <a:avLst/>
          </a:prstGeom>
          <a:noFill/>
          <a:ln/>
        </p:spPr>
        <p:txBody>
          <a:bodyPr wrap="square" lIns="0" tIns="0" rIns="0" bIns="0" rtlCol="0" anchor="ctr"/>
          <a:lstStyle/>
          <a:p>
            <a:pPr indent="0" marL="0">
              <a:buNone/>
            </a:pPr>
            <a:r>
              <a:rPr lang="en-US" sz="1100" b="1" dirty="0">
                <a:solidFill>
                  <a:schemeClr val="accent3"/>
                </a:solidFill>
              </a:rPr>
              <a:t>한계</a:t>
            </a:r>
            <a:endParaRPr lang="en-US" sz="1100" dirty="0"/>
          </a:p>
        </p:txBody>
      </p:sp>
      <p:sp>
        <p:nvSpPr>
          <p:cNvPr id="21" name="Text 19"/>
          <p:cNvSpPr txBox="1"/>
          <p:nvPr/>
        </p:nvSpPr>
        <p:spPr>
          <a:xfrm>
            <a:off x="6080760" y="1783080"/>
            <a:ext cx="2377440" cy="1005840"/>
          </a:xfrm>
          <a:prstGeom prst="rect">
            <a:avLst/>
          </a:prstGeom>
          <a:noFill/>
          <a:ln/>
        </p:spPr>
        <p:txBody>
          <a:bodyPr wrap="square" lIns="0" tIns="0" rIns="0" bIns="0" rtlCol="0" anchor="t"/>
          <a:lstStyle/>
          <a:p>
            <a:pPr indent="0" marL="0">
              <a:buNone/>
            </a:pPr>
            <a:r>
              <a:rPr lang="en-US" sz="1200" dirty="0">
                <a:solidFill>
                  <a:schemeClr val="tx1"/>
                </a:solidFill>
              </a:rPr>
              <a:t>비교 기능은 하우머치가 칸 하나로 따라올 수 있다. 3번은 기록 구조 자체라 따라오기 어렵다.</a:t>
            </a:r>
            <a:endParaRPr lang="en-US" sz="1200" dirty="0"/>
          </a:p>
        </p:txBody>
      </p:sp>
      <p:sp>
        <p:nvSpPr>
          <p:cNvPr id="22" name="Text 20"/>
          <p:cNvSpPr txBox="1"/>
          <p:nvPr/>
        </p:nvSpPr>
        <p:spPr>
          <a:xfrm>
            <a:off x="5852160" y="2651760"/>
            <a:ext cx="2834640" cy="640080"/>
          </a:xfrm>
          <a:prstGeom prst="rect">
            <a:avLst/>
          </a:prstGeom>
          <a:noFill/>
          <a:ln/>
        </p:spPr>
        <p:txBody>
          <a:bodyPr wrap="square" lIns="0" tIns="0" rIns="0" bIns="0" rtlCol="0" anchor="t"/>
          <a:lstStyle/>
          <a:p>
            <a:pPr indent="0" marL="0">
              <a:buNone/>
            </a:pPr>
            <a:r>
              <a:rPr lang="en-US" sz="1050" b="1" dirty="0">
                <a:solidFill>
                  <a:schemeClr val="tx2"/>
                </a:solidFill>
              </a:rPr>
              <a:t>통장 내역 · 메시지와 함께 내야 힘이 생긴다</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④ SW 기술 아키텍처 · 기술 스택</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기술 스택: 앱은 폰에서, 서버는 확인 번호 등록에만</a:t>
            </a:r>
            <a:endParaRPr lang="en-US" sz="2400" dirty="0"/>
          </a:p>
        </p:txBody>
      </p:sp>
      <p:graphicFrame>
        <p:nvGraphicFramePr>
          <p:cNvPr id="8" name="기술 스택 표"/>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600200"/>
                <a:gridCol w="3703320"/>
                <a:gridCol w="2926080"/>
              </a:tblGrid>
              <a:tr h="365760">
                <a:tc>
                  <a:txBody>
                    <a:bodyPr/>
                    <a:lstStyle/>
                    <a:p>
                      <a:pPr indent="0" marL="0">
                        <a:buNone/>
                      </a:pPr>
                      <a:r>
                        <a:rPr lang="en-US" sz="1100" b="1" dirty="0">
                          <a:solidFill>
                            <a:srgbClr val="5D636D"/>
                          </a:solidFill>
                        </a:rPr>
                        <a:t>구분</a:t>
                      </a:r>
                      <a:endParaRPr lang="en-US" sz="110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indent="0" marL="0">
                        <a:buNone/>
                      </a:pPr>
                      <a:r>
                        <a:rPr lang="en-US" sz="1100" b="1" dirty="0">
                          <a:solidFill>
                            <a:srgbClr val="5D636D"/>
                          </a:solidFill>
                        </a:rPr>
                        <a:t>선택</a:t>
                      </a:r>
                      <a:endParaRPr lang="en-US" sz="110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indent="0" marL="0">
                        <a:buNone/>
                      </a:pPr>
                      <a:r>
                        <a:rPr lang="en-US" sz="1100" b="1" dirty="0">
                          <a:solidFill>
                            <a:srgbClr val="5D636D"/>
                          </a:solidFill>
                        </a:rPr>
                        <a:t>이유</a:t>
                      </a:r>
                      <a:endParaRPr lang="en-US" sz="110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475488">
                <a:tc>
                  <a:txBody>
                    <a:bodyPr/>
                    <a:lstStyle/>
                    <a:p>
                      <a:pPr indent="0" marL="0">
                        <a:buNone/>
                      </a:pPr>
                      <a:r>
                        <a:rPr lang="en-US" sz="1150" b="1" dirty="0">
                          <a:solidFill>
                            <a:srgbClr val="15171A"/>
                          </a:solidFill>
                        </a:rPr>
                        <a:t>프런트엔드</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React + Vite, PWA (홈 화면에 추가, 오프라인 실행)</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스토어 없이 링크로 바로 배포</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150" b="1" dirty="0">
                          <a:solidFill>
                            <a:srgbClr val="15171A"/>
                          </a:solidFill>
                        </a:rPr>
                        <a:t>백엔드</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별도 서버 없음 + Supabase REST</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근무 내용은 폰 안에만</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731520">
                <a:tc>
                  <a:txBody>
                    <a:bodyPr/>
                    <a:lstStyle/>
                    <a:p>
                      <a:pPr indent="0" marL="0">
                        <a:buNone/>
                      </a:pPr>
                      <a:r>
                        <a:rPr lang="en-US" sz="1150" b="1" dirty="0">
                          <a:solidFill>
                            <a:srgbClr val="15171A"/>
                          </a:solidFill>
                        </a:rPr>
                        <a:t>데이터베이스</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폰: localStorage(기록) · IndexedDB(사진)</a:t>
                      </a:r>
                      <a:endParaRPr lang="en-US" sz="1150" dirty="0"/>
                    </a:p>
                    <a:p>
                      <a:pPr indent="0" marL="0">
                        <a:buNone/>
                      </a:pPr>
                      <a:r>
                        <a:rPr lang="en-US" sz="1150" dirty="0">
                          <a:solidFill>
                            <a:srgbClr val="15171A"/>
                          </a:solidFill>
                        </a:rPr>
                        <a:t>서버: Supabase PostgreSQL (stamps · survey)</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공개키로는 넣기 · 읽기만</a:t>
                      </a:r>
                      <a:endParaRPr lang="en-US" sz="1150" dirty="0"/>
                    </a:p>
                    <a:p>
                      <a:pPr indent="0" marL="0">
                        <a:buNone/>
                      </a:pPr>
                      <a:r>
                        <a:rPr lang="en-US" sz="1150" dirty="0">
                          <a:solidFill>
                            <a:srgbClr val="15171A"/>
                          </a:solidFill>
                        </a:rPr>
                        <a:t>시각은 서버가 찍음</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150" b="1" dirty="0">
                          <a:solidFill>
                            <a:srgbClr val="15171A"/>
                          </a:solidFill>
                        </a:rPr>
                        <a:t>클라우드 · 인프라</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GitHub Pages + GitHub Actions</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올리면 자동 배포</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150" b="1" dirty="0">
                          <a:solidFill>
                            <a:srgbClr val="15171A"/>
                          </a:solidFill>
                        </a:rPr>
                        <a:t>AI</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Claude API (선택, 개발 환경에서만)</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기록을 밖으로 안 보내려고 기본은 끔</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150" b="1" dirty="0">
                          <a:solidFill>
                            <a:srgbClr val="15171A"/>
                          </a:solidFill>
                        </a:rPr>
                        <a:t>SaaS · 분석</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설문 페이지 + 자동 집계 페이지, 직접 인터뷰</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150" dirty="0">
                          <a:solidFill>
                            <a:srgbClr val="15171A"/>
                          </a:solidFill>
                        </a:rPr>
                        <a:t>로그인이 없어 설문 · 인터뷰로 측정</a:t>
                      </a:r>
                      <a:endParaRPr lang="en-US" sz="1150" dirty="0"/>
                    </a:p>
                  </a:txBody>
                  <a:tcPr marL="91440" marR="91440" marT="36576" marB="36576"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④ SW 기술 아키텍처 · 시스템 구성도와 데이터 흐름</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근무 내용은 폰 안에, 서버에는 확인 번호와 등록 시각만</a:t>
            </a:r>
            <a:endParaRPr lang="en-US" sz="2400" dirty="0"/>
          </a:p>
        </p:txBody>
      </p:sp>
      <p:sp>
        <p:nvSpPr>
          <p:cNvPr id="4" name="폰 영역"/>
          <p:cNvSpPr/>
          <p:nvPr/>
        </p:nvSpPr>
        <p:spPr>
          <a:xfrm>
            <a:off x="457200" y="1280160"/>
            <a:ext cx="3108960" cy="3154680"/>
          </a:xfrm>
          <a:prstGeom prst="roundRect">
            <a:avLst>
              <a:gd name="adj" fmla="val 3529"/>
            </a:avLst>
          </a:prstGeom>
          <a:solidFill>
            <a:schemeClr val="bg2"/>
          </a:solidFill>
          <a:ln w="12700">
            <a:solidFill>
              <a:schemeClr val="bg2"/>
            </a:solidFill>
            <a:prstDash val="solid"/>
          </a:ln>
        </p:spPr>
      </p:sp>
      <p:sp>
        <p:nvSpPr>
          <p:cNvPr id="5" name="Text 3"/>
          <p:cNvSpPr txBox="1"/>
          <p:nvPr/>
        </p:nvSpPr>
        <p:spPr>
          <a:xfrm>
            <a:off x="640080" y="1371600"/>
            <a:ext cx="2743200" cy="274320"/>
          </a:xfrm>
          <a:prstGeom prst="rect">
            <a:avLst/>
          </a:prstGeom>
          <a:noFill/>
          <a:ln/>
        </p:spPr>
        <p:txBody>
          <a:bodyPr wrap="square" lIns="0" tIns="0" rIns="0" bIns="0" rtlCol="0" anchor="ctr"/>
          <a:lstStyle/>
          <a:p>
            <a:pPr indent="0" marL="0">
              <a:buNone/>
            </a:pPr>
            <a:r>
              <a:rPr lang="en-US" sz="1100" b="1" dirty="0">
                <a:solidFill>
                  <a:schemeClr val="tx2"/>
                </a:solidFill>
              </a:rPr>
              <a:t>폰 (PWA, 홈 화면에 추가)</a:t>
            </a:r>
            <a:endParaRPr lang="en-US" sz="1100" dirty="0"/>
          </a:p>
        </p:txBody>
      </p:sp>
      <p:sp>
        <p:nvSpPr>
          <p:cNvPr id="6" name="화면 상자"/>
          <p:cNvSpPr/>
          <p:nvPr/>
        </p:nvSpPr>
        <p:spPr>
          <a:xfrm>
            <a:off x="640080" y="1737360"/>
            <a:ext cx="2743200" cy="548640"/>
          </a:xfrm>
          <a:prstGeom prst="roundRect">
            <a:avLst>
              <a:gd name="adj" fmla="val 10000"/>
            </a:avLst>
          </a:prstGeom>
          <a:solidFill>
            <a:schemeClr val="bg1"/>
          </a:solidFill>
          <a:ln w="9525">
            <a:solidFill>
              <a:srgbClr val="DCD9D0"/>
            </a:solidFill>
            <a:prstDash val="solid"/>
          </a:ln>
        </p:spPr>
      </p:sp>
      <p:sp>
        <p:nvSpPr>
          <p:cNvPr id="7" name="Text 5"/>
          <p:cNvSpPr txBox="1"/>
          <p:nvPr/>
        </p:nvSpPr>
        <p:spPr>
          <a:xfrm>
            <a:off x="731520" y="1737360"/>
            <a:ext cx="2560320" cy="548640"/>
          </a:xfrm>
          <a:prstGeom prst="rect">
            <a:avLst/>
          </a:prstGeom>
          <a:noFill/>
          <a:ln/>
        </p:spPr>
        <p:txBody>
          <a:bodyPr wrap="square" lIns="0" tIns="0" rIns="0" bIns="0" rtlCol="0" anchor="ctr"/>
          <a:lstStyle/>
          <a:p>
            <a:pPr algn="ctr" indent="0" marL="0">
              <a:buNone/>
            </a:pPr>
            <a:r>
              <a:rPr lang="en-US" sz="1100" b="1" dirty="0">
                <a:solidFill>
                  <a:schemeClr val="tx1"/>
                </a:solidFill>
              </a:rPr>
              <a:t>화면 (React)</a:t>
            </a:r>
            <a:endParaRPr lang="en-US" sz="1100" dirty="0"/>
          </a:p>
          <a:p>
            <a:pPr algn="ctr" indent="0" marL="0">
              <a:buNone/>
            </a:pPr>
            <a:r>
              <a:rPr lang="en-US" sz="1000" dirty="0">
                <a:solidFill>
                  <a:schemeClr val="accent5"/>
                </a:solidFill>
              </a:rPr>
              <a:t>기록 · 캘린더 · 비교 · 요청</a:t>
            </a:r>
            <a:endParaRPr lang="en-US" sz="1100" dirty="0"/>
          </a:p>
        </p:txBody>
      </p:sp>
      <p:sp>
        <p:nvSpPr>
          <p:cNvPr id="8" name="Shape 6"/>
          <p:cNvSpPr/>
          <p:nvPr/>
        </p:nvSpPr>
        <p:spPr>
          <a:xfrm>
            <a:off x="2011680" y="2286000"/>
            <a:ext cx="0" cy="201168"/>
          </a:xfrm>
          <a:prstGeom prst="line">
            <a:avLst/>
          </a:prstGeom>
          <a:noFill/>
          <a:ln w="12700">
            <a:solidFill>
              <a:srgbClr val="5D636D"/>
            </a:solidFill>
            <a:prstDash val="solid"/>
            <a:tailEnd type="triangle"/>
          </a:ln>
        </p:spPr>
      </p:sp>
      <p:sp>
        <p:nvSpPr>
          <p:cNvPr id="9" name="계산 상자"/>
          <p:cNvSpPr/>
          <p:nvPr/>
        </p:nvSpPr>
        <p:spPr>
          <a:xfrm>
            <a:off x="640080" y="2487168"/>
            <a:ext cx="2743200" cy="640080"/>
          </a:xfrm>
          <a:prstGeom prst="roundRect">
            <a:avLst>
              <a:gd name="adj" fmla="val 8571"/>
            </a:avLst>
          </a:prstGeom>
          <a:solidFill>
            <a:schemeClr val="bg1"/>
          </a:solidFill>
          <a:ln w="9525">
            <a:solidFill>
              <a:srgbClr val="DCD9D0"/>
            </a:solidFill>
            <a:prstDash val="solid"/>
          </a:ln>
        </p:spPr>
      </p:sp>
      <p:sp>
        <p:nvSpPr>
          <p:cNvPr id="10" name="Text 8"/>
          <p:cNvSpPr txBox="1"/>
          <p:nvPr/>
        </p:nvSpPr>
        <p:spPr>
          <a:xfrm>
            <a:off x="731520" y="2487168"/>
            <a:ext cx="2560320" cy="640080"/>
          </a:xfrm>
          <a:prstGeom prst="rect">
            <a:avLst/>
          </a:prstGeom>
          <a:noFill/>
          <a:ln/>
        </p:spPr>
        <p:txBody>
          <a:bodyPr wrap="square" lIns="0" tIns="0" rIns="0" bIns="0" rtlCol="0" anchor="ctr"/>
          <a:lstStyle/>
          <a:p>
            <a:pPr algn="ctr" indent="0" marL="0">
              <a:buNone/>
            </a:pPr>
            <a:r>
              <a:rPr lang="en-US" sz="1100" b="1" dirty="0">
                <a:solidFill>
                  <a:schemeClr val="tx1"/>
                </a:solidFill>
              </a:rPr>
              <a:t>계산 모듈</a:t>
            </a:r>
            <a:endParaRPr lang="en-US" sz="1100" dirty="0"/>
          </a:p>
          <a:p>
            <a:pPr algn="ctr" indent="0" marL="0">
              <a:buNone/>
            </a:pPr>
            <a:r>
              <a:rPr lang="en-US" sz="1000" dirty="0">
                <a:solidFill>
                  <a:schemeClr val="accent5"/>
                </a:solidFill>
              </a:rPr>
              <a:t>급여 · 요청 문구 · PDF · 확인 번호</a:t>
            </a:r>
            <a:endParaRPr lang="en-US" sz="1100" dirty="0"/>
          </a:p>
        </p:txBody>
      </p:sp>
      <p:sp>
        <p:nvSpPr>
          <p:cNvPr id="11" name="Shape 9"/>
          <p:cNvSpPr/>
          <p:nvPr/>
        </p:nvSpPr>
        <p:spPr>
          <a:xfrm>
            <a:off x="2011680" y="3127248"/>
            <a:ext cx="0" cy="201168"/>
          </a:xfrm>
          <a:prstGeom prst="line">
            <a:avLst/>
          </a:prstGeom>
          <a:noFill/>
          <a:ln w="12700">
            <a:solidFill>
              <a:srgbClr val="5D636D"/>
            </a:solidFill>
            <a:prstDash val="solid"/>
            <a:tailEnd type="triangle"/>
          </a:ln>
        </p:spPr>
      </p:sp>
      <p:sp>
        <p:nvSpPr>
          <p:cNvPr id="12" name="저장 상자"/>
          <p:cNvSpPr/>
          <p:nvPr/>
        </p:nvSpPr>
        <p:spPr>
          <a:xfrm>
            <a:off x="640080" y="3328416"/>
            <a:ext cx="2743200" cy="548640"/>
          </a:xfrm>
          <a:prstGeom prst="roundRect">
            <a:avLst>
              <a:gd name="adj" fmla="val 10000"/>
            </a:avLst>
          </a:prstGeom>
          <a:solidFill>
            <a:schemeClr val="bg1"/>
          </a:solidFill>
          <a:ln w="9525">
            <a:solidFill>
              <a:srgbClr val="DCD9D0"/>
            </a:solidFill>
            <a:prstDash val="solid"/>
          </a:ln>
        </p:spPr>
      </p:sp>
      <p:sp>
        <p:nvSpPr>
          <p:cNvPr id="13" name="Text 11"/>
          <p:cNvSpPr txBox="1"/>
          <p:nvPr/>
        </p:nvSpPr>
        <p:spPr>
          <a:xfrm>
            <a:off x="731520" y="3328416"/>
            <a:ext cx="2560320" cy="548640"/>
          </a:xfrm>
          <a:prstGeom prst="rect">
            <a:avLst/>
          </a:prstGeom>
          <a:noFill/>
          <a:ln/>
        </p:spPr>
        <p:txBody>
          <a:bodyPr wrap="square" lIns="0" tIns="0" rIns="0" bIns="0" rtlCol="0" anchor="ctr"/>
          <a:lstStyle/>
          <a:p>
            <a:pPr algn="ctr" indent="0" marL="0">
              <a:buNone/>
            </a:pPr>
            <a:r>
              <a:rPr lang="en-US" sz="1100" b="1" dirty="0">
                <a:solidFill>
                  <a:schemeClr val="tx1"/>
                </a:solidFill>
              </a:rPr>
              <a:t>저장</a:t>
            </a:r>
            <a:endParaRPr lang="en-US" sz="1100" dirty="0"/>
          </a:p>
          <a:p>
            <a:pPr algn="ctr" indent="0" marL="0">
              <a:buNone/>
            </a:pPr>
            <a:r>
              <a:rPr lang="en-US" sz="1000" dirty="0">
                <a:solidFill>
                  <a:schemeClr val="accent5"/>
                </a:solidFill>
              </a:rPr>
              <a:t>localStorage · IndexedDB</a:t>
            </a:r>
            <a:endParaRPr lang="en-US" sz="1100" dirty="0"/>
          </a:p>
        </p:txBody>
      </p:sp>
      <p:sp>
        <p:nvSpPr>
          <p:cNvPr id="14" name="Text 12"/>
          <p:cNvSpPr txBox="1"/>
          <p:nvPr/>
        </p:nvSpPr>
        <p:spPr>
          <a:xfrm>
            <a:off x="640080" y="3977640"/>
            <a:ext cx="2743200" cy="320040"/>
          </a:xfrm>
          <a:prstGeom prst="rect">
            <a:avLst/>
          </a:prstGeom>
          <a:noFill/>
          <a:ln/>
        </p:spPr>
        <p:txBody>
          <a:bodyPr wrap="square" lIns="0" tIns="0" rIns="0" bIns="0" rtlCol="0" anchor="ctr"/>
          <a:lstStyle/>
          <a:p>
            <a:pPr algn="ctr" indent="0" marL="0">
              <a:buNone/>
            </a:pPr>
            <a:r>
              <a:rPr lang="en-US" sz="950" b="1" dirty="0">
                <a:solidFill>
                  <a:schemeClr val="accent2"/>
                </a:solidFill>
              </a:rPr>
              <a:t>로그인 없음 · 근무 내용은 여기에만</a:t>
            </a:r>
            <a:endParaRPr lang="en-US" sz="950" dirty="0"/>
          </a:p>
        </p:txBody>
      </p:sp>
      <p:sp>
        <p:nvSpPr>
          <p:cNvPr id="15" name="Shape 13"/>
          <p:cNvSpPr/>
          <p:nvPr/>
        </p:nvSpPr>
        <p:spPr>
          <a:xfrm>
            <a:off x="3611880" y="2331720"/>
            <a:ext cx="1463040" cy="0"/>
          </a:xfrm>
          <a:prstGeom prst="line">
            <a:avLst/>
          </a:prstGeom>
          <a:noFill/>
          <a:ln w="22225">
            <a:solidFill>
              <a:srgbClr val="2A3193"/>
            </a:solidFill>
            <a:prstDash val="solid"/>
            <a:tailEnd type="triangle"/>
          </a:ln>
        </p:spPr>
      </p:sp>
      <p:sp>
        <p:nvSpPr>
          <p:cNvPr id="16" name="Text 14"/>
          <p:cNvSpPr txBox="1"/>
          <p:nvPr/>
        </p:nvSpPr>
        <p:spPr>
          <a:xfrm>
            <a:off x="3611880" y="1783080"/>
            <a:ext cx="1417320" cy="521208"/>
          </a:xfrm>
          <a:prstGeom prst="rect">
            <a:avLst/>
          </a:prstGeom>
          <a:noFill/>
          <a:ln/>
        </p:spPr>
        <p:txBody>
          <a:bodyPr wrap="square" lIns="0" tIns="0" rIns="0" bIns="0" rtlCol="0" anchor="b"/>
          <a:lstStyle/>
          <a:p>
            <a:pPr algn="ctr" indent="0" marL="0">
              <a:buNone/>
            </a:pPr>
            <a:r>
              <a:rPr lang="en-US" sz="950" b="1" dirty="0">
                <a:solidFill>
                  <a:schemeClr val="tx2"/>
                </a:solidFill>
              </a:rPr>
              <a:t>확인 번호 · 기록 번호</a:t>
            </a:r>
            <a:endParaRPr lang="en-US" sz="950" dirty="0"/>
          </a:p>
          <a:p>
            <a:pPr algn="ctr" indent="0" marL="0">
              <a:buNone/>
            </a:pPr>
            <a:r>
              <a:rPr lang="en-US" sz="950" b="1" dirty="0">
                <a:solidFill>
                  <a:schemeClr val="tx2"/>
                </a:solidFill>
              </a:rPr>
              <a:t>· 무작위 기기 번호</a:t>
            </a:r>
            <a:endParaRPr lang="en-US" sz="950" dirty="0"/>
          </a:p>
        </p:txBody>
      </p:sp>
      <p:sp>
        <p:nvSpPr>
          <p:cNvPr id="17" name="Text 15"/>
          <p:cNvSpPr txBox="1"/>
          <p:nvPr/>
        </p:nvSpPr>
        <p:spPr>
          <a:xfrm>
            <a:off x="3611880" y="2377440"/>
            <a:ext cx="1417320" cy="502920"/>
          </a:xfrm>
          <a:prstGeom prst="rect">
            <a:avLst/>
          </a:prstGeom>
          <a:noFill/>
          <a:ln/>
        </p:spPr>
        <p:txBody>
          <a:bodyPr wrap="square" lIns="0" tIns="0" rIns="0" bIns="0" rtlCol="0" anchor="t"/>
          <a:lstStyle/>
          <a:p>
            <a:pPr algn="ctr" indent="0" marL="0">
              <a:buNone/>
            </a:pPr>
            <a:r>
              <a:rPr lang="en-US" sz="950" dirty="0">
                <a:solidFill>
                  <a:schemeClr val="accent3"/>
                </a:solidFill>
              </a:rPr>
              <a:t>근무지 · 시각 · 금액은</a:t>
            </a:r>
            <a:endParaRPr lang="en-US" sz="950" dirty="0"/>
          </a:p>
          <a:p>
            <a:pPr algn="ctr" indent="0" marL="0">
              <a:buNone/>
            </a:pPr>
            <a:r>
              <a:rPr lang="en-US" sz="950" dirty="0">
                <a:solidFill>
                  <a:schemeClr val="accent3"/>
                </a:solidFill>
              </a:rPr>
              <a:t>가지 않음</a:t>
            </a:r>
            <a:endParaRPr lang="en-US" sz="950" dirty="0"/>
          </a:p>
        </p:txBody>
      </p:sp>
      <p:sp>
        <p:nvSpPr>
          <p:cNvPr id="18" name="Supabase 상자"/>
          <p:cNvSpPr/>
          <p:nvPr/>
        </p:nvSpPr>
        <p:spPr>
          <a:xfrm>
            <a:off x="5074920" y="1280160"/>
            <a:ext cx="1965960" cy="2194560"/>
          </a:xfrm>
          <a:prstGeom prst="roundRect">
            <a:avLst>
              <a:gd name="adj" fmla="val 4651"/>
            </a:avLst>
          </a:prstGeom>
          <a:solidFill>
            <a:schemeClr val="bg1"/>
          </a:solidFill>
          <a:ln w="19050">
            <a:solidFill>
              <a:srgbClr val="2A3193"/>
            </a:solidFill>
            <a:prstDash val="solid"/>
          </a:ln>
        </p:spPr>
      </p:sp>
      <p:sp>
        <p:nvSpPr>
          <p:cNvPr id="19" name="Text 17"/>
          <p:cNvSpPr txBox="1"/>
          <p:nvPr/>
        </p:nvSpPr>
        <p:spPr>
          <a:xfrm>
            <a:off x="5193792" y="1371600"/>
            <a:ext cx="1737360" cy="2057400"/>
          </a:xfrm>
          <a:prstGeom prst="rect">
            <a:avLst/>
          </a:prstGeom>
          <a:noFill/>
          <a:ln/>
        </p:spPr>
        <p:txBody>
          <a:bodyPr wrap="square" lIns="0" tIns="0" rIns="0" bIns="0" rtlCol="0" anchor="t"/>
          <a:lstStyle/>
          <a:p>
            <a:pPr indent="0" marL="0">
              <a:spcAft>
                <a:spcPts val="200"/>
              </a:spcAft>
              <a:buNone/>
            </a:pPr>
            <a:r>
              <a:rPr lang="en-US" sz="1250" b="1" dirty="0">
                <a:solidFill>
                  <a:schemeClr val="tx2"/>
                </a:solidFill>
              </a:rPr>
              <a:t>Supabase</a:t>
            </a:r>
            <a:endParaRPr lang="en-US" sz="1250" dirty="0"/>
          </a:p>
          <a:p>
            <a:pPr indent="0" marL="0">
              <a:spcAft>
                <a:spcPts val="200"/>
              </a:spcAft>
              <a:buNone/>
            </a:pPr>
            <a:r>
              <a:rPr lang="en-US" sz="1250" b="1" dirty="0">
                <a:solidFill>
                  <a:schemeClr val="tx1"/>
                </a:solidFill>
              </a:rPr>
              <a:t>stamps 표</a:t>
            </a:r>
            <a:endParaRPr lang="en-US" sz="1250" dirty="0"/>
          </a:p>
          <a:p>
            <a:pPr indent="0" marL="0">
              <a:spcAft>
                <a:spcPts val="200"/>
              </a:spcAft>
              <a:buNone/>
            </a:pPr>
            <a:r>
              <a:rPr lang="en-US" sz="1150" dirty="0">
                <a:solidFill>
                  <a:schemeClr val="accent5"/>
                </a:solidFill>
              </a:rPr>
              <a:t>확인 번호 · 등록 시각</a:t>
            </a:r>
            <a:endParaRPr lang="en-US" sz="1250" dirty="0"/>
          </a:p>
          <a:p>
            <a:pPr indent="0" marL="0">
              <a:spcAft>
                <a:spcPts val="200"/>
              </a:spcAft>
              <a:buNone/>
            </a:pPr>
            <a:r>
              <a:rPr lang="en-US" sz="1150" dirty="0">
                <a:solidFill>
                  <a:schemeClr val="accent5"/>
                </a:solidFill>
              </a:rPr>
              <a:t>시각은 서버가 찍음</a:t>
            </a:r>
            <a:endParaRPr lang="en-US" sz="1250" dirty="0"/>
          </a:p>
          <a:p>
            <a:pPr indent="0" marL="0">
              <a:spcAft>
                <a:spcPts val="200"/>
              </a:spcAft>
              <a:buNone/>
            </a:pPr>
            <a:r>
              <a:rPr lang="en-US" sz="1150" b="1" dirty="0">
                <a:solidFill>
                  <a:schemeClr val="accent2"/>
                </a:solidFill>
              </a:rPr>
              <a:t>수정 · 삭제 안 됨</a:t>
            </a:r>
            <a:endParaRPr lang="en-US" sz="1250" dirty="0"/>
          </a:p>
        </p:txBody>
      </p:sp>
      <p:sp>
        <p:nvSpPr>
          <p:cNvPr id="20" name="Shape 18"/>
          <p:cNvSpPr/>
          <p:nvPr/>
        </p:nvSpPr>
        <p:spPr>
          <a:xfrm flipV="1">
            <a:off x="6053328" y="3493008"/>
            <a:ext cx="0" cy="164592"/>
          </a:xfrm>
          <a:prstGeom prst="line">
            <a:avLst/>
          </a:prstGeom>
          <a:noFill/>
          <a:ln w="15875">
            <a:solidFill>
              <a:srgbClr val="2A3193"/>
            </a:solidFill>
            <a:prstDash val="solid"/>
            <a:tailEnd type="triangle"/>
          </a:ln>
        </p:spPr>
      </p:sp>
      <p:sp>
        <p:nvSpPr>
          <p:cNvPr id="21" name="Text 19"/>
          <p:cNvSpPr txBox="1"/>
          <p:nvPr/>
        </p:nvSpPr>
        <p:spPr>
          <a:xfrm>
            <a:off x="6144768" y="3429000"/>
            <a:ext cx="914400" cy="274320"/>
          </a:xfrm>
          <a:prstGeom prst="rect">
            <a:avLst/>
          </a:prstGeom>
          <a:noFill/>
          <a:ln/>
        </p:spPr>
        <p:txBody>
          <a:bodyPr wrap="square" lIns="0" tIns="0" rIns="0" bIns="0" rtlCol="0" anchor="ctr"/>
          <a:lstStyle/>
          <a:p>
            <a:pPr indent="0" marL="0">
              <a:buNone/>
            </a:pPr>
            <a:r>
              <a:rPr lang="en-US" sz="850" dirty="0">
                <a:solidFill>
                  <a:schemeClr val="tx2"/>
                </a:solidFill>
              </a:rPr>
              <a:t>등록 시각 조회</a:t>
            </a:r>
            <a:endParaRPr lang="en-US" sz="850" dirty="0"/>
          </a:p>
        </p:txBody>
      </p:sp>
      <p:sp>
        <p:nvSpPr>
          <p:cNvPr id="22" name="확인 페이지 상자"/>
          <p:cNvSpPr/>
          <p:nvPr/>
        </p:nvSpPr>
        <p:spPr>
          <a:xfrm>
            <a:off x="5074920" y="3657600"/>
            <a:ext cx="1965960" cy="777240"/>
          </a:xfrm>
          <a:prstGeom prst="roundRect">
            <a:avLst>
              <a:gd name="adj" fmla="val 11765"/>
            </a:avLst>
          </a:prstGeom>
          <a:solidFill>
            <a:schemeClr val="bg2"/>
          </a:solidFill>
          <a:ln w="12700">
            <a:solidFill>
              <a:schemeClr val="bg2"/>
            </a:solidFill>
            <a:prstDash val="solid"/>
          </a:ln>
        </p:spPr>
      </p:sp>
      <p:sp>
        <p:nvSpPr>
          <p:cNvPr id="23" name="Text 21"/>
          <p:cNvSpPr txBox="1"/>
          <p:nvPr/>
        </p:nvSpPr>
        <p:spPr>
          <a:xfrm>
            <a:off x="5193792" y="3703320"/>
            <a:ext cx="1737360" cy="713232"/>
          </a:xfrm>
          <a:prstGeom prst="rect">
            <a:avLst/>
          </a:prstGeom>
          <a:noFill/>
          <a:ln/>
        </p:spPr>
        <p:txBody>
          <a:bodyPr wrap="square" lIns="0" tIns="0" rIns="0" bIns="0" rtlCol="0" anchor="ctr"/>
          <a:lstStyle/>
          <a:p>
            <a:pPr indent="0" marL="0">
              <a:buNone/>
            </a:pPr>
            <a:r>
              <a:rPr lang="en-US" sz="1100" b="1" dirty="0">
                <a:solidFill>
                  <a:schemeClr val="tx2"/>
                </a:solidFill>
              </a:rPr>
              <a:t>확인 페이지 (verify.html)</a:t>
            </a:r>
            <a:endParaRPr lang="en-US" sz="1100" dirty="0"/>
          </a:p>
          <a:p>
            <a:pPr indent="0" marL="0">
              <a:buNone/>
            </a:pPr>
            <a:r>
              <a:rPr lang="en-US" sz="1000" dirty="0">
                <a:solidFill>
                  <a:schemeClr val="accent5"/>
                </a:solidFill>
              </a:rPr>
              <a:t>누구나 번호로 등록 시각 확인</a:t>
            </a:r>
            <a:endParaRPr lang="en-US" sz="1100" dirty="0"/>
          </a:p>
        </p:txBody>
      </p:sp>
      <p:sp>
        <p:nvSpPr>
          <p:cNvPr id="24" name="Text 22"/>
          <p:cNvSpPr txBox="1"/>
          <p:nvPr/>
        </p:nvSpPr>
        <p:spPr>
          <a:xfrm>
            <a:off x="7223760" y="1280160"/>
            <a:ext cx="1554480" cy="274320"/>
          </a:xfrm>
          <a:prstGeom prst="rect">
            <a:avLst/>
          </a:prstGeom>
          <a:noFill/>
          <a:ln/>
        </p:spPr>
        <p:txBody>
          <a:bodyPr wrap="square" lIns="0" tIns="0" rIns="0" bIns="0" rtlCol="0" anchor="ctr"/>
          <a:lstStyle/>
          <a:p>
            <a:pPr indent="0" marL="0">
              <a:buNone/>
            </a:pPr>
            <a:r>
              <a:rPr lang="en-US" sz="1050" b="1" dirty="0">
                <a:solidFill>
                  <a:schemeClr val="tx2"/>
                </a:solidFill>
              </a:rPr>
              <a:t>기록 하나가 남을 때</a:t>
            </a:r>
            <a:endParaRPr lang="en-US" sz="1050" dirty="0"/>
          </a:p>
        </p:txBody>
      </p:sp>
      <p:sp>
        <p:nvSpPr>
          <p:cNvPr id="25" name="번호 1"/>
          <p:cNvSpPr/>
          <p:nvPr/>
        </p:nvSpPr>
        <p:spPr>
          <a:xfrm>
            <a:off x="7223760" y="1664208"/>
            <a:ext cx="237744" cy="237744"/>
          </a:xfrm>
          <a:prstGeom prst="ellipse">
            <a:avLst/>
          </a:prstGeom>
          <a:solidFill>
            <a:schemeClr val="accent1"/>
          </a:solidFill>
          <a:ln w="12700">
            <a:solidFill>
              <a:schemeClr val="accent1"/>
            </a:solidFill>
            <a:prstDash val="solid"/>
          </a:ln>
        </p:spPr>
      </p:sp>
      <p:sp>
        <p:nvSpPr>
          <p:cNvPr id="26" name="Text 24"/>
          <p:cNvSpPr txBox="1"/>
          <p:nvPr/>
        </p:nvSpPr>
        <p:spPr>
          <a:xfrm>
            <a:off x="7223760" y="166420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27" name="Text 25"/>
          <p:cNvSpPr txBox="1"/>
          <p:nvPr/>
        </p:nvSpPr>
        <p:spPr>
          <a:xfrm>
            <a:off x="7516368" y="1609344"/>
            <a:ext cx="1234440" cy="777240"/>
          </a:xfrm>
          <a:prstGeom prst="rect">
            <a:avLst/>
          </a:prstGeom>
          <a:noFill/>
          <a:ln/>
        </p:spPr>
        <p:txBody>
          <a:bodyPr wrap="square" lIns="0" tIns="0" rIns="0" bIns="0" rtlCol="0" anchor="t"/>
          <a:lstStyle/>
          <a:p>
            <a:pPr indent="0" marL="0">
              <a:buNone/>
            </a:pPr>
            <a:r>
              <a:rPr lang="en-US" sz="1000" dirty="0">
                <a:solidFill>
                  <a:schemeClr val="tx1"/>
                </a:solidFill>
              </a:rPr>
              <a:t>출근 · 퇴근마다 등록</a:t>
            </a:r>
            <a:endParaRPr lang="en-US" sz="1000" dirty="0"/>
          </a:p>
        </p:txBody>
      </p:sp>
      <p:sp>
        <p:nvSpPr>
          <p:cNvPr id="28" name="번호 2"/>
          <p:cNvSpPr/>
          <p:nvPr/>
        </p:nvSpPr>
        <p:spPr>
          <a:xfrm>
            <a:off x="7223760" y="2532888"/>
            <a:ext cx="237744" cy="237744"/>
          </a:xfrm>
          <a:prstGeom prst="ellipse">
            <a:avLst/>
          </a:prstGeom>
          <a:solidFill>
            <a:schemeClr val="accent1"/>
          </a:solidFill>
          <a:ln w="12700">
            <a:solidFill>
              <a:schemeClr val="accent1"/>
            </a:solidFill>
            <a:prstDash val="solid"/>
          </a:ln>
        </p:spPr>
      </p:sp>
      <p:sp>
        <p:nvSpPr>
          <p:cNvPr id="29" name="Text 27"/>
          <p:cNvSpPr txBox="1"/>
          <p:nvPr/>
        </p:nvSpPr>
        <p:spPr>
          <a:xfrm>
            <a:off x="7223760" y="253288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rPr>
              <a:t>2</a:t>
            </a:r>
            <a:endParaRPr lang="en-US" sz="900" dirty="0"/>
          </a:p>
        </p:txBody>
      </p:sp>
      <p:sp>
        <p:nvSpPr>
          <p:cNvPr id="30" name="Text 28"/>
          <p:cNvSpPr txBox="1"/>
          <p:nvPr/>
        </p:nvSpPr>
        <p:spPr>
          <a:xfrm>
            <a:off x="7516368" y="2478024"/>
            <a:ext cx="1234440" cy="777240"/>
          </a:xfrm>
          <a:prstGeom prst="rect">
            <a:avLst/>
          </a:prstGeom>
          <a:noFill/>
          <a:ln/>
        </p:spPr>
        <p:txBody>
          <a:bodyPr wrap="square" lIns="0" tIns="0" rIns="0" bIns="0" rtlCol="0" anchor="t"/>
          <a:lstStyle/>
          <a:p>
            <a:pPr indent="0" marL="0">
              <a:buNone/>
            </a:pPr>
            <a:r>
              <a:rPr lang="en-US" sz="1000" dirty="0">
                <a:solidFill>
                  <a:schemeClr val="tx1"/>
                </a:solidFill>
              </a:rPr>
              <a:t>고치면 다시 등록</a:t>
            </a:r>
            <a:endParaRPr lang="en-US" sz="1000" dirty="0"/>
          </a:p>
        </p:txBody>
      </p:sp>
      <p:sp>
        <p:nvSpPr>
          <p:cNvPr id="31" name="번호 3"/>
          <p:cNvSpPr/>
          <p:nvPr/>
        </p:nvSpPr>
        <p:spPr>
          <a:xfrm>
            <a:off x="7223760" y="3401568"/>
            <a:ext cx="237744" cy="237744"/>
          </a:xfrm>
          <a:prstGeom prst="ellipse">
            <a:avLst/>
          </a:prstGeom>
          <a:solidFill>
            <a:schemeClr val="accent1"/>
          </a:solidFill>
          <a:ln w="12700">
            <a:solidFill>
              <a:schemeClr val="accent1"/>
            </a:solidFill>
            <a:prstDash val="solid"/>
          </a:ln>
        </p:spPr>
      </p:sp>
      <p:sp>
        <p:nvSpPr>
          <p:cNvPr id="32" name="Text 30"/>
          <p:cNvSpPr txBox="1"/>
          <p:nvPr/>
        </p:nvSpPr>
        <p:spPr>
          <a:xfrm>
            <a:off x="7223760" y="3401568"/>
            <a:ext cx="237744" cy="237744"/>
          </a:xfrm>
          <a:prstGeom prst="rect">
            <a:avLst/>
          </a:prstGeom>
          <a:noFill/>
          <a:ln/>
        </p:spPr>
        <p:txBody>
          <a:bodyPr wrap="square" lIns="0" tIns="0" rIns="0" bIns="0" rtlCol="0" anchor="ctr"/>
          <a:lstStyle/>
          <a:p>
            <a:pPr algn="ctr" indent="0" marL="0">
              <a:buNone/>
            </a:pPr>
            <a:r>
              <a:rPr lang="en-US" sz="900" b="1" dirty="0">
                <a:solidFill>
                  <a:schemeClr val="bg1"/>
                </a:solidFill>
              </a:rPr>
              <a:t>3</a:t>
            </a:r>
            <a:endParaRPr lang="en-US" sz="900" dirty="0"/>
          </a:p>
        </p:txBody>
      </p:sp>
      <p:sp>
        <p:nvSpPr>
          <p:cNvPr id="33" name="Text 31"/>
          <p:cNvSpPr txBox="1"/>
          <p:nvPr/>
        </p:nvSpPr>
        <p:spPr>
          <a:xfrm>
            <a:off x="7516368" y="3346704"/>
            <a:ext cx="1234440" cy="777240"/>
          </a:xfrm>
          <a:prstGeom prst="rect">
            <a:avLst/>
          </a:prstGeom>
          <a:noFill/>
          <a:ln/>
        </p:spPr>
        <p:txBody>
          <a:bodyPr wrap="square" lIns="0" tIns="0" rIns="0" bIns="0" rtlCol="0" anchor="t"/>
          <a:lstStyle/>
          <a:p>
            <a:pPr indent="0" marL="0">
              <a:buNone/>
            </a:pPr>
            <a:r>
              <a:rPr lang="en-US" sz="1000" dirty="0">
                <a:solidFill>
                  <a:schemeClr val="tx1"/>
                </a:solidFill>
              </a:rPr>
              <a:t>인터넷이 없으면 나중에 전송</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⑤ 개발 현황 · MVP 화면   ·   예시 데이터, 2026.10.25 기준. 모두 배포 주소에서 지금 열린다</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네 화면: 캘린더, 설정, 증빙 묶음 PDF, 확인 페이지</a:t>
            </a:r>
            <a:endParaRPr lang="en-US" sz="2400" dirty="0"/>
          </a:p>
        </p:txBody>
      </p:sp>
      <p:sp>
        <p:nvSpPr>
          <p:cNvPr id="4" name="캘린더 틀"/>
          <p:cNvSpPr/>
          <p:nvPr/>
        </p:nvSpPr>
        <p:spPr>
          <a:xfrm>
            <a:off x="411480" y="1234440"/>
            <a:ext cx="1358312" cy="2834640"/>
          </a:xfrm>
          <a:prstGeom prst="roundRect">
            <a:avLst>
              <a:gd name="adj" fmla="val 10771"/>
            </a:avLst>
          </a:prstGeom>
          <a:solidFill>
            <a:srgbClr val="15171A"/>
          </a:solidFill>
          <a:ln w="12700">
            <a:solidFill>
              <a:srgbClr val="15171A"/>
            </a:solidFill>
            <a:prstDash val="solid"/>
          </a:ln>
        </p:spPr>
      </p:sp>
      <p:pic>
        <p:nvPicPr>
          <p:cNvPr id="5" name="캘린더" descr="C:\Users\user\Desktop\albaguard기술창업\docs\screenshots\2-calendar.jpg">    </p:cNvPr>
          <p:cNvPicPr>
            <a:picLocks noChangeAspect="1"/>
          </p:cNvPicPr>
          <p:nvPr/>
        </p:nvPicPr>
        <p:blipFill>
          <a:blip r:embed="rId1"/>
          <a:stretch>
            <a:fillRect/>
          </a:stretch>
        </p:blipFill>
        <p:spPr>
          <a:xfrm>
            <a:off x="457200" y="1280160"/>
            <a:ext cx="1266872" cy="2743200"/>
          </a:xfrm>
          <a:prstGeom prst="rect">
            <a:avLst/>
          </a:prstGeom>
        </p:spPr>
      </p:pic>
      <p:sp>
        <p:nvSpPr>
          <p:cNvPr id="6" name="Text 3"/>
          <p:cNvSpPr txBox="1"/>
          <p:nvPr/>
        </p:nvSpPr>
        <p:spPr>
          <a:xfrm>
            <a:off x="274320" y="4114800"/>
            <a:ext cx="1632632" cy="274320"/>
          </a:xfrm>
          <a:prstGeom prst="rect">
            <a:avLst/>
          </a:prstGeom>
          <a:noFill/>
          <a:ln/>
        </p:spPr>
        <p:txBody>
          <a:bodyPr wrap="square" lIns="0" tIns="0" rIns="0" bIns="0" rtlCol="0" anchor="ctr"/>
          <a:lstStyle/>
          <a:p>
            <a:pPr algn="ctr" indent="0" marL="0">
              <a:buNone/>
            </a:pPr>
            <a:r>
              <a:rPr lang="en-US" sz="1150" b="1" dirty="0">
                <a:solidFill>
                  <a:schemeClr val="tx2"/>
                </a:solidFill>
              </a:rPr>
              <a:t>캘린더</a:t>
            </a:r>
            <a:endParaRPr lang="en-US" sz="1150" dirty="0"/>
          </a:p>
        </p:txBody>
      </p:sp>
      <p:sp>
        <p:nvSpPr>
          <p:cNvPr id="7" name="Text 4"/>
          <p:cNvSpPr txBox="1"/>
          <p:nvPr/>
        </p:nvSpPr>
        <p:spPr>
          <a:xfrm>
            <a:off x="228600" y="4370832"/>
            <a:ext cx="1724072" cy="384048"/>
          </a:xfrm>
          <a:prstGeom prst="rect">
            <a:avLst/>
          </a:prstGeom>
          <a:noFill/>
          <a:ln/>
        </p:spPr>
        <p:txBody>
          <a:bodyPr wrap="square" lIns="0" tIns="0" rIns="0" bIns="0" rtlCol="0" anchor="t"/>
          <a:lstStyle/>
          <a:p>
            <a:pPr algn="ctr" indent="0" marL="0">
              <a:buNone/>
            </a:pPr>
            <a:r>
              <a:rPr lang="en-US" sz="900" dirty="0">
                <a:solidFill>
                  <a:schemeClr val="accent5"/>
                </a:solidFill>
              </a:rPr>
              <a:t>예정과 실제를 비교해 연장 · 대타만 글자로</a:t>
            </a:r>
            <a:endParaRPr lang="en-US" sz="900" dirty="0"/>
          </a:p>
        </p:txBody>
      </p:sp>
      <p:sp>
        <p:nvSpPr>
          <p:cNvPr id="8" name="설정 틀"/>
          <p:cNvSpPr/>
          <p:nvPr/>
        </p:nvSpPr>
        <p:spPr>
          <a:xfrm>
            <a:off x="2732389" y="1234440"/>
            <a:ext cx="1358312" cy="2834640"/>
          </a:xfrm>
          <a:prstGeom prst="roundRect">
            <a:avLst>
              <a:gd name="adj" fmla="val 10771"/>
            </a:avLst>
          </a:prstGeom>
          <a:solidFill>
            <a:srgbClr val="15171A"/>
          </a:solidFill>
          <a:ln w="12700">
            <a:solidFill>
              <a:srgbClr val="15171A"/>
            </a:solidFill>
            <a:prstDash val="solid"/>
          </a:ln>
        </p:spPr>
      </p:sp>
      <p:pic>
        <p:nvPicPr>
          <p:cNvPr id="9" name="설정" descr="C:\Users\user\Desktop\albaguard기술창업\docs\screenshots\10-settings.jpg">    </p:cNvPr>
          <p:cNvPicPr>
            <a:picLocks noChangeAspect="1"/>
          </p:cNvPicPr>
          <p:nvPr/>
        </p:nvPicPr>
        <p:blipFill>
          <a:blip r:embed="rId2"/>
          <a:stretch>
            <a:fillRect/>
          </a:stretch>
        </p:blipFill>
        <p:spPr>
          <a:xfrm>
            <a:off x="2778109" y="1280160"/>
            <a:ext cx="1266872" cy="2743200"/>
          </a:xfrm>
          <a:prstGeom prst="rect">
            <a:avLst/>
          </a:prstGeom>
        </p:spPr>
      </p:pic>
      <p:sp>
        <p:nvSpPr>
          <p:cNvPr id="10" name="Text 6"/>
          <p:cNvSpPr txBox="1"/>
          <p:nvPr/>
        </p:nvSpPr>
        <p:spPr>
          <a:xfrm>
            <a:off x="2595229" y="4114800"/>
            <a:ext cx="1632632" cy="274320"/>
          </a:xfrm>
          <a:prstGeom prst="rect">
            <a:avLst/>
          </a:prstGeom>
          <a:noFill/>
          <a:ln/>
        </p:spPr>
        <p:txBody>
          <a:bodyPr wrap="square" lIns="0" tIns="0" rIns="0" bIns="0" rtlCol="0" anchor="ctr"/>
          <a:lstStyle/>
          <a:p>
            <a:pPr algn="ctr" indent="0" marL="0">
              <a:buNone/>
            </a:pPr>
            <a:r>
              <a:rPr lang="en-US" sz="1150" b="1" dirty="0">
                <a:solidFill>
                  <a:schemeClr val="tx2"/>
                </a:solidFill>
              </a:rPr>
              <a:t>설정</a:t>
            </a:r>
            <a:endParaRPr lang="en-US" sz="1150" dirty="0"/>
          </a:p>
        </p:txBody>
      </p:sp>
      <p:sp>
        <p:nvSpPr>
          <p:cNvPr id="11" name="Text 7"/>
          <p:cNvSpPr txBox="1"/>
          <p:nvPr/>
        </p:nvSpPr>
        <p:spPr>
          <a:xfrm>
            <a:off x="2549509" y="4370832"/>
            <a:ext cx="1724072" cy="384048"/>
          </a:xfrm>
          <a:prstGeom prst="rect">
            <a:avLst/>
          </a:prstGeom>
          <a:noFill/>
          <a:ln/>
        </p:spPr>
        <p:txBody>
          <a:bodyPr wrap="square" lIns="0" tIns="0" rIns="0" bIns="0" rtlCol="0" anchor="t"/>
          <a:lstStyle/>
          <a:p>
            <a:pPr algn="ctr" indent="0" marL="0">
              <a:buNone/>
            </a:pPr>
            <a:r>
              <a:rPr lang="en-US" sz="900" dirty="0">
                <a:solidFill>
                  <a:schemeClr val="accent5"/>
                </a:solidFill>
              </a:rPr>
              <a:t>기록 등록 건수 · 무엇이 서버로 가는지 · 백업</a:t>
            </a:r>
            <a:endParaRPr lang="en-US" sz="900" dirty="0"/>
          </a:p>
        </p:txBody>
      </p:sp>
      <p:sp>
        <p:nvSpPr>
          <p:cNvPr id="12" name="증빙 묶음 PDF 틀"/>
          <p:cNvSpPr/>
          <p:nvPr/>
        </p:nvSpPr>
        <p:spPr>
          <a:xfrm>
            <a:off x="5053299" y="1234440"/>
            <a:ext cx="1358312" cy="2834640"/>
          </a:xfrm>
          <a:prstGeom prst="roundRect">
            <a:avLst>
              <a:gd name="adj" fmla="val 10771"/>
            </a:avLst>
          </a:prstGeom>
          <a:solidFill>
            <a:srgbClr val="15171A"/>
          </a:solidFill>
          <a:ln w="12700">
            <a:solidFill>
              <a:srgbClr val="15171A"/>
            </a:solidFill>
            <a:prstDash val="solid"/>
          </a:ln>
        </p:spPr>
      </p:sp>
      <p:pic>
        <p:nvPicPr>
          <p:cNvPr id="13" name="증빙 묶음 PDF" descr="C:\Users\user\Desktop\albaguard기술창업\docs\screenshots\8-evidence.jpg">    </p:cNvPr>
          <p:cNvPicPr>
            <a:picLocks noChangeAspect="1"/>
          </p:cNvPicPr>
          <p:nvPr/>
        </p:nvPicPr>
        <p:blipFill>
          <a:blip r:embed="rId3"/>
          <a:stretch>
            <a:fillRect/>
          </a:stretch>
        </p:blipFill>
        <p:spPr>
          <a:xfrm>
            <a:off x="5099019" y="1280160"/>
            <a:ext cx="1266872" cy="2743200"/>
          </a:xfrm>
          <a:prstGeom prst="rect">
            <a:avLst/>
          </a:prstGeom>
        </p:spPr>
      </p:pic>
      <p:sp>
        <p:nvSpPr>
          <p:cNvPr id="14" name="Text 9"/>
          <p:cNvSpPr txBox="1"/>
          <p:nvPr/>
        </p:nvSpPr>
        <p:spPr>
          <a:xfrm>
            <a:off x="4916139" y="4114800"/>
            <a:ext cx="1632632" cy="274320"/>
          </a:xfrm>
          <a:prstGeom prst="rect">
            <a:avLst/>
          </a:prstGeom>
          <a:noFill/>
          <a:ln/>
        </p:spPr>
        <p:txBody>
          <a:bodyPr wrap="square" lIns="0" tIns="0" rIns="0" bIns="0" rtlCol="0" anchor="ctr"/>
          <a:lstStyle/>
          <a:p>
            <a:pPr algn="ctr" indent="0" marL="0">
              <a:buNone/>
            </a:pPr>
            <a:r>
              <a:rPr lang="en-US" sz="1150" b="1" dirty="0">
                <a:solidFill>
                  <a:schemeClr val="tx2"/>
                </a:solidFill>
              </a:rPr>
              <a:t>증빙 묶음 PDF</a:t>
            </a:r>
            <a:endParaRPr lang="en-US" sz="1150" dirty="0"/>
          </a:p>
        </p:txBody>
      </p:sp>
      <p:sp>
        <p:nvSpPr>
          <p:cNvPr id="15" name="Text 10"/>
          <p:cNvSpPr txBox="1"/>
          <p:nvPr/>
        </p:nvSpPr>
        <p:spPr>
          <a:xfrm>
            <a:off x="4870419" y="4370832"/>
            <a:ext cx="1724072" cy="384048"/>
          </a:xfrm>
          <a:prstGeom prst="rect">
            <a:avLst/>
          </a:prstGeom>
          <a:noFill/>
          <a:ln/>
        </p:spPr>
        <p:txBody>
          <a:bodyPr wrap="square" lIns="0" tIns="0" rIns="0" bIns="0" rtlCol="0" anchor="t"/>
          <a:lstStyle/>
          <a:p>
            <a:pPr algn="ctr" indent="0" marL="0">
              <a:buNone/>
            </a:pPr>
            <a:r>
              <a:rPr lang="en-US" sz="900" dirty="0">
                <a:solidFill>
                  <a:schemeClr val="accent5"/>
                </a:solidFill>
              </a:rPr>
              <a:t>근무 기록 · 수정 이력 · 계산 · 입금 · 사진 · 등록 확인</a:t>
            </a:r>
            <a:endParaRPr lang="en-US" sz="900" dirty="0"/>
          </a:p>
        </p:txBody>
      </p:sp>
      <p:sp>
        <p:nvSpPr>
          <p:cNvPr id="16" name="확인 페이지 틀"/>
          <p:cNvSpPr/>
          <p:nvPr/>
        </p:nvSpPr>
        <p:spPr>
          <a:xfrm>
            <a:off x="7374208" y="1234440"/>
            <a:ext cx="1358312" cy="2834640"/>
          </a:xfrm>
          <a:prstGeom prst="roundRect">
            <a:avLst>
              <a:gd name="adj" fmla="val 10771"/>
            </a:avLst>
          </a:prstGeom>
          <a:solidFill>
            <a:srgbClr val="15171A"/>
          </a:solidFill>
          <a:ln w="12700">
            <a:solidFill>
              <a:srgbClr val="15171A"/>
            </a:solidFill>
            <a:prstDash val="solid"/>
          </a:ln>
        </p:spPr>
      </p:sp>
      <p:pic>
        <p:nvPicPr>
          <p:cNvPr id="17" name="확인 페이지" descr="C:\Users\user\Desktop\albaguard기술창업\docs\screenshots\9-verify.jpg">    </p:cNvPr>
          <p:cNvPicPr>
            <a:picLocks noChangeAspect="1"/>
          </p:cNvPicPr>
          <p:nvPr/>
        </p:nvPicPr>
        <p:blipFill>
          <a:blip r:embed="rId4"/>
          <a:stretch>
            <a:fillRect/>
          </a:stretch>
        </p:blipFill>
        <p:spPr>
          <a:xfrm>
            <a:off x="7419928" y="1280160"/>
            <a:ext cx="1266872" cy="2743200"/>
          </a:xfrm>
          <a:prstGeom prst="rect">
            <a:avLst/>
          </a:prstGeom>
        </p:spPr>
      </p:pic>
      <p:sp>
        <p:nvSpPr>
          <p:cNvPr id="18" name="Text 12"/>
          <p:cNvSpPr txBox="1"/>
          <p:nvPr/>
        </p:nvSpPr>
        <p:spPr>
          <a:xfrm>
            <a:off x="7237048" y="4114800"/>
            <a:ext cx="1632632" cy="274320"/>
          </a:xfrm>
          <a:prstGeom prst="rect">
            <a:avLst/>
          </a:prstGeom>
          <a:noFill/>
          <a:ln/>
        </p:spPr>
        <p:txBody>
          <a:bodyPr wrap="square" lIns="0" tIns="0" rIns="0" bIns="0" rtlCol="0" anchor="ctr"/>
          <a:lstStyle/>
          <a:p>
            <a:pPr algn="ctr" indent="0" marL="0">
              <a:buNone/>
            </a:pPr>
            <a:r>
              <a:rPr lang="en-US" sz="1150" b="1" dirty="0">
                <a:solidFill>
                  <a:schemeClr val="tx2"/>
                </a:solidFill>
              </a:rPr>
              <a:t>확인 페이지</a:t>
            </a:r>
            <a:endParaRPr lang="en-US" sz="1150" dirty="0"/>
          </a:p>
        </p:txBody>
      </p:sp>
      <p:sp>
        <p:nvSpPr>
          <p:cNvPr id="19" name="Text 13"/>
          <p:cNvSpPr txBox="1"/>
          <p:nvPr/>
        </p:nvSpPr>
        <p:spPr>
          <a:xfrm>
            <a:off x="7191328" y="4370832"/>
            <a:ext cx="1724072" cy="384048"/>
          </a:xfrm>
          <a:prstGeom prst="rect">
            <a:avLst/>
          </a:prstGeom>
          <a:noFill/>
          <a:ln/>
        </p:spPr>
        <p:txBody>
          <a:bodyPr wrap="square" lIns="0" tIns="0" rIns="0" bIns="0" rtlCol="0" anchor="t"/>
          <a:lstStyle/>
          <a:p>
            <a:pPr algn="ctr" indent="0" marL="0">
              <a:buNone/>
            </a:pPr>
            <a:r>
              <a:rPr lang="en-US" sz="900" dirty="0">
                <a:solidFill>
                  <a:schemeClr val="accent5"/>
                </a:solidFill>
              </a:rPr>
              <a:t>확인 번호를 넣으면 서버 등록 시각이 나온다</a:t>
            </a:r>
            <a:endParaRPr lang="en-US" sz="9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⑤ MVP 시연</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시연 순서 (녹화 영상 1분 46초, 멈춰 설명하며 약 3분)</a:t>
            </a:r>
            <a:endParaRPr lang="en-US" sz="2400" dirty="0"/>
          </a:p>
        </p:txBody>
      </p:sp>
      <p:sp>
        <p:nvSpPr>
          <p:cNvPr id="4" name="번호 1"/>
          <p:cNvSpPr/>
          <p:nvPr/>
        </p:nvSpPr>
        <p:spPr>
          <a:xfrm>
            <a:off x="457200" y="1380744"/>
            <a:ext cx="310896" cy="310896"/>
          </a:xfrm>
          <a:prstGeom prst="ellipse">
            <a:avLst/>
          </a:prstGeom>
          <a:solidFill>
            <a:schemeClr val="accent1"/>
          </a:solidFill>
          <a:ln w="12700">
            <a:solidFill>
              <a:schemeClr val="accent1"/>
            </a:solidFill>
            <a:prstDash val="solid"/>
          </a:ln>
        </p:spPr>
      </p:sp>
      <p:sp>
        <p:nvSpPr>
          <p:cNvPr id="5" name="Text 3"/>
          <p:cNvSpPr txBox="1"/>
          <p:nvPr/>
        </p:nvSpPr>
        <p:spPr>
          <a:xfrm>
            <a:off x="457200" y="138074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Text 4"/>
          <p:cNvSpPr txBox="1"/>
          <p:nvPr/>
        </p:nvSpPr>
        <p:spPr>
          <a:xfrm>
            <a:off x="896112" y="1325880"/>
            <a:ext cx="7772400" cy="384048"/>
          </a:xfrm>
          <a:prstGeom prst="rect">
            <a:avLst/>
          </a:prstGeom>
          <a:noFill/>
          <a:ln/>
        </p:spPr>
        <p:txBody>
          <a:bodyPr wrap="square" lIns="0" tIns="0" rIns="0" bIns="0" rtlCol="0" anchor="ctr"/>
          <a:lstStyle/>
          <a:p>
            <a:pPr indent="0" marL="0">
              <a:buNone/>
            </a:pPr>
            <a:r>
              <a:rPr lang="en-US" sz="1300" b="1" dirty="0">
                <a:solidFill>
                  <a:schemeClr val="tx2"/>
                </a:solidFill>
              </a:rPr>
              <a:t>출근 · 퇴근 버튼 → 설정에서 "2건 등록됨"</a:t>
            </a:r>
            <a:endParaRPr lang="en-US" sz="1300" dirty="0"/>
          </a:p>
        </p:txBody>
      </p:sp>
      <p:sp>
        <p:nvSpPr>
          <p:cNvPr id="7" name="Text 5"/>
          <p:cNvSpPr txBox="1"/>
          <p:nvPr/>
        </p:nvSpPr>
        <p:spPr>
          <a:xfrm>
            <a:off x="896112" y="1691640"/>
            <a:ext cx="7772400" cy="365760"/>
          </a:xfrm>
          <a:prstGeom prst="rect">
            <a:avLst/>
          </a:prstGeom>
          <a:noFill/>
          <a:ln/>
        </p:spPr>
        <p:txBody>
          <a:bodyPr wrap="square" lIns="0" tIns="0" rIns="0" bIns="0" rtlCol="0" anchor="t"/>
          <a:lstStyle/>
          <a:p>
            <a:pPr indent="0" marL="0">
              <a:buNone/>
            </a:pPr>
            <a:r>
              <a:rPr lang="en-US" sz="1000" dirty="0">
                <a:solidFill>
                  <a:schemeClr val="accent5"/>
                </a:solidFill>
              </a:rPr>
              <a:t>기록할 때마다 서버에 확인 번호가 남는다. 예시 데이터는 등록되지 않으니 시연 중 남긴 2건만 보인다</a:t>
            </a:r>
            <a:endParaRPr lang="en-US" sz="1000" dirty="0"/>
          </a:p>
        </p:txBody>
      </p:sp>
      <p:sp>
        <p:nvSpPr>
          <p:cNvPr id="8" name="번호 2"/>
          <p:cNvSpPr/>
          <p:nvPr/>
        </p:nvSpPr>
        <p:spPr>
          <a:xfrm>
            <a:off x="457200" y="2167128"/>
            <a:ext cx="310896" cy="310896"/>
          </a:xfrm>
          <a:prstGeom prst="ellipse">
            <a:avLst/>
          </a:prstGeom>
          <a:solidFill>
            <a:schemeClr val="accent1"/>
          </a:solidFill>
          <a:ln w="12700">
            <a:solidFill>
              <a:schemeClr val="accent1"/>
            </a:solidFill>
            <a:prstDash val="solid"/>
          </a:ln>
        </p:spPr>
      </p:sp>
      <p:sp>
        <p:nvSpPr>
          <p:cNvPr id="9" name="Text 7"/>
          <p:cNvSpPr txBox="1"/>
          <p:nvPr/>
        </p:nvSpPr>
        <p:spPr>
          <a:xfrm>
            <a:off x="457200" y="216712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Text 8"/>
          <p:cNvSpPr txBox="1"/>
          <p:nvPr/>
        </p:nvSpPr>
        <p:spPr>
          <a:xfrm>
            <a:off x="896112" y="2112264"/>
            <a:ext cx="7772400" cy="384048"/>
          </a:xfrm>
          <a:prstGeom prst="rect">
            <a:avLst/>
          </a:prstGeom>
          <a:noFill/>
          <a:ln/>
        </p:spPr>
        <p:txBody>
          <a:bodyPr wrap="square" lIns="0" tIns="0" rIns="0" bIns="0" rtlCol="0" anchor="ctr"/>
          <a:lstStyle/>
          <a:p>
            <a:pPr indent="0" marL="0">
              <a:buNone/>
            </a:pPr>
            <a:r>
              <a:rPr lang="en-US" sz="1300" b="1" dirty="0">
                <a:solidFill>
                  <a:schemeClr val="tx2"/>
                </a:solidFill>
              </a:rPr>
              <a:t>첫 화면 "9월 급여 받으셨나요?" → 받은 금액 입력</a:t>
            </a:r>
            <a:endParaRPr lang="en-US" sz="1300" dirty="0"/>
          </a:p>
        </p:txBody>
      </p:sp>
      <p:sp>
        <p:nvSpPr>
          <p:cNvPr id="11" name="Text 9"/>
          <p:cNvSpPr txBox="1"/>
          <p:nvPr/>
        </p:nvSpPr>
        <p:spPr>
          <a:xfrm>
            <a:off x="896112" y="2478024"/>
            <a:ext cx="7772400" cy="365760"/>
          </a:xfrm>
          <a:prstGeom prst="rect">
            <a:avLst/>
          </a:prstGeom>
          <a:noFill/>
          <a:ln/>
        </p:spPr>
        <p:txBody>
          <a:bodyPr wrap="square" lIns="0" tIns="0" rIns="0" bIns="0" rtlCol="0" anchor="t"/>
          <a:lstStyle/>
          <a:p>
            <a:pPr indent="0" marL="0">
              <a:buNone/>
            </a:pPr>
            <a:r>
              <a:rPr lang="en-US" sz="1000" dirty="0">
                <a:solidFill>
                  <a:schemeClr val="accent5"/>
                </a:solidFill>
              </a:rPr>
              <a:t>덜 받은 돈이 빨간 숫자로 바뀐다</a:t>
            </a:r>
            <a:endParaRPr lang="en-US" sz="1000" dirty="0"/>
          </a:p>
        </p:txBody>
      </p:sp>
      <p:sp>
        <p:nvSpPr>
          <p:cNvPr id="12" name="번호 3"/>
          <p:cNvSpPr/>
          <p:nvPr/>
        </p:nvSpPr>
        <p:spPr>
          <a:xfrm>
            <a:off x="457200" y="2953512"/>
            <a:ext cx="310896" cy="310896"/>
          </a:xfrm>
          <a:prstGeom prst="ellipse">
            <a:avLst/>
          </a:prstGeom>
          <a:solidFill>
            <a:schemeClr val="accent1"/>
          </a:solidFill>
          <a:ln w="12700">
            <a:solidFill>
              <a:schemeClr val="accent1"/>
            </a:solidFill>
            <a:prstDash val="solid"/>
          </a:ln>
        </p:spPr>
      </p:sp>
      <p:sp>
        <p:nvSpPr>
          <p:cNvPr id="13" name="Text 11"/>
          <p:cNvSpPr txBox="1"/>
          <p:nvPr/>
        </p:nvSpPr>
        <p:spPr>
          <a:xfrm>
            <a:off x="457200" y="295351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Text 12"/>
          <p:cNvSpPr txBox="1"/>
          <p:nvPr/>
        </p:nvSpPr>
        <p:spPr>
          <a:xfrm>
            <a:off x="896112" y="2898648"/>
            <a:ext cx="7772400" cy="384048"/>
          </a:xfrm>
          <a:prstGeom prst="rect">
            <a:avLst/>
          </a:prstGeom>
          <a:noFill/>
          <a:ln/>
        </p:spPr>
        <p:txBody>
          <a:bodyPr wrap="square" lIns="0" tIns="0" rIns="0" bIns="0" rtlCol="0" anchor="ctr"/>
          <a:lstStyle/>
          <a:p>
            <a:pPr indent="0" marL="0">
              <a:buNone/>
            </a:pPr>
            <a:r>
              <a:rPr lang="en-US" sz="1300" b="1" dirty="0">
                <a:solidFill>
                  <a:schemeClr val="tx2"/>
                </a:solidFill>
              </a:rPr>
              <a:t>요청 메시지 생성 (3개월 합계) → 증빙 묶음 PDF</a:t>
            </a:r>
            <a:endParaRPr lang="en-US" sz="1300" dirty="0"/>
          </a:p>
        </p:txBody>
      </p:sp>
      <p:sp>
        <p:nvSpPr>
          <p:cNvPr id="15" name="Text 13"/>
          <p:cNvSpPr txBox="1"/>
          <p:nvPr/>
        </p:nvSpPr>
        <p:spPr>
          <a:xfrm>
            <a:off x="896112" y="3264408"/>
            <a:ext cx="7772400" cy="365760"/>
          </a:xfrm>
          <a:prstGeom prst="rect">
            <a:avLst/>
          </a:prstGeom>
          <a:noFill/>
          <a:ln/>
        </p:spPr>
        <p:txBody>
          <a:bodyPr wrap="square" lIns="0" tIns="0" rIns="0" bIns="0" rtlCol="0" anchor="t"/>
          <a:lstStyle/>
          <a:p>
            <a:pPr indent="0" marL="0">
              <a:buNone/>
            </a:pPr>
            <a:r>
              <a:rPr lang="en-US" sz="1000" dirty="0">
                <a:solidFill>
                  <a:schemeClr val="accent5"/>
                </a:solidFill>
              </a:rPr>
              <a:t>날짜별 기록과 계산 근거가 들어간 정중한 문구. PDF 7번 표에 확인 번호</a:t>
            </a:r>
            <a:endParaRPr lang="en-US" sz="1000" dirty="0"/>
          </a:p>
        </p:txBody>
      </p:sp>
      <p:sp>
        <p:nvSpPr>
          <p:cNvPr id="16" name="번호 4"/>
          <p:cNvSpPr/>
          <p:nvPr/>
        </p:nvSpPr>
        <p:spPr>
          <a:xfrm>
            <a:off x="457200" y="3739896"/>
            <a:ext cx="310896" cy="310896"/>
          </a:xfrm>
          <a:prstGeom prst="ellipse">
            <a:avLst/>
          </a:prstGeom>
          <a:solidFill>
            <a:schemeClr val="accent1"/>
          </a:solidFill>
          <a:ln w="12700">
            <a:solidFill>
              <a:schemeClr val="accent1"/>
            </a:solidFill>
            <a:prstDash val="solid"/>
          </a:ln>
        </p:spPr>
      </p:sp>
      <p:sp>
        <p:nvSpPr>
          <p:cNvPr id="17" name="Text 15"/>
          <p:cNvSpPr txBox="1"/>
          <p:nvPr/>
        </p:nvSpPr>
        <p:spPr>
          <a:xfrm>
            <a:off x="457200" y="373989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8" name="Text 16"/>
          <p:cNvSpPr txBox="1"/>
          <p:nvPr/>
        </p:nvSpPr>
        <p:spPr>
          <a:xfrm>
            <a:off x="896112" y="3685032"/>
            <a:ext cx="7772400" cy="384048"/>
          </a:xfrm>
          <a:prstGeom prst="rect">
            <a:avLst/>
          </a:prstGeom>
          <a:noFill/>
          <a:ln/>
        </p:spPr>
        <p:txBody>
          <a:bodyPr wrap="square" lIns="0" tIns="0" rIns="0" bIns="0" rtlCol="0" anchor="ctr"/>
          <a:lstStyle/>
          <a:p>
            <a:pPr indent="0" marL="0">
              <a:buNone/>
            </a:pPr>
            <a:r>
              <a:rPr lang="en-US" sz="1300" b="1" dirty="0">
                <a:solidFill>
                  <a:schemeClr val="tx2"/>
                </a:solidFill>
              </a:rPr>
              <a:t>확인 페이지에 확인 번호 → 서버 등록 시각</a:t>
            </a:r>
            <a:endParaRPr lang="en-US" sz="1300" dirty="0"/>
          </a:p>
        </p:txBody>
      </p:sp>
      <p:sp>
        <p:nvSpPr>
          <p:cNvPr id="19" name="Text 17"/>
          <p:cNvSpPr txBox="1"/>
          <p:nvPr/>
        </p:nvSpPr>
        <p:spPr>
          <a:xfrm>
            <a:off x="896112" y="4050792"/>
            <a:ext cx="7772400" cy="365760"/>
          </a:xfrm>
          <a:prstGeom prst="rect">
            <a:avLst/>
          </a:prstGeom>
          <a:noFill/>
          <a:ln/>
        </p:spPr>
        <p:txBody>
          <a:bodyPr wrap="square" lIns="0" tIns="0" rIns="0" bIns="0" rtlCol="0" anchor="t"/>
          <a:lstStyle/>
          <a:p>
            <a:pPr indent="0" marL="0">
              <a:buNone/>
            </a:pPr>
            <a:r>
              <a:rPr lang="en-US" sz="1000" dirty="0">
                <a:solidFill>
                  <a:schemeClr val="accent5"/>
                </a:solidFill>
              </a:rPr>
              <a:t>앱 밖의 별도 페이지. 제3자도 열 수 있다</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시연 영상">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0"/>
            <a:ext cx="9144000" cy="5143500"/>
          </a:xfrm>
          <a:prstGeom prst="rect">
            <a:avLst/>
          </a:prstGeom>
        </p:spPr>
      </p:pic>
      <p:sp>
        <p:nvSpPr>
          <p:cNvPr id="4"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endParaRPr lang="en-US" sz="1050" dirty="0"/>
          </a:p>
        </p:txBody>
      </p:sp>
      <p:sp>
        <p:nvSpPr>
          <p:cNvPr id="5"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endParaRPr lang="en-US" sz="2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⑤ 개발 현황 · 구현된 기능과 계획 대비 비율</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MVP 기능 8개 모두 동작, 완성도 평균 약 80%</a:t>
            </a:r>
            <a:endParaRPr lang="en-US" sz="2400" dirty="0"/>
          </a:p>
        </p:txBody>
      </p:sp>
      <p:sp>
        <p:nvSpPr>
          <p:cNvPr id="4" name="Text 2"/>
          <p:cNvSpPr txBox="1"/>
          <p:nvPr/>
        </p:nvSpPr>
        <p:spPr>
          <a:xfrm>
            <a:off x="5788152" y="1024128"/>
            <a:ext cx="603504" cy="237744"/>
          </a:xfrm>
          <a:prstGeom prst="rect">
            <a:avLst/>
          </a:prstGeom>
          <a:noFill/>
          <a:ln/>
        </p:spPr>
        <p:txBody>
          <a:bodyPr wrap="square" lIns="0" tIns="0" rIns="0" bIns="0" rtlCol="0" anchor="ctr"/>
          <a:lstStyle/>
          <a:p>
            <a:pPr algn="ctr" indent="0" marL="0">
              <a:buNone/>
            </a:pPr>
            <a:r>
              <a:rPr lang="en-US" sz="900" b="1" dirty="0">
                <a:solidFill>
                  <a:schemeClr val="accent5"/>
                </a:solidFill>
              </a:rPr>
              <a:t>동작</a:t>
            </a:r>
            <a:endParaRPr lang="en-US" sz="900" dirty="0"/>
          </a:p>
        </p:txBody>
      </p:sp>
      <p:sp>
        <p:nvSpPr>
          <p:cNvPr id="5" name="Text 3"/>
          <p:cNvSpPr txBox="1"/>
          <p:nvPr/>
        </p:nvSpPr>
        <p:spPr>
          <a:xfrm>
            <a:off x="6080760" y="1024128"/>
            <a:ext cx="603504" cy="237744"/>
          </a:xfrm>
          <a:prstGeom prst="rect">
            <a:avLst/>
          </a:prstGeom>
          <a:noFill/>
          <a:ln/>
        </p:spPr>
        <p:txBody>
          <a:bodyPr wrap="square" lIns="0" tIns="0" rIns="0" bIns="0" rtlCol="0" anchor="ctr"/>
          <a:lstStyle/>
          <a:p>
            <a:pPr algn="ctr" indent="0" marL="0">
              <a:buNone/>
            </a:pPr>
            <a:r>
              <a:rPr lang="en-US" sz="900" b="1" dirty="0">
                <a:solidFill>
                  <a:schemeClr val="accent5"/>
                </a:solidFill>
              </a:rPr>
              <a:t>폰</a:t>
            </a:r>
            <a:endParaRPr lang="en-US" sz="900" dirty="0"/>
          </a:p>
        </p:txBody>
      </p:sp>
      <p:sp>
        <p:nvSpPr>
          <p:cNvPr id="6" name="Text 4"/>
          <p:cNvSpPr txBox="1"/>
          <p:nvPr/>
        </p:nvSpPr>
        <p:spPr>
          <a:xfrm>
            <a:off x="6373368" y="1024128"/>
            <a:ext cx="603504" cy="237744"/>
          </a:xfrm>
          <a:prstGeom prst="rect">
            <a:avLst/>
          </a:prstGeom>
          <a:noFill/>
          <a:ln/>
        </p:spPr>
        <p:txBody>
          <a:bodyPr wrap="square" lIns="0" tIns="0" rIns="0" bIns="0" rtlCol="0" anchor="ctr"/>
          <a:lstStyle/>
          <a:p>
            <a:pPr algn="ctr" indent="0" marL="0">
              <a:buNone/>
            </a:pPr>
            <a:r>
              <a:rPr lang="en-US" sz="900" b="1" dirty="0">
                <a:solidFill>
                  <a:schemeClr val="accent5"/>
                </a:solidFill>
              </a:rPr>
              <a:t>사용자</a:t>
            </a:r>
            <a:endParaRPr lang="en-US" sz="900" dirty="0"/>
          </a:p>
        </p:txBody>
      </p:sp>
      <p:sp>
        <p:nvSpPr>
          <p:cNvPr id="7" name="Text 5"/>
          <p:cNvSpPr txBox="1"/>
          <p:nvPr/>
        </p:nvSpPr>
        <p:spPr>
          <a:xfrm>
            <a:off x="6903720" y="1024128"/>
            <a:ext cx="1783080" cy="237744"/>
          </a:xfrm>
          <a:prstGeom prst="rect">
            <a:avLst/>
          </a:prstGeom>
          <a:noFill/>
          <a:ln/>
        </p:spPr>
        <p:txBody>
          <a:bodyPr wrap="square" lIns="0" tIns="0" rIns="0" bIns="0" rtlCol="0" anchor="ctr"/>
          <a:lstStyle/>
          <a:p>
            <a:pPr indent="0" marL="0">
              <a:buNone/>
            </a:pPr>
            <a:r>
              <a:rPr lang="en-US" sz="900" b="1" dirty="0">
                <a:solidFill>
                  <a:schemeClr val="accent5"/>
                </a:solidFill>
              </a:rPr>
              <a:t>남은 일</a:t>
            </a:r>
            <a:endParaRPr lang="en-US" sz="900" dirty="0"/>
          </a:p>
        </p:txBody>
      </p:sp>
      <p:sp>
        <p:nvSpPr>
          <p:cNvPr id="8" name="Text 6"/>
          <p:cNvSpPr txBox="1"/>
          <p:nvPr/>
        </p:nvSpPr>
        <p:spPr>
          <a:xfrm>
            <a:off x="457200" y="1298448"/>
            <a:ext cx="3383280" cy="384048"/>
          </a:xfrm>
          <a:prstGeom prst="rect">
            <a:avLst/>
          </a:prstGeom>
          <a:noFill/>
          <a:ln/>
        </p:spPr>
        <p:txBody>
          <a:bodyPr wrap="square" lIns="0" tIns="0" rIns="0" bIns="0" rtlCol="0" anchor="ctr"/>
          <a:lstStyle/>
          <a:p>
            <a:pPr indent="0" marL="0">
              <a:buNone/>
            </a:pPr>
            <a:r>
              <a:rPr lang="en-US" sz="1150" dirty="0">
                <a:solidFill>
                  <a:schemeClr val="tx1"/>
                </a:solidFill>
              </a:rPr>
              <a:t>근무 기록 (수정 이력 · 퇴근 누락 보호)</a:t>
            </a:r>
            <a:endParaRPr lang="en-US" sz="1150" dirty="0"/>
          </a:p>
        </p:txBody>
      </p:sp>
      <p:sp>
        <p:nvSpPr>
          <p:cNvPr id="9" name="근무 기록 (수정 이력 · 퇴근 누락 보호) 바탕"/>
          <p:cNvSpPr/>
          <p:nvPr/>
        </p:nvSpPr>
        <p:spPr>
          <a:xfrm>
            <a:off x="3931920" y="1426464"/>
            <a:ext cx="1371600" cy="128016"/>
          </a:xfrm>
          <a:prstGeom prst="roundRect">
            <a:avLst>
              <a:gd name="adj" fmla="val 50000"/>
            </a:avLst>
          </a:prstGeom>
          <a:solidFill>
            <a:schemeClr val="bg2"/>
          </a:solidFill>
          <a:ln w="12700">
            <a:solidFill>
              <a:schemeClr val="bg2"/>
            </a:solidFill>
            <a:prstDash val="solid"/>
          </a:ln>
        </p:spPr>
      </p:sp>
      <p:sp>
        <p:nvSpPr>
          <p:cNvPr id="10" name="근무 기록 (수정 이력 · 퇴근 누락 보호) 진행"/>
          <p:cNvSpPr/>
          <p:nvPr/>
        </p:nvSpPr>
        <p:spPr>
          <a:xfrm>
            <a:off x="3931920" y="1426464"/>
            <a:ext cx="1234440" cy="128016"/>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5358384" y="1298448"/>
            <a:ext cx="457200" cy="384048"/>
          </a:xfrm>
          <a:prstGeom prst="rect">
            <a:avLst/>
          </a:prstGeom>
          <a:noFill/>
          <a:ln/>
        </p:spPr>
        <p:txBody>
          <a:bodyPr wrap="square" lIns="0" tIns="0" rIns="0" bIns="0" rtlCol="0" anchor="ctr"/>
          <a:lstStyle/>
          <a:p>
            <a:pPr indent="0" marL="0">
              <a:buNone/>
            </a:pPr>
            <a:r>
              <a:rPr lang="en-US" sz="1100" b="1" dirty="0">
                <a:solidFill>
                  <a:schemeClr val="tx2"/>
                </a:solidFill>
              </a:rPr>
              <a:t>90%</a:t>
            </a:r>
            <a:endParaRPr lang="en-US" sz="1100" dirty="0"/>
          </a:p>
        </p:txBody>
      </p:sp>
      <p:sp>
        <p:nvSpPr>
          <p:cNvPr id="12" name="근무 기록 (수정 이력 · 퇴근 누락 보호) 확인 0"/>
          <p:cNvSpPr/>
          <p:nvPr/>
        </p:nvSpPr>
        <p:spPr>
          <a:xfrm>
            <a:off x="5998464" y="1399032"/>
            <a:ext cx="182880" cy="182880"/>
          </a:xfrm>
          <a:prstGeom prst="ellipse">
            <a:avLst/>
          </a:prstGeom>
          <a:solidFill>
            <a:schemeClr val="accent1"/>
          </a:solidFill>
          <a:ln w="9525">
            <a:solidFill>
              <a:schemeClr val="accent1"/>
            </a:solidFill>
            <a:prstDash val="solid"/>
          </a:ln>
        </p:spPr>
      </p:sp>
      <p:sp>
        <p:nvSpPr>
          <p:cNvPr id="13" name="근무 기록 (수정 이력 · 퇴근 누락 보호) 확인 1"/>
          <p:cNvSpPr/>
          <p:nvPr/>
        </p:nvSpPr>
        <p:spPr>
          <a:xfrm>
            <a:off x="6291072" y="1399032"/>
            <a:ext cx="182880" cy="182880"/>
          </a:xfrm>
          <a:prstGeom prst="ellipse">
            <a:avLst/>
          </a:prstGeom>
          <a:solidFill>
            <a:schemeClr val="bg1"/>
          </a:solidFill>
          <a:ln w="9525">
            <a:solidFill>
              <a:srgbClr val="5D636D"/>
            </a:solidFill>
            <a:prstDash val="solid"/>
          </a:ln>
        </p:spPr>
      </p:sp>
      <p:sp>
        <p:nvSpPr>
          <p:cNvPr id="14" name="근무 기록 (수정 이력 · 퇴근 누락 보호) 확인 2"/>
          <p:cNvSpPr/>
          <p:nvPr/>
        </p:nvSpPr>
        <p:spPr>
          <a:xfrm>
            <a:off x="6583680" y="1399032"/>
            <a:ext cx="182880" cy="182880"/>
          </a:xfrm>
          <a:prstGeom prst="ellipse">
            <a:avLst/>
          </a:prstGeom>
          <a:solidFill>
            <a:schemeClr val="bg1"/>
          </a:solidFill>
          <a:ln w="9525">
            <a:solidFill>
              <a:srgbClr val="5D636D"/>
            </a:solidFill>
            <a:prstDash val="solid"/>
          </a:ln>
        </p:spPr>
      </p:sp>
      <p:sp>
        <p:nvSpPr>
          <p:cNvPr id="15" name="Text 13"/>
          <p:cNvSpPr txBox="1"/>
          <p:nvPr/>
        </p:nvSpPr>
        <p:spPr>
          <a:xfrm>
            <a:off x="6903720" y="1298448"/>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실제 폰 장기 사용</a:t>
            </a:r>
            <a:endParaRPr lang="en-US" sz="1050" dirty="0"/>
          </a:p>
        </p:txBody>
      </p:sp>
      <p:sp>
        <p:nvSpPr>
          <p:cNvPr id="16" name="Shape 14"/>
          <p:cNvSpPr/>
          <p:nvPr/>
        </p:nvSpPr>
        <p:spPr>
          <a:xfrm>
            <a:off x="457200" y="1682496"/>
            <a:ext cx="8229600" cy="0"/>
          </a:xfrm>
          <a:prstGeom prst="line">
            <a:avLst/>
          </a:prstGeom>
          <a:noFill/>
          <a:ln w="9525">
            <a:solidFill>
              <a:srgbClr val="DCD9D0"/>
            </a:solidFill>
            <a:prstDash val="solid"/>
          </a:ln>
        </p:spPr>
      </p:sp>
      <p:sp>
        <p:nvSpPr>
          <p:cNvPr id="17" name="Text 15"/>
          <p:cNvSpPr txBox="1"/>
          <p:nvPr/>
        </p:nvSpPr>
        <p:spPr>
          <a:xfrm>
            <a:off x="457200" y="1682496"/>
            <a:ext cx="3383280" cy="384048"/>
          </a:xfrm>
          <a:prstGeom prst="rect">
            <a:avLst/>
          </a:prstGeom>
          <a:noFill/>
          <a:ln/>
        </p:spPr>
        <p:txBody>
          <a:bodyPr wrap="square" lIns="0" tIns="0" rIns="0" bIns="0" rtlCol="0" anchor="ctr"/>
          <a:lstStyle/>
          <a:p>
            <a:pPr indent="0" marL="0">
              <a:buNone/>
            </a:pPr>
            <a:r>
              <a:rPr lang="en-US" sz="1150" dirty="0">
                <a:solidFill>
                  <a:schemeClr val="tx1"/>
                </a:solidFill>
              </a:rPr>
              <a:t>캘린더 (예정 vs 실제, 연장 · 대타)</a:t>
            </a:r>
            <a:endParaRPr lang="en-US" sz="1150" dirty="0"/>
          </a:p>
        </p:txBody>
      </p:sp>
      <p:sp>
        <p:nvSpPr>
          <p:cNvPr id="18" name="캘린더 (예정 vs 실제, 연장 · 대타) 바탕"/>
          <p:cNvSpPr/>
          <p:nvPr/>
        </p:nvSpPr>
        <p:spPr>
          <a:xfrm>
            <a:off x="3931920" y="1810512"/>
            <a:ext cx="1371600" cy="128016"/>
          </a:xfrm>
          <a:prstGeom prst="roundRect">
            <a:avLst>
              <a:gd name="adj" fmla="val 50000"/>
            </a:avLst>
          </a:prstGeom>
          <a:solidFill>
            <a:schemeClr val="bg2"/>
          </a:solidFill>
          <a:ln w="12700">
            <a:solidFill>
              <a:schemeClr val="bg2"/>
            </a:solidFill>
            <a:prstDash val="solid"/>
          </a:ln>
        </p:spPr>
      </p:sp>
      <p:sp>
        <p:nvSpPr>
          <p:cNvPr id="19" name="캘린더 (예정 vs 실제, 연장 · 대타) 진행"/>
          <p:cNvSpPr/>
          <p:nvPr/>
        </p:nvSpPr>
        <p:spPr>
          <a:xfrm>
            <a:off x="3931920" y="1810512"/>
            <a:ext cx="1165860" cy="128016"/>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5358384" y="1682496"/>
            <a:ext cx="457200" cy="384048"/>
          </a:xfrm>
          <a:prstGeom prst="rect">
            <a:avLst/>
          </a:prstGeom>
          <a:noFill/>
          <a:ln/>
        </p:spPr>
        <p:txBody>
          <a:bodyPr wrap="square" lIns="0" tIns="0" rIns="0" bIns="0" rtlCol="0" anchor="ctr"/>
          <a:lstStyle/>
          <a:p>
            <a:pPr indent="0" marL="0">
              <a:buNone/>
            </a:pPr>
            <a:r>
              <a:rPr lang="en-US" sz="1100" b="1" dirty="0">
                <a:solidFill>
                  <a:schemeClr val="tx2"/>
                </a:solidFill>
              </a:rPr>
              <a:t>85%</a:t>
            </a:r>
            <a:endParaRPr lang="en-US" sz="1100" dirty="0"/>
          </a:p>
        </p:txBody>
      </p:sp>
      <p:sp>
        <p:nvSpPr>
          <p:cNvPr id="21" name="캘린더 (예정 vs 실제, 연장 · 대타) 확인 0"/>
          <p:cNvSpPr/>
          <p:nvPr/>
        </p:nvSpPr>
        <p:spPr>
          <a:xfrm>
            <a:off x="5998464" y="1783080"/>
            <a:ext cx="182880" cy="182880"/>
          </a:xfrm>
          <a:prstGeom prst="ellipse">
            <a:avLst/>
          </a:prstGeom>
          <a:solidFill>
            <a:schemeClr val="accent1"/>
          </a:solidFill>
          <a:ln w="9525">
            <a:solidFill>
              <a:schemeClr val="accent1"/>
            </a:solidFill>
            <a:prstDash val="solid"/>
          </a:ln>
        </p:spPr>
      </p:sp>
      <p:sp>
        <p:nvSpPr>
          <p:cNvPr id="22" name="캘린더 (예정 vs 실제, 연장 · 대타) 확인 1"/>
          <p:cNvSpPr/>
          <p:nvPr/>
        </p:nvSpPr>
        <p:spPr>
          <a:xfrm>
            <a:off x="6291072" y="1783080"/>
            <a:ext cx="182880" cy="182880"/>
          </a:xfrm>
          <a:prstGeom prst="ellipse">
            <a:avLst/>
          </a:prstGeom>
          <a:solidFill>
            <a:schemeClr val="bg1"/>
          </a:solidFill>
          <a:ln w="9525">
            <a:solidFill>
              <a:srgbClr val="5D636D"/>
            </a:solidFill>
            <a:prstDash val="solid"/>
          </a:ln>
        </p:spPr>
      </p:sp>
      <p:sp>
        <p:nvSpPr>
          <p:cNvPr id="23" name="캘린더 (예정 vs 실제, 연장 · 대타) 확인 2"/>
          <p:cNvSpPr/>
          <p:nvPr/>
        </p:nvSpPr>
        <p:spPr>
          <a:xfrm>
            <a:off x="6583680" y="1783080"/>
            <a:ext cx="182880" cy="182880"/>
          </a:xfrm>
          <a:prstGeom prst="ellipse">
            <a:avLst/>
          </a:prstGeom>
          <a:solidFill>
            <a:schemeClr val="bg1"/>
          </a:solidFill>
          <a:ln w="9525">
            <a:solidFill>
              <a:srgbClr val="5D636D"/>
            </a:solidFill>
            <a:prstDash val="solid"/>
          </a:ln>
        </p:spPr>
      </p:sp>
      <p:sp>
        <p:nvSpPr>
          <p:cNvPr id="24" name="Text 22"/>
          <p:cNvSpPr txBox="1"/>
          <p:nvPr/>
        </p:nvSpPr>
        <p:spPr>
          <a:xfrm>
            <a:off x="6903720" y="1682496"/>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반복 스케줄 입력</a:t>
            </a:r>
            <a:endParaRPr lang="en-US" sz="1050" dirty="0"/>
          </a:p>
        </p:txBody>
      </p:sp>
      <p:sp>
        <p:nvSpPr>
          <p:cNvPr id="25" name="Shape 23"/>
          <p:cNvSpPr/>
          <p:nvPr/>
        </p:nvSpPr>
        <p:spPr>
          <a:xfrm>
            <a:off x="457200" y="2066544"/>
            <a:ext cx="8229600" cy="0"/>
          </a:xfrm>
          <a:prstGeom prst="line">
            <a:avLst/>
          </a:prstGeom>
          <a:noFill/>
          <a:ln w="9525">
            <a:solidFill>
              <a:srgbClr val="DCD9D0"/>
            </a:solidFill>
            <a:prstDash val="solid"/>
          </a:ln>
        </p:spPr>
      </p:sp>
      <p:sp>
        <p:nvSpPr>
          <p:cNvPr id="26" name="Text 24"/>
          <p:cNvSpPr txBox="1"/>
          <p:nvPr/>
        </p:nvSpPr>
        <p:spPr>
          <a:xfrm>
            <a:off x="457200" y="2066544"/>
            <a:ext cx="3383280" cy="384048"/>
          </a:xfrm>
          <a:prstGeom prst="rect">
            <a:avLst/>
          </a:prstGeom>
          <a:noFill/>
          <a:ln/>
        </p:spPr>
        <p:txBody>
          <a:bodyPr wrap="square" lIns="0" tIns="0" rIns="0" bIns="0" rtlCol="0" anchor="ctr"/>
          <a:lstStyle/>
          <a:p>
            <a:pPr indent="0" marL="0">
              <a:buNone/>
            </a:pPr>
            <a:r>
              <a:rPr lang="en-US" sz="1150" dirty="0">
                <a:solidFill>
                  <a:schemeClr val="tx1"/>
                </a:solidFill>
              </a:rPr>
              <a:t>급여 계산 (주휴 · 야간 · 최저임금)</a:t>
            </a:r>
            <a:endParaRPr lang="en-US" sz="1150" dirty="0"/>
          </a:p>
        </p:txBody>
      </p:sp>
      <p:sp>
        <p:nvSpPr>
          <p:cNvPr id="27" name="급여 계산 (주휴 · 야간 · 최저임금) 바탕"/>
          <p:cNvSpPr/>
          <p:nvPr/>
        </p:nvSpPr>
        <p:spPr>
          <a:xfrm>
            <a:off x="3931920" y="2194560"/>
            <a:ext cx="1371600" cy="128016"/>
          </a:xfrm>
          <a:prstGeom prst="roundRect">
            <a:avLst>
              <a:gd name="adj" fmla="val 50000"/>
            </a:avLst>
          </a:prstGeom>
          <a:solidFill>
            <a:schemeClr val="bg2"/>
          </a:solidFill>
          <a:ln w="12700">
            <a:solidFill>
              <a:schemeClr val="bg2"/>
            </a:solidFill>
            <a:prstDash val="solid"/>
          </a:ln>
        </p:spPr>
      </p:sp>
      <p:sp>
        <p:nvSpPr>
          <p:cNvPr id="28" name="급여 계산 (주휴 · 야간 · 최저임금) 진행"/>
          <p:cNvSpPr/>
          <p:nvPr/>
        </p:nvSpPr>
        <p:spPr>
          <a:xfrm>
            <a:off x="3931920" y="2194560"/>
            <a:ext cx="1165860" cy="128016"/>
          </a:xfrm>
          <a:prstGeom prst="roundRect">
            <a:avLst>
              <a:gd name="adj" fmla="val 50000"/>
            </a:avLst>
          </a:prstGeom>
          <a:solidFill>
            <a:schemeClr val="accent1"/>
          </a:solidFill>
          <a:ln w="12700">
            <a:solidFill>
              <a:schemeClr val="accent1"/>
            </a:solidFill>
            <a:prstDash val="solid"/>
          </a:ln>
        </p:spPr>
      </p:sp>
      <p:sp>
        <p:nvSpPr>
          <p:cNvPr id="29" name="Text 27"/>
          <p:cNvSpPr txBox="1"/>
          <p:nvPr/>
        </p:nvSpPr>
        <p:spPr>
          <a:xfrm>
            <a:off x="5358384" y="2066544"/>
            <a:ext cx="457200" cy="384048"/>
          </a:xfrm>
          <a:prstGeom prst="rect">
            <a:avLst/>
          </a:prstGeom>
          <a:noFill/>
          <a:ln/>
        </p:spPr>
        <p:txBody>
          <a:bodyPr wrap="square" lIns="0" tIns="0" rIns="0" bIns="0" rtlCol="0" anchor="ctr"/>
          <a:lstStyle/>
          <a:p>
            <a:pPr indent="0" marL="0">
              <a:buNone/>
            </a:pPr>
            <a:r>
              <a:rPr lang="en-US" sz="1100" b="1" dirty="0">
                <a:solidFill>
                  <a:schemeClr val="tx2"/>
                </a:solidFill>
              </a:rPr>
              <a:t>85%</a:t>
            </a:r>
            <a:endParaRPr lang="en-US" sz="1100" dirty="0"/>
          </a:p>
        </p:txBody>
      </p:sp>
      <p:sp>
        <p:nvSpPr>
          <p:cNvPr id="30" name="급여 계산 (주휴 · 야간 · 최저임금) 확인 0"/>
          <p:cNvSpPr/>
          <p:nvPr/>
        </p:nvSpPr>
        <p:spPr>
          <a:xfrm>
            <a:off x="5998464" y="2167128"/>
            <a:ext cx="182880" cy="182880"/>
          </a:xfrm>
          <a:prstGeom prst="ellipse">
            <a:avLst/>
          </a:prstGeom>
          <a:solidFill>
            <a:schemeClr val="accent1"/>
          </a:solidFill>
          <a:ln w="9525">
            <a:solidFill>
              <a:schemeClr val="accent1"/>
            </a:solidFill>
            <a:prstDash val="solid"/>
          </a:ln>
        </p:spPr>
      </p:sp>
      <p:sp>
        <p:nvSpPr>
          <p:cNvPr id="31" name="급여 계산 (주휴 · 야간 · 최저임금) 확인 1"/>
          <p:cNvSpPr/>
          <p:nvPr/>
        </p:nvSpPr>
        <p:spPr>
          <a:xfrm>
            <a:off x="6291072" y="2167128"/>
            <a:ext cx="182880" cy="182880"/>
          </a:xfrm>
          <a:prstGeom prst="ellipse">
            <a:avLst/>
          </a:prstGeom>
          <a:solidFill>
            <a:schemeClr val="bg1"/>
          </a:solidFill>
          <a:ln w="9525">
            <a:solidFill>
              <a:srgbClr val="5D636D"/>
            </a:solidFill>
            <a:prstDash val="solid"/>
          </a:ln>
        </p:spPr>
      </p:sp>
      <p:sp>
        <p:nvSpPr>
          <p:cNvPr id="32" name="급여 계산 (주휴 · 야간 · 최저임금) 확인 2"/>
          <p:cNvSpPr/>
          <p:nvPr/>
        </p:nvSpPr>
        <p:spPr>
          <a:xfrm>
            <a:off x="6583680" y="2167128"/>
            <a:ext cx="182880" cy="182880"/>
          </a:xfrm>
          <a:prstGeom prst="ellipse">
            <a:avLst/>
          </a:prstGeom>
          <a:solidFill>
            <a:schemeClr val="bg1"/>
          </a:solidFill>
          <a:ln w="9525">
            <a:solidFill>
              <a:srgbClr val="5D636D"/>
            </a:solidFill>
            <a:prstDash val="solid"/>
          </a:ln>
        </p:spPr>
      </p:sp>
      <p:sp>
        <p:nvSpPr>
          <p:cNvPr id="33" name="Text 31"/>
          <p:cNvSpPr txBox="1"/>
          <p:nvPr/>
        </p:nvSpPr>
        <p:spPr>
          <a:xfrm>
            <a:off x="6903720" y="2066544"/>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연장근로 가산</a:t>
            </a:r>
            <a:endParaRPr lang="en-US" sz="1050" dirty="0"/>
          </a:p>
        </p:txBody>
      </p:sp>
      <p:sp>
        <p:nvSpPr>
          <p:cNvPr id="34" name="Shape 32"/>
          <p:cNvSpPr/>
          <p:nvPr/>
        </p:nvSpPr>
        <p:spPr>
          <a:xfrm>
            <a:off x="457200" y="2450592"/>
            <a:ext cx="8229600" cy="0"/>
          </a:xfrm>
          <a:prstGeom prst="line">
            <a:avLst/>
          </a:prstGeom>
          <a:noFill/>
          <a:ln w="9525">
            <a:solidFill>
              <a:srgbClr val="DCD9D0"/>
            </a:solidFill>
            <a:prstDash val="solid"/>
          </a:ln>
        </p:spPr>
      </p:sp>
      <p:sp>
        <p:nvSpPr>
          <p:cNvPr id="35" name="Text 33"/>
          <p:cNvSpPr txBox="1"/>
          <p:nvPr/>
        </p:nvSpPr>
        <p:spPr>
          <a:xfrm>
            <a:off x="457200" y="2450592"/>
            <a:ext cx="3383280" cy="384048"/>
          </a:xfrm>
          <a:prstGeom prst="rect">
            <a:avLst/>
          </a:prstGeom>
          <a:noFill/>
          <a:ln/>
        </p:spPr>
        <p:txBody>
          <a:bodyPr wrap="square" lIns="0" tIns="0" rIns="0" bIns="0" rtlCol="0" anchor="ctr"/>
          <a:lstStyle/>
          <a:p>
            <a:pPr indent="0" marL="0">
              <a:buNone/>
            </a:pPr>
            <a:r>
              <a:rPr lang="en-US" sz="1150" dirty="0">
                <a:solidFill>
                  <a:schemeClr val="tx1"/>
                </a:solidFill>
              </a:rPr>
              <a:t>입금액 비교 · 차액 알림</a:t>
            </a:r>
            <a:endParaRPr lang="en-US" sz="1150" dirty="0"/>
          </a:p>
        </p:txBody>
      </p:sp>
      <p:sp>
        <p:nvSpPr>
          <p:cNvPr id="36" name="입금액 비교 · 차액 알림 바탕"/>
          <p:cNvSpPr/>
          <p:nvPr/>
        </p:nvSpPr>
        <p:spPr>
          <a:xfrm>
            <a:off x="3931920" y="2578608"/>
            <a:ext cx="1371600" cy="128016"/>
          </a:xfrm>
          <a:prstGeom prst="roundRect">
            <a:avLst>
              <a:gd name="adj" fmla="val 50000"/>
            </a:avLst>
          </a:prstGeom>
          <a:solidFill>
            <a:schemeClr val="bg2"/>
          </a:solidFill>
          <a:ln w="12700">
            <a:solidFill>
              <a:schemeClr val="bg2"/>
            </a:solidFill>
            <a:prstDash val="solid"/>
          </a:ln>
        </p:spPr>
      </p:sp>
      <p:sp>
        <p:nvSpPr>
          <p:cNvPr id="37" name="입금액 비교 · 차액 알림 진행"/>
          <p:cNvSpPr/>
          <p:nvPr/>
        </p:nvSpPr>
        <p:spPr>
          <a:xfrm>
            <a:off x="3931920" y="2578608"/>
            <a:ext cx="1097280" cy="128016"/>
          </a:xfrm>
          <a:prstGeom prst="roundRect">
            <a:avLst>
              <a:gd name="adj" fmla="val 50000"/>
            </a:avLst>
          </a:prstGeom>
          <a:solidFill>
            <a:schemeClr val="accent1"/>
          </a:solidFill>
          <a:ln w="12700">
            <a:solidFill>
              <a:schemeClr val="accent1"/>
            </a:solidFill>
            <a:prstDash val="solid"/>
          </a:ln>
        </p:spPr>
      </p:sp>
      <p:sp>
        <p:nvSpPr>
          <p:cNvPr id="38" name="Text 36"/>
          <p:cNvSpPr txBox="1"/>
          <p:nvPr/>
        </p:nvSpPr>
        <p:spPr>
          <a:xfrm>
            <a:off x="5358384" y="2450592"/>
            <a:ext cx="457200" cy="384048"/>
          </a:xfrm>
          <a:prstGeom prst="rect">
            <a:avLst/>
          </a:prstGeom>
          <a:noFill/>
          <a:ln/>
        </p:spPr>
        <p:txBody>
          <a:bodyPr wrap="square" lIns="0" tIns="0" rIns="0" bIns="0" rtlCol="0" anchor="ctr"/>
          <a:lstStyle/>
          <a:p>
            <a:pPr indent="0" marL="0">
              <a:buNone/>
            </a:pPr>
            <a:r>
              <a:rPr lang="en-US" sz="1100" b="1" dirty="0">
                <a:solidFill>
                  <a:schemeClr val="tx2"/>
                </a:solidFill>
              </a:rPr>
              <a:t>80%</a:t>
            </a:r>
            <a:endParaRPr lang="en-US" sz="1100" dirty="0"/>
          </a:p>
        </p:txBody>
      </p:sp>
      <p:sp>
        <p:nvSpPr>
          <p:cNvPr id="39" name="입금액 비교 · 차액 알림 확인 0"/>
          <p:cNvSpPr/>
          <p:nvPr/>
        </p:nvSpPr>
        <p:spPr>
          <a:xfrm>
            <a:off x="5998464" y="2551176"/>
            <a:ext cx="182880" cy="182880"/>
          </a:xfrm>
          <a:prstGeom prst="ellipse">
            <a:avLst/>
          </a:prstGeom>
          <a:solidFill>
            <a:schemeClr val="accent1"/>
          </a:solidFill>
          <a:ln w="9525">
            <a:solidFill>
              <a:schemeClr val="accent1"/>
            </a:solidFill>
            <a:prstDash val="solid"/>
          </a:ln>
        </p:spPr>
      </p:sp>
      <p:sp>
        <p:nvSpPr>
          <p:cNvPr id="40" name="입금액 비교 · 차액 알림 확인 1"/>
          <p:cNvSpPr/>
          <p:nvPr/>
        </p:nvSpPr>
        <p:spPr>
          <a:xfrm>
            <a:off x="6291072" y="2551176"/>
            <a:ext cx="182880" cy="182880"/>
          </a:xfrm>
          <a:prstGeom prst="ellipse">
            <a:avLst/>
          </a:prstGeom>
          <a:solidFill>
            <a:schemeClr val="bg1"/>
          </a:solidFill>
          <a:ln w="9525">
            <a:solidFill>
              <a:srgbClr val="5D636D"/>
            </a:solidFill>
            <a:prstDash val="solid"/>
          </a:ln>
        </p:spPr>
      </p:sp>
      <p:sp>
        <p:nvSpPr>
          <p:cNvPr id="41" name="입금액 비교 · 차액 알림 확인 2"/>
          <p:cNvSpPr/>
          <p:nvPr/>
        </p:nvSpPr>
        <p:spPr>
          <a:xfrm>
            <a:off x="6583680" y="2551176"/>
            <a:ext cx="182880" cy="182880"/>
          </a:xfrm>
          <a:prstGeom prst="ellipse">
            <a:avLst/>
          </a:prstGeom>
          <a:solidFill>
            <a:schemeClr val="bg1"/>
          </a:solidFill>
          <a:ln w="9525">
            <a:solidFill>
              <a:srgbClr val="5D636D"/>
            </a:solidFill>
            <a:prstDash val="solid"/>
          </a:ln>
        </p:spPr>
      </p:sp>
      <p:sp>
        <p:nvSpPr>
          <p:cNvPr id="42" name="Text 40"/>
          <p:cNvSpPr txBox="1"/>
          <p:nvPr/>
        </p:nvSpPr>
        <p:spPr>
          <a:xfrm>
            <a:off x="6903720" y="2450592"/>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매달 넣을지 검증(가설 1)</a:t>
            </a:r>
            <a:endParaRPr lang="en-US" sz="1050" dirty="0"/>
          </a:p>
        </p:txBody>
      </p:sp>
      <p:sp>
        <p:nvSpPr>
          <p:cNvPr id="43" name="Shape 41"/>
          <p:cNvSpPr/>
          <p:nvPr/>
        </p:nvSpPr>
        <p:spPr>
          <a:xfrm>
            <a:off x="457200" y="2834640"/>
            <a:ext cx="8229600" cy="0"/>
          </a:xfrm>
          <a:prstGeom prst="line">
            <a:avLst/>
          </a:prstGeom>
          <a:noFill/>
          <a:ln w="9525">
            <a:solidFill>
              <a:srgbClr val="DCD9D0"/>
            </a:solidFill>
            <a:prstDash val="solid"/>
          </a:ln>
        </p:spPr>
      </p:sp>
      <p:sp>
        <p:nvSpPr>
          <p:cNvPr id="44" name="Text 42"/>
          <p:cNvSpPr txBox="1"/>
          <p:nvPr/>
        </p:nvSpPr>
        <p:spPr>
          <a:xfrm>
            <a:off x="457200" y="2834640"/>
            <a:ext cx="3383280" cy="384048"/>
          </a:xfrm>
          <a:prstGeom prst="rect">
            <a:avLst/>
          </a:prstGeom>
          <a:noFill/>
          <a:ln/>
        </p:spPr>
        <p:txBody>
          <a:bodyPr wrap="square" lIns="0" tIns="0" rIns="0" bIns="0" rtlCol="0" anchor="ctr"/>
          <a:lstStyle/>
          <a:p>
            <a:pPr indent="0" marL="0">
              <a:buNone/>
            </a:pPr>
            <a:r>
              <a:rPr lang="en-US" sz="1150" dirty="0">
                <a:solidFill>
                  <a:schemeClr val="tx1"/>
                </a:solidFill>
              </a:rPr>
              <a:t>단계별 정산 요청</a:t>
            </a:r>
            <a:endParaRPr lang="en-US" sz="1150" dirty="0"/>
          </a:p>
        </p:txBody>
      </p:sp>
      <p:sp>
        <p:nvSpPr>
          <p:cNvPr id="45" name="단계별 정산 요청 바탕"/>
          <p:cNvSpPr/>
          <p:nvPr/>
        </p:nvSpPr>
        <p:spPr>
          <a:xfrm>
            <a:off x="3931920" y="2962656"/>
            <a:ext cx="1371600" cy="128016"/>
          </a:xfrm>
          <a:prstGeom prst="roundRect">
            <a:avLst>
              <a:gd name="adj" fmla="val 50000"/>
            </a:avLst>
          </a:prstGeom>
          <a:solidFill>
            <a:schemeClr val="bg2"/>
          </a:solidFill>
          <a:ln w="12700">
            <a:solidFill>
              <a:schemeClr val="bg2"/>
            </a:solidFill>
            <a:prstDash val="solid"/>
          </a:ln>
        </p:spPr>
      </p:sp>
      <p:sp>
        <p:nvSpPr>
          <p:cNvPr id="46" name="단계별 정산 요청 진행"/>
          <p:cNvSpPr/>
          <p:nvPr/>
        </p:nvSpPr>
        <p:spPr>
          <a:xfrm>
            <a:off x="3931920" y="2962656"/>
            <a:ext cx="1028700" cy="128016"/>
          </a:xfrm>
          <a:prstGeom prst="roundRect">
            <a:avLst>
              <a:gd name="adj" fmla="val 50000"/>
            </a:avLst>
          </a:prstGeom>
          <a:solidFill>
            <a:schemeClr val="accent1"/>
          </a:solidFill>
          <a:ln w="12700">
            <a:solidFill>
              <a:schemeClr val="accent1"/>
            </a:solidFill>
            <a:prstDash val="solid"/>
          </a:ln>
        </p:spPr>
      </p:sp>
      <p:sp>
        <p:nvSpPr>
          <p:cNvPr id="47" name="Text 45"/>
          <p:cNvSpPr txBox="1"/>
          <p:nvPr/>
        </p:nvSpPr>
        <p:spPr>
          <a:xfrm>
            <a:off x="5358384" y="2834640"/>
            <a:ext cx="457200" cy="384048"/>
          </a:xfrm>
          <a:prstGeom prst="rect">
            <a:avLst/>
          </a:prstGeom>
          <a:noFill/>
          <a:ln/>
        </p:spPr>
        <p:txBody>
          <a:bodyPr wrap="square" lIns="0" tIns="0" rIns="0" bIns="0" rtlCol="0" anchor="ctr"/>
          <a:lstStyle/>
          <a:p>
            <a:pPr indent="0" marL="0">
              <a:buNone/>
            </a:pPr>
            <a:r>
              <a:rPr lang="en-US" sz="1100" b="1" dirty="0">
                <a:solidFill>
                  <a:schemeClr val="tx2"/>
                </a:solidFill>
              </a:rPr>
              <a:t>75%</a:t>
            </a:r>
            <a:endParaRPr lang="en-US" sz="1100" dirty="0"/>
          </a:p>
        </p:txBody>
      </p:sp>
      <p:sp>
        <p:nvSpPr>
          <p:cNvPr id="48" name="단계별 정산 요청 확인 0"/>
          <p:cNvSpPr/>
          <p:nvPr/>
        </p:nvSpPr>
        <p:spPr>
          <a:xfrm>
            <a:off x="5998464" y="2935224"/>
            <a:ext cx="182880" cy="182880"/>
          </a:xfrm>
          <a:prstGeom prst="ellipse">
            <a:avLst/>
          </a:prstGeom>
          <a:solidFill>
            <a:schemeClr val="accent1"/>
          </a:solidFill>
          <a:ln w="9525">
            <a:solidFill>
              <a:schemeClr val="accent1"/>
            </a:solidFill>
            <a:prstDash val="solid"/>
          </a:ln>
        </p:spPr>
      </p:sp>
      <p:sp>
        <p:nvSpPr>
          <p:cNvPr id="49" name="단계별 정산 요청 확인 1"/>
          <p:cNvSpPr/>
          <p:nvPr/>
        </p:nvSpPr>
        <p:spPr>
          <a:xfrm>
            <a:off x="6291072" y="2935224"/>
            <a:ext cx="182880" cy="182880"/>
          </a:xfrm>
          <a:prstGeom prst="ellipse">
            <a:avLst/>
          </a:prstGeom>
          <a:solidFill>
            <a:schemeClr val="bg1"/>
          </a:solidFill>
          <a:ln w="9525">
            <a:solidFill>
              <a:srgbClr val="5D636D"/>
            </a:solidFill>
            <a:prstDash val="solid"/>
          </a:ln>
        </p:spPr>
      </p:sp>
      <p:sp>
        <p:nvSpPr>
          <p:cNvPr id="50" name="단계별 정산 요청 확인 2"/>
          <p:cNvSpPr/>
          <p:nvPr/>
        </p:nvSpPr>
        <p:spPr>
          <a:xfrm>
            <a:off x="6583680" y="2935224"/>
            <a:ext cx="182880" cy="182880"/>
          </a:xfrm>
          <a:prstGeom prst="ellipse">
            <a:avLst/>
          </a:prstGeom>
          <a:solidFill>
            <a:schemeClr val="bg1"/>
          </a:solidFill>
          <a:ln w="9525">
            <a:solidFill>
              <a:srgbClr val="5D636D"/>
            </a:solidFill>
            <a:prstDash val="solid"/>
          </a:ln>
        </p:spPr>
      </p:sp>
      <p:sp>
        <p:nvSpPr>
          <p:cNvPr id="51" name="Text 49"/>
          <p:cNvSpPr txBox="1"/>
          <p:nvPr/>
        </p:nvSpPr>
        <p:spPr>
          <a:xfrm>
            <a:off x="6903720" y="2834640"/>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문구 톤 사용자 검증</a:t>
            </a:r>
            <a:endParaRPr lang="en-US" sz="1050" dirty="0"/>
          </a:p>
        </p:txBody>
      </p:sp>
      <p:sp>
        <p:nvSpPr>
          <p:cNvPr id="52" name="Shape 50"/>
          <p:cNvSpPr/>
          <p:nvPr/>
        </p:nvSpPr>
        <p:spPr>
          <a:xfrm>
            <a:off x="457200" y="3218688"/>
            <a:ext cx="8229600" cy="0"/>
          </a:xfrm>
          <a:prstGeom prst="line">
            <a:avLst/>
          </a:prstGeom>
          <a:noFill/>
          <a:ln w="9525">
            <a:solidFill>
              <a:srgbClr val="DCD9D0"/>
            </a:solidFill>
            <a:prstDash val="solid"/>
          </a:ln>
        </p:spPr>
      </p:sp>
      <p:sp>
        <p:nvSpPr>
          <p:cNvPr id="53" name="Text 51"/>
          <p:cNvSpPr txBox="1"/>
          <p:nvPr/>
        </p:nvSpPr>
        <p:spPr>
          <a:xfrm>
            <a:off x="457200" y="3218688"/>
            <a:ext cx="3383280" cy="384048"/>
          </a:xfrm>
          <a:prstGeom prst="rect">
            <a:avLst/>
          </a:prstGeom>
          <a:noFill/>
          <a:ln/>
        </p:spPr>
        <p:txBody>
          <a:bodyPr wrap="square" lIns="0" tIns="0" rIns="0" bIns="0" rtlCol="0" anchor="ctr"/>
          <a:lstStyle/>
          <a:p>
            <a:pPr indent="0" marL="0">
              <a:buNone/>
            </a:pPr>
            <a:r>
              <a:rPr lang="en-US" sz="1150" dirty="0">
                <a:solidFill>
                  <a:schemeClr val="tx1"/>
                </a:solidFill>
              </a:rPr>
              <a:t>증빙 묶음 PDF</a:t>
            </a:r>
            <a:endParaRPr lang="en-US" sz="1150" dirty="0"/>
          </a:p>
        </p:txBody>
      </p:sp>
      <p:sp>
        <p:nvSpPr>
          <p:cNvPr id="54" name="증빙 묶음 PDF 바탕"/>
          <p:cNvSpPr/>
          <p:nvPr/>
        </p:nvSpPr>
        <p:spPr>
          <a:xfrm>
            <a:off x="3931920" y="3346704"/>
            <a:ext cx="1371600" cy="128016"/>
          </a:xfrm>
          <a:prstGeom prst="roundRect">
            <a:avLst>
              <a:gd name="adj" fmla="val 50000"/>
            </a:avLst>
          </a:prstGeom>
          <a:solidFill>
            <a:schemeClr val="bg2"/>
          </a:solidFill>
          <a:ln w="12700">
            <a:solidFill>
              <a:schemeClr val="bg2"/>
            </a:solidFill>
            <a:prstDash val="solid"/>
          </a:ln>
        </p:spPr>
      </p:sp>
      <p:sp>
        <p:nvSpPr>
          <p:cNvPr id="55" name="증빙 묶음 PDF 진행"/>
          <p:cNvSpPr/>
          <p:nvPr/>
        </p:nvSpPr>
        <p:spPr>
          <a:xfrm>
            <a:off x="3931920" y="3346704"/>
            <a:ext cx="1097280" cy="128016"/>
          </a:xfrm>
          <a:prstGeom prst="roundRect">
            <a:avLst>
              <a:gd name="adj" fmla="val 50000"/>
            </a:avLst>
          </a:prstGeom>
          <a:solidFill>
            <a:schemeClr val="accent1"/>
          </a:solidFill>
          <a:ln w="12700">
            <a:solidFill>
              <a:schemeClr val="accent1"/>
            </a:solidFill>
            <a:prstDash val="solid"/>
          </a:ln>
        </p:spPr>
      </p:sp>
      <p:sp>
        <p:nvSpPr>
          <p:cNvPr id="56" name="Text 54"/>
          <p:cNvSpPr txBox="1"/>
          <p:nvPr/>
        </p:nvSpPr>
        <p:spPr>
          <a:xfrm>
            <a:off x="5358384" y="3218688"/>
            <a:ext cx="457200" cy="384048"/>
          </a:xfrm>
          <a:prstGeom prst="rect">
            <a:avLst/>
          </a:prstGeom>
          <a:noFill/>
          <a:ln/>
        </p:spPr>
        <p:txBody>
          <a:bodyPr wrap="square" lIns="0" tIns="0" rIns="0" bIns="0" rtlCol="0" anchor="ctr"/>
          <a:lstStyle/>
          <a:p>
            <a:pPr indent="0" marL="0">
              <a:buNone/>
            </a:pPr>
            <a:r>
              <a:rPr lang="en-US" sz="1100" b="1" dirty="0">
                <a:solidFill>
                  <a:schemeClr val="tx2"/>
                </a:solidFill>
              </a:rPr>
              <a:t>80%</a:t>
            </a:r>
            <a:endParaRPr lang="en-US" sz="1100" dirty="0"/>
          </a:p>
        </p:txBody>
      </p:sp>
      <p:sp>
        <p:nvSpPr>
          <p:cNvPr id="57" name="증빙 묶음 PDF 확인 0"/>
          <p:cNvSpPr/>
          <p:nvPr/>
        </p:nvSpPr>
        <p:spPr>
          <a:xfrm>
            <a:off x="5998464" y="3319272"/>
            <a:ext cx="182880" cy="182880"/>
          </a:xfrm>
          <a:prstGeom prst="ellipse">
            <a:avLst/>
          </a:prstGeom>
          <a:solidFill>
            <a:schemeClr val="accent1"/>
          </a:solidFill>
          <a:ln w="9525">
            <a:solidFill>
              <a:schemeClr val="accent1"/>
            </a:solidFill>
            <a:prstDash val="solid"/>
          </a:ln>
        </p:spPr>
      </p:sp>
      <p:sp>
        <p:nvSpPr>
          <p:cNvPr id="58" name="증빙 묶음 PDF 확인 1"/>
          <p:cNvSpPr/>
          <p:nvPr/>
        </p:nvSpPr>
        <p:spPr>
          <a:xfrm>
            <a:off x="6291072" y="3319272"/>
            <a:ext cx="182880" cy="182880"/>
          </a:xfrm>
          <a:prstGeom prst="ellipse">
            <a:avLst/>
          </a:prstGeom>
          <a:solidFill>
            <a:schemeClr val="bg1"/>
          </a:solidFill>
          <a:ln w="9525">
            <a:solidFill>
              <a:srgbClr val="5D636D"/>
            </a:solidFill>
            <a:prstDash val="solid"/>
          </a:ln>
        </p:spPr>
      </p:sp>
      <p:sp>
        <p:nvSpPr>
          <p:cNvPr id="59" name="증빙 묶음 PDF 확인 2"/>
          <p:cNvSpPr/>
          <p:nvPr/>
        </p:nvSpPr>
        <p:spPr>
          <a:xfrm>
            <a:off x="6583680" y="3319272"/>
            <a:ext cx="182880" cy="182880"/>
          </a:xfrm>
          <a:prstGeom prst="ellipse">
            <a:avLst/>
          </a:prstGeom>
          <a:solidFill>
            <a:schemeClr val="bg1"/>
          </a:solidFill>
          <a:ln w="9525">
            <a:solidFill>
              <a:srgbClr val="5D636D"/>
            </a:solidFill>
            <a:prstDash val="solid"/>
          </a:ln>
        </p:spPr>
      </p:sp>
      <p:sp>
        <p:nvSpPr>
          <p:cNvPr id="60" name="Text 58"/>
          <p:cNvSpPr txBox="1"/>
          <p:nvPr/>
        </p:nvSpPr>
        <p:spPr>
          <a:xfrm>
            <a:off x="6903720" y="3218688"/>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폰에서 PDF 저장</a:t>
            </a:r>
            <a:endParaRPr lang="en-US" sz="1050" dirty="0"/>
          </a:p>
        </p:txBody>
      </p:sp>
      <p:sp>
        <p:nvSpPr>
          <p:cNvPr id="61" name="Shape 59"/>
          <p:cNvSpPr/>
          <p:nvPr/>
        </p:nvSpPr>
        <p:spPr>
          <a:xfrm>
            <a:off x="457200" y="3602736"/>
            <a:ext cx="8229600" cy="0"/>
          </a:xfrm>
          <a:prstGeom prst="line">
            <a:avLst/>
          </a:prstGeom>
          <a:noFill/>
          <a:ln w="9525">
            <a:solidFill>
              <a:srgbClr val="DCD9D0"/>
            </a:solidFill>
            <a:prstDash val="solid"/>
          </a:ln>
        </p:spPr>
      </p:sp>
      <p:sp>
        <p:nvSpPr>
          <p:cNvPr id="62" name="Text 60"/>
          <p:cNvSpPr txBox="1"/>
          <p:nvPr/>
        </p:nvSpPr>
        <p:spPr>
          <a:xfrm>
            <a:off x="457200" y="3602736"/>
            <a:ext cx="3383280" cy="384048"/>
          </a:xfrm>
          <a:prstGeom prst="rect">
            <a:avLst/>
          </a:prstGeom>
          <a:noFill/>
          <a:ln/>
        </p:spPr>
        <p:txBody>
          <a:bodyPr wrap="square" lIns="0" tIns="0" rIns="0" bIns="0" rtlCol="0" anchor="ctr"/>
          <a:lstStyle/>
          <a:p>
            <a:pPr indent="0" marL="0">
              <a:buNone/>
            </a:pPr>
            <a:r>
              <a:rPr lang="en-US" sz="1150" dirty="0">
                <a:solidFill>
                  <a:schemeClr val="tx1"/>
                </a:solidFill>
              </a:rPr>
              <a:t>기록 등록 (확인 번호 · 등록 시각)</a:t>
            </a:r>
            <a:endParaRPr lang="en-US" sz="1150" dirty="0"/>
          </a:p>
        </p:txBody>
      </p:sp>
      <p:sp>
        <p:nvSpPr>
          <p:cNvPr id="63" name="기록 등록 (확인 번호 · 등록 시각) 바탕"/>
          <p:cNvSpPr/>
          <p:nvPr/>
        </p:nvSpPr>
        <p:spPr>
          <a:xfrm>
            <a:off x="3931920" y="3730752"/>
            <a:ext cx="1371600" cy="128016"/>
          </a:xfrm>
          <a:prstGeom prst="roundRect">
            <a:avLst>
              <a:gd name="adj" fmla="val 50000"/>
            </a:avLst>
          </a:prstGeom>
          <a:solidFill>
            <a:schemeClr val="bg2"/>
          </a:solidFill>
          <a:ln w="12700">
            <a:solidFill>
              <a:schemeClr val="bg2"/>
            </a:solidFill>
            <a:prstDash val="solid"/>
          </a:ln>
        </p:spPr>
      </p:sp>
      <p:sp>
        <p:nvSpPr>
          <p:cNvPr id="64" name="기록 등록 (확인 번호 · 등록 시각) 진행"/>
          <p:cNvSpPr/>
          <p:nvPr/>
        </p:nvSpPr>
        <p:spPr>
          <a:xfrm>
            <a:off x="3931920" y="3730752"/>
            <a:ext cx="960120" cy="128016"/>
          </a:xfrm>
          <a:prstGeom prst="roundRect">
            <a:avLst>
              <a:gd name="adj" fmla="val 50000"/>
            </a:avLst>
          </a:prstGeom>
          <a:solidFill>
            <a:schemeClr val="accent1"/>
          </a:solidFill>
          <a:ln w="12700">
            <a:solidFill>
              <a:schemeClr val="accent1"/>
            </a:solidFill>
            <a:prstDash val="solid"/>
          </a:ln>
        </p:spPr>
      </p:sp>
      <p:sp>
        <p:nvSpPr>
          <p:cNvPr id="65" name="Text 63"/>
          <p:cNvSpPr txBox="1"/>
          <p:nvPr/>
        </p:nvSpPr>
        <p:spPr>
          <a:xfrm>
            <a:off x="5358384" y="3602736"/>
            <a:ext cx="457200" cy="384048"/>
          </a:xfrm>
          <a:prstGeom prst="rect">
            <a:avLst/>
          </a:prstGeom>
          <a:noFill/>
          <a:ln/>
        </p:spPr>
        <p:txBody>
          <a:bodyPr wrap="square" lIns="0" tIns="0" rIns="0" bIns="0" rtlCol="0" anchor="ctr"/>
          <a:lstStyle/>
          <a:p>
            <a:pPr indent="0" marL="0">
              <a:buNone/>
            </a:pPr>
            <a:r>
              <a:rPr lang="en-US" sz="1100" b="1" dirty="0">
                <a:solidFill>
                  <a:schemeClr val="tx2"/>
                </a:solidFill>
              </a:rPr>
              <a:t>70%</a:t>
            </a:r>
            <a:endParaRPr lang="en-US" sz="1100" dirty="0"/>
          </a:p>
        </p:txBody>
      </p:sp>
      <p:sp>
        <p:nvSpPr>
          <p:cNvPr id="66" name="기록 등록 (확인 번호 · 등록 시각) 확인 0"/>
          <p:cNvSpPr/>
          <p:nvPr/>
        </p:nvSpPr>
        <p:spPr>
          <a:xfrm>
            <a:off x="5998464" y="3703320"/>
            <a:ext cx="182880" cy="182880"/>
          </a:xfrm>
          <a:prstGeom prst="ellipse">
            <a:avLst/>
          </a:prstGeom>
          <a:solidFill>
            <a:schemeClr val="accent1"/>
          </a:solidFill>
          <a:ln w="9525">
            <a:solidFill>
              <a:schemeClr val="accent1"/>
            </a:solidFill>
            <a:prstDash val="solid"/>
          </a:ln>
        </p:spPr>
      </p:sp>
      <p:sp>
        <p:nvSpPr>
          <p:cNvPr id="67" name="기록 등록 (확인 번호 · 등록 시각) 확인 1"/>
          <p:cNvSpPr/>
          <p:nvPr/>
        </p:nvSpPr>
        <p:spPr>
          <a:xfrm>
            <a:off x="6291072" y="3703320"/>
            <a:ext cx="182880" cy="182880"/>
          </a:xfrm>
          <a:prstGeom prst="ellipse">
            <a:avLst/>
          </a:prstGeom>
          <a:solidFill>
            <a:schemeClr val="bg1"/>
          </a:solidFill>
          <a:ln w="9525">
            <a:solidFill>
              <a:srgbClr val="5D636D"/>
            </a:solidFill>
            <a:prstDash val="solid"/>
          </a:ln>
        </p:spPr>
      </p:sp>
      <p:sp>
        <p:nvSpPr>
          <p:cNvPr id="68" name="기록 등록 (확인 번호 · 등록 시각) 확인 2"/>
          <p:cNvSpPr/>
          <p:nvPr/>
        </p:nvSpPr>
        <p:spPr>
          <a:xfrm>
            <a:off x="6583680" y="3703320"/>
            <a:ext cx="182880" cy="182880"/>
          </a:xfrm>
          <a:prstGeom prst="ellipse">
            <a:avLst/>
          </a:prstGeom>
          <a:solidFill>
            <a:schemeClr val="bg1"/>
          </a:solidFill>
          <a:ln w="9525">
            <a:solidFill>
              <a:srgbClr val="5D636D"/>
            </a:solidFill>
            <a:prstDash val="solid"/>
          </a:ln>
        </p:spPr>
      </p:sp>
      <p:sp>
        <p:nvSpPr>
          <p:cNvPr id="69" name="Text 67"/>
          <p:cNvSpPr txBox="1"/>
          <p:nvPr/>
        </p:nvSpPr>
        <p:spPr>
          <a:xfrm>
            <a:off x="6903720" y="3602736"/>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내용으로 번호 다시 계산</a:t>
            </a:r>
            <a:endParaRPr lang="en-US" sz="1050" dirty="0"/>
          </a:p>
        </p:txBody>
      </p:sp>
      <p:sp>
        <p:nvSpPr>
          <p:cNvPr id="70" name="Shape 68"/>
          <p:cNvSpPr/>
          <p:nvPr/>
        </p:nvSpPr>
        <p:spPr>
          <a:xfrm>
            <a:off x="457200" y="3986784"/>
            <a:ext cx="8229600" cy="0"/>
          </a:xfrm>
          <a:prstGeom prst="line">
            <a:avLst/>
          </a:prstGeom>
          <a:noFill/>
          <a:ln w="9525">
            <a:solidFill>
              <a:srgbClr val="DCD9D0"/>
            </a:solidFill>
            <a:prstDash val="solid"/>
          </a:ln>
        </p:spPr>
      </p:sp>
      <p:sp>
        <p:nvSpPr>
          <p:cNvPr id="71" name="Text 69"/>
          <p:cNvSpPr txBox="1"/>
          <p:nvPr/>
        </p:nvSpPr>
        <p:spPr>
          <a:xfrm>
            <a:off x="457200" y="3986784"/>
            <a:ext cx="3383280" cy="384048"/>
          </a:xfrm>
          <a:prstGeom prst="rect">
            <a:avLst/>
          </a:prstGeom>
          <a:noFill/>
          <a:ln/>
        </p:spPr>
        <p:txBody>
          <a:bodyPr wrap="square" lIns="0" tIns="0" rIns="0" bIns="0" rtlCol="0" anchor="ctr"/>
          <a:lstStyle/>
          <a:p>
            <a:pPr indent="0" marL="0">
              <a:buNone/>
            </a:pPr>
            <a:r>
              <a:rPr lang="en-US" sz="1150" dirty="0">
                <a:solidFill>
                  <a:schemeClr val="tx1"/>
                </a:solidFill>
              </a:rPr>
              <a:t>기록 백업 · 불러오기</a:t>
            </a:r>
            <a:endParaRPr lang="en-US" sz="1150" dirty="0"/>
          </a:p>
        </p:txBody>
      </p:sp>
      <p:sp>
        <p:nvSpPr>
          <p:cNvPr id="72" name="기록 백업 · 불러오기 바탕"/>
          <p:cNvSpPr/>
          <p:nvPr/>
        </p:nvSpPr>
        <p:spPr>
          <a:xfrm>
            <a:off x="3931920" y="4114800"/>
            <a:ext cx="1371600" cy="128016"/>
          </a:xfrm>
          <a:prstGeom prst="roundRect">
            <a:avLst>
              <a:gd name="adj" fmla="val 50000"/>
            </a:avLst>
          </a:prstGeom>
          <a:solidFill>
            <a:schemeClr val="bg2"/>
          </a:solidFill>
          <a:ln w="12700">
            <a:solidFill>
              <a:schemeClr val="bg2"/>
            </a:solidFill>
            <a:prstDash val="solid"/>
          </a:ln>
        </p:spPr>
      </p:sp>
      <p:sp>
        <p:nvSpPr>
          <p:cNvPr id="73" name="기록 백업 · 불러오기 진행"/>
          <p:cNvSpPr/>
          <p:nvPr/>
        </p:nvSpPr>
        <p:spPr>
          <a:xfrm>
            <a:off x="3931920" y="4114800"/>
            <a:ext cx="1097280" cy="128016"/>
          </a:xfrm>
          <a:prstGeom prst="roundRect">
            <a:avLst>
              <a:gd name="adj" fmla="val 50000"/>
            </a:avLst>
          </a:prstGeom>
          <a:solidFill>
            <a:schemeClr val="accent1"/>
          </a:solidFill>
          <a:ln w="12700">
            <a:solidFill>
              <a:schemeClr val="accent1"/>
            </a:solidFill>
            <a:prstDash val="solid"/>
          </a:ln>
        </p:spPr>
      </p:sp>
      <p:sp>
        <p:nvSpPr>
          <p:cNvPr id="74" name="Text 72"/>
          <p:cNvSpPr txBox="1"/>
          <p:nvPr/>
        </p:nvSpPr>
        <p:spPr>
          <a:xfrm>
            <a:off x="5358384" y="3986784"/>
            <a:ext cx="457200" cy="384048"/>
          </a:xfrm>
          <a:prstGeom prst="rect">
            <a:avLst/>
          </a:prstGeom>
          <a:noFill/>
          <a:ln/>
        </p:spPr>
        <p:txBody>
          <a:bodyPr wrap="square" lIns="0" tIns="0" rIns="0" bIns="0" rtlCol="0" anchor="ctr"/>
          <a:lstStyle/>
          <a:p>
            <a:pPr indent="0" marL="0">
              <a:buNone/>
            </a:pPr>
            <a:r>
              <a:rPr lang="en-US" sz="1100" b="1" dirty="0">
                <a:solidFill>
                  <a:schemeClr val="tx2"/>
                </a:solidFill>
              </a:rPr>
              <a:t>80%</a:t>
            </a:r>
            <a:endParaRPr lang="en-US" sz="1100" dirty="0"/>
          </a:p>
        </p:txBody>
      </p:sp>
      <p:sp>
        <p:nvSpPr>
          <p:cNvPr id="75" name="기록 백업 · 불러오기 확인 0"/>
          <p:cNvSpPr/>
          <p:nvPr/>
        </p:nvSpPr>
        <p:spPr>
          <a:xfrm>
            <a:off x="5998464" y="4087368"/>
            <a:ext cx="182880" cy="182880"/>
          </a:xfrm>
          <a:prstGeom prst="ellipse">
            <a:avLst/>
          </a:prstGeom>
          <a:solidFill>
            <a:schemeClr val="accent1"/>
          </a:solidFill>
          <a:ln w="9525">
            <a:solidFill>
              <a:schemeClr val="accent1"/>
            </a:solidFill>
            <a:prstDash val="solid"/>
          </a:ln>
        </p:spPr>
      </p:sp>
      <p:sp>
        <p:nvSpPr>
          <p:cNvPr id="76" name="기록 백업 · 불러오기 확인 1"/>
          <p:cNvSpPr/>
          <p:nvPr/>
        </p:nvSpPr>
        <p:spPr>
          <a:xfrm>
            <a:off x="6291072" y="4087368"/>
            <a:ext cx="182880" cy="182880"/>
          </a:xfrm>
          <a:prstGeom prst="ellipse">
            <a:avLst/>
          </a:prstGeom>
          <a:solidFill>
            <a:schemeClr val="bg1"/>
          </a:solidFill>
          <a:ln w="9525">
            <a:solidFill>
              <a:srgbClr val="5D636D"/>
            </a:solidFill>
            <a:prstDash val="solid"/>
          </a:ln>
        </p:spPr>
      </p:sp>
      <p:sp>
        <p:nvSpPr>
          <p:cNvPr id="77" name="기록 백업 · 불러오기 확인 2"/>
          <p:cNvSpPr/>
          <p:nvPr/>
        </p:nvSpPr>
        <p:spPr>
          <a:xfrm>
            <a:off x="6583680" y="4087368"/>
            <a:ext cx="182880" cy="182880"/>
          </a:xfrm>
          <a:prstGeom prst="ellipse">
            <a:avLst/>
          </a:prstGeom>
          <a:solidFill>
            <a:schemeClr val="bg1"/>
          </a:solidFill>
          <a:ln w="9525">
            <a:solidFill>
              <a:srgbClr val="5D636D"/>
            </a:solidFill>
            <a:prstDash val="solid"/>
          </a:ln>
        </p:spPr>
      </p:sp>
      <p:sp>
        <p:nvSpPr>
          <p:cNvPr id="78" name="Text 76"/>
          <p:cNvSpPr txBox="1"/>
          <p:nvPr/>
        </p:nvSpPr>
        <p:spPr>
          <a:xfrm>
            <a:off x="6903720" y="3986784"/>
            <a:ext cx="1783080" cy="384048"/>
          </a:xfrm>
          <a:prstGeom prst="rect">
            <a:avLst/>
          </a:prstGeom>
          <a:noFill/>
          <a:ln/>
        </p:spPr>
        <p:txBody>
          <a:bodyPr wrap="square" lIns="0" tIns="0" rIns="0" bIns="0" rtlCol="0" anchor="ctr"/>
          <a:lstStyle/>
          <a:p>
            <a:pPr indent="0" marL="0">
              <a:buNone/>
            </a:pPr>
            <a:r>
              <a:rPr lang="en-US" sz="1050" dirty="0">
                <a:solidFill>
                  <a:schemeClr val="accent5"/>
                </a:solidFill>
              </a:rPr>
              <a:t>폰에서 파일 저장</a:t>
            </a:r>
            <a:endParaRPr lang="en-US" sz="1050" dirty="0"/>
          </a:p>
        </p:txBody>
      </p:sp>
      <p:sp>
        <p:nvSpPr>
          <p:cNvPr id="79" name="Shape 77"/>
          <p:cNvSpPr/>
          <p:nvPr/>
        </p:nvSpPr>
        <p:spPr>
          <a:xfrm>
            <a:off x="457200" y="4370832"/>
            <a:ext cx="8229600" cy="0"/>
          </a:xfrm>
          <a:prstGeom prst="line">
            <a:avLst/>
          </a:prstGeom>
          <a:noFill/>
          <a:ln w="9525">
            <a:solidFill>
              <a:srgbClr val="DCD9D0"/>
            </a:solidFill>
            <a:prstDash val="solid"/>
          </a:ln>
        </p:spPr>
      </p:sp>
      <p:sp>
        <p:nvSpPr>
          <p:cNvPr id="80" name="Text 78"/>
          <p:cNvSpPr txBox="1"/>
          <p:nvPr/>
        </p:nvSpPr>
        <p:spPr>
          <a:xfrm>
            <a:off x="457200" y="4434840"/>
            <a:ext cx="8229600" cy="292608"/>
          </a:xfrm>
          <a:prstGeom prst="rect">
            <a:avLst/>
          </a:prstGeom>
          <a:noFill/>
          <a:ln/>
        </p:spPr>
        <p:txBody>
          <a:bodyPr wrap="square" lIns="0" tIns="0" rIns="0" bIns="0" rtlCol="0" anchor="ctr"/>
          <a:lstStyle/>
          <a:p>
            <a:pPr indent="0" marL="0">
              <a:buNone/>
            </a:pPr>
            <a:r>
              <a:rPr lang="en-US" sz="1050" b="1" dirty="0">
                <a:solidFill>
                  <a:schemeClr val="tx2"/>
                </a:solidFill>
              </a:rPr>
              <a:t>계획 기준  </a:t>
            </a:r>
            <a:pPr indent="0" marL="0">
              <a:buNone/>
            </a:pPr>
            <a:r>
              <a:rPr lang="en-US" sz="1050" dirty="0">
                <a:solidFill>
                  <a:schemeClr val="tx1"/>
                </a:solidFill>
              </a:rPr>
              <a:t>정의서 기능 8개      </a:t>
            </a:r>
            <a:pPr indent="0" marL="0">
              <a:buNone/>
            </a:pPr>
            <a:r>
              <a:rPr lang="en-US" sz="1050" b="1" dirty="0">
                <a:solidFill>
                  <a:schemeClr val="tx2"/>
                </a:solidFill>
              </a:rPr>
              <a:t>% 기준  </a:t>
            </a:r>
            <a:pPr indent="0" marL="0">
              <a:buNone/>
            </a:pPr>
            <a:r>
              <a:rPr lang="en-US" sz="1050" dirty="0">
                <a:solidFill>
                  <a:schemeClr val="tx1"/>
                </a:solidFill>
              </a:rPr>
              <a:t>남은 일만큼 뺀 자체 평가</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⑥ 시장 분석 · 시장 규모</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임금체불 2년 연속 2조 원, 30인 미만 사업장에 집중</a:t>
            </a:r>
            <a:endParaRPr lang="en-US" sz="2400" dirty="0"/>
          </a:p>
        </p:txBody>
      </p:sp>
      <p:graphicFrame>
        <p:nvGraphicFramePr>
          <p:cNvPr id="4" name="Chart 0" descr=""/>
          <p:cNvGraphicFramePr/>
          <p:nvPr/>
        </p:nvGraphicFramePr>
        <p:xfrm>
          <a:off x="457200" y="1234440"/>
          <a:ext cx="3840480" cy="2880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663440" y="1234440"/>
            <a:ext cx="4023360" cy="457200"/>
          </a:xfrm>
          <a:prstGeom prst="rect">
            <a:avLst/>
          </a:prstGeom>
          <a:noFill/>
          <a:ln/>
        </p:spPr>
        <p:txBody>
          <a:bodyPr wrap="square" lIns="0" tIns="0" rIns="0" bIns="0" rtlCol="0" anchor="b"/>
          <a:lstStyle/>
          <a:p>
            <a:pPr indent="0" marL="0">
              <a:buNone/>
            </a:pPr>
            <a:r>
              <a:rPr lang="en-US" sz="2000" b="1" dirty="0">
                <a:solidFill>
                  <a:schemeClr val="tx2"/>
                </a:solidFill>
              </a:rPr>
              <a:t>26만 2,304명</a:t>
            </a:r>
            <a:endParaRPr lang="en-US" sz="2000" dirty="0"/>
          </a:p>
        </p:txBody>
      </p:sp>
      <p:sp>
        <p:nvSpPr>
          <p:cNvPr id="6" name="Text 3"/>
          <p:cNvSpPr txBox="1"/>
          <p:nvPr/>
        </p:nvSpPr>
        <p:spPr>
          <a:xfrm>
            <a:off x="4663440" y="1691640"/>
            <a:ext cx="4023360" cy="411480"/>
          </a:xfrm>
          <a:prstGeom prst="rect">
            <a:avLst/>
          </a:prstGeom>
          <a:noFill/>
          <a:ln/>
        </p:spPr>
        <p:txBody>
          <a:bodyPr wrap="square" lIns="0" tIns="0" rIns="0" bIns="0" rtlCol="0" anchor="t"/>
          <a:lstStyle/>
          <a:p>
            <a:pPr indent="0" marL="0">
              <a:buNone/>
            </a:pPr>
            <a:r>
              <a:rPr lang="en-US" sz="1000" dirty="0">
                <a:solidFill>
                  <a:schemeClr val="accent5"/>
                </a:solidFill>
              </a:rPr>
              <a:t>2025년 체불 피해 노동자</a:t>
            </a:r>
            <a:endParaRPr lang="en-US" sz="1000" dirty="0"/>
          </a:p>
        </p:txBody>
      </p:sp>
      <p:sp>
        <p:nvSpPr>
          <p:cNvPr id="7" name="Shape 4"/>
          <p:cNvSpPr/>
          <p:nvPr/>
        </p:nvSpPr>
        <p:spPr>
          <a:xfrm>
            <a:off x="4663440" y="2148840"/>
            <a:ext cx="4023360" cy="0"/>
          </a:xfrm>
          <a:prstGeom prst="line">
            <a:avLst/>
          </a:prstGeom>
          <a:noFill/>
          <a:ln w="9525">
            <a:solidFill>
              <a:srgbClr val="DCD9D0"/>
            </a:solidFill>
            <a:prstDash val="solid"/>
          </a:ln>
        </p:spPr>
      </p:sp>
      <p:sp>
        <p:nvSpPr>
          <p:cNvPr id="8" name="Text 5"/>
          <p:cNvSpPr txBox="1"/>
          <p:nvPr/>
        </p:nvSpPr>
        <p:spPr>
          <a:xfrm>
            <a:off x="4663440" y="2221992"/>
            <a:ext cx="4023360" cy="457200"/>
          </a:xfrm>
          <a:prstGeom prst="rect">
            <a:avLst/>
          </a:prstGeom>
          <a:noFill/>
          <a:ln/>
        </p:spPr>
        <p:txBody>
          <a:bodyPr wrap="square" lIns="0" tIns="0" rIns="0" bIns="0" rtlCol="0" anchor="b"/>
          <a:lstStyle/>
          <a:p>
            <a:pPr indent="0" marL="0">
              <a:buNone/>
            </a:pPr>
            <a:r>
              <a:rPr lang="en-US" sz="2000" b="1" dirty="0">
                <a:solidFill>
                  <a:schemeClr val="accent3"/>
                </a:solidFill>
              </a:rPr>
              <a:t>67.8%</a:t>
            </a:r>
            <a:endParaRPr lang="en-US" sz="2000" dirty="0"/>
          </a:p>
        </p:txBody>
      </p:sp>
      <p:sp>
        <p:nvSpPr>
          <p:cNvPr id="9" name="Text 6"/>
          <p:cNvSpPr txBox="1"/>
          <p:nvPr/>
        </p:nvSpPr>
        <p:spPr>
          <a:xfrm>
            <a:off x="4663440" y="2679192"/>
            <a:ext cx="4023360" cy="411480"/>
          </a:xfrm>
          <a:prstGeom prst="rect">
            <a:avLst/>
          </a:prstGeom>
          <a:noFill/>
          <a:ln/>
        </p:spPr>
        <p:txBody>
          <a:bodyPr wrap="square" lIns="0" tIns="0" rIns="0" bIns="0" rtlCol="0" anchor="t"/>
          <a:lstStyle/>
          <a:p>
            <a:pPr indent="0" marL="0">
              <a:buNone/>
            </a:pPr>
            <a:r>
              <a:rPr lang="en-US" sz="1000" dirty="0">
                <a:solidFill>
                  <a:schemeClr val="accent5"/>
                </a:solidFill>
              </a:rPr>
              <a:t>2025년 체불액 중 30인 미만 사업장 (1조 4,012억 원). 카페 · 편의점 · 음식점이 여기 속한다. 알바생 몫은 따로 알 수 없다</a:t>
            </a:r>
            <a:endParaRPr lang="en-US" sz="1000" dirty="0"/>
          </a:p>
        </p:txBody>
      </p:sp>
      <p:sp>
        <p:nvSpPr>
          <p:cNvPr id="10" name="Shape 7"/>
          <p:cNvSpPr/>
          <p:nvPr/>
        </p:nvSpPr>
        <p:spPr>
          <a:xfrm>
            <a:off x="4663440" y="3136392"/>
            <a:ext cx="4023360" cy="0"/>
          </a:xfrm>
          <a:prstGeom prst="line">
            <a:avLst/>
          </a:prstGeom>
          <a:noFill/>
          <a:ln w="9525">
            <a:solidFill>
              <a:srgbClr val="DCD9D0"/>
            </a:solidFill>
            <a:prstDash val="solid"/>
          </a:ln>
        </p:spPr>
      </p:sp>
      <p:sp>
        <p:nvSpPr>
          <p:cNvPr id="11" name="Text 8"/>
          <p:cNvSpPr txBox="1"/>
          <p:nvPr/>
        </p:nvSpPr>
        <p:spPr>
          <a:xfrm>
            <a:off x="4663440" y="3209544"/>
            <a:ext cx="4023360" cy="457200"/>
          </a:xfrm>
          <a:prstGeom prst="rect">
            <a:avLst/>
          </a:prstGeom>
          <a:noFill/>
          <a:ln/>
        </p:spPr>
        <p:txBody>
          <a:bodyPr wrap="square" lIns="0" tIns="0" rIns="0" bIns="0" rtlCol="0" anchor="b"/>
          <a:lstStyle/>
          <a:p>
            <a:pPr indent="0" marL="0">
              <a:buNone/>
            </a:pPr>
            <a:r>
              <a:rPr lang="en-US" sz="2000" b="1" dirty="0">
                <a:solidFill>
                  <a:schemeClr val="accent3"/>
                </a:solidFill>
              </a:rPr>
              <a:t>31.9%</a:t>
            </a:r>
            <a:endParaRPr lang="en-US" sz="2000" dirty="0"/>
          </a:p>
        </p:txBody>
      </p:sp>
      <p:sp>
        <p:nvSpPr>
          <p:cNvPr id="12" name="Text 9"/>
          <p:cNvSpPr txBox="1"/>
          <p:nvPr/>
        </p:nvSpPr>
        <p:spPr>
          <a:xfrm>
            <a:off x="4663440" y="3666744"/>
            <a:ext cx="4023360" cy="411480"/>
          </a:xfrm>
          <a:prstGeom prst="rect">
            <a:avLst/>
          </a:prstGeom>
          <a:noFill/>
          <a:ln/>
        </p:spPr>
        <p:txBody>
          <a:bodyPr wrap="square" lIns="0" tIns="0" rIns="0" bIns="0" rtlCol="0" anchor="t"/>
          <a:lstStyle/>
          <a:p>
            <a:pPr indent="0" marL="0">
              <a:buNone/>
            </a:pPr>
            <a:r>
              <a:rPr lang="en-US" sz="1000" dirty="0">
                <a:solidFill>
                  <a:schemeClr val="accent5"/>
                </a:solidFill>
              </a:rPr>
              <a:t>알바 경험자 중 최저시급 미달 경험 (알바천국, 1,804명, 2026.6)</a:t>
            </a:r>
            <a:endParaRPr lang="en-US" sz="1000" dirty="0"/>
          </a:p>
        </p:txBody>
      </p:sp>
      <p:sp>
        <p:nvSpPr>
          <p:cNvPr id="13" name="Shape 10"/>
          <p:cNvSpPr/>
          <p:nvPr/>
        </p:nvSpPr>
        <p:spPr>
          <a:xfrm>
            <a:off x="4663440" y="4123944"/>
            <a:ext cx="4023360" cy="0"/>
          </a:xfrm>
          <a:prstGeom prst="line">
            <a:avLst/>
          </a:prstGeom>
          <a:noFill/>
          <a:ln w="9525">
            <a:solidFill>
              <a:srgbClr val="DCD9D0"/>
            </a:solidFill>
            <a:prstDash val="solid"/>
          </a:ln>
        </p:spPr>
      </p:sp>
      <p:sp>
        <p:nvSpPr>
          <p:cNvPr id="14" name="Text 11"/>
          <p:cNvSpPr txBox="1"/>
          <p:nvPr/>
        </p:nvSpPr>
        <p:spPr>
          <a:xfrm>
            <a:off x="457200" y="4224528"/>
            <a:ext cx="8229600" cy="530352"/>
          </a:xfrm>
          <a:prstGeom prst="rect">
            <a:avLst/>
          </a:prstGeom>
          <a:noFill/>
          <a:ln/>
        </p:spPr>
        <p:txBody>
          <a:bodyPr wrap="square" lIns="0" tIns="0" rIns="0" bIns="0" rtlCol="0" anchor="t"/>
          <a:lstStyle/>
          <a:p>
            <a:pPr indent="0" marL="0">
              <a:spcAft>
                <a:spcPts val="100"/>
              </a:spcAft>
              <a:buNone/>
            </a:pPr>
            <a:r>
              <a:rPr lang="en-US" sz="1050" b="1" dirty="0">
                <a:solidFill>
                  <a:schemeClr val="tx2"/>
                </a:solidFill>
              </a:rPr>
              <a:t>타깃 규모(어림)  </a:t>
            </a:r>
            <a:pPr indent="0" marL="0">
              <a:spcAft>
                <a:spcPts val="100"/>
              </a:spcAft>
              <a:buNone/>
            </a:pPr>
            <a:r>
              <a:rPr lang="en-US" sz="1050" dirty="0">
                <a:solidFill>
                  <a:schemeClr val="tx1"/>
                </a:solidFill>
              </a:rPr>
              <a:t>재적학생 307만 명 → 알바 경험 67~89% → 상한 약 210~270만 명</a:t>
            </a:r>
            <a:endParaRPr lang="en-US" sz="1050" dirty="0"/>
          </a:p>
          <a:p>
            <a:pPr indent="0" marL="0">
              <a:spcAft>
                <a:spcPts val="100"/>
              </a:spcAft>
              <a:buNone/>
            </a:pPr>
            <a:r>
              <a:rPr lang="en-US" sz="1050" b="1" dirty="0">
                <a:solidFill>
                  <a:schemeClr val="tx2"/>
                </a:solidFill>
              </a:rPr>
              <a:t>타이밍  </a:t>
            </a:r>
            <a:pPr indent="0" marL="0">
              <a:spcAft>
                <a:spcPts val="100"/>
              </a:spcAft>
              <a:buNone/>
            </a:pPr>
            <a:r>
              <a:rPr lang="en-US" sz="1050" dirty="0">
                <a:solidFill>
                  <a:schemeClr val="tx1"/>
                </a:solidFill>
              </a:rPr>
              <a:t>2025.9 근절 대책 · 2025.10.23 개정 근로기준법 시행</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⑥ 시장 분석 · 경쟁사</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경쟁 서비스 위치</a:t>
            </a:r>
            <a:endParaRPr lang="en-US" sz="2400" dirty="0"/>
          </a:p>
        </p:txBody>
      </p:sp>
      <p:sp>
        <p:nvSpPr>
          <p:cNvPr id="4" name="포지션 바탕"/>
          <p:cNvSpPr/>
          <p:nvPr/>
        </p:nvSpPr>
        <p:spPr>
          <a:xfrm>
            <a:off x="822960" y="1325880"/>
            <a:ext cx="4754880" cy="3017520"/>
          </a:xfrm>
          <a:prstGeom prst="rect">
            <a:avLst/>
          </a:prstGeom>
          <a:solidFill>
            <a:schemeClr val="bg2"/>
          </a:solidFill>
          <a:ln w="12700">
            <a:solidFill>
              <a:schemeClr val="bg2"/>
            </a:solidFill>
            <a:prstDash val="solid"/>
          </a:ln>
        </p:spPr>
      </p:sp>
      <p:sp>
        <p:nvSpPr>
          <p:cNvPr id="5" name="Shape 3"/>
          <p:cNvSpPr/>
          <p:nvPr/>
        </p:nvSpPr>
        <p:spPr>
          <a:xfrm>
            <a:off x="3200400" y="1325880"/>
            <a:ext cx="0" cy="3017520"/>
          </a:xfrm>
          <a:prstGeom prst="line">
            <a:avLst/>
          </a:prstGeom>
          <a:noFill/>
          <a:ln w="12700">
            <a:solidFill>
              <a:srgbClr val="DCD9D0"/>
            </a:solidFill>
            <a:prstDash val="solid"/>
          </a:ln>
        </p:spPr>
      </p:sp>
      <p:sp>
        <p:nvSpPr>
          <p:cNvPr id="6" name="Shape 4"/>
          <p:cNvSpPr/>
          <p:nvPr/>
        </p:nvSpPr>
        <p:spPr>
          <a:xfrm>
            <a:off x="822960" y="2834640"/>
            <a:ext cx="4754880" cy="0"/>
          </a:xfrm>
          <a:prstGeom prst="line">
            <a:avLst/>
          </a:prstGeom>
          <a:noFill/>
          <a:ln w="12700">
            <a:solidFill>
              <a:srgbClr val="DCD9D0"/>
            </a:solidFill>
            <a:prstDash val="solid"/>
          </a:ln>
        </p:spPr>
      </p:sp>
      <p:sp>
        <p:nvSpPr>
          <p:cNvPr id="7" name="Text 5"/>
          <p:cNvSpPr txBox="1"/>
          <p:nvPr/>
        </p:nvSpPr>
        <p:spPr>
          <a:xfrm>
            <a:off x="914400" y="2560320"/>
            <a:ext cx="1097280" cy="274320"/>
          </a:xfrm>
          <a:prstGeom prst="rect">
            <a:avLst/>
          </a:prstGeom>
          <a:noFill/>
          <a:ln/>
        </p:spPr>
        <p:txBody>
          <a:bodyPr wrap="square" lIns="0" tIns="0" rIns="0" bIns="0" rtlCol="0" anchor="ctr"/>
          <a:lstStyle/>
          <a:p>
            <a:pPr indent="0" marL="0">
              <a:buNone/>
            </a:pPr>
            <a:r>
              <a:rPr lang="en-US" sz="900" b="1" dirty="0">
                <a:solidFill>
                  <a:schemeClr val="accent5"/>
                </a:solidFill>
              </a:rPr>
              <a:t>혼자 쓴다</a:t>
            </a:r>
            <a:endParaRPr lang="en-US" sz="900" dirty="0"/>
          </a:p>
        </p:txBody>
      </p:sp>
      <p:sp>
        <p:nvSpPr>
          <p:cNvPr id="8" name="Text 6"/>
          <p:cNvSpPr txBox="1"/>
          <p:nvPr/>
        </p:nvSpPr>
        <p:spPr>
          <a:xfrm>
            <a:off x="3749040" y="2560320"/>
            <a:ext cx="1737360" cy="274320"/>
          </a:xfrm>
          <a:prstGeom prst="rect">
            <a:avLst/>
          </a:prstGeom>
          <a:noFill/>
          <a:ln/>
        </p:spPr>
        <p:txBody>
          <a:bodyPr wrap="square" lIns="0" tIns="0" rIns="0" bIns="0" rtlCol="0" anchor="ctr"/>
          <a:lstStyle/>
          <a:p>
            <a:pPr algn="r" indent="0" marL="0">
              <a:buNone/>
            </a:pPr>
            <a:r>
              <a:rPr lang="en-US" sz="900" b="1" dirty="0">
                <a:solidFill>
                  <a:schemeClr val="accent5"/>
                </a:solidFill>
              </a:rPr>
              <a:t>사장 가입 · 증거가 먼저</a:t>
            </a:r>
            <a:endParaRPr lang="en-US" sz="900" dirty="0"/>
          </a:p>
        </p:txBody>
      </p:sp>
      <p:sp>
        <p:nvSpPr>
          <p:cNvPr id="9" name="Text 7"/>
          <p:cNvSpPr txBox="1"/>
          <p:nvPr/>
        </p:nvSpPr>
        <p:spPr>
          <a:xfrm>
            <a:off x="3273552" y="1371600"/>
            <a:ext cx="1097280" cy="274320"/>
          </a:xfrm>
          <a:prstGeom prst="rect">
            <a:avLst/>
          </a:prstGeom>
          <a:noFill/>
          <a:ln/>
        </p:spPr>
        <p:txBody>
          <a:bodyPr wrap="square" lIns="0" tIns="0" rIns="0" bIns="0" rtlCol="0" anchor="ctr"/>
          <a:lstStyle/>
          <a:p>
            <a:pPr indent="0" marL="0">
              <a:buNone/>
            </a:pPr>
            <a:r>
              <a:rPr lang="en-US" sz="900" b="1" dirty="0">
                <a:solidFill>
                  <a:schemeClr val="accent5"/>
                </a:solidFill>
              </a:rPr>
              <a:t>대응까지</a:t>
            </a:r>
            <a:endParaRPr lang="en-US" sz="900" dirty="0"/>
          </a:p>
        </p:txBody>
      </p:sp>
      <p:sp>
        <p:nvSpPr>
          <p:cNvPr id="10" name="Text 8"/>
          <p:cNvSpPr txBox="1"/>
          <p:nvPr/>
        </p:nvSpPr>
        <p:spPr>
          <a:xfrm>
            <a:off x="3273552" y="4023360"/>
            <a:ext cx="1097280" cy="274320"/>
          </a:xfrm>
          <a:prstGeom prst="rect">
            <a:avLst/>
          </a:prstGeom>
          <a:noFill/>
          <a:ln/>
        </p:spPr>
        <p:txBody>
          <a:bodyPr wrap="square" lIns="0" tIns="0" rIns="0" bIns="0" rtlCol="0" anchor="ctr"/>
          <a:lstStyle/>
          <a:p>
            <a:pPr indent="0" marL="0">
              <a:buNone/>
            </a:pPr>
            <a:r>
              <a:rPr lang="en-US" sz="900" b="1" dirty="0">
                <a:solidFill>
                  <a:schemeClr val="accent5"/>
                </a:solidFill>
              </a:rPr>
              <a:t>계산까지</a:t>
            </a:r>
            <a:endParaRPr lang="en-US" sz="900" dirty="0"/>
          </a:p>
        </p:txBody>
      </p:sp>
      <p:sp>
        <p:nvSpPr>
          <p:cNvPr id="11" name="알바천국 · 알바몬 계산기 칩"/>
          <p:cNvSpPr/>
          <p:nvPr/>
        </p:nvSpPr>
        <p:spPr>
          <a:xfrm>
            <a:off x="1051560" y="3566160"/>
            <a:ext cx="1874520" cy="566928"/>
          </a:xfrm>
          <a:prstGeom prst="roundRect">
            <a:avLst>
              <a:gd name="adj" fmla="val 12903"/>
            </a:avLst>
          </a:prstGeom>
          <a:solidFill>
            <a:schemeClr val="bg1"/>
          </a:solidFill>
          <a:ln w="12700">
            <a:solidFill>
              <a:srgbClr val="DCD9D0"/>
            </a:solidFill>
            <a:prstDash val="solid"/>
          </a:ln>
        </p:spPr>
      </p:sp>
      <p:sp>
        <p:nvSpPr>
          <p:cNvPr id="12" name="Text 10"/>
          <p:cNvSpPr txBox="1"/>
          <p:nvPr/>
        </p:nvSpPr>
        <p:spPr>
          <a:xfrm>
            <a:off x="1124712" y="3566160"/>
            <a:ext cx="1728216" cy="566928"/>
          </a:xfrm>
          <a:prstGeom prst="rect">
            <a:avLst/>
          </a:prstGeom>
          <a:noFill/>
          <a:ln/>
        </p:spPr>
        <p:txBody>
          <a:bodyPr wrap="square" lIns="0" tIns="0" rIns="0" bIns="0" rtlCol="0" anchor="ctr"/>
          <a:lstStyle/>
          <a:p>
            <a:pPr algn="ctr" indent="0" marL="0">
              <a:buNone/>
            </a:pPr>
            <a:r>
              <a:rPr lang="en-US" sz="1050" b="1" dirty="0">
                <a:solidFill>
                  <a:schemeClr val="tx1"/>
                </a:solidFill>
              </a:rPr>
              <a:t>알바천국 · 알바몬 계산기</a:t>
            </a:r>
            <a:endParaRPr lang="en-US" sz="1050" dirty="0"/>
          </a:p>
          <a:p>
            <a:pPr algn="ctr" indent="0" marL="0">
              <a:buNone/>
            </a:pPr>
            <a:r>
              <a:rPr lang="en-US" sz="850" dirty="0">
                <a:solidFill>
                  <a:schemeClr val="accent5"/>
                </a:solidFill>
              </a:rPr>
              <a:t>일회성 계산, 기록 없음</a:t>
            </a:r>
            <a:endParaRPr lang="en-US" sz="1050" dirty="0"/>
          </a:p>
        </p:txBody>
      </p:sp>
      <p:sp>
        <p:nvSpPr>
          <p:cNvPr id="13" name="하우머치 칩"/>
          <p:cNvSpPr/>
          <p:nvPr/>
        </p:nvSpPr>
        <p:spPr>
          <a:xfrm>
            <a:off x="1371600" y="2971800"/>
            <a:ext cx="1600200" cy="566928"/>
          </a:xfrm>
          <a:prstGeom prst="roundRect">
            <a:avLst>
              <a:gd name="adj" fmla="val 12903"/>
            </a:avLst>
          </a:prstGeom>
          <a:solidFill>
            <a:schemeClr val="bg1"/>
          </a:solidFill>
          <a:ln w="12700">
            <a:solidFill>
              <a:srgbClr val="DCD9D0"/>
            </a:solidFill>
            <a:prstDash val="solid"/>
          </a:ln>
        </p:spPr>
      </p:sp>
      <p:sp>
        <p:nvSpPr>
          <p:cNvPr id="14" name="Text 12"/>
          <p:cNvSpPr txBox="1"/>
          <p:nvPr/>
        </p:nvSpPr>
        <p:spPr>
          <a:xfrm>
            <a:off x="1444752" y="2971800"/>
            <a:ext cx="1453896" cy="566928"/>
          </a:xfrm>
          <a:prstGeom prst="rect">
            <a:avLst/>
          </a:prstGeom>
          <a:noFill/>
          <a:ln/>
        </p:spPr>
        <p:txBody>
          <a:bodyPr wrap="square" lIns="0" tIns="0" rIns="0" bIns="0" rtlCol="0" anchor="ctr"/>
          <a:lstStyle/>
          <a:p>
            <a:pPr algn="ctr" indent="0" marL="0">
              <a:buNone/>
            </a:pPr>
            <a:r>
              <a:rPr lang="en-US" sz="1050" b="1" dirty="0">
                <a:solidFill>
                  <a:schemeClr val="tx1"/>
                </a:solidFill>
              </a:rPr>
              <a:t>하우머치</a:t>
            </a:r>
            <a:endParaRPr lang="en-US" sz="1050" dirty="0"/>
          </a:p>
          <a:p>
            <a:pPr algn="ctr" indent="0" marL="0">
              <a:buNone/>
            </a:pPr>
            <a:r>
              <a:rPr lang="en-US" sz="850" dirty="0">
                <a:solidFill>
                  <a:schemeClr val="accent5"/>
                </a:solidFill>
              </a:rPr>
              <a:t>혼자 기록, 예상 급여까지</a:t>
            </a:r>
            <a:endParaRPr lang="en-US" sz="1050" dirty="0"/>
          </a:p>
        </p:txBody>
      </p:sp>
      <p:sp>
        <p:nvSpPr>
          <p:cNvPr id="15" name="기그 칩"/>
          <p:cNvSpPr/>
          <p:nvPr/>
        </p:nvSpPr>
        <p:spPr>
          <a:xfrm>
            <a:off x="3657600" y="3108960"/>
            <a:ext cx="1600200" cy="566928"/>
          </a:xfrm>
          <a:prstGeom prst="roundRect">
            <a:avLst>
              <a:gd name="adj" fmla="val 12903"/>
            </a:avLst>
          </a:prstGeom>
          <a:solidFill>
            <a:schemeClr val="bg1"/>
          </a:solidFill>
          <a:ln w="12700">
            <a:solidFill>
              <a:srgbClr val="DCD9D0"/>
            </a:solidFill>
            <a:prstDash val="solid"/>
          </a:ln>
        </p:spPr>
      </p:sp>
      <p:sp>
        <p:nvSpPr>
          <p:cNvPr id="16" name="Text 14"/>
          <p:cNvSpPr txBox="1"/>
          <p:nvPr/>
        </p:nvSpPr>
        <p:spPr>
          <a:xfrm>
            <a:off x="3730752" y="3108960"/>
            <a:ext cx="1453896" cy="566928"/>
          </a:xfrm>
          <a:prstGeom prst="rect">
            <a:avLst/>
          </a:prstGeom>
          <a:noFill/>
          <a:ln/>
        </p:spPr>
        <p:txBody>
          <a:bodyPr wrap="square" lIns="0" tIns="0" rIns="0" bIns="0" rtlCol="0" anchor="ctr"/>
          <a:lstStyle/>
          <a:p>
            <a:pPr algn="ctr" indent="0" marL="0">
              <a:buNone/>
            </a:pPr>
            <a:r>
              <a:rPr lang="en-US" sz="1050" b="1" dirty="0">
                <a:solidFill>
                  <a:schemeClr val="tx1"/>
                </a:solidFill>
              </a:rPr>
              <a:t>기그</a:t>
            </a:r>
            <a:endParaRPr lang="en-US" sz="1050" dirty="0"/>
          </a:p>
          <a:p>
            <a:pPr algn="ctr" indent="0" marL="0">
              <a:buNone/>
            </a:pPr>
            <a:r>
              <a:rPr lang="en-US" sz="850" dirty="0">
                <a:solidFill>
                  <a:schemeClr val="accent5"/>
                </a:solidFill>
              </a:rPr>
              <a:t>사장 연동 필요, 기록 · 계약서</a:t>
            </a:r>
            <a:endParaRPr lang="en-US" sz="1050" dirty="0"/>
          </a:p>
        </p:txBody>
      </p:sp>
      <p:sp>
        <p:nvSpPr>
          <p:cNvPr id="17" name="진정24 · 노동포털 칩"/>
          <p:cNvSpPr/>
          <p:nvPr/>
        </p:nvSpPr>
        <p:spPr>
          <a:xfrm>
            <a:off x="3657600" y="1600200"/>
            <a:ext cx="1600200" cy="566928"/>
          </a:xfrm>
          <a:prstGeom prst="roundRect">
            <a:avLst>
              <a:gd name="adj" fmla="val 12903"/>
            </a:avLst>
          </a:prstGeom>
          <a:solidFill>
            <a:schemeClr val="bg1"/>
          </a:solidFill>
          <a:ln w="12700">
            <a:solidFill>
              <a:srgbClr val="DCD9D0"/>
            </a:solidFill>
            <a:prstDash val="solid"/>
          </a:ln>
        </p:spPr>
      </p:sp>
      <p:sp>
        <p:nvSpPr>
          <p:cNvPr id="18" name="Text 16"/>
          <p:cNvSpPr txBox="1"/>
          <p:nvPr/>
        </p:nvSpPr>
        <p:spPr>
          <a:xfrm>
            <a:off x="3730752" y="1600200"/>
            <a:ext cx="1453896" cy="566928"/>
          </a:xfrm>
          <a:prstGeom prst="rect">
            <a:avLst/>
          </a:prstGeom>
          <a:noFill/>
          <a:ln/>
        </p:spPr>
        <p:txBody>
          <a:bodyPr wrap="square" lIns="0" tIns="0" rIns="0" bIns="0" rtlCol="0" anchor="ctr"/>
          <a:lstStyle/>
          <a:p>
            <a:pPr algn="ctr" indent="0" marL="0">
              <a:buNone/>
            </a:pPr>
            <a:r>
              <a:rPr lang="en-US" sz="1050" b="1" dirty="0">
                <a:solidFill>
                  <a:schemeClr val="tx1"/>
                </a:solidFill>
              </a:rPr>
              <a:t>진정24 · 노동포털</a:t>
            </a:r>
            <a:endParaRPr lang="en-US" sz="1050" dirty="0"/>
          </a:p>
          <a:p>
            <a:pPr algn="ctr" indent="0" marL="0">
              <a:buNone/>
            </a:pPr>
            <a:r>
              <a:rPr lang="en-US" sz="850" dirty="0">
                <a:solidFill>
                  <a:schemeClr val="accent5"/>
                </a:solidFill>
              </a:rPr>
              <a:t>증거가 있어야 시작</a:t>
            </a:r>
            <a:endParaRPr lang="en-US" sz="1050" dirty="0"/>
          </a:p>
        </p:txBody>
      </p:sp>
      <p:sp>
        <p:nvSpPr>
          <p:cNvPr id="19" name="알바가드 칩"/>
          <p:cNvSpPr/>
          <p:nvPr/>
        </p:nvSpPr>
        <p:spPr>
          <a:xfrm>
            <a:off x="1325880" y="1737360"/>
            <a:ext cx="1600200" cy="566928"/>
          </a:xfrm>
          <a:prstGeom prst="roundRect">
            <a:avLst>
              <a:gd name="adj" fmla="val 12903"/>
            </a:avLst>
          </a:prstGeom>
          <a:solidFill>
            <a:schemeClr val="accent1"/>
          </a:solidFill>
          <a:ln w="12700">
            <a:solidFill>
              <a:schemeClr val="accent1"/>
            </a:solidFill>
            <a:prstDash val="solid"/>
          </a:ln>
        </p:spPr>
      </p:sp>
      <p:sp>
        <p:nvSpPr>
          <p:cNvPr id="20" name="Text 18"/>
          <p:cNvSpPr txBox="1"/>
          <p:nvPr/>
        </p:nvSpPr>
        <p:spPr>
          <a:xfrm>
            <a:off x="1399032" y="1737360"/>
            <a:ext cx="1453896" cy="566928"/>
          </a:xfrm>
          <a:prstGeom prst="rect">
            <a:avLst/>
          </a:prstGeom>
          <a:noFill/>
          <a:ln/>
        </p:spPr>
        <p:txBody>
          <a:bodyPr wrap="square" lIns="0" tIns="0" rIns="0" bIns="0" rtlCol="0" anchor="ctr"/>
          <a:lstStyle/>
          <a:p>
            <a:pPr algn="ctr" indent="0" marL="0">
              <a:buNone/>
            </a:pPr>
            <a:r>
              <a:rPr lang="en-US" sz="1050" b="1" dirty="0">
                <a:solidFill>
                  <a:schemeClr val="bg1"/>
                </a:solidFill>
              </a:rPr>
              <a:t>알바가드</a:t>
            </a:r>
            <a:endParaRPr lang="en-US" sz="1050" dirty="0"/>
          </a:p>
          <a:p>
            <a:pPr algn="ctr" indent="0" marL="0">
              <a:buNone/>
            </a:pPr>
            <a:r>
              <a:rPr lang="en-US" sz="850" dirty="0">
                <a:solidFill>
                  <a:schemeClr val="bg2"/>
                </a:solidFill>
              </a:rPr>
              <a:t>혼자 기록 → 비교 → 요청 → 증빙</a:t>
            </a:r>
            <a:endParaRPr lang="en-US" sz="1050" dirty="0"/>
          </a:p>
        </p:txBody>
      </p:sp>
      <p:sp>
        <p:nvSpPr>
          <p:cNvPr id="21" name="Text 19"/>
          <p:cNvSpPr txBox="1"/>
          <p:nvPr/>
        </p:nvSpPr>
        <p:spPr>
          <a:xfrm>
            <a:off x="5943600" y="1371600"/>
            <a:ext cx="2743200" cy="548640"/>
          </a:xfrm>
          <a:prstGeom prst="rect">
            <a:avLst/>
          </a:prstGeom>
          <a:noFill/>
          <a:ln/>
        </p:spPr>
        <p:txBody>
          <a:bodyPr wrap="square" lIns="0" tIns="0" rIns="0" bIns="0" rtlCol="0" anchor="t"/>
          <a:lstStyle/>
          <a:p>
            <a:pPr indent="0" marL="0">
              <a:buNone/>
            </a:pPr>
            <a:r>
              <a:rPr lang="en-US" sz="1300" b="1" dirty="0">
                <a:solidFill>
                  <a:schemeClr val="tx2"/>
                </a:solidFill>
              </a:rPr>
              <a:t>혼자 대응까지 가는 건 알바가드뿐</a:t>
            </a:r>
            <a:endParaRPr lang="en-US" sz="1300" dirty="0"/>
          </a:p>
        </p:txBody>
      </p:sp>
      <p:sp>
        <p:nvSpPr>
          <p:cNvPr id="22" name="Text 20"/>
          <p:cNvSpPr txBox="1"/>
          <p:nvPr/>
        </p:nvSpPr>
        <p:spPr>
          <a:xfrm>
            <a:off x="5943600" y="1965960"/>
            <a:ext cx="2743200" cy="1280160"/>
          </a:xfrm>
          <a:prstGeom prst="rect">
            <a:avLst/>
          </a:prstGeom>
          <a:noFill/>
          <a:ln/>
        </p:spPr>
        <p:txBody>
          <a:bodyPr wrap="square" lIns="0" tIns="0" rIns="0" bIns="0" rtlCol="0" anchor="t"/>
          <a:lstStyle/>
          <a:p>
            <a:pPr indent="0" marL="0">
              <a:buNone/>
            </a:pPr>
            <a:r>
              <a:rPr lang="en-US" sz="1200" dirty="0">
                <a:solidFill>
                  <a:schemeClr val="tx1"/>
                </a:solidFill>
              </a:rPr>
              <a:t>계산기는 계산에서 멈추고, 기그는 사장이, 진정24는 증거가 있어야 시작한다.</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⑥ 비즈니스 모델 · 유저 확보 전략</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핵심 화면은 무료, 수익은 게임 화면에서</a:t>
            </a:r>
            <a:endParaRPr lang="en-US" sz="2400" dirty="0"/>
          </a:p>
        </p:txBody>
      </p:sp>
      <p:sp>
        <p:nvSpPr>
          <p:cNvPr id="4" name="Text 2"/>
          <p:cNvSpPr txBox="1"/>
          <p:nvPr/>
        </p:nvSpPr>
        <p:spPr>
          <a:xfrm>
            <a:off x="457200" y="1170432"/>
            <a:ext cx="8229600" cy="292608"/>
          </a:xfrm>
          <a:prstGeom prst="rect">
            <a:avLst/>
          </a:prstGeom>
          <a:noFill/>
          <a:ln/>
        </p:spPr>
        <p:txBody>
          <a:bodyPr wrap="square" lIns="0" tIns="0" rIns="0" bIns="0" rtlCol="0" anchor="ctr"/>
          <a:lstStyle/>
          <a:p>
            <a:pPr indent="0" marL="0">
              <a:buNone/>
            </a:pPr>
            <a:r>
              <a:rPr lang="en-US" sz="1100" dirty="0">
                <a:solidFill>
                  <a:schemeClr val="tx1"/>
                </a:solidFill>
              </a:rPr>
              <a:t>출퇴근은 날마다 누르지만, 돈을 확인하는 건 급여일에 한 번. 그 사이 앱을 열 이유로 게임을 넣었고, 그 화면이 광고 자리다.</a:t>
            </a:r>
            <a:endParaRPr lang="en-US" sz="1100" dirty="0"/>
          </a:p>
        </p:txBody>
      </p:sp>
      <p:sp>
        <p:nvSpPr>
          <p:cNvPr id="5" name="Text 3"/>
          <p:cNvSpPr txBox="1"/>
          <p:nvPr/>
        </p:nvSpPr>
        <p:spPr>
          <a:xfrm>
            <a:off x="457200" y="1508760"/>
            <a:ext cx="6583680" cy="512064"/>
          </a:xfrm>
          <a:prstGeom prst="rect">
            <a:avLst/>
          </a:prstGeom>
          <a:noFill/>
          <a:ln/>
        </p:spPr>
        <p:txBody>
          <a:bodyPr wrap="square" lIns="0" tIns="0" rIns="0" bIns="0" rtlCol="0" anchor="ctr"/>
          <a:lstStyle/>
          <a:p>
            <a:pPr indent="0" marL="0">
              <a:buNone/>
            </a:pPr>
            <a:r>
              <a:rPr lang="en-US" sz="1400" b="1" dirty="0">
                <a:solidFill>
                  <a:schemeClr val="tx1"/>
                </a:solidFill>
              </a:rPr>
              <a:t>핵심 화면: 기록 · 비교 · 요청 · 증빙</a:t>
            </a:r>
            <a:endParaRPr lang="en-US" sz="1400" dirty="0"/>
          </a:p>
        </p:txBody>
      </p:sp>
      <p:sp>
        <p:nvSpPr>
          <p:cNvPr id="6" name="Text 4"/>
          <p:cNvSpPr txBox="1"/>
          <p:nvPr/>
        </p:nvSpPr>
        <p:spPr>
          <a:xfrm>
            <a:off x="7040880" y="1508760"/>
            <a:ext cx="1645920" cy="512064"/>
          </a:xfrm>
          <a:prstGeom prst="rect">
            <a:avLst/>
          </a:prstGeom>
          <a:noFill/>
          <a:ln/>
        </p:spPr>
        <p:txBody>
          <a:bodyPr wrap="square" lIns="0" tIns="0" rIns="0" bIns="0" rtlCol="0" anchor="ctr"/>
          <a:lstStyle/>
          <a:p>
            <a:pPr algn="r" indent="0" marL="0">
              <a:buNone/>
            </a:pPr>
            <a:r>
              <a:rPr lang="en-US" sz="1400" b="1" dirty="0">
                <a:solidFill>
                  <a:schemeClr val="accent2"/>
                </a:solidFill>
              </a:rPr>
              <a:t>무료 · 광고 없음</a:t>
            </a:r>
            <a:endParaRPr lang="en-US" sz="1400" dirty="0"/>
          </a:p>
        </p:txBody>
      </p:sp>
      <p:sp>
        <p:nvSpPr>
          <p:cNvPr id="7" name="Shape 5"/>
          <p:cNvSpPr/>
          <p:nvPr/>
        </p:nvSpPr>
        <p:spPr>
          <a:xfrm>
            <a:off x="457200" y="2020824"/>
            <a:ext cx="8229600" cy="0"/>
          </a:xfrm>
          <a:prstGeom prst="line">
            <a:avLst/>
          </a:prstGeom>
          <a:noFill/>
          <a:ln w="9525">
            <a:solidFill>
              <a:srgbClr val="DCD9D0"/>
            </a:solidFill>
            <a:prstDash val="solid"/>
          </a:ln>
        </p:spPr>
      </p:sp>
      <p:sp>
        <p:nvSpPr>
          <p:cNvPr id="8" name="Text 6"/>
          <p:cNvSpPr txBox="1"/>
          <p:nvPr/>
        </p:nvSpPr>
        <p:spPr>
          <a:xfrm>
            <a:off x="457200" y="2020824"/>
            <a:ext cx="6583680" cy="512064"/>
          </a:xfrm>
          <a:prstGeom prst="rect">
            <a:avLst/>
          </a:prstGeom>
          <a:noFill/>
          <a:ln/>
        </p:spPr>
        <p:txBody>
          <a:bodyPr wrap="square" lIns="0" tIns="0" rIns="0" bIns="0" rtlCol="0" anchor="ctr"/>
          <a:lstStyle/>
          <a:p>
            <a:pPr indent="0" marL="0">
              <a:buNone/>
            </a:pPr>
            <a:r>
              <a:rPr lang="en-US" sz="1400" b="1" dirty="0">
                <a:solidFill>
                  <a:schemeClr val="tx1"/>
                </a:solidFill>
              </a:rPr>
              <a:t>1차 (가설): 쉬는 틈 게임 화면 광고</a:t>
            </a:r>
            <a:endParaRPr lang="en-US" sz="1400" dirty="0"/>
          </a:p>
        </p:txBody>
      </p:sp>
      <p:sp>
        <p:nvSpPr>
          <p:cNvPr id="9" name="Text 7"/>
          <p:cNvSpPr txBox="1"/>
          <p:nvPr/>
        </p:nvSpPr>
        <p:spPr>
          <a:xfrm>
            <a:off x="7040880" y="2020824"/>
            <a:ext cx="1645920" cy="512064"/>
          </a:xfrm>
          <a:prstGeom prst="rect">
            <a:avLst/>
          </a:prstGeom>
          <a:noFill/>
          <a:ln/>
        </p:spPr>
        <p:txBody>
          <a:bodyPr wrap="square" lIns="0" tIns="0" rIns="0" bIns="0" rtlCol="0" anchor="ctr"/>
          <a:lstStyle/>
          <a:p>
            <a:pPr algn="r" indent="0" marL="0">
              <a:buNone/>
            </a:pPr>
            <a:r>
              <a:rPr lang="en-US" sz="1400" b="1" dirty="0">
                <a:solidFill>
                  <a:schemeClr val="tx2"/>
                </a:solidFill>
              </a:rPr>
              <a:t>게임 화면만</a:t>
            </a:r>
            <a:endParaRPr lang="en-US" sz="1400" dirty="0"/>
          </a:p>
        </p:txBody>
      </p:sp>
      <p:sp>
        <p:nvSpPr>
          <p:cNvPr id="10" name="Shape 8"/>
          <p:cNvSpPr/>
          <p:nvPr/>
        </p:nvSpPr>
        <p:spPr>
          <a:xfrm>
            <a:off x="457200" y="2532888"/>
            <a:ext cx="8229600" cy="0"/>
          </a:xfrm>
          <a:prstGeom prst="line">
            <a:avLst/>
          </a:prstGeom>
          <a:noFill/>
          <a:ln w="9525">
            <a:solidFill>
              <a:srgbClr val="DCD9D0"/>
            </a:solidFill>
            <a:prstDash val="solid"/>
          </a:ln>
        </p:spPr>
      </p:sp>
      <p:sp>
        <p:nvSpPr>
          <p:cNvPr id="11" name="Text 9"/>
          <p:cNvSpPr txBox="1"/>
          <p:nvPr/>
        </p:nvSpPr>
        <p:spPr>
          <a:xfrm>
            <a:off x="457200" y="2532888"/>
            <a:ext cx="6583680" cy="512064"/>
          </a:xfrm>
          <a:prstGeom prst="rect">
            <a:avLst/>
          </a:prstGeom>
          <a:noFill/>
          <a:ln/>
        </p:spPr>
        <p:txBody>
          <a:bodyPr wrap="square" lIns="0" tIns="0" rIns="0" bIns="0" rtlCol="0" anchor="ctr"/>
          <a:lstStyle/>
          <a:p>
            <a:pPr indent="0" marL="0">
              <a:buNone/>
            </a:pPr>
            <a:r>
              <a:rPr lang="en-US" sz="1400" b="1" dirty="0">
                <a:solidFill>
                  <a:schemeClr val="tx1"/>
                </a:solidFill>
              </a:rPr>
              <a:t>2차 (후보): 동기화 · 자동 백업 구독</a:t>
            </a:r>
            <a:endParaRPr lang="en-US" sz="1400" dirty="0"/>
          </a:p>
        </p:txBody>
      </p:sp>
      <p:sp>
        <p:nvSpPr>
          <p:cNvPr id="12" name="Text 10"/>
          <p:cNvSpPr txBox="1"/>
          <p:nvPr/>
        </p:nvSpPr>
        <p:spPr>
          <a:xfrm>
            <a:off x="7040880" y="2532888"/>
            <a:ext cx="1645920" cy="512064"/>
          </a:xfrm>
          <a:prstGeom prst="rect">
            <a:avLst/>
          </a:prstGeom>
          <a:noFill/>
          <a:ln/>
        </p:spPr>
        <p:txBody>
          <a:bodyPr wrap="square" lIns="0" tIns="0" rIns="0" bIns="0" rtlCol="0" anchor="ctr"/>
          <a:lstStyle/>
          <a:p>
            <a:pPr algn="r" indent="0" marL="0">
              <a:buNone/>
            </a:pPr>
            <a:r>
              <a:rPr lang="en-US" sz="1400" b="1" dirty="0">
                <a:solidFill>
                  <a:schemeClr val="tx2"/>
                </a:solidFill>
              </a:rPr>
              <a:t>구독</a:t>
            </a:r>
            <a:endParaRPr lang="en-US" sz="1400" dirty="0"/>
          </a:p>
        </p:txBody>
      </p:sp>
      <p:sp>
        <p:nvSpPr>
          <p:cNvPr id="13" name="Shape 11"/>
          <p:cNvSpPr/>
          <p:nvPr/>
        </p:nvSpPr>
        <p:spPr>
          <a:xfrm>
            <a:off x="457200" y="3044952"/>
            <a:ext cx="8229600" cy="0"/>
          </a:xfrm>
          <a:prstGeom prst="line">
            <a:avLst/>
          </a:prstGeom>
          <a:noFill/>
          <a:ln w="9525">
            <a:solidFill>
              <a:srgbClr val="DCD9D0"/>
            </a:solidFill>
            <a:prstDash val="solid"/>
          </a:ln>
        </p:spPr>
      </p:sp>
      <p:sp>
        <p:nvSpPr>
          <p:cNvPr id="14" name="Text 12"/>
          <p:cNvSpPr txBox="1"/>
          <p:nvPr/>
        </p:nvSpPr>
        <p:spPr>
          <a:xfrm>
            <a:off x="457200" y="3044952"/>
            <a:ext cx="6583680" cy="512064"/>
          </a:xfrm>
          <a:prstGeom prst="rect">
            <a:avLst/>
          </a:prstGeom>
          <a:noFill/>
          <a:ln/>
        </p:spPr>
        <p:txBody>
          <a:bodyPr wrap="square" lIns="0" tIns="0" rIns="0" bIns="0" rtlCol="0" anchor="ctr"/>
          <a:lstStyle/>
          <a:p>
            <a:pPr indent="0" marL="0">
              <a:buNone/>
            </a:pPr>
            <a:r>
              <a:rPr lang="en-US" sz="1400" b="1" dirty="0">
                <a:solidFill>
                  <a:schemeClr val="accent3"/>
                </a:solidFill>
              </a:rPr>
              <a:t>하지 않는 것: 정산 문구 · 내용증명 · 증빙 묶음 유료화</a:t>
            </a:r>
            <a:endParaRPr lang="en-US" sz="1400" dirty="0"/>
          </a:p>
        </p:txBody>
      </p:sp>
      <p:sp>
        <p:nvSpPr>
          <p:cNvPr id="15" name="Text 13"/>
          <p:cNvSpPr txBox="1"/>
          <p:nvPr/>
        </p:nvSpPr>
        <p:spPr>
          <a:xfrm>
            <a:off x="7040880" y="3044952"/>
            <a:ext cx="1645920" cy="512064"/>
          </a:xfrm>
          <a:prstGeom prst="rect">
            <a:avLst/>
          </a:prstGeom>
          <a:noFill/>
          <a:ln/>
        </p:spPr>
        <p:txBody>
          <a:bodyPr wrap="square" lIns="0" tIns="0" rIns="0" bIns="0" rtlCol="0" anchor="ctr"/>
          <a:lstStyle/>
          <a:p>
            <a:pPr algn="r" indent="0" marL="0">
              <a:buNone/>
            </a:pPr>
            <a:r>
              <a:rPr lang="en-US" sz="1400" b="1" dirty="0">
                <a:solidFill>
                  <a:schemeClr val="accent3"/>
                </a:solidFill>
              </a:rPr>
              <a:t>유료화 안 함</a:t>
            </a:r>
            <a:endParaRPr lang="en-US" sz="1400" dirty="0"/>
          </a:p>
        </p:txBody>
      </p:sp>
      <p:sp>
        <p:nvSpPr>
          <p:cNvPr id="16" name="Shape 14"/>
          <p:cNvSpPr/>
          <p:nvPr/>
        </p:nvSpPr>
        <p:spPr>
          <a:xfrm>
            <a:off x="457200" y="3557016"/>
            <a:ext cx="8229600" cy="0"/>
          </a:xfrm>
          <a:prstGeom prst="line">
            <a:avLst/>
          </a:prstGeom>
          <a:noFill/>
          <a:ln w="9525">
            <a:solidFill>
              <a:srgbClr val="DCD9D0"/>
            </a:solidFill>
            <a:prstDash val="solid"/>
          </a:ln>
        </p:spPr>
      </p:sp>
      <p:sp>
        <p:nvSpPr>
          <p:cNvPr id="17" name="Text 15"/>
          <p:cNvSpPr txBox="1"/>
          <p:nvPr/>
        </p:nvSpPr>
        <p:spPr>
          <a:xfrm>
            <a:off x="457200" y="3794760"/>
            <a:ext cx="1188720" cy="320040"/>
          </a:xfrm>
          <a:prstGeom prst="rect">
            <a:avLst/>
          </a:prstGeom>
          <a:noFill/>
          <a:ln/>
        </p:spPr>
        <p:txBody>
          <a:bodyPr wrap="square" lIns="0" tIns="0" rIns="0" bIns="0" rtlCol="0" anchor="ctr"/>
          <a:lstStyle/>
          <a:p>
            <a:pPr indent="0" marL="0">
              <a:buNone/>
            </a:pPr>
            <a:r>
              <a:rPr lang="en-US" sz="1050" b="1" dirty="0">
                <a:solidFill>
                  <a:schemeClr val="tx2"/>
                </a:solidFill>
              </a:rPr>
              <a:t>유저 확보</a:t>
            </a:r>
            <a:endParaRPr lang="en-US" sz="1050" dirty="0"/>
          </a:p>
        </p:txBody>
      </p:sp>
      <p:sp>
        <p:nvSpPr>
          <p:cNvPr id="18" name="Text 16"/>
          <p:cNvSpPr txBox="1"/>
          <p:nvPr/>
        </p:nvSpPr>
        <p:spPr>
          <a:xfrm>
            <a:off x="1645920" y="3794760"/>
            <a:ext cx="7040880" cy="347472"/>
          </a:xfrm>
          <a:prstGeom prst="rect">
            <a:avLst/>
          </a:prstGeom>
          <a:noFill/>
          <a:ln/>
        </p:spPr>
        <p:txBody>
          <a:bodyPr wrap="square" lIns="0" tIns="0" rIns="0" bIns="0" rtlCol="0" anchor="t"/>
          <a:lstStyle/>
          <a:p>
            <a:pPr indent="0" marL="0">
              <a:buNone/>
            </a:pPr>
            <a:r>
              <a:rPr lang="en-US" sz="1100" dirty="0">
                <a:solidFill>
                  <a:schemeClr val="tx1"/>
                </a:solidFill>
              </a:rPr>
              <a:t>에브리타임 · 학과 단톡 · 알바 커뮤니티에 링크, 짧은 영상</a:t>
            </a:r>
            <a:endParaRPr lang="en-US" sz="1100" dirty="0"/>
          </a:p>
        </p:txBody>
      </p:sp>
      <p:sp>
        <p:nvSpPr>
          <p:cNvPr id="19" name="Text 17"/>
          <p:cNvSpPr txBox="1"/>
          <p:nvPr/>
        </p:nvSpPr>
        <p:spPr>
          <a:xfrm>
            <a:off x="457200" y="4206240"/>
            <a:ext cx="1188720" cy="320040"/>
          </a:xfrm>
          <a:prstGeom prst="rect">
            <a:avLst/>
          </a:prstGeom>
          <a:noFill/>
          <a:ln/>
        </p:spPr>
        <p:txBody>
          <a:bodyPr wrap="square" lIns="0" tIns="0" rIns="0" bIns="0" rtlCol="0" anchor="ctr"/>
          <a:lstStyle/>
          <a:p>
            <a:pPr indent="0" marL="0">
              <a:buNone/>
            </a:pPr>
            <a:r>
              <a:rPr lang="en-US" sz="1050" b="1" dirty="0">
                <a:solidFill>
                  <a:schemeClr val="tx2"/>
                </a:solidFill>
              </a:rPr>
              <a:t>지표 (앞으로)</a:t>
            </a:r>
            <a:endParaRPr lang="en-US" sz="1050" dirty="0"/>
          </a:p>
        </p:txBody>
      </p:sp>
      <p:sp>
        <p:nvSpPr>
          <p:cNvPr id="20" name="Text 18"/>
          <p:cNvSpPr txBox="1"/>
          <p:nvPr/>
        </p:nvSpPr>
        <p:spPr>
          <a:xfrm>
            <a:off x="1645920" y="4206240"/>
            <a:ext cx="7040880" cy="320040"/>
          </a:xfrm>
          <a:prstGeom prst="rect">
            <a:avLst/>
          </a:prstGeom>
          <a:noFill/>
          <a:ln/>
        </p:spPr>
        <p:txBody>
          <a:bodyPr wrap="square" lIns="0" tIns="0" rIns="0" bIns="0" rtlCol="0" anchor="t"/>
          <a:lstStyle/>
          <a:p>
            <a:pPr indent="0" marL="0">
              <a:buNone/>
            </a:pPr>
            <a:r>
              <a:rPr lang="en-US" sz="1100" b="1" dirty="0">
                <a:solidFill>
                  <a:schemeClr val="tx2"/>
                </a:solidFill>
              </a:rPr>
              <a:t>홈 화면 추가 → 첫 기록 → 받은 금액 입력 → 차액 발견 → 요청 보냄 → 실제로 받음 (인터뷰)</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⑦ 초기 시장 검증 성과와 계획</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검증 계획: 11월에 설문 · 인터뷰로 다섯 가지를 확인한다</a:t>
            </a:r>
            <a:endParaRPr lang="en-US" sz="2400" dirty="0"/>
          </a:p>
        </p:txBody>
      </p:sp>
      <p:sp>
        <p:nvSpPr>
          <p:cNvPr id="4" name="Text 2"/>
          <p:cNvSpPr txBox="1"/>
          <p:nvPr/>
        </p:nvSpPr>
        <p:spPr>
          <a:xfrm>
            <a:off x="457200" y="1188720"/>
            <a:ext cx="8229600" cy="320040"/>
          </a:xfrm>
          <a:prstGeom prst="rect">
            <a:avLst/>
          </a:prstGeom>
          <a:noFill/>
          <a:ln/>
        </p:spPr>
        <p:txBody>
          <a:bodyPr wrap="square" lIns="0" tIns="0" rIns="0" bIns="0" rtlCol="0" anchor="ctr"/>
          <a:lstStyle/>
          <a:p>
            <a:pPr indent="0" marL="0">
              <a:buNone/>
            </a:pPr>
            <a:r>
              <a:rPr lang="en-US" sz="1100" b="1" dirty="0">
                <a:solidFill>
                  <a:schemeClr val="tx2"/>
                </a:solidFill>
              </a:rPr>
              <a:t>가설  </a:t>
            </a:r>
            <a:pPr indent="0" marL="0">
              <a:buNone/>
            </a:pPr>
            <a:r>
              <a:rPr lang="en-US" sz="1100" dirty="0">
                <a:solidFill>
                  <a:schemeClr val="tx1"/>
                </a:solidFill>
              </a:rPr>
              <a:t>알바생은 자신의 근무 기록을 근거로 한 정산 요청 문구가 있으면, 사장에게 말을 꺼낼 수 있다고 느끼고 쓸 것이다</a:t>
            </a:r>
            <a:endParaRPr lang="en-US" sz="1100" dirty="0"/>
          </a:p>
        </p:txBody>
      </p:sp>
      <p:graphicFrame>
        <p:nvGraphicFramePr>
          <p:cNvPr id="17" name="검증 계획 표"/>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914400"/>
        </p:xfrm>
        <a:graphic>
          <a:graphicData uri="http://schemas.openxmlformats.org/drawingml/2006/table">
            <a:tbl>
              <a:tblPr/>
              <a:tblGrid>
                <a:gridCol w="2743200"/>
                <a:gridCol w="3108960"/>
                <a:gridCol w="2377440"/>
              </a:tblGrid>
              <a:tr h="384048">
                <a:tc>
                  <a:txBody>
                    <a:bodyPr/>
                    <a:lstStyle/>
                    <a:p>
                      <a:pPr indent="0" marL="0">
                        <a:buNone/>
                      </a:pPr>
                      <a:r>
                        <a:rPr lang="en-US" sz="1100" b="1" dirty="0">
                          <a:solidFill>
                            <a:srgbClr val="5D636D"/>
                          </a:solidFill>
                        </a:rPr>
                        <a:t>확인할 것</a:t>
                      </a:r>
                      <a:endParaRPr lang="en-US" sz="11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indent="0" marL="0">
                        <a:buNone/>
                      </a:pPr>
                      <a:r>
                        <a:rPr lang="en-US" sz="1100" b="1" dirty="0">
                          <a:solidFill>
                            <a:srgbClr val="5D636D"/>
                          </a:solidFill>
                        </a:rPr>
                        <a:t>어떻게 · 기준 (팀이 정함)</a:t>
                      </a:r>
                      <a:endParaRPr lang="en-US" sz="11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c>
                  <a:txBody>
                    <a:bodyPr/>
                    <a:lstStyle/>
                    <a:p>
                      <a:pPr indent="0" marL="0">
                        <a:buNone/>
                      </a:pPr>
                      <a:r>
                        <a:rPr lang="en-US" sz="1100" b="1" dirty="0">
                          <a:solidFill>
                            <a:srgbClr val="5D636D"/>
                          </a:solidFill>
                        </a:rPr>
                        <a:t>못 미치면</a:t>
                      </a:r>
                      <a:endParaRPr lang="en-US" sz="11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solidFill>
                      <a:srgbClr val="F4F3EF"/>
                    </a:solidFill>
                  </a:tcPr>
                </a:tc>
              </a:tr>
              <a:tr h="475488">
                <a:tc>
                  <a:txBody>
                    <a:bodyPr/>
                    <a:lstStyle/>
                    <a:p>
                      <a:pPr indent="0" marL="0">
                        <a:buNone/>
                      </a:pPr>
                      <a:r>
                        <a:rPr lang="en-US" sz="1200" b="1" dirty="0">
                          <a:solidFill>
                            <a:srgbClr val="15171A"/>
                          </a:solidFill>
                        </a:rPr>
                        <a:t>매달 받은 금액을 직접 넣는다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인터뷰 5명 + 설문 · 5명 중 3명 "넣겠다"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입금 문자 자동 인식을 앞당긴다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200" b="1" dirty="0">
                          <a:solidFill>
                            <a:srgbClr val="15171A"/>
                          </a:solidFill>
                        </a:rPr>
                        <a:t>요청 문구를 실제로 보낼 수 있다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인터뷰(문구를 보여 주고) · 5명 중 3명</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문구 톤 · 단계를 다시 짠다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200" b="1" dirty="0">
                          <a:solidFill>
                            <a:srgbClr val="15171A"/>
                          </a:solidFill>
                        </a:rPr>
                        <a:t>확인 번호 설명이 이해된다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인터뷰 · 5명 중 4명</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설정 · 증빙 문구를 고친다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200" b="1" dirty="0">
                          <a:solidFill>
                            <a:srgbClr val="15171A"/>
                          </a:solidFill>
                        </a:rPr>
                        <a:t>타깃 중 주 15시간 이상이 다수다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설문 · 30명 넘으면, 알바 중 반 이상</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주휴수당 중심 메시지를 바꾼다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r h="475488">
                <a:tc>
                  <a:txBody>
                    <a:bodyPr/>
                    <a:lstStyle/>
                    <a:p>
                      <a:pPr indent="0" marL="0">
                        <a:buNone/>
                      </a:pPr>
                      <a:r>
                        <a:rPr lang="en-US" sz="1200" b="1" dirty="0">
                          <a:solidFill>
                            <a:srgbClr val="15171A"/>
                          </a:solidFill>
                        </a:rPr>
                        <a:t>게임 화면 광고를 받아들인다</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설문 + 인터뷰 · "싫다"가 반 미만</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c>
                  <a:txBody>
                    <a:bodyPr/>
                    <a:lstStyle/>
                    <a:p>
                      <a:pPr indent="0" marL="0">
                        <a:buNone/>
                      </a:pPr>
                      <a:r>
                        <a:rPr lang="en-US" sz="1200" dirty="0">
                          <a:solidFill>
                            <a:srgbClr val="15171A"/>
                          </a:solidFill>
                        </a:rPr>
                        <a:t>11/23 광고 대신 새 게임으로</a:t>
                      </a:r>
                      <a:endParaRPr lang="en-US" sz="1200" dirty="0"/>
                    </a:p>
                  </a:txBody>
                  <a:tcPr marL="73152" marR="73152" marT="18288" marB="18288" anchor="ctr">
                    <a:lnL w="6350" cap="flat" cmpd="sng" algn="ctr">
                      <a:solidFill>
                        <a:srgbClr val="DCD9D0"/>
                      </a:solidFill>
                      <a:prstDash val="solid"/>
                      <a:round/>
                      <a:headEnd type="none" w="med" len="med"/>
                      <a:tailEnd type="none" w="med" len="med"/>
                    </a:lnL>
                    <a:lnR w="6350" cap="flat" cmpd="sng" algn="ctr">
                      <a:solidFill>
                        <a:srgbClr val="DCD9D0"/>
                      </a:solidFill>
                      <a:prstDash val="solid"/>
                      <a:round/>
                      <a:headEnd type="none" w="med" len="med"/>
                      <a:tailEnd type="none" w="med" len="med"/>
                    </a:lnR>
                    <a:lnT w="6350" cap="flat" cmpd="sng" algn="ctr">
                      <a:solidFill>
                        <a:srgbClr val="DCD9D0"/>
                      </a:solidFill>
                      <a:prstDash val="solid"/>
                      <a:round/>
                      <a:headEnd type="none" w="med" len="med"/>
                      <a:tailEnd type="none" w="med" len="med"/>
                    </a:lnT>
                    <a:lnB w="6350" cap="flat" cmpd="sng" algn="ctr">
                      <a:solidFill>
                        <a:srgbClr val="DCD9D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457200" y="274320"/>
            <a:ext cx="7772400" cy="256032"/>
          </a:xfrm>
          <a:prstGeom prst="rect">
            <a:avLst/>
          </a:prstGeom>
          <a:noFill/>
          <a:ln/>
        </p:spPr>
        <p:txBody>
          <a:bodyPr wrap="square" lIns="0" tIns="0" rIns="0" bIns="0" rtlCol="0"/>
          <a:lstStyle/>
          <a:p>
            <a:pPr indent="0" marL="0">
              <a:buNone/>
            </a:pPr>
            <a:r>
              <a:rPr lang="en-US" sz="1050" b="1" dirty="0">
                <a:solidFill>
                  <a:schemeClr val="accent5"/>
                </a:solidFill>
              </a:rPr>
              <a:t>⑧ 향후 계획 · 간트 차트</a:t>
            </a:r>
            <a:endParaRPr lang="en-US" sz="1050" dirty="0"/>
          </a:p>
        </p:txBody>
      </p:sp>
      <p:sp>
        <p:nvSpPr>
          <p:cNvPr id="3" name="Text 1"/>
          <p:cNvSpPr/>
          <p:nvPr>
            <p:ph idx="102" type="title" hasCustomPrompt="1"/>
          </p:nvPr>
        </p:nvSpPr>
        <p:spPr>
          <a:xfrm>
            <a:off x="457200" y="502920"/>
            <a:ext cx="8229600" cy="566928"/>
          </a:xfrm>
          <a:prstGeom prst="rect">
            <a:avLst/>
          </a:prstGeom>
          <a:noFill/>
          <a:ln/>
        </p:spPr>
        <p:txBody>
          <a:bodyPr wrap="square" lIns="0" tIns="0" rIns="0" bIns="0" rtlCol="0" anchor="t"/>
          <a:lstStyle/>
          <a:p>
            <a:pPr algn="l" indent="0" marL="0">
              <a:buNone/>
            </a:pPr>
            <a:r>
              <a:rPr lang="en-US" sz="2400" b="1" dirty="0">
                <a:solidFill>
                  <a:schemeClr val="tx2"/>
                </a:solidFill>
              </a:rPr>
              <a:t>기말(12/15)까지 일정</a:t>
            </a:r>
            <a:endParaRPr lang="en-US" sz="2400" dirty="0"/>
          </a:p>
        </p:txBody>
      </p:sp>
      <p:sp>
        <p:nvSpPr>
          <p:cNvPr id="4" name="Shape 2"/>
          <p:cNvSpPr/>
          <p:nvPr/>
        </p:nvSpPr>
        <p:spPr>
          <a:xfrm>
            <a:off x="4343400" y="1682496"/>
            <a:ext cx="4343400" cy="0"/>
          </a:xfrm>
          <a:prstGeom prst="line">
            <a:avLst/>
          </a:prstGeom>
          <a:noFill/>
          <a:ln w="6350">
            <a:solidFill>
              <a:srgbClr val="DCD9D0"/>
            </a:solidFill>
            <a:prstDash val="dash"/>
          </a:ln>
        </p:spPr>
      </p:sp>
      <p:sp>
        <p:nvSpPr>
          <p:cNvPr id="5" name="마일스톤 1"/>
          <p:cNvSpPr/>
          <p:nvPr/>
        </p:nvSpPr>
        <p:spPr>
          <a:xfrm>
            <a:off x="5520363" y="1618488"/>
            <a:ext cx="128016" cy="128016"/>
          </a:xfrm>
          <a:prstGeom prst="diamond">
            <a:avLst/>
          </a:prstGeom>
          <a:solidFill>
            <a:schemeClr val="accent3"/>
          </a:solidFill>
          <a:ln w="12700">
            <a:solidFill>
              <a:schemeClr val="accent3"/>
            </a:solidFill>
            <a:prstDash val="solid"/>
          </a:ln>
        </p:spPr>
      </p:sp>
      <p:sp>
        <p:nvSpPr>
          <p:cNvPr id="6" name="Text 4"/>
          <p:cNvSpPr txBox="1"/>
          <p:nvPr/>
        </p:nvSpPr>
        <p:spPr>
          <a:xfrm>
            <a:off x="4898571" y="1746504"/>
            <a:ext cx="1371600" cy="182880"/>
          </a:xfrm>
          <a:prstGeom prst="rect">
            <a:avLst/>
          </a:prstGeom>
          <a:noFill/>
          <a:ln/>
        </p:spPr>
        <p:txBody>
          <a:bodyPr wrap="square" lIns="0" tIns="0" rIns="0" bIns="0" rtlCol="0" anchor="t"/>
          <a:lstStyle/>
          <a:p>
            <a:pPr algn="ctr" indent="0" marL="0">
              <a:buNone/>
            </a:pPr>
            <a:r>
              <a:rPr lang="en-US" sz="900" b="1" dirty="0">
                <a:solidFill>
                  <a:schemeClr val="accent3"/>
                </a:solidFill>
              </a:rPr>
              <a:t>11/9 인터뷰 · 설문 1차</a:t>
            </a:r>
            <a:endParaRPr lang="en-US" sz="900" dirty="0"/>
          </a:p>
        </p:txBody>
      </p:sp>
      <p:sp>
        <p:nvSpPr>
          <p:cNvPr id="7" name="마일스톤 2"/>
          <p:cNvSpPr/>
          <p:nvPr/>
        </p:nvSpPr>
        <p:spPr>
          <a:xfrm>
            <a:off x="6761335" y="1618488"/>
            <a:ext cx="128016" cy="128016"/>
          </a:xfrm>
          <a:prstGeom prst="diamond">
            <a:avLst/>
          </a:prstGeom>
          <a:solidFill>
            <a:schemeClr val="accent3"/>
          </a:solidFill>
          <a:ln w="12700">
            <a:solidFill>
              <a:schemeClr val="accent3"/>
            </a:solidFill>
            <a:prstDash val="solid"/>
          </a:ln>
        </p:spPr>
      </p:sp>
      <p:sp>
        <p:nvSpPr>
          <p:cNvPr id="8" name="Text 6"/>
          <p:cNvSpPr txBox="1"/>
          <p:nvPr/>
        </p:nvSpPr>
        <p:spPr>
          <a:xfrm>
            <a:off x="6139543" y="1920240"/>
            <a:ext cx="1371600" cy="182880"/>
          </a:xfrm>
          <a:prstGeom prst="rect">
            <a:avLst/>
          </a:prstGeom>
          <a:noFill/>
          <a:ln/>
        </p:spPr>
        <p:txBody>
          <a:bodyPr wrap="square" lIns="0" tIns="0" rIns="0" bIns="0" rtlCol="0" anchor="t"/>
          <a:lstStyle/>
          <a:p>
            <a:pPr algn="ctr" indent="0" marL="0">
              <a:buNone/>
            </a:pPr>
            <a:r>
              <a:rPr lang="en-US" sz="900" b="1" dirty="0">
                <a:solidFill>
                  <a:schemeClr val="accent3"/>
                </a:solidFill>
              </a:rPr>
              <a:t>11/23 반영 배포</a:t>
            </a:r>
            <a:endParaRPr lang="en-US" sz="900" dirty="0"/>
          </a:p>
        </p:txBody>
      </p:sp>
      <p:sp>
        <p:nvSpPr>
          <p:cNvPr id="9" name="마일스톤 3"/>
          <p:cNvSpPr/>
          <p:nvPr/>
        </p:nvSpPr>
        <p:spPr>
          <a:xfrm>
            <a:off x="7381821" y="1618488"/>
            <a:ext cx="128016" cy="128016"/>
          </a:xfrm>
          <a:prstGeom prst="diamond">
            <a:avLst/>
          </a:prstGeom>
          <a:solidFill>
            <a:schemeClr val="accent3"/>
          </a:solidFill>
          <a:ln w="12700">
            <a:solidFill>
              <a:schemeClr val="accent3"/>
            </a:solidFill>
            <a:prstDash val="solid"/>
          </a:ln>
        </p:spPr>
      </p:sp>
      <p:sp>
        <p:nvSpPr>
          <p:cNvPr id="10" name="Text 8"/>
          <p:cNvSpPr txBox="1"/>
          <p:nvPr/>
        </p:nvSpPr>
        <p:spPr>
          <a:xfrm>
            <a:off x="6760029" y="1746504"/>
            <a:ext cx="1371600" cy="182880"/>
          </a:xfrm>
          <a:prstGeom prst="rect">
            <a:avLst/>
          </a:prstGeom>
          <a:noFill/>
          <a:ln/>
        </p:spPr>
        <p:txBody>
          <a:bodyPr wrap="square" lIns="0" tIns="0" rIns="0" bIns="0" rtlCol="0" anchor="t"/>
          <a:lstStyle/>
          <a:p>
            <a:pPr algn="ctr" indent="0" marL="0">
              <a:buNone/>
            </a:pPr>
            <a:r>
              <a:rPr lang="en-US" sz="900" b="1" dirty="0">
                <a:solidFill>
                  <a:schemeClr val="accent3"/>
                </a:solidFill>
              </a:rPr>
              <a:t>11/30 폰 검증</a:t>
            </a:r>
            <a:endParaRPr lang="en-US" sz="900" dirty="0"/>
          </a:p>
        </p:txBody>
      </p:sp>
      <p:sp>
        <p:nvSpPr>
          <p:cNvPr id="11" name="마일스톤 4"/>
          <p:cNvSpPr/>
          <p:nvPr/>
        </p:nvSpPr>
        <p:spPr>
          <a:xfrm>
            <a:off x="8002306" y="1618488"/>
            <a:ext cx="128016" cy="128016"/>
          </a:xfrm>
          <a:prstGeom prst="diamond">
            <a:avLst/>
          </a:prstGeom>
          <a:solidFill>
            <a:schemeClr val="accent3"/>
          </a:solidFill>
          <a:ln w="12700">
            <a:solidFill>
              <a:schemeClr val="accent3"/>
            </a:solidFill>
            <a:prstDash val="solid"/>
          </a:ln>
        </p:spPr>
      </p:sp>
      <p:sp>
        <p:nvSpPr>
          <p:cNvPr id="12" name="Text 10"/>
          <p:cNvSpPr txBox="1"/>
          <p:nvPr/>
        </p:nvSpPr>
        <p:spPr>
          <a:xfrm>
            <a:off x="7380514" y="1920240"/>
            <a:ext cx="1371600" cy="182880"/>
          </a:xfrm>
          <a:prstGeom prst="rect">
            <a:avLst/>
          </a:prstGeom>
          <a:noFill/>
          <a:ln/>
        </p:spPr>
        <p:txBody>
          <a:bodyPr wrap="square" lIns="0" tIns="0" rIns="0" bIns="0" rtlCol="0" anchor="t"/>
          <a:lstStyle/>
          <a:p>
            <a:pPr algn="ctr" indent="0" marL="0">
              <a:buNone/>
            </a:pPr>
            <a:r>
              <a:rPr lang="en-US" sz="900" b="1" dirty="0">
                <a:solidFill>
                  <a:schemeClr val="accent3"/>
                </a:solidFill>
              </a:rPr>
              <a:t>12/7 동결</a:t>
            </a:r>
            <a:endParaRPr lang="en-US" sz="900" dirty="0"/>
          </a:p>
        </p:txBody>
      </p:sp>
      <p:sp>
        <p:nvSpPr>
          <p:cNvPr id="13" name="마일스톤 5"/>
          <p:cNvSpPr/>
          <p:nvPr/>
        </p:nvSpPr>
        <p:spPr>
          <a:xfrm>
            <a:off x="8622792" y="1618488"/>
            <a:ext cx="128016" cy="128016"/>
          </a:xfrm>
          <a:prstGeom prst="diamond">
            <a:avLst/>
          </a:prstGeom>
          <a:solidFill>
            <a:schemeClr val="accent3"/>
          </a:solidFill>
          <a:ln w="12700">
            <a:solidFill>
              <a:schemeClr val="accent3"/>
            </a:solidFill>
            <a:prstDash val="solid"/>
          </a:ln>
        </p:spPr>
      </p:sp>
      <p:sp>
        <p:nvSpPr>
          <p:cNvPr id="14" name="Text 12"/>
          <p:cNvSpPr txBox="1"/>
          <p:nvPr/>
        </p:nvSpPr>
        <p:spPr>
          <a:xfrm>
            <a:off x="8001000" y="1746504"/>
            <a:ext cx="1371600" cy="182880"/>
          </a:xfrm>
          <a:prstGeom prst="rect">
            <a:avLst/>
          </a:prstGeom>
          <a:noFill/>
          <a:ln/>
        </p:spPr>
        <p:txBody>
          <a:bodyPr wrap="square" lIns="0" tIns="0" rIns="0" bIns="0" rtlCol="0" anchor="t"/>
          <a:lstStyle/>
          <a:p>
            <a:pPr algn="ctr" indent="0" marL="0">
              <a:buNone/>
            </a:pPr>
            <a:r>
              <a:rPr lang="en-US" sz="900" b="1" dirty="0">
                <a:solidFill>
                  <a:schemeClr val="accent3"/>
                </a:solidFill>
              </a:rPr>
              <a:t>12/15 기말</a:t>
            </a:r>
            <a:endParaRPr lang="en-US" sz="900" dirty="0"/>
          </a:p>
        </p:txBody>
      </p:sp>
      <p:sp>
        <p:nvSpPr>
          <p:cNvPr id="15" name="Text 13"/>
          <p:cNvSpPr txBox="1"/>
          <p:nvPr/>
        </p:nvSpPr>
        <p:spPr>
          <a:xfrm>
            <a:off x="457200" y="1572768"/>
            <a:ext cx="1371600" cy="228600"/>
          </a:xfrm>
          <a:prstGeom prst="rect">
            <a:avLst/>
          </a:prstGeom>
          <a:noFill/>
          <a:ln/>
        </p:spPr>
        <p:txBody>
          <a:bodyPr wrap="square" lIns="0" tIns="0" rIns="0" bIns="0" rtlCol="0" anchor="ctr"/>
          <a:lstStyle/>
          <a:p>
            <a:pPr indent="0" marL="0">
              <a:buNone/>
            </a:pPr>
            <a:r>
              <a:rPr lang="en-US" sz="950" b="1" dirty="0">
                <a:solidFill>
                  <a:schemeClr val="accent3"/>
                </a:solidFill>
              </a:rPr>
              <a:t>마일스톤</a:t>
            </a:r>
            <a:endParaRPr lang="en-US" sz="950" dirty="0"/>
          </a:p>
        </p:txBody>
      </p:sp>
      <p:sp>
        <p:nvSpPr>
          <p:cNvPr id="16" name="Text 14"/>
          <p:cNvSpPr txBox="1"/>
          <p:nvPr/>
        </p:nvSpPr>
        <p:spPr>
          <a:xfrm>
            <a:off x="4343400"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10/27</a:t>
            </a:r>
            <a:endParaRPr lang="en-US" sz="1000" dirty="0"/>
          </a:p>
        </p:txBody>
      </p:sp>
      <p:sp>
        <p:nvSpPr>
          <p:cNvPr id="17" name="Text 15"/>
          <p:cNvSpPr txBox="1"/>
          <p:nvPr/>
        </p:nvSpPr>
        <p:spPr>
          <a:xfrm>
            <a:off x="4963886"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11/3</a:t>
            </a:r>
            <a:endParaRPr lang="en-US" sz="1000" dirty="0"/>
          </a:p>
        </p:txBody>
      </p:sp>
      <p:sp>
        <p:nvSpPr>
          <p:cNvPr id="18" name="Text 16"/>
          <p:cNvSpPr txBox="1"/>
          <p:nvPr/>
        </p:nvSpPr>
        <p:spPr>
          <a:xfrm>
            <a:off x="5584371"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11/10</a:t>
            </a:r>
            <a:endParaRPr lang="en-US" sz="1000" dirty="0"/>
          </a:p>
        </p:txBody>
      </p:sp>
      <p:sp>
        <p:nvSpPr>
          <p:cNvPr id="19" name="Text 17"/>
          <p:cNvSpPr txBox="1"/>
          <p:nvPr/>
        </p:nvSpPr>
        <p:spPr>
          <a:xfrm>
            <a:off x="6204857"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11/17</a:t>
            </a:r>
            <a:endParaRPr lang="en-US" sz="1000" dirty="0"/>
          </a:p>
        </p:txBody>
      </p:sp>
      <p:sp>
        <p:nvSpPr>
          <p:cNvPr id="20" name="Text 18"/>
          <p:cNvSpPr txBox="1"/>
          <p:nvPr/>
        </p:nvSpPr>
        <p:spPr>
          <a:xfrm>
            <a:off x="6825343"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11/24</a:t>
            </a:r>
            <a:endParaRPr lang="en-US" sz="1000" dirty="0"/>
          </a:p>
        </p:txBody>
      </p:sp>
      <p:sp>
        <p:nvSpPr>
          <p:cNvPr id="21" name="Text 19"/>
          <p:cNvSpPr txBox="1"/>
          <p:nvPr/>
        </p:nvSpPr>
        <p:spPr>
          <a:xfrm>
            <a:off x="7445829"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12/1</a:t>
            </a:r>
            <a:endParaRPr lang="en-US" sz="1000" dirty="0"/>
          </a:p>
        </p:txBody>
      </p:sp>
      <p:sp>
        <p:nvSpPr>
          <p:cNvPr id="22" name="Text 20"/>
          <p:cNvSpPr txBox="1"/>
          <p:nvPr/>
        </p:nvSpPr>
        <p:spPr>
          <a:xfrm>
            <a:off x="8066314" y="1234440"/>
            <a:ext cx="620486" cy="274320"/>
          </a:xfrm>
          <a:prstGeom prst="rect">
            <a:avLst/>
          </a:prstGeom>
          <a:noFill/>
          <a:ln/>
        </p:spPr>
        <p:txBody>
          <a:bodyPr wrap="square" lIns="0" tIns="0" rIns="0" bIns="0" rtlCol="0" anchor="ctr"/>
          <a:lstStyle/>
          <a:p>
            <a:pPr algn="ctr" indent="0" marL="0">
              <a:buNone/>
            </a:pPr>
            <a:r>
              <a:rPr lang="en-US" sz="1000" b="1" dirty="0">
                <a:solidFill>
                  <a:schemeClr val="accent5"/>
                </a:solidFill>
              </a:rPr>
              <a:t>12/8</a:t>
            </a:r>
            <a:endParaRPr lang="en-US" sz="1000" dirty="0"/>
          </a:p>
        </p:txBody>
      </p:sp>
      <p:sp>
        <p:nvSpPr>
          <p:cNvPr id="23" name="Text 21"/>
          <p:cNvSpPr txBox="1"/>
          <p:nvPr/>
        </p:nvSpPr>
        <p:spPr>
          <a:xfrm>
            <a:off x="3200400" y="1234440"/>
            <a:ext cx="1097280" cy="274320"/>
          </a:xfrm>
          <a:prstGeom prst="rect">
            <a:avLst/>
          </a:prstGeom>
          <a:noFill/>
          <a:ln/>
        </p:spPr>
        <p:txBody>
          <a:bodyPr wrap="square" lIns="0" tIns="0" rIns="0" bIns="0" rtlCol="0" anchor="ctr"/>
          <a:lstStyle/>
          <a:p>
            <a:pPr indent="0" marL="0">
              <a:buNone/>
            </a:pPr>
            <a:r>
              <a:rPr lang="en-US" sz="1000" b="1" dirty="0">
                <a:solidFill>
                  <a:schemeClr val="accent5"/>
                </a:solidFill>
              </a:rPr>
              <a:t>담당</a:t>
            </a:r>
            <a:endParaRPr lang="en-US" sz="1000" dirty="0"/>
          </a:p>
        </p:txBody>
      </p:sp>
      <p:sp>
        <p:nvSpPr>
          <p:cNvPr id="24" name="Shape 22"/>
          <p:cNvSpPr/>
          <p:nvPr/>
        </p:nvSpPr>
        <p:spPr>
          <a:xfrm>
            <a:off x="457200" y="1527048"/>
            <a:ext cx="8229600" cy="0"/>
          </a:xfrm>
          <a:prstGeom prst="line">
            <a:avLst/>
          </a:prstGeom>
          <a:noFill/>
          <a:ln w="9525">
            <a:solidFill>
              <a:srgbClr val="DCD9D0"/>
            </a:solidFill>
            <a:prstDash val="solid"/>
          </a:ln>
        </p:spPr>
      </p:sp>
      <p:sp>
        <p:nvSpPr>
          <p:cNvPr id="25" name="Text 23"/>
          <p:cNvSpPr txBox="1"/>
          <p:nvPr/>
        </p:nvSpPr>
        <p:spPr>
          <a:xfrm>
            <a:off x="457200" y="2103120"/>
            <a:ext cx="2697480" cy="347472"/>
          </a:xfrm>
          <a:prstGeom prst="rect">
            <a:avLst/>
          </a:prstGeom>
          <a:noFill/>
          <a:ln/>
        </p:spPr>
        <p:txBody>
          <a:bodyPr wrap="square" lIns="0" tIns="0" rIns="0" bIns="0" rtlCol="0" anchor="ctr"/>
          <a:lstStyle/>
          <a:p>
            <a:pPr indent="0" marL="0">
              <a:buNone/>
            </a:pPr>
            <a:r>
              <a:rPr lang="en-US" sz="1100" dirty="0">
                <a:solidFill>
                  <a:schemeClr val="tx1"/>
                </a:solidFill>
              </a:rPr>
              <a:t>설문 30명 수집 · 집계</a:t>
            </a:r>
            <a:endParaRPr lang="en-US" sz="1100" dirty="0"/>
          </a:p>
        </p:txBody>
      </p:sp>
      <p:sp>
        <p:nvSpPr>
          <p:cNvPr id="26" name="Text 24"/>
          <p:cNvSpPr txBox="1"/>
          <p:nvPr/>
        </p:nvSpPr>
        <p:spPr>
          <a:xfrm>
            <a:off x="3200400" y="2103120"/>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손유호</a:t>
            </a:r>
            <a:endParaRPr lang="en-US" sz="950" dirty="0"/>
          </a:p>
        </p:txBody>
      </p:sp>
      <p:sp>
        <p:nvSpPr>
          <p:cNvPr id="27" name="Shape 25"/>
          <p:cNvSpPr/>
          <p:nvPr/>
        </p:nvSpPr>
        <p:spPr>
          <a:xfrm>
            <a:off x="4343400" y="2103120"/>
            <a:ext cx="0" cy="347472"/>
          </a:xfrm>
          <a:prstGeom prst="line">
            <a:avLst/>
          </a:prstGeom>
          <a:noFill/>
          <a:ln w="6350">
            <a:solidFill>
              <a:srgbClr val="DCD9D0"/>
            </a:solidFill>
            <a:prstDash val="solid"/>
          </a:ln>
        </p:spPr>
      </p:sp>
      <p:sp>
        <p:nvSpPr>
          <p:cNvPr id="28" name="Shape 26"/>
          <p:cNvSpPr/>
          <p:nvPr/>
        </p:nvSpPr>
        <p:spPr>
          <a:xfrm>
            <a:off x="4963886" y="2103120"/>
            <a:ext cx="0" cy="347472"/>
          </a:xfrm>
          <a:prstGeom prst="line">
            <a:avLst/>
          </a:prstGeom>
          <a:noFill/>
          <a:ln w="6350">
            <a:solidFill>
              <a:srgbClr val="DCD9D0"/>
            </a:solidFill>
            <a:prstDash val="solid"/>
          </a:ln>
        </p:spPr>
      </p:sp>
      <p:sp>
        <p:nvSpPr>
          <p:cNvPr id="29" name="Shape 27"/>
          <p:cNvSpPr/>
          <p:nvPr/>
        </p:nvSpPr>
        <p:spPr>
          <a:xfrm>
            <a:off x="5584371" y="2103120"/>
            <a:ext cx="0" cy="347472"/>
          </a:xfrm>
          <a:prstGeom prst="line">
            <a:avLst/>
          </a:prstGeom>
          <a:noFill/>
          <a:ln w="6350">
            <a:solidFill>
              <a:srgbClr val="DCD9D0"/>
            </a:solidFill>
            <a:prstDash val="solid"/>
          </a:ln>
        </p:spPr>
      </p:sp>
      <p:sp>
        <p:nvSpPr>
          <p:cNvPr id="30" name="Shape 28"/>
          <p:cNvSpPr/>
          <p:nvPr/>
        </p:nvSpPr>
        <p:spPr>
          <a:xfrm>
            <a:off x="6204857" y="2103120"/>
            <a:ext cx="0" cy="347472"/>
          </a:xfrm>
          <a:prstGeom prst="line">
            <a:avLst/>
          </a:prstGeom>
          <a:noFill/>
          <a:ln w="6350">
            <a:solidFill>
              <a:srgbClr val="DCD9D0"/>
            </a:solidFill>
            <a:prstDash val="solid"/>
          </a:ln>
        </p:spPr>
      </p:sp>
      <p:sp>
        <p:nvSpPr>
          <p:cNvPr id="31" name="Shape 29"/>
          <p:cNvSpPr/>
          <p:nvPr/>
        </p:nvSpPr>
        <p:spPr>
          <a:xfrm>
            <a:off x="6825343" y="2103120"/>
            <a:ext cx="0" cy="347472"/>
          </a:xfrm>
          <a:prstGeom prst="line">
            <a:avLst/>
          </a:prstGeom>
          <a:noFill/>
          <a:ln w="6350">
            <a:solidFill>
              <a:srgbClr val="DCD9D0"/>
            </a:solidFill>
            <a:prstDash val="solid"/>
          </a:ln>
        </p:spPr>
      </p:sp>
      <p:sp>
        <p:nvSpPr>
          <p:cNvPr id="32" name="Shape 30"/>
          <p:cNvSpPr/>
          <p:nvPr/>
        </p:nvSpPr>
        <p:spPr>
          <a:xfrm>
            <a:off x="7445829" y="2103120"/>
            <a:ext cx="0" cy="347472"/>
          </a:xfrm>
          <a:prstGeom prst="line">
            <a:avLst/>
          </a:prstGeom>
          <a:noFill/>
          <a:ln w="6350">
            <a:solidFill>
              <a:srgbClr val="DCD9D0"/>
            </a:solidFill>
            <a:prstDash val="solid"/>
          </a:ln>
        </p:spPr>
      </p:sp>
      <p:sp>
        <p:nvSpPr>
          <p:cNvPr id="33" name="Shape 31"/>
          <p:cNvSpPr/>
          <p:nvPr/>
        </p:nvSpPr>
        <p:spPr>
          <a:xfrm>
            <a:off x="8066314" y="2103120"/>
            <a:ext cx="0" cy="347472"/>
          </a:xfrm>
          <a:prstGeom prst="line">
            <a:avLst/>
          </a:prstGeom>
          <a:noFill/>
          <a:ln w="6350">
            <a:solidFill>
              <a:srgbClr val="DCD9D0"/>
            </a:solidFill>
            <a:prstDash val="solid"/>
          </a:ln>
        </p:spPr>
      </p:sp>
      <p:sp>
        <p:nvSpPr>
          <p:cNvPr id="34" name="설문 30명 수집 · 집계 막대"/>
          <p:cNvSpPr/>
          <p:nvPr/>
        </p:nvSpPr>
        <p:spPr>
          <a:xfrm>
            <a:off x="4389120" y="2212848"/>
            <a:ext cx="1770017" cy="128016"/>
          </a:xfrm>
          <a:prstGeom prst="roundRect">
            <a:avLst>
              <a:gd name="adj" fmla="val 42857"/>
            </a:avLst>
          </a:prstGeom>
          <a:solidFill>
            <a:schemeClr val="accent1"/>
          </a:solidFill>
          <a:ln w="12700">
            <a:solidFill>
              <a:schemeClr val="accent1"/>
            </a:solidFill>
            <a:prstDash val="solid"/>
          </a:ln>
        </p:spPr>
      </p:sp>
      <p:sp>
        <p:nvSpPr>
          <p:cNvPr id="35" name="Shape 33"/>
          <p:cNvSpPr/>
          <p:nvPr/>
        </p:nvSpPr>
        <p:spPr>
          <a:xfrm>
            <a:off x="457200" y="2450592"/>
            <a:ext cx="8229600" cy="0"/>
          </a:xfrm>
          <a:prstGeom prst="line">
            <a:avLst/>
          </a:prstGeom>
          <a:noFill/>
          <a:ln w="9525">
            <a:solidFill>
              <a:srgbClr val="DCD9D0"/>
            </a:solidFill>
            <a:prstDash val="solid"/>
          </a:ln>
        </p:spPr>
      </p:sp>
      <p:sp>
        <p:nvSpPr>
          <p:cNvPr id="36" name="Text 34"/>
          <p:cNvSpPr txBox="1"/>
          <p:nvPr/>
        </p:nvSpPr>
        <p:spPr>
          <a:xfrm>
            <a:off x="457200" y="2450592"/>
            <a:ext cx="2697480" cy="347472"/>
          </a:xfrm>
          <a:prstGeom prst="rect">
            <a:avLst/>
          </a:prstGeom>
          <a:noFill/>
          <a:ln/>
        </p:spPr>
        <p:txBody>
          <a:bodyPr wrap="square" lIns="0" tIns="0" rIns="0" bIns="0" rtlCol="0" anchor="ctr"/>
          <a:lstStyle/>
          <a:p>
            <a:pPr indent="0" marL="0">
              <a:buNone/>
            </a:pPr>
            <a:r>
              <a:rPr lang="en-US" sz="1100" dirty="0">
                <a:solidFill>
                  <a:schemeClr val="tx1"/>
                </a:solidFill>
              </a:rPr>
              <a:t>직접 인터뷰 5명</a:t>
            </a:r>
            <a:endParaRPr lang="en-US" sz="1100" dirty="0"/>
          </a:p>
        </p:txBody>
      </p:sp>
      <p:sp>
        <p:nvSpPr>
          <p:cNvPr id="37" name="Text 35"/>
          <p:cNvSpPr txBox="1"/>
          <p:nvPr/>
        </p:nvSpPr>
        <p:spPr>
          <a:xfrm>
            <a:off x="3200400" y="2450592"/>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손유호 3 · 박명진 2</a:t>
            </a:r>
            <a:endParaRPr lang="en-US" sz="950" dirty="0"/>
          </a:p>
        </p:txBody>
      </p:sp>
      <p:sp>
        <p:nvSpPr>
          <p:cNvPr id="38" name="Shape 36"/>
          <p:cNvSpPr/>
          <p:nvPr/>
        </p:nvSpPr>
        <p:spPr>
          <a:xfrm>
            <a:off x="4343400" y="2450592"/>
            <a:ext cx="0" cy="347472"/>
          </a:xfrm>
          <a:prstGeom prst="line">
            <a:avLst/>
          </a:prstGeom>
          <a:noFill/>
          <a:ln w="6350">
            <a:solidFill>
              <a:srgbClr val="DCD9D0"/>
            </a:solidFill>
            <a:prstDash val="solid"/>
          </a:ln>
        </p:spPr>
      </p:sp>
      <p:sp>
        <p:nvSpPr>
          <p:cNvPr id="39" name="Shape 37"/>
          <p:cNvSpPr/>
          <p:nvPr/>
        </p:nvSpPr>
        <p:spPr>
          <a:xfrm>
            <a:off x="4963886" y="2450592"/>
            <a:ext cx="0" cy="347472"/>
          </a:xfrm>
          <a:prstGeom prst="line">
            <a:avLst/>
          </a:prstGeom>
          <a:noFill/>
          <a:ln w="6350">
            <a:solidFill>
              <a:srgbClr val="DCD9D0"/>
            </a:solidFill>
            <a:prstDash val="solid"/>
          </a:ln>
        </p:spPr>
      </p:sp>
      <p:sp>
        <p:nvSpPr>
          <p:cNvPr id="40" name="Shape 38"/>
          <p:cNvSpPr/>
          <p:nvPr/>
        </p:nvSpPr>
        <p:spPr>
          <a:xfrm>
            <a:off x="5584371" y="2450592"/>
            <a:ext cx="0" cy="347472"/>
          </a:xfrm>
          <a:prstGeom prst="line">
            <a:avLst/>
          </a:prstGeom>
          <a:noFill/>
          <a:ln w="6350">
            <a:solidFill>
              <a:srgbClr val="DCD9D0"/>
            </a:solidFill>
            <a:prstDash val="solid"/>
          </a:ln>
        </p:spPr>
      </p:sp>
      <p:sp>
        <p:nvSpPr>
          <p:cNvPr id="41" name="Shape 39"/>
          <p:cNvSpPr/>
          <p:nvPr/>
        </p:nvSpPr>
        <p:spPr>
          <a:xfrm>
            <a:off x="6204857" y="2450592"/>
            <a:ext cx="0" cy="347472"/>
          </a:xfrm>
          <a:prstGeom prst="line">
            <a:avLst/>
          </a:prstGeom>
          <a:noFill/>
          <a:ln w="6350">
            <a:solidFill>
              <a:srgbClr val="DCD9D0"/>
            </a:solidFill>
            <a:prstDash val="solid"/>
          </a:ln>
        </p:spPr>
      </p:sp>
      <p:sp>
        <p:nvSpPr>
          <p:cNvPr id="42" name="Shape 40"/>
          <p:cNvSpPr/>
          <p:nvPr/>
        </p:nvSpPr>
        <p:spPr>
          <a:xfrm>
            <a:off x="6825343" y="2450592"/>
            <a:ext cx="0" cy="347472"/>
          </a:xfrm>
          <a:prstGeom prst="line">
            <a:avLst/>
          </a:prstGeom>
          <a:noFill/>
          <a:ln w="6350">
            <a:solidFill>
              <a:srgbClr val="DCD9D0"/>
            </a:solidFill>
            <a:prstDash val="solid"/>
          </a:ln>
        </p:spPr>
      </p:sp>
      <p:sp>
        <p:nvSpPr>
          <p:cNvPr id="43" name="Shape 41"/>
          <p:cNvSpPr/>
          <p:nvPr/>
        </p:nvSpPr>
        <p:spPr>
          <a:xfrm>
            <a:off x="7445829" y="2450592"/>
            <a:ext cx="0" cy="347472"/>
          </a:xfrm>
          <a:prstGeom prst="line">
            <a:avLst/>
          </a:prstGeom>
          <a:noFill/>
          <a:ln w="6350">
            <a:solidFill>
              <a:srgbClr val="DCD9D0"/>
            </a:solidFill>
            <a:prstDash val="solid"/>
          </a:ln>
        </p:spPr>
      </p:sp>
      <p:sp>
        <p:nvSpPr>
          <p:cNvPr id="44" name="Shape 42"/>
          <p:cNvSpPr/>
          <p:nvPr/>
        </p:nvSpPr>
        <p:spPr>
          <a:xfrm>
            <a:off x="8066314" y="2450592"/>
            <a:ext cx="0" cy="347472"/>
          </a:xfrm>
          <a:prstGeom prst="line">
            <a:avLst/>
          </a:prstGeom>
          <a:noFill/>
          <a:ln w="6350">
            <a:solidFill>
              <a:srgbClr val="DCD9D0"/>
            </a:solidFill>
            <a:prstDash val="solid"/>
          </a:ln>
        </p:spPr>
      </p:sp>
      <p:sp>
        <p:nvSpPr>
          <p:cNvPr id="45" name="직접 인터뷰 5명 막대"/>
          <p:cNvSpPr/>
          <p:nvPr/>
        </p:nvSpPr>
        <p:spPr>
          <a:xfrm>
            <a:off x="5009606" y="2560320"/>
            <a:ext cx="529046" cy="128016"/>
          </a:xfrm>
          <a:prstGeom prst="roundRect">
            <a:avLst>
              <a:gd name="adj" fmla="val 42857"/>
            </a:avLst>
          </a:prstGeom>
          <a:solidFill>
            <a:schemeClr val="accent1"/>
          </a:solidFill>
          <a:ln w="12700">
            <a:solidFill>
              <a:schemeClr val="accent1"/>
            </a:solidFill>
            <a:prstDash val="solid"/>
          </a:ln>
        </p:spPr>
      </p:sp>
      <p:sp>
        <p:nvSpPr>
          <p:cNvPr id="46" name="Shape 44"/>
          <p:cNvSpPr/>
          <p:nvPr/>
        </p:nvSpPr>
        <p:spPr>
          <a:xfrm>
            <a:off x="457200" y="2798064"/>
            <a:ext cx="8229600" cy="0"/>
          </a:xfrm>
          <a:prstGeom prst="line">
            <a:avLst/>
          </a:prstGeom>
          <a:noFill/>
          <a:ln w="9525">
            <a:solidFill>
              <a:srgbClr val="DCD9D0"/>
            </a:solidFill>
            <a:prstDash val="solid"/>
          </a:ln>
        </p:spPr>
      </p:sp>
      <p:sp>
        <p:nvSpPr>
          <p:cNvPr id="47" name="Text 45"/>
          <p:cNvSpPr txBox="1"/>
          <p:nvPr/>
        </p:nvSpPr>
        <p:spPr>
          <a:xfrm>
            <a:off x="457200" y="2798064"/>
            <a:ext cx="2697480" cy="347472"/>
          </a:xfrm>
          <a:prstGeom prst="rect">
            <a:avLst/>
          </a:prstGeom>
          <a:noFill/>
          <a:ln/>
        </p:spPr>
        <p:txBody>
          <a:bodyPr wrap="square" lIns="0" tIns="0" rIns="0" bIns="0" rtlCol="0" anchor="ctr"/>
          <a:lstStyle/>
          <a:p>
            <a:pPr indent="0" marL="0">
              <a:buNone/>
            </a:pPr>
            <a:r>
              <a:rPr lang="en-US" sz="1100" dirty="0">
                <a:solidFill>
                  <a:schemeClr val="tx1"/>
                </a:solidFill>
              </a:rPr>
              <a:t>피드백 반영 1차</a:t>
            </a:r>
            <a:endParaRPr lang="en-US" sz="1100" dirty="0"/>
          </a:p>
        </p:txBody>
      </p:sp>
      <p:sp>
        <p:nvSpPr>
          <p:cNvPr id="48" name="Text 46"/>
          <p:cNvSpPr txBox="1"/>
          <p:nvPr/>
        </p:nvSpPr>
        <p:spPr>
          <a:xfrm>
            <a:off x="3200400" y="2798064"/>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이지훈</a:t>
            </a:r>
            <a:endParaRPr lang="en-US" sz="950" dirty="0"/>
          </a:p>
        </p:txBody>
      </p:sp>
      <p:sp>
        <p:nvSpPr>
          <p:cNvPr id="49" name="Shape 47"/>
          <p:cNvSpPr/>
          <p:nvPr/>
        </p:nvSpPr>
        <p:spPr>
          <a:xfrm>
            <a:off x="4343400" y="2798064"/>
            <a:ext cx="0" cy="347472"/>
          </a:xfrm>
          <a:prstGeom prst="line">
            <a:avLst/>
          </a:prstGeom>
          <a:noFill/>
          <a:ln w="6350">
            <a:solidFill>
              <a:srgbClr val="DCD9D0"/>
            </a:solidFill>
            <a:prstDash val="solid"/>
          </a:ln>
        </p:spPr>
      </p:sp>
      <p:sp>
        <p:nvSpPr>
          <p:cNvPr id="50" name="Shape 48"/>
          <p:cNvSpPr/>
          <p:nvPr/>
        </p:nvSpPr>
        <p:spPr>
          <a:xfrm>
            <a:off x="4963886" y="2798064"/>
            <a:ext cx="0" cy="347472"/>
          </a:xfrm>
          <a:prstGeom prst="line">
            <a:avLst/>
          </a:prstGeom>
          <a:noFill/>
          <a:ln w="6350">
            <a:solidFill>
              <a:srgbClr val="DCD9D0"/>
            </a:solidFill>
            <a:prstDash val="solid"/>
          </a:ln>
        </p:spPr>
      </p:sp>
      <p:sp>
        <p:nvSpPr>
          <p:cNvPr id="51" name="Shape 49"/>
          <p:cNvSpPr/>
          <p:nvPr/>
        </p:nvSpPr>
        <p:spPr>
          <a:xfrm>
            <a:off x="5584371" y="2798064"/>
            <a:ext cx="0" cy="347472"/>
          </a:xfrm>
          <a:prstGeom prst="line">
            <a:avLst/>
          </a:prstGeom>
          <a:noFill/>
          <a:ln w="6350">
            <a:solidFill>
              <a:srgbClr val="DCD9D0"/>
            </a:solidFill>
            <a:prstDash val="solid"/>
          </a:ln>
        </p:spPr>
      </p:sp>
      <p:sp>
        <p:nvSpPr>
          <p:cNvPr id="52" name="Shape 50"/>
          <p:cNvSpPr/>
          <p:nvPr/>
        </p:nvSpPr>
        <p:spPr>
          <a:xfrm>
            <a:off x="6204857" y="2798064"/>
            <a:ext cx="0" cy="347472"/>
          </a:xfrm>
          <a:prstGeom prst="line">
            <a:avLst/>
          </a:prstGeom>
          <a:noFill/>
          <a:ln w="6350">
            <a:solidFill>
              <a:srgbClr val="DCD9D0"/>
            </a:solidFill>
            <a:prstDash val="solid"/>
          </a:ln>
        </p:spPr>
      </p:sp>
      <p:sp>
        <p:nvSpPr>
          <p:cNvPr id="53" name="Shape 51"/>
          <p:cNvSpPr/>
          <p:nvPr/>
        </p:nvSpPr>
        <p:spPr>
          <a:xfrm>
            <a:off x="6825343" y="2798064"/>
            <a:ext cx="0" cy="347472"/>
          </a:xfrm>
          <a:prstGeom prst="line">
            <a:avLst/>
          </a:prstGeom>
          <a:noFill/>
          <a:ln w="6350">
            <a:solidFill>
              <a:srgbClr val="DCD9D0"/>
            </a:solidFill>
            <a:prstDash val="solid"/>
          </a:ln>
        </p:spPr>
      </p:sp>
      <p:sp>
        <p:nvSpPr>
          <p:cNvPr id="54" name="Shape 52"/>
          <p:cNvSpPr/>
          <p:nvPr/>
        </p:nvSpPr>
        <p:spPr>
          <a:xfrm>
            <a:off x="7445829" y="2798064"/>
            <a:ext cx="0" cy="347472"/>
          </a:xfrm>
          <a:prstGeom prst="line">
            <a:avLst/>
          </a:prstGeom>
          <a:noFill/>
          <a:ln w="6350">
            <a:solidFill>
              <a:srgbClr val="DCD9D0"/>
            </a:solidFill>
            <a:prstDash val="solid"/>
          </a:ln>
        </p:spPr>
      </p:sp>
      <p:sp>
        <p:nvSpPr>
          <p:cNvPr id="55" name="Shape 53"/>
          <p:cNvSpPr/>
          <p:nvPr/>
        </p:nvSpPr>
        <p:spPr>
          <a:xfrm>
            <a:off x="8066314" y="2798064"/>
            <a:ext cx="0" cy="347472"/>
          </a:xfrm>
          <a:prstGeom prst="line">
            <a:avLst/>
          </a:prstGeom>
          <a:noFill/>
          <a:ln w="6350">
            <a:solidFill>
              <a:srgbClr val="DCD9D0"/>
            </a:solidFill>
            <a:prstDash val="solid"/>
          </a:ln>
        </p:spPr>
      </p:sp>
      <p:sp>
        <p:nvSpPr>
          <p:cNvPr id="56" name="피드백 반영 1차 막대"/>
          <p:cNvSpPr/>
          <p:nvPr/>
        </p:nvSpPr>
        <p:spPr>
          <a:xfrm>
            <a:off x="5630091" y="2907792"/>
            <a:ext cx="1149531" cy="128016"/>
          </a:xfrm>
          <a:prstGeom prst="roundRect">
            <a:avLst>
              <a:gd name="adj" fmla="val 42857"/>
            </a:avLst>
          </a:prstGeom>
          <a:solidFill>
            <a:schemeClr val="accent1"/>
          </a:solidFill>
          <a:ln w="12700">
            <a:solidFill>
              <a:schemeClr val="accent1"/>
            </a:solidFill>
            <a:prstDash val="solid"/>
          </a:ln>
        </p:spPr>
      </p:sp>
      <p:sp>
        <p:nvSpPr>
          <p:cNvPr id="57" name="Shape 55"/>
          <p:cNvSpPr/>
          <p:nvPr/>
        </p:nvSpPr>
        <p:spPr>
          <a:xfrm>
            <a:off x="457200" y="3145536"/>
            <a:ext cx="8229600" cy="0"/>
          </a:xfrm>
          <a:prstGeom prst="line">
            <a:avLst/>
          </a:prstGeom>
          <a:noFill/>
          <a:ln w="9525">
            <a:solidFill>
              <a:srgbClr val="DCD9D0"/>
            </a:solidFill>
            <a:prstDash val="solid"/>
          </a:ln>
        </p:spPr>
      </p:sp>
      <p:sp>
        <p:nvSpPr>
          <p:cNvPr id="58" name="Text 56"/>
          <p:cNvSpPr txBox="1"/>
          <p:nvPr/>
        </p:nvSpPr>
        <p:spPr>
          <a:xfrm>
            <a:off x="457200" y="3145536"/>
            <a:ext cx="2697480" cy="347472"/>
          </a:xfrm>
          <a:prstGeom prst="rect">
            <a:avLst/>
          </a:prstGeom>
          <a:noFill/>
          <a:ln/>
        </p:spPr>
        <p:txBody>
          <a:bodyPr wrap="square" lIns="0" tIns="0" rIns="0" bIns="0" rtlCol="0" anchor="ctr"/>
          <a:lstStyle/>
          <a:p>
            <a:pPr indent="0" marL="0">
              <a:buNone/>
            </a:pPr>
            <a:r>
              <a:rPr lang="en-US" sz="1100" dirty="0">
                <a:solidFill>
                  <a:schemeClr val="tx1"/>
                </a:solidFill>
              </a:rPr>
              <a:t>실제 폰 검증 (아이폰 · 갤럭시)</a:t>
            </a:r>
            <a:endParaRPr lang="en-US" sz="1100" dirty="0"/>
          </a:p>
        </p:txBody>
      </p:sp>
      <p:sp>
        <p:nvSpPr>
          <p:cNvPr id="59" name="Text 57"/>
          <p:cNvSpPr txBox="1"/>
          <p:nvPr/>
        </p:nvSpPr>
        <p:spPr>
          <a:xfrm>
            <a:off x="3200400" y="3145536"/>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이지훈 · 박명진</a:t>
            </a:r>
            <a:endParaRPr lang="en-US" sz="950" dirty="0"/>
          </a:p>
        </p:txBody>
      </p:sp>
      <p:sp>
        <p:nvSpPr>
          <p:cNvPr id="60" name="Shape 58"/>
          <p:cNvSpPr/>
          <p:nvPr/>
        </p:nvSpPr>
        <p:spPr>
          <a:xfrm>
            <a:off x="4343400" y="3145536"/>
            <a:ext cx="0" cy="347472"/>
          </a:xfrm>
          <a:prstGeom prst="line">
            <a:avLst/>
          </a:prstGeom>
          <a:noFill/>
          <a:ln w="6350">
            <a:solidFill>
              <a:srgbClr val="DCD9D0"/>
            </a:solidFill>
            <a:prstDash val="solid"/>
          </a:ln>
        </p:spPr>
      </p:sp>
      <p:sp>
        <p:nvSpPr>
          <p:cNvPr id="61" name="Shape 59"/>
          <p:cNvSpPr/>
          <p:nvPr/>
        </p:nvSpPr>
        <p:spPr>
          <a:xfrm>
            <a:off x="4963886" y="3145536"/>
            <a:ext cx="0" cy="347472"/>
          </a:xfrm>
          <a:prstGeom prst="line">
            <a:avLst/>
          </a:prstGeom>
          <a:noFill/>
          <a:ln w="6350">
            <a:solidFill>
              <a:srgbClr val="DCD9D0"/>
            </a:solidFill>
            <a:prstDash val="solid"/>
          </a:ln>
        </p:spPr>
      </p:sp>
      <p:sp>
        <p:nvSpPr>
          <p:cNvPr id="62" name="Shape 60"/>
          <p:cNvSpPr/>
          <p:nvPr/>
        </p:nvSpPr>
        <p:spPr>
          <a:xfrm>
            <a:off x="5584371" y="3145536"/>
            <a:ext cx="0" cy="347472"/>
          </a:xfrm>
          <a:prstGeom prst="line">
            <a:avLst/>
          </a:prstGeom>
          <a:noFill/>
          <a:ln w="6350">
            <a:solidFill>
              <a:srgbClr val="DCD9D0"/>
            </a:solidFill>
            <a:prstDash val="solid"/>
          </a:ln>
        </p:spPr>
      </p:sp>
      <p:sp>
        <p:nvSpPr>
          <p:cNvPr id="63" name="Shape 61"/>
          <p:cNvSpPr/>
          <p:nvPr/>
        </p:nvSpPr>
        <p:spPr>
          <a:xfrm>
            <a:off x="6204857" y="3145536"/>
            <a:ext cx="0" cy="347472"/>
          </a:xfrm>
          <a:prstGeom prst="line">
            <a:avLst/>
          </a:prstGeom>
          <a:noFill/>
          <a:ln w="6350">
            <a:solidFill>
              <a:srgbClr val="DCD9D0"/>
            </a:solidFill>
            <a:prstDash val="solid"/>
          </a:ln>
        </p:spPr>
      </p:sp>
      <p:sp>
        <p:nvSpPr>
          <p:cNvPr id="64" name="Shape 62"/>
          <p:cNvSpPr/>
          <p:nvPr/>
        </p:nvSpPr>
        <p:spPr>
          <a:xfrm>
            <a:off x="6825343" y="3145536"/>
            <a:ext cx="0" cy="347472"/>
          </a:xfrm>
          <a:prstGeom prst="line">
            <a:avLst/>
          </a:prstGeom>
          <a:noFill/>
          <a:ln w="6350">
            <a:solidFill>
              <a:srgbClr val="DCD9D0"/>
            </a:solidFill>
            <a:prstDash val="solid"/>
          </a:ln>
        </p:spPr>
      </p:sp>
      <p:sp>
        <p:nvSpPr>
          <p:cNvPr id="65" name="Shape 63"/>
          <p:cNvSpPr/>
          <p:nvPr/>
        </p:nvSpPr>
        <p:spPr>
          <a:xfrm>
            <a:off x="7445829" y="3145536"/>
            <a:ext cx="0" cy="347472"/>
          </a:xfrm>
          <a:prstGeom prst="line">
            <a:avLst/>
          </a:prstGeom>
          <a:noFill/>
          <a:ln w="6350">
            <a:solidFill>
              <a:srgbClr val="DCD9D0"/>
            </a:solidFill>
            <a:prstDash val="solid"/>
          </a:ln>
        </p:spPr>
      </p:sp>
      <p:sp>
        <p:nvSpPr>
          <p:cNvPr id="66" name="Shape 64"/>
          <p:cNvSpPr/>
          <p:nvPr/>
        </p:nvSpPr>
        <p:spPr>
          <a:xfrm>
            <a:off x="8066314" y="3145536"/>
            <a:ext cx="0" cy="347472"/>
          </a:xfrm>
          <a:prstGeom prst="line">
            <a:avLst/>
          </a:prstGeom>
          <a:noFill/>
          <a:ln w="6350">
            <a:solidFill>
              <a:srgbClr val="DCD9D0"/>
            </a:solidFill>
            <a:prstDash val="solid"/>
          </a:ln>
        </p:spPr>
      </p:sp>
      <p:sp>
        <p:nvSpPr>
          <p:cNvPr id="67" name="실제 폰 검증 (아이폰 · 갤럭시) 막대"/>
          <p:cNvSpPr/>
          <p:nvPr/>
        </p:nvSpPr>
        <p:spPr>
          <a:xfrm>
            <a:off x="5630091" y="3255264"/>
            <a:ext cx="1770017" cy="128016"/>
          </a:xfrm>
          <a:prstGeom prst="roundRect">
            <a:avLst>
              <a:gd name="adj" fmla="val 42857"/>
            </a:avLst>
          </a:prstGeom>
          <a:solidFill>
            <a:schemeClr val="accent1"/>
          </a:solidFill>
          <a:ln w="12700">
            <a:solidFill>
              <a:schemeClr val="accent1"/>
            </a:solidFill>
            <a:prstDash val="solid"/>
          </a:ln>
        </p:spPr>
      </p:sp>
      <p:sp>
        <p:nvSpPr>
          <p:cNvPr id="68" name="Shape 66"/>
          <p:cNvSpPr/>
          <p:nvPr/>
        </p:nvSpPr>
        <p:spPr>
          <a:xfrm>
            <a:off x="457200" y="3493008"/>
            <a:ext cx="8229600" cy="0"/>
          </a:xfrm>
          <a:prstGeom prst="line">
            <a:avLst/>
          </a:prstGeom>
          <a:noFill/>
          <a:ln w="9525">
            <a:solidFill>
              <a:srgbClr val="DCD9D0"/>
            </a:solidFill>
            <a:prstDash val="solid"/>
          </a:ln>
        </p:spPr>
      </p:sp>
      <p:sp>
        <p:nvSpPr>
          <p:cNvPr id="69" name="Text 67"/>
          <p:cNvSpPr txBox="1"/>
          <p:nvPr/>
        </p:nvSpPr>
        <p:spPr>
          <a:xfrm>
            <a:off x="457200" y="3493008"/>
            <a:ext cx="2697480" cy="347472"/>
          </a:xfrm>
          <a:prstGeom prst="rect">
            <a:avLst/>
          </a:prstGeom>
          <a:noFill/>
          <a:ln/>
        </p:spPr>
        <p:txBody>
          <a:bodyPr wrap="square" lIns="0" tIns="0" rIns="0" bIns="0" rtlCol="0" anchor="ctr"/>
          <a:lstStyle/>
          <a:p>
            <a:pPr indent="0" marL="0">
              <a:buNone/>
            </a:pPr>
            <a:r>
              <a:rPr lang="en-US" sz="1100" dirty="0">
                <a:solidFill>
                  <a:schemeClr val="tx1"/>
                </a:solidFill>
              </a:rPr>
              <a:t>기록 등록 보강</a:t>
            </a:r>
            <a:endParaRPr lang="en-US" sz="1100" dirty="0"/>
          </a:p>
        </p:txBody>
      </p:sp>
      <p:sp>
        <p:nvSpPr>
          <p:cNvPr id="70" name="Text 68"/>
          <p:cNvSpPr txBox="1"/>
          <p:nvPr/>
        </p:nvSpPr>
        <p:spPr>
          <a:xfrm>
            <a:off x="3200400" y="3493008"/>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이지훈</a:t>
            </a:r>
            <a:endParaRPr lang="en-US" sz="950" dirty="0"/>
          </a:p>
        </p:txBody>
      </p:sp>
      <p:sp>
        <p:nvSpPr>
          <p:cNvPr id="71" name="Shape 69"/>
          <p:cNvSpPr/>
          <p:nvPr/>
        </p:nvSpPr>
        <p:spPr>
          <a:xfrm>
            <a:off x="4343400" y="3493008"/>
            <a:ext cx="0" cy="347472"/>
          </a:xfrm>
          <a:prstGeom prst="line">
            <a:avLst/>
          </a:prstGeom>
          <a:noFill/>
          <a:ln w="6350">
            <a:solidFill>
              <a:srgbClr val="DCD9D0"/>
            </a:solidFill>
            <a:prstDash val="solid"/>
          </a:ln>
        </p:spPr>
      </p:sp>
      <p:sp>
        <p:nvSpPr>
          <p:cNvPr id="72" name="Shape 70"/>
          <p:cNvSpPr/>
          <p:nvPr/>
        </p:nvSpPr>
        <p:spPr>
          <a:xfrm>
            <a:off x="4963886" y="3493008"/>
            <a:ext cx="0" cy="347472"/>
          </a:xfrm>
          <a:prstGeom prst="line">
            <a:avLst/>
          </a:prstGeom>
          <a:noFill/>
          <a:ln w="6350">
            <a:solidFill>
              <a:srgbClr val="DCD9D0"/>
            </a:solidFill>
            <a:prstDash val="solid"/>
          </a:ln>
        </p:spPr>
      </p:sp>
      <p:sp>
        <p:nvSpPr>
          <p:cNvPr id="73" name="Shape 71"/>
          <p:cNvSpPr/>
          <p:nvPr/>
        </p:nvSpPr>
        <p:spPr>
          <a:xfrm>
            <a:off x="5584371" y="3493008"/>
            <a:ext cx="0" cy="347472"/>
          </a:xfrm>
          <a:prstGeom prst="line">
            <a:avLst/>
          </a:prstGeom>
          <a:noFill/>
          <a:ln w="6350">
            <a:solidFill>
              <a:srgbClr val="DCD9D0"/>
            </a:solidFill>
            <a:prstDash val="solid"/>
          </a:ln>
        </p:spPr>
      </p:sp>
      <p:sp>
        <p:nvSpPr>
          <p:cNvPr id="74" name="Shape 72"/>
          <p:cNvSpPr/>
          <p:nvPr/>
        </p:nvSpPr>
        <p:spPr>
          <a:xfrm>
            <a:off x="6204857" y="3493008"/>
            <a:ext cx="0" cy="347472"/>
          </a:xfrm>
          <a:prstGeom prst="line">
            <a:avLst/>
          </a:prstGeom>
          <a:noFill/>
          <a:ln w="6350">
            <a:solidFill>
              <a:srgbClr val="DCD9D0"/>
            </a:solidFill>
            <a:prstDash val="solid"/>
          </a:ln>
        </p:spPr>
      </p:sp>
      <p:sp>
        <p:nvSpPr>
          <p:cNvPr id="75" name="Shape 73"/>
          <p:cNvSpPr/>
          <p:nvPr/>
        </p:nvSpPr>
        <p:spPr>
          <a:xfrm>
            <a:off x="6825343" y="3493008"/>
            <a:ext cx="0" cy="347472"/>
          </a:xfrm>
          <a:prstGeom prst="line">
            <a:avLst/>
          </a:prstGeom>
          <a:noFill/>
          <a:ln w="6350">
            <a:solidFill>
              <a:srgbClr val="DCD9D0"/>
            </a:solidFill>
            <a:prstDash val="solid"/>
          </a:ln>
        </p:spPr>
      </p:sp>
      <p:sp>
        <p:nvSpPr>
          <p:cNvPr id="76" name="Shape 74"/>
          <p:cNvSpPr/>
          <p:nvPr/>
        </p:nvSpPr>
        <p:spPr>
          <a:xfrm>
            <a:off x="7445829" y="3493008"/>
            <a:ext cx="0" cy="347472"/>
          </a:xfrm>
          <a:prstGeom prst="line">
            <a:avLst/>
          </a:prstGeom>
          <a:noFill/>
          <a:ln w="6350">
            <a:solidFill>
              <a:srgbClr val="DCD9D0"/>
            </a:solidFill>
            <a:prstDash val="solid"/>
          </a:ln>
        </p:spPr>
      </p:sp>
      <p:sp>
        <p:nvSpPr>
          <p:cNvPr id="77" name="Shape 75"/>
          <p:cNvSpPr/>
          <p:nvPr/>
        </p:nvSpPr>
        <p:spPr>
          <a:xfrm>
            <a:off x="8066314" y="3493008"/>
            <a:ext cx="0" cy="347472"/>
          </a:xfrm>
          <a:prstGeom prst="line">
            <a:avLst/>
          </a:prstGeom>
          <a:noFill/>
          <a:ln w="6350">
            <a:solidFill>
              <a:srgbClr val="DCD9D0"/>
            </a:solidFill>
            <a:prstDash val="solid"/>
          </a:ln>
        </p:spPr>
      </p:sp>
      <p:sp>
        <p:nvSpPr>
          <p:cNvPr id="78" name="기록 등록 보강 막대"/>
          <p:cNvSpPr/>
          <p:nvPr/>
        </p:nvSpPr>
        <p:spPr>
          <a:xfrm>
            <a:off x="6250577" y="3602736"/>
            <a:ext cx="1770017" cy="128016"/>
          </a:xfrm>
          <a:prstGeom prst="roundRect">
            <a:avLst>
              <a:gd name="adj" fmla="val 42857"/>
            </a:avLst>
          </a:prstGeom>
          <a:solidFill>
            <a:schemeClr val="accent1"/>
          </a:solidFill>
          <a:ln w="12700">
            <a:solidFill>
              <a:schemeClr val="accent1"/>
            </a:solidFill>
            <a:prstDash val="solid"/>
          </a:ln>
        </p:spPr>
      </p:sp>
      <p:sp>
        <p:nvSpPr>
          <p:cNvPr id="79" name="Shape 77"/>
          <p:cNvSpPr/>
          <p:nvPr/>
        </p:nvSpPr>
        <p:spPr>
          <a:xfrm>
            <a:off x="457200" y="3840480"/>
            <a:ext cx="8229600" cy="0"/>
          </a:xfrm>
          <a:prstGeom prst="line">
            <a:avLst/>
          </a:prstGeom>
          <a:noFill/>
          <a:ln w="9525">
            <a:solidFill>
              <a:srgbClr val="DCD9D0"/>
            </a:solidFill>
            <a:prstDash val="solid"/>
          </a:ln>
        </p:spPr>
      </p:sp>
      <p:sp>
        <p:nvSpPr>
          <p:cNvPr id="80" name="Text 78"/>
          <p:cNvSpPr txBox="1"/>
          <p:nvPr/>
        </p:nvSpPr>
        <p:spPr>
          <a:xfrm>
            <a:off x="457200" y="3840480"/>
            <a:ext cx="2697480" cy="347472"/>
          </a:xfrm>
          <a:prstGeom prst="rect">
            <a:avLst/>
          </a:prstGeom>
          <a:noFill/>
          <a:ln/>
        </p:spPr>
        <p:txBody>
          <a:bodyPr wrap="square" lIns="0" tIns="0" rIns="0" bIns="0" rtlCol="0" anchor="ctr"/>
          <a:lstStyle/>
          <a:p>
            <a:pPr indent="0" marL="0">
              <a:buNone/>
            </a:pPr>
            <a:r>
              <a:rPr lang="en-US" sz="1100" dirty="0">
                <a:solidFill>
                  <a:schemeClr val="tx1"/>
                </a:solidFill>
              </a:rPr>
              <a:t>광고 실험 또는 새 게임 (11/23 결정)</a:t>
            </a:r>
            <a:endParaRPr lang="en-US" sz="1100" dirty="0"/>
          </a:p>
        </p:txBody>
      </p:sp>
      <p:sp>
        <p:nvSpPr>
          <p:cNvPr id="81" name="Text 79"/>
          <p:cNvSpPr txBox="1"/>
          <p:nvPr/>
        </p:nvSpPr>
        <p:spPr>
          <a:xfrm>
            <a:off x="3200400" y="3840480"/>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손유호 · 이지훈</a:t>
            </a:r>
            <a:endParaRPr lang="en-US" sz="950" dirty="0"/>
          </a:p>
        </p:txBody>
      </p:sp>
      <p:sp>
        <p:nvSpPr>
          <p:cNvPr id="82" name="Shape 80"/>
          <p:cNvSpPr/>
          <p:nvPr/>
        </p:nvSpPr>
        <p:spPr>
          <a:xfrm>
            <a:off x="4343400" y="3840480"/>
            <a:ext cx="0" cy="347472"/>
          </a:xfrm>
          <a:prstGeom prst="line">
            <a:avLst/>
          </a:prstGeom>
          <a:noFill/>
          <a:ln w="6350">
            <a:solidFill>
              <a:srgbClr val="DCD9D0"/>
            </a:solidFill>
            <a:prstDash val="solid"/>
          </a:ln>
        </p:spPr>
      </p:sp>
      <p:sp>
        <p:nvSpPr>
          <p:cNvPr id="83" name="Shape 81"/>
          <p:cNvSpPr/>
          <p:nvPr/>
        </p:nvSpPr>
        <p:spPr>
          <a:xfrm>
            <a:off x="4963886" y="3840480"/>
            <a:ext cx="0" cy="347472"/>
          </a:xfrm>
          <a:prstGeom prst="line">
            <a:avLst/>
          </a:prstGeom>
          <a:noFill/>
          <a:ln w="6350">
            <a:solidFill>
              <a:srgbClr val="DCD9D0"/>
            </a:solidFill>
            <a:prstDash val="solid"/>
          </a:ln>
        </p:spPr>
      </p:sp>
      <p:sp>
        <p:nvSpPr>
          <p:cNvPr id="84" name="Shape 82"/>
          <p:cNvSpPr/>
          <p:nvPr/>
        </p:nvSpPr>
        <p:spPr>
          <a:xfrm>
            <a:off x="5584371" y="3840480"/>
            <a:ext cx="0" cy="347472"/>
          </a:xfrm>
          <a:prstGeom prst="line">
            <a:avLst/>
          </a:prstGeom>
          <a:noFill/>
          <a:ln w="6350">
            <a:solidFill>
              <a:srgbClr val="DCD9D0"/>
            </a:solidFill>
            <a:prstDash val="solid"/>
          </a:ln>
        </p:spPr>
      </p:sp>
      <p:sp>
        <p:nvSpPr>
          <p:cNvPr id="85" name="Shape 83"/>
          <p:cNvSpPr/>
          <p:nvPr/>
        </p:nvSpPr>
        <p:spPr>
          <a:xfrm>
            <a:off x="6204857" y="3840480"/>
            <a:ext cx="0" cy="347472"/>
          </a:xfrm>
          <a:prstGeom prst="line">
            <a:avLst/>
          </a:prstGeom>
          <a:noFill/>
          <a:ln w="6350">
            <a:solidFill>
              <a:srgbClr val="DCD9D0"/>
            </a:solidFill>
            <a:prstDash val="solid"/>
          </a:ln>
        </p:spPr>
      </p:sp>
      <p:sp>
        <p:nvSpPr>
          <p:cNvPr id="86" name="Shape 84"/>
          <p:cNvSpPr/>
          <p:nvPr/>
        </p:nvSpPr>
        <p:spPr>
          <a:xfrm>
            <a:off x="6825343" y="3840480"/>
            <a:ext cx="0" cy="347472"/>
          </a:xfrm>
          <a:prstGeom prst="line">
            <a:avLst/>
          </a:prstGeom>
          <a:noFill/>
          <a:ln w="6350">
            <a:solidFill>
              <a:srgbClr val="DCD9D0"/>
            </a:solidFill>
            <a:prstDash val="solid"/>
          </a:ln>
        </p:spPr>
      </p:sp>
      <p:sp>
        <p:nvSpPr>
          <p:cNvPr id="87" name="Shape 85"/>
          <p:cNvSpPr/>
          <p:nvPr/>
        </p:nvSpPr>
        <p:spPr>
          <a:xfrm>
            <a:off x="7445829" y="3840480"/>
            <a:ext cx="0" cy="347472"/>
          </a:xfrm>
          <a:prstGeom prst="line">
            <a:avLst/>
          </a:prstGeom>
          <a:noFill/>
          <a:ln w="6350">
            <a:solidFill>
              <a:srgbClr val="DCD9D0"/>
            </a:solidFill>
            <a:prstDash val="solid"/>
          </a:ln>
        </p:spPr>
      </p:sp>
      <p:sp>
        <p:nvSpPr>
          <p:cNvPr id="88" name="Shape 86"/>
          <p:cNvSpPr/>
          <p:nvPr/>
        </p:nvSpPr>
        <p:spPr>
          <a:xfrm>
            <a:off x="8066314" y="3840480"/>
            <a:ext cx="0" cy="347472"/>
          </a:xfrm>
          <a:prstGeom prst="line">
            <a:avLst/>
          </a:prstGeom>
          <a:noFill/>
          <a:ln w="6350">
            <a:solidFill>
              <a:srgbClr val="DCD9D0"/>
            </a:solidFill>
            <a:prstDash val="solid"/>
          </a:ln>
        </p:spPr>
      </p:sp>
      <p:sp>
        <p:nvSpPr>
          <p:cNvPr id="89" name="광고 실험 또는 새 게임 (11/23 결정) 막대"/>
          <p:cNvSpPr/>
          <p:nvPr/>
        </p:nvSpPr>
        <p:spPr>
          <a:xfrm>
            <a:off x="6871063" y="3950208"/>
            <a:ext cx="1149531" cy="128016"/>
          </a:xfrm>
          <a:prstGeom prst="roundRect">
            <a:avLst>
              <a:gd name="adj" fmla="val 42857"/>
            </a:avLst>
          </a:prstGeom>
          <a:solidFill>
            <a:schemeClr val="accent1"/>
          </a:solidFill>
          <a:ln w="12700">
            <a:solidFill>
              <a:schemeClr val="accent1"/>
            </a:solidFill>
            <a:prstDash val="solid"/>
          </a:ln>
        </p:spPr>
      </p:sp>
      <p:sp>
        <p:nvSpPr>
          <p:cNvPr id="90" name="Shape 88"/>
          <p:cNvSpPr/>
          <p:nvPr/>
        </p:nvSpPr>
        <p:spPr>
          <a:xfrm>
            <a:off x="457200" y="4187952"/>
            <a:ext cx="8229600" cy="0"/>
          </a:xfrm>
          <a:prstGeom prst="line">
            <a:avLst/>
          </a:prstGeom>
          <a:noFill/>
          <a:ln w="9525">
            <a:solidFill>
              <a:srgbClr val="DCD9D0"/>
            </a:solidFill>
            <a:prstDash val="solid"/>
          </a:ln>
        </p:spPr>
      </p:sp>
      <p:sp>
        <p:nvSpPr>
          <p:cNvPr id="91" name="Text 89"/>
          <p:cNvSpPr txBox="1"/>
          <p:nvPr/>
        </p:nvSpPr>
        <p:spPr>
          <a:xfrm>
            <a:off x="457200" y="4187952"/>
            <a:ext cx="2697480" cy="347472"/>
          </a:xfrm>
          <a:prstGeom prst="rect">
            <a:avLst/>
          </a:prstGeom>
          <a:noFill/>
          <a:ln/>
        </p:spPr>
        <p:txBody>
          <a:bodyPr wrap="square" lIns="0" tIns="0" rIns="0" bIns="0" rtlCol="0" anchor="ctr"/>
          <a:lstStyle/>
          <a:p>
            <a:pPr indent="0" marL="0">
              <a:buNone/>
            </a:pPr>
            <a:r>
              <a:rPr lang="en-US" sz="1100" dirty="0">
                <a:solidFill>
                  <a:schemeClr val="tx1"/>
                </a:solidFill>
              </a:rPr>
              <a:t>최종 보고서 · 발표 준비</a:t>
            </a:r>
            <a:endParaRPr lang="en-US" sz="1100" dirty="0"/>
          </a:p>
        </p:txBody>
      </p:sp>
      <p:sp>
        <p:nvSpPr>
          <p:cNvPr id="92" name="Text 90"/>
          <p:cNvSpPr txBox="1"/>
          <p:nvPr/>
        </p:nvSpPr>
        <p:spPr>
          <a:xfrm>
            <a:off x="3200400" y="4187952"/>
            <a:ext cx="1097280" cy="347472"/>
          </a:xfrm>
          <a:prstGeom prst="rect">
            <a:avLst/>
          </a:prstGeom>
          <a:noFill/>
          <a:ln/>
        </p:spPr>
        <p:txBody>
          <a:bodyPr wrap="square" lIns="0" tIns="0" rIns="0" bIns="0" rtlCol="0" anchor="ctr"/>
          <a:lstStyle/>
          <a:p>
            <a:pPr indent="0" marL="0">
              <a:buNone/>
            </a:pPr>
            <a:r>
              <a:rPr lang="en-US" sz="950" dirty="0">
                <a:solidFill>
                  <a:schemeClr val="accent5"/>
                </a:solidFill>
              </a:rPr>
              <a:t>전원</a:t>
            </a:r>
            <a:endParaRPr lang="en-US" sz="950" dirty="0"/>
          </a:p>
        </p:txBody>
      </p:sp>
      <p:sp>
        <p:nvSpPr>
          <p:cNvPr id="93" name="Shape 91"/>
          <p:cNvSpPr/>
          <p:nvPr/>
        </p:nvSpPr>
        <p:spPr>
          <a:xfrm>
            <a:off x="4343400" y="4187952"/>
            <a:ext cx="0" cy="347472"/>
          </a:xfrm>
          <a:prstGeom prst="line">
            <a:avLst/>
          </a:prstGeom>
          <a:noFill/>
          <a:ln w="6350">
            <a:solidFill>
              <a:srgbClr val="DCD9D0"/>
            </a:solidFill>
            <a:prstDash val="solid"/>
          </a:ln>
        </p:spPr>
      </p:sp>
      <p:sp>
        <p:nvSpPr>
          <p:cNvPr id="94" name="Shape 92"/>
          <p:cNvSpPr/>
          <p:nvPr/>
        </p:nvSpPr>
        <p:spPr>
          <a:xfrm>
            <a:off x="4963886" y="4187952"/>
            <a:ext cx="0" cy="347472"/>
          </a:xfrm>
          <a:prstGeom prst="line">
            <a:avLst/>
          </a:prstGeom>
          <a:noFill/>
          <a:ln w="6350">
            <a:solidFill>
              <a:srgbClr val="DCD9D0"/>
            </a:solidFill>
            <a:prstDash val="solid"/>
          </a:ln>
        </p:spPr>
      </p:sp>
      <p:sp>
        <p:nvSpPr>
          <p:cNvPr id="95" name="Shape 93"/>
          <p:cNvSpPr/>
          <p:nvPr/>
        </p:nvSpPr>
        <p:spPr>
          <a:xfrm>
            <a:off x="5584371" y="4187952"/>
            <a:ext cx="0" cy="347472"/>
          </a:xfrm>
          <a:prstGeom prst="line">
            <a:avLst/>
          </a:prstGeom>
          <a:noFill/>
          <a:ln w="6350">
            <a:solidFill>
              <a:srgbClr val="DCD9D0"/>
            </a:solidFill>
            <a:prstDash val="solid"/>
          </a:ln>
        </p:spPr>
      </p:sp>
      <p:sp>
        <p:nvSpPr>
          <p:cNvPr id="96" name="Shape 94"/>
          <p:cNvSpPr/>
          <p:nvPr/>
        </p:nvSpPr>
        <p:spPr>
          <a:xfrm>
            <a:off x="6204857" y="4187952"/>
            <a:ext cx="0" cy="347472"/>
          </a:xfrm>
          <a:prstGeom prst="line">
            <a:avLst/>
          </a:prstGeom>
          <a:noFill/>
          <a:ln w="6350">
            <a:solidFill>
              <a:srgbClr val="DCD9D0"/>
            </a:solidFill>
            <a:prstDash val="solid"/>
          </a:ln>
        </p:spPr>
      </p:sp>
      <p:sp>
        <p:nvSpPr>
          <p:cNvPr id="97" name="Shape 95"/>
          <p:cNvSpPr/>
          <p:nvPr/>
        </p:nvSpPr>
        <p:spPr>
          <a:xfrm>
            <a:off x="6825343" y="4187952"/>
            <a:ext cx="0" cy="347472"/>
          </a:xfrm>
          <a:prstGeom prst="line">
            <a:avLst/>
          </a:prstGeom>
          <a:noFill/>
          <a:ln w="6350">
            <a:solidFill>
              <a:srgbClr val="DCD9D0"/>
            </a:solidFill>
            <a:prstDash val="solid"/>
          </a:ln>
        </p:spPr>
      </p:sp>
      <p:sp>
        <p:nvSpPr>
          <p:cNvPr id="98" name="Shape 96"/>
          <p:cNvSpPr/>
          <p:nvPr/>
        </p:nvSpPr>
        <p:spPr>
          <a:xfrm>
            <a:off x="7445829" y="4187952"/>
            <a:ext cx="0" cy="347472"/>
          </a:xfrm>
          <a:prstGeom prst="line">
            <a:avLst/>
          </a:prstGeom>
          <a:noFill/>
          <a:ln w="6350">
            <a:solidFill>
              <a:srgbClr val="DCD9D0"/>
            </a:solidFill>
            <a:prstDash val="solid"/>
          </a:ln>
        </p:spPr>
      </p:sp>
      <p:sp>
        <p:nvSpPr>
          <p:cNvPr id="99" name="Shape 97"/>
          <p:cNvSpPr/>
          <p:nvPr/>
        </p:nvSpPr>
        <p:spPr>
          <a:xfrm>
            <a:off x="8066314" y="4187952"/>
            <a:ext cx="0" cy="347472"/>
          </a:xfrm>
          <a:prstGeom prst="line">
            <a:avLst/>
          </a:prstGeom>
          <a:noFill/>
          <a:ln w="6350">
            <a:solidFill>
              <a:srgbClr val="DCD9D0"/>
            </a:solidFill>
            <a:prstDash val="solid"/>
          </a:ln>
        </p:spPr>
      </p:sp>
      <p:sp>
        <p:nvSpPr>
          <p:cNvPr id="100" name="최종 보고서 · 발표 준비 막대"/>
          <p:cNvSpPr/>
          <p:nvPr/>
        </p:nvSpPr>
        <p:spPr>
          <a:xfrm>
            <a:off x="7491549" y="4297680"/>
            <a:ext cx="1149531" cy="128016"/>
          </a:xfrm>
          <a:prstGeom prst="roundRect">
            <a:avLst>
              <a:gd name="adj" fmla="val 42857"/>
            </a:avLst>
          </a:prstGeom>
          <a:solidFill>
            <a:schemeClr val="accent2"/>
          </a:solidFill>
          <a:ln w="12700">
            <a:solidFill>
              <a:schemeClr val="accent2"/>
            </a:solidFill>
            <a:prstDash val="solid"/>
          </a:ln>
        </p:spPr>
      </p:sp>
      <p:sp>
        <p:nvSpPr>
          <p:cNvPr id="101" name="Shape 99"/>
          <p:cNvSpPr/>
          <p:nvPr/>
        </p:nvSpPr>
        <p:spPr>
          <a:xfrm>
            <a:off x="457200" y="4535424"/>
            <a:ext cx="8229600" cy="0"/>
          </a:xfrm>
          <a:prstGeom prst="line">
            <a:avLst/>
          </a:prstGeom>
          <a:noFill/>
          <a:ln w="9525">
            <a:solidFill>
              <a:srgbClr val="DCD9D0"/>
            </a:solidFill>
            <a:prstDash val="solid"/>
          </a:ln>
        </p:spPr>
      </p:sp>
      <p:sp>
        <p:nvSpPr>
          <p:cNvPr id="102" name="Text 100"/>
          <p:cNvSpPr txBox="1"/>
          <p:nvPr/>
        </p:nvSpPr>
        <p:spPr>
          <a:xfrm>
            <a:off x="457200" y="4553712"/>
            <a:ext cx="8229600" cy="219456"/>
          </a:xfrm>
          <a:prstGeom prst="rect">
            <a:avLst/>
          </a:prstGeom>
          <a:noFill/>
          <a:ln/>
        </p:spPr>
        <p:txBody>
          <a:bodyPr wrap="square" lIns="0" tIns="0" rIns="0" bIns="0" rtlCol="0" anchor="ctr"/>
          <a:lstStyle/>
          <a:p>
            <a:pPr indent="0" marL="0">
              <a:buNone/>
            </a:pPr>
            <a:r>
              <a:rPr lang="en-US" sz="950" dirty="0">
                <a:solidFill>
                  <a:schemeClr val="accent5"/>
                </a:solidFill>
              </a:rPr>
              <a:t>중간발표 10/27 (화) → 기말 발표 12/15 (화) 예정</a:t>
            </a:r>
            <a:endParaRPr lang="en-US" sz="9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731520"/>
          </a:xfrm>
          <a:prstGeom prst="rect">
            <a:avLst/>
          </a:prstGeom>
          <a:noFill/>
          <a:ln/>
        </p:spPr>
        <p:txBody>
          <a:bodyPr wrap="square" lIns="0" tIns="0" rIns="0" bIns="0" rtlCol="0" anchor="t"/>
          <a:lstStyle/>
          <a:p>
            <a:pPr algn="l" indent="0" marL="0">
              <a:buNone/>
            </a:pPr>
            <a:r>
              <a:rPr lang="en-US" sz="3000" b="1" dirty="0">
                <a:solidFill>
                  <a:schemeClr val="bg1"/>
                </a:solidFill>
              </a:rPr>
              <a:t>⑧ 팀원별 R&amp;R</a:t>
            </a:r>
            <a:endParaRPr lang="en-US" sz="3000" dirty="0"/>
          </a:p>
        </p:txBody>
      </p:sp>
      <p:sp>
        <p:nvSpPr>
          <p:cNvPr id="3" name="Text 1"/>
          <p:cNvSpPr txBox="1"/>
          <p:nvPr/>
        </p:nvSpPr>
        <p:spPr>
          <a:xfrm>
            <a:off x="548640" y="1371600"/>
            <a:ext cx="2377440" cy="411480"/>
          </a:xfrm>
          <a:prstGeom prst="rect">
            <a:avLst/>
          </a:prstGeom>
          <a:noFill/>
          <a:ln/>
        </p:spPr>
        <p:txBody>
          <a:bodyPr wrap="square" lIns="0" tIns="0" rIns="0" bIns="0" rtlCol="0" anchor="ctr"/>
          <a:lstStyle/>
          <a:p>
            <a:pPr indent="0" marL="0">
              <a:buNone/>
            </a:pPr>
            <a:r>
              <a:rPr lang="en-US" sz="1800" b="1" dirty="0">
                <a:solidFill>
                  <a:schemeClr val="bg1"/>
                </a:solidFill>
              </a:rPr>
              <a:t>이지훈</a:t>
            </a:r>
            <a:pPr indent="0" marL="0">
              <a:buNone/>
            </a:pPr>
            <a:r>
              <a:rPr lang="en-US" sz="1000" dirty="0">
                <a:solidFill>
                  <a:schemeClr val="bg2"/>
                </a:solidFill>
              </a:rPr>
              <a:t>  팀장 · 개발</a:t>
            </a:r>
            <a:endParaRPr lang="en-US" sz="1800" dirty="0"/>
          </a:p>
        </p:txBody>
      </p:sp>
      <p:sp>
        <p:nvSpPr>
          <p:cNvPr id="4" name="Text 2"/>
          <p:cNvSpPr txBox="1"/>
          <p:nvPr/>
        </p:nvSpPr>
        <p:spPr>
          <a:xfrm>
            <a:off x="548640" y="1874520"/>
            <a:ext cx="2377440" cy="15544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bg1"/>
                </a:solidFill>
              </a:rPr>
              <a:t>기획 · 개발 · 배포</a:t>
            </a:r>
            <a:endParaRPr lang="en-US" sz="1150" dirty="0"/>
          </a:p>
          <a:p>
            <a:pPr marL="152400" indent="-152400">
              <a:spcAft>
                <a:spcPts val="400"/>
              </a:spcAft>
              <a:buSzPct val="100000"/>
              <a:buChar char="•"/>
            </a:pPr>
            <a:r>
              <a:rPr lang="en-US" sz="1150" dirty="0">
                <a:solidFill>
                  <a:schemeClr val="bg1"/>
                </a:solidFill>
              </a:rPr>
              <a:t>기록 등록 보강, 아이폰 검증</a:t>
            </a:r>
            <a:endParaRPr lang="en-US" sz="1150" dirty="0"/>
          </a:p>
          <a:p>
            <a:pPr marL="152400" indent="-152400">
              <a:spcAft>
                <a:spcPts val="400"/>
              </a:spcAft>
              <a:buSzPct val="100000"/>
              <a:buChar char="•"/>
            </a:pPr>
            <a:r>
              <a:rPr lang="en-US" sz="1150" dirty="0">
                <a:solidFill>
                  <a:schemeClr val="bg1"/>
                </a:solidFill>
              </a:rPr>
              <a:t>기술 · 법적 효력 질의응답</a:t>
            </a:r>
            <a:endParaRPr lang="en-US" sz="1150" dirty="0"/>
          </a:p>
        </p:txBody>
      </p:sp>
      <p:sp>
        <p:nvSpPr>
          <p:cNvPr id="5" name="Shape 3"/>
          <p:cNvSpPr/>
          <p:nvPr/>
        </p:nvSpPr>
        <p:spPr>
          <a:xfrm>
            <a:off x="3108960" y="1417320"/>
            <a:ext cx="0" cy="1737360"/>
          </a:xfrm>
          <a:prstGeom prst="line">
            <a:avLst/>
          </a:prstGeom>
          <a:noFill/>
          <a:ln w="9525">
            <a:solidFill>
              <a:srgbClr val="FFFFFF">
                <a:alpha val="40000"/>
              </a:srgbClr>
            </a:solidFill>
            <a:prstDash val="solid"/>
          </a:ln>
        </p:spPr>
      </p:sp>
      <p:sp>
        <p:nvSpPr>
          <p:cNvPr id="6" name="Text 4"/>
          <p:cNvSpPr txBox="1"/>
          <p:nvPr/>
        </p:nvSpPr>
        <p:spPr>
          <a:xfrm>
            <a:off x="3291840" y="1371600"/>
            <a:ext cx="2377440" cy="411480"/>
          </a:xfrm>
          <a:prstGeom prst="rect">
            <a:avLst/>
          </a:prstGeom>
          <a:noFill/>
          <a:ln/>
        </p:spPr>
        <p:txBody>
          <a:bodyPr wrap="square" lIns="0" tIns="0" rIns="0" bIns="0" rtlCol="0" anchor="ctr"/>
          <a:lstStyle/>
          <a:p>
            <a:pPr indent="0" marL="0">
              <a:buNone/>
            </a:pPr>
            <a:r>
              <a:rPr lang="en-US" sz="1800" b="1" dirty="0">
                <a:solidFill>
                  <a:schemeClr val="bg1"/>
                </a:solidFill>
              </a:rPr>
              <a:t>손유호</a:t>
            </a:r>
            <a:pPr indent="0" marL="0">
              <a:buNone/>
            </a:pPr>
            <a:r>
              <a:rPr lang="en-US" sz="1000" dirty="0">
                <a:solidFill>
                  <a:schemeClr val="bg2"/>
                </a:solidFill>
              </a:rPr>
              <a:t>  시장 · 수익</a:t>
            </a:r>
            <a:endParaRPr lang="en-US" sz="1800" dirty="0"/>
          </a:p>
        </p:txBody>
      </p:sp>
      <p:sp>
        <p:nvSpPr>
          <p:cNvPr id="7" name="Text 5"/>
          <p:cNvSpPr txBox="1"/>
          <p:nvPr/>
        </p:nvSpPr>
        <p:spPr>
          <a:xfrm>
            <a:off x="3291840" y="1874520"/>
            <a:ext cx="2377440" cy="15544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bg1"/>
                </a:solidFill>
              </a:rPr>
              <a:t>설문 30명 · 집계, 인터뷰 3명</a:t>
            </a:r>
            <a:endParaRPr lang="en-US" sz="1150" dirty="0"/>
          </a:p>
          <a:p>
            <a:pPr marL="152400" indent="-152400">
              <a:spcAft>
                <a:spcPts val="400"/>
              </a:spcAft>
              <a:buSzPct val="100000"/>
              <a:buChar char="•"/>
            </a:pPr>
            <a:r>
              <a:rPr lang="en-US" sz="1150" dirty="0">
                <a:solidFill>
                  <a:schemeClr val="bg1"/>
                </a:solidFill>
              </a:rPr>
              <a:t>비즈니스 모델, 광고 승인 신청</a:t>
            </a:r>
            <a:endParaRPr lang="en-US" sz="1150" dirty="0"/>
          </a:p>
          <a:p>
            <a:pPr marL="152400" indent="-152400">
              <a:spcAft>
                <a:spcPts val="400"/>
              </a:spcAft>
              <a:buSzPct val="100000"/>
              <a:buChar char="•"/>
            </a:pPr>
            <a:r>
              <a:rPr lang="en-US" sz="1150" dirty="0">
                <a:solidFill>
                  <a:schemeClr val="bg1"/>
                </a:solidFill>
              </a:rPr>
              <a:t>시장 · 경쟁사 조사</a:t>
            </a:r>
            <a:endParaRPr lang="en-US" sz="1150" dirty="0"/>
          </a:p>
        </p:txBody>
      </p:sp>
      <p:sp>
        <p:nvSpPr>
          <p:cNvPr id="8" name="Shape 6"/>
          <p:cNvSpPr/>
          <p:nvPr/>
        </p:nvSpPr>
        <p:spPr>
          <a:xfrm>
            <a:off x="5852160" y="1417320"/>
            <a:ext cx="0" cy="1737360"/>
          </a:xfrm>
          <a:prstGeom prst="line">
            <a:avLst/>
          </a:prstGeom>
          <a:noFill/>
          <a:ln w="9525">
            <a:solidFill>
              <a:srgbClr val="FFFFFF">
                <a:alpha val="40000"/>
              </a:srgbClr>
            </a:solidFill>
            <a:prstDash val="solid"/>
          </a:ln>
        </p:spPr>
      </p:sp>
      <p:sp>
        <p:nvSpPr>
          <p:cNvPr id="9" name="Text 7"/>
          <p:cNvSpPr txBox="1"/>
          <p:nvPr/>
        </p:nvSpPr>
        <p:spPr>
          <a:xfrm>
            <a:off x="6035040" y="1371600"/>
            <a:ext cx="2377440" cy="411480"/>
          </a:xfrm>
          <a:prstGeom prst="rect">
            <a:avLst/>
          </a:prstGeom>
          <a:noFill/>
          <a:ln/>
        </p:spPr>
        <p:txBody>
          <a:bodyPr wrap="square" lIns="0" tIns="0" rIns="0" bIns="0" rtlCol="0" anchor="ctr"/>
          <a:lstStyle/>
          <a:p>
            <a:pPr indent="0" marL="0">
              <a:buNone/>
            </a:pPr>
            <a:r>
              <a:rPr lang="en-US" sz="1800" b="1" dirty="0">
                <a:solidFill>
                  <a:schemeClr val="bg1"/>
                </a:solidFill>
              </a:rPr>
              <a:t>박명진</a:t>
            </a:r>
            <a:pPr indent="0" marL="0">
              <a:buNone/>
            </a:pPr>
            <a:r>
              <a:rPr lang="en-US" sz="1000" dirty="0">
                <a:solidFill>
                  <a:schemeClr val="bg2"/>
                </a:solidFill>
              </a:rPr>
              <a:t>  검증 · 일정</a:t>
            </a:r>
            <a:endParaRPr lang="en-US" sz="1800" dirty="0"/>
          </a:p>
        </p:txBody>
      </p:sp>
      <p:sp>
        <p:nvSpPr>
          <p:cNvPr id="10" name="Text 8"/>
          <p:cNvSpPr txBox="1"/>
          <p:nvPr/>
        </p:nvSpPr>
        <p:spPr>
          <a:xfrm>
            <a:off x="6035040" y="1874520"/>
            <a:ext cx="2377440" cy="15544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bg1"/>
                </a:solidFill>
              </a:rPr>
              <a:t>인터뷰 2명, 갤럭시 설치 · 테스트</a:t>
            </a:r>
            <a:endParaRPr lang="en-US" sz="1150" dirty="0"/>
          </a:p>
          <a:p>
            <a:pPr marL="152400" indent="-152400">
              <a:spcAft>
                <a:spcPts val="400"/>
              </a:spcAft>
              <a:buSzPct val="100000"/>
              <a:buChar char="•"/>
            </a:pPr>
            <a:r>
              <a:rPr lang="en-US" sz="1150" dirty="0">
                <a:solidFill>
                  <a:schemeClr val="bg1"/>
                </a:solidFill>
              </a:rPr>
              <a:t>일정 관리, 마일스톤 점검</a:t>
            </a:r>
            <a:endParaRPr lang="en-US" sz="1150" dirty="0"/>
          </a:p>
          <a:p>
            <a:pPr marL="152400" indent="-152400">
              <a:spcAft>
                <a:spcPts val="400"/>
              </a:spcAft>
              <a:buSzPct val="100000"/>
              <a:buChar char="•"/>
            </a:pPr>
            <a:r>
              <a:rPr lang="en-US" sz="1150" dirty="0">
                <a:solidFill>
                  <a:schemeClr val="bg1"/>
                </a:solidFill>
              </a:rPr>
              <a:t>보고서 편집</a:t>
            </a:r>
            <a:endParaRPr lang="en-US" sz="1150" dirty="0"/>
          </a:p>
        </p:txBody>
      </p:sp>
      <p:sp>
        <p:nvSpPr>
          <p:cNvPr id="11" name="Text 9"/>
          <p:cNvSpPr txBox="1"/>
          <p:nvPr/>
        </p:nvSpPr>
        <p:spPr>
          <a:xfrm>
            <a:off x="548640" y="3931920"/>
            <a:ext cx="8046720" cy="365760"/>
          </a:xfrm>
          <a:prstGeom prst="rect">
            <a:avLst/>
          </a:prstGeom>
          <a:noFill/>
          <a:ln/>
        </p:spPr>
        <p:txBody>
          <a:bodyPr wrap="square" lIns="0" tIns="0" rIns="0" bIns="0" rtlCol="0" anchor="ctr"/>
          <a:lstStyle/>
          <a:p>
            <a:pPr indent="0" marL="0">
              <a:buNone/>
            </a:pPr>
            <a:r>
              <a:rPr lang="en-US" sz="1200" dirty="0">
                <a:solidFill>
                  <a:schemeClr val="bg2"/>
                </a:solidFill>
              </a:rPr>
              <a:t>각자 맡은 일이 오늘 발표한 장과 같습니다</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8046720" cy="731520"/>
          </a:xfrm>
          <a:prstGeom prst="rect">
            <a:avLst/>
          </a:prstGeom>
          <a:noFill/>
          <a:ln/>
        </p:spPr>
        <p:txBody>
          <a:bodyPr wrap="square" lIns="0" tIns="0" rIns="0" bIns="0" rtlCol="0" anchor="t"/>
          <a:lstStyle/>
          <a:p>
            <a:pPr algn="l" indent="0" marL="0">
              <a:buNone/>
            </a:pPr>
            <a:r>
              <a:rPr lang="en-US" sz="3000" b="1" dirty="0">
                <a:solidFill>
                  <a:schemeClr val="bg1"/>
                </a:solidFill>
              </a:rPr>
              <a:t>못 받은 알바비, 기록으로 찾는 앱</a:t>
            </a:r>
            <a:endParaRPr lang="en-US" sz="3000" dirty="0"/>
          </a:p>
        </p:txBody>
      </p:sp>
      <p:sp>
        <p:nvSpPr>
          <p:cNvPr id="3" name="Shape 1"/>
          <p:cNvSpPr/>
          <p:nvPr/>
        </p:nvSpPr>
        <p:spPr>
          <a:xfrm>
            <a:off x="548640" y="1463040"/>
            <a:ext cx="4754880" cy="0"/>
          </a:xfrm>
          <a:prstGeom prst="line">
            <a:avLst/>
          </a:prstGeom>
          <a:noFill/>
          <a:ln w="9525">
            <a:solidFill>
              <a:srgbClr val="FFFFFF">
                <a:alpha val="40000"/>
              </a:srgbClr>
            </a:solidFill>
            <a:prstDash val="solid"/>
          </a:ln>
        </p:spPr>
      </p:sp>
      <p:sp>
        <p:nvSpPr>
          <p:cNvPr id="4" name="Text 2"/>
          <p:cNvSpPr txBox="1"/>
          <p:nvPr/>
        </p:nvSpPr>
        <p:spPr>
          <a:xfrm>
            <a:off x="548640" y="1508760"/>
            <a:ext cx="2011680" cy="548640"/>
          </a:xfrm>
          <a:prstGeom prst="rect">
            <a:avLst/>
          </a:prstGeom>
          <a:noFill/>
          <a:ln/>
        </p:spPr>
        <p:txBody>
          <a:bodyPr wrap="square" lIns="0" tIns="0" rIns="0" bIns="0" rtlCol="0" anchor="ctr"/>
          <a:lstStyle/>
          <a:p>
            <a:pPr indent="0" marL="0">
              <a:buNone/>
            </a:pPr>
            <a:r>
              <a:rPr lang="en-US" sz="1600" b="1" dirty="0">
                <a:solidFill>
                  <a:schemeClr val="bg1"/>
                </a:solidFill>
              </a:rPr>
              <a:t>배포됨</a:t>
            </a:r>
            <a:endParaRPr lang="en-US" sz="1600" dirty="0"/>
          </a:p>
        </p:txBody>
      </p:sp>
      <p:sp>
        <p:nvSpPr>
          <p:cNvPr id="5" name="Text 3"/>
          <p:cNvSpPr txBox="1"/>
          <p:nvPr/>
        </p:nvSpPr>
        <p:spPr>
          <a:xfrm>
            <a:off x="2560320" y="1508760"/>
            <a:ext cx="2743200" cy="548640"/>
          </a:xfrm>
          <a:prstGeom prst="rect">
            <a:avLst/>
          </a:prstGeom>
          <a:noFill/>
          <a:ln/>
        </p:spPr>
        <p:txBody>
          <a:bodyPr wrap="square" lIns="0" tIns="0" rIns="0" bIns="0" rtlCol="0" anchor="ctr"/>
          <a:lstStyle/>
          <a:p>
            <a:pPr algn="r" indent="0" marL="0">
              <a:buNone/>
            </a:pPr>
            <a:r>
              <a:rPr lang="en-US" sz="1100" dirty="0">
                <a:solidFill>
                  <a:schemeClr val="bg2"/>
                </a:solidFill>
              </a:rPr>
              <a:t>jihooni217.github.io/albaguard</a:t>
            </a:r>
            <a:endParaRPr lang="en-US" sz="1100" dirty="0"/>
          </a:p>
          <a:p>
            <a:pPr algn="r" indent="0" marL="0">
              <a:buNone/>
            </a:pPr>
            <a:r>
              <a:rPr lang="en-US" sz="1100" dirty="0">
                <a:solidFill>
                  <a:schemeClr val="bg2"/>
                </a:solidFill>
              </a:rPr>
              <a:t>시연 기록 확인 번호 da3e2a7ad7e298db</a:t>
            </a:r>
            <a:endParaRPr lang="en-US" sz="1100" dirty="0"/>
          </a:p>
        </p:txBody>
      </p:sp>
      <p:sp>
        <p:nvSpPr>
          <p:cNvPr id="6" name="Shape 4"/>
          <p:cNvSpPr/>
          <p:nvPr/>
        </p:nvSpPr>
        <p:spPr>
          <a:xfrm>
            <a:off x="548640" y="2121408"/>
            <a:ext cx="4754880" cy="0"/>
          </a:xfrm>
          <a:prstGeom prst="line">
            <a:avLst/>
          </a:prstGeom>
          <a:noFill/>
          <a:ln w="9525">
            <a:solidFill>
              <a:srgbClr val="FFFFFF">
                <a:alpha val="40000"/>
              </a:srgbClr>
            </a:solidFill>
            <a:prstDash val="solid"/>
          </a:ln>
        </p:spPr>
      </p:sp>
      <p:sp>
        <p:nvSpPr>
          <p:cNvPr id="7" name="Text 5"/>
          <p:cNvSpPr txBox="1"/>
          <p:nvPr/>
        </p:nvSpPr>
        <p:spPr>
          <a:xfrm>
            <a:off x="548640" y="2167128"/>
            <a:ext cx="2011680" cy="548640"/>
          </a:xfrm>
          <a:prstGeom prst="rect">
            <a:avLst/>
          </a:prstGeom>
          <a:noFill/>
          <a:ln/>
        </p:spPr>
        <p:txBody>
          <a:bodyPr wrap="square" lIns="0" tIns="0" rIns="0" bIns="0" rtlCol="0" anchor="ctr"/>
          <a:lstStyle/>
          <a:p>
            <a:pPr indent="0" marL="0">
              <a:buNone/>
            </a:pPr>
            <a:r>
              <a:rPr lang="en-US" sz="1600" b="1" dirty="0">
                <a:solidFill>
                  <a:schemeClr val="bg1"/>
                </a:solidFill>
              </a:rPr>
              <a:t>기능 8 / 8 동작</a:t>
            </a:r>
            <a:endParaRPr lang="en-US" sz="1600" dirty="0"/>
          </a:p>
        </p:txBody>
      </p:sp>
      <p:sp>
        <p:nvSpPr>
          <p:cNvPr id="8" name="Text 6"/>
          <p:cNvSpPr txBox="1"/>
          <p:nvPr/>
        </p:nvSpPr>
        <p:spPr>
          <a:xfrm>
            <a:off x="2560320" y="2167128"/>
            <a:ext cx="2743200" cy="548640"/>
          </a:xfrm>
          <a:prstGeom prst="rect">
            <a:avLst/>
          </a:prstGeom>
          <a:noFill/>
          <a:ln/>
        </p:spPr>
        <p:txBody>
          <a:bodyPr wrap="square" lIns="0" tIns="0" rIns="0" bIns="0" rtlCol="0" anchor="ctr"/>
          <a:lstStyle/>
          <a:p>
            <a:pPr algn="r" indent="0" marL="0">
              <a:buNone/>
            </a:pPr>
            <a:r>
              <a:rPr lang="en-US" sz="1100" dirty="0">
                <a:solidFill>
                  <a:schemeClr val="bg2"/>
                </a:solidFill>
              </a:rPr>
              <a:t>완성도 평균 약 80%, 사용자 검증은 11월</a:t>
            </a:r>
            <a:endParaRPr lang="en-US" sz="1100" dirty="0"/>
          </a:p>
        </p:txBody>
      </p:sp>
      <p:sp>
        <p:nvSpPr>
          <p:cNvPr id="9" name="Shape 7"/>
          <p:cNvSpPr/>
          <p:nvPr/>
        </p:nvSpPr>
        <p:spPr>
          <a:xfrm>
            <a:off x="548640" y="2779776"/>
            <a:ext cx="4754880" cy="0"/>
          </a:xfrm>
          <a:prstGeom prst="line">
            <a:avLst/>
          </a:prstGeom>
          <a:noFill/>
          <a:ln w="9525">
            <a:solidFill>
              <a:srgbClr val="FFFFFF">
                <a:alpha val="40000"/>
              </a:srgbClr>
            </a:solidFill>
            <a:prstDash val="solid"/>
          </a:ln>
        </p:spPr>
      </p:sp>
      <p:sp>
        <p:nvSpPr>
          <p:cNvPr id="10" name="Text 8"/>
          <p:cNvSpPr txBox="1"/>
          <p:nvPr/>
        </p:nvSpPr>
        <p:spPr>
          <a:xfrm>
            <a:off x="548640" y="2825496"/>
            <a:ext cx="2011680" cy="548640"/>
          </a:xfrm>
          <a:prstGeom prst="rect">
            <a:avLst/>
          </a:prstGeom>
          <a:noFill/>
          <a:ln/>
        </p:spPr>
        <p:txBody>
          <a:bodyPr wrap="square" lIns="0" tIns="0" rIns="0" bIns="0" rtlCol="0" anchor="ctr"/>
          <a:lstStyle/>
          <a:p>
            <a:pPr indent="0" marL="0">
              <a:buNone/>
            </a:pPr>
            <a:r>
              <a:rPr lang="en-US" sz="1600" b="1" dirty="0">
                <a:solidFill>
                  <a:schemeClr val="bg1"/>
                </a:solidFill>
              </a:rPr>
              <a:t>11월</a:t>
            </a:r>
            <a:endParaRPr lang="en-US" sz="1600" dirty="0"/>
          </a:p>
        </p:txBody>
      </p:sp>
      <p:sp>
        <p:nvSpPr>
          <p:cNvPr id="11" name="Text 9"/>
          <p:cNvSpPr txBox="1"/>
          <p:nvPr/>
        </p:nvSpPr>
        <p:spPr>
          <a:xfrm>
            <a:off x="2560320" y="2825496"/>
            <a:ext cx="2743200" cy="548640"/>
          </a:xfrm>
          <a:prstGeom prst="rect">
            <a:avLst/>
          </a:prstGeom>
          <a:noFill/>
          <a:ln/>
        </p:spPr>
        <p:txBody>
          <a:bodyPr wrap="square" lIns="0" tIns="0" rIns="0" bIns="0" rtlCol="0" anchor="ctr"/>
          <a:lstStyle/>
          <a:p>
            <a:pPr algn="r" indent="0" marL="0">
              <a:buNone/>
            </a:pPr>
            <a:r>
              <a:rPr lang="en-US" sz="1100" dirty="0">
                <a:solidFill>
                  <a:schemeClr val="bg2"/>
                </a:solidFill>
              </a:rPr>
              <a:t>링크 설문 30명 + 직접 인터뷰 5명</a:t>
            </a:r>
            <a:endParaRPr lang="en-US" sz="1100" dirty="0"/>
          </a:p>
        </p:txBody>
      </p:sp>
      <p:sp>
        <p:nvSpPr>
          <p:cNvPr id="12" name="Shape 10"/>
          <p:cNvSpPr/>
          <p:nvPr/>
        </p:nvSpPr>
        <p:spPr>
          <a:xfrm>
            <a:off x="548640" y="3438144"/>
            <a:ext cx="4754880" cy="0"/>
          </a:xfrm>
          <a:prstGeom prst="line">
            <a:avLst/>
          </a:prstGeom>
          <a:noFill/>
          <a:ln w="9525">
            <a:solidFill>
              <a:srgbClr val="FFFFFF">
                <a:alpha val="40000"/>
              </a:srgbClr>
            </a:solidFill>
            <a:prstDash val="solid"/>
          </a:ln>
        </p:spPr>
      </p:sp>
      <p:sp>
        <p:nvSpPr>
          <p:cNvPr id="13" name="앱 설치 바탕"/>
          <p:cNvSpPr/>
          <p:nvPr/>
        </p:nvSpPr>
        <p:spPr>
          <a:xfrm>
            <a:off x="5687568" y="1389888"/>
            <a:ext cx="1426464" cy="1426464"/>
          </a:xfrm>
          <a:prstGeom prst="rect">
            <a:avLst/>
          </a:prstGeom>
          <a:solidFill>
            <a:srgbClr val="FFFFFF"/>
          </a:solidFill>
          <a:ln w="12700">
            <a:solidFill>
              <a:srgbClr val="FFFFFF"/>
            </a:solidFill>
            <a:prstDash val="solid"/>
          </a:ln>
        </p:spPr>
      </p:sp>
      <p:pic>
        <p:nvPicPr>
          <p:cNvPr id="14" name="앱 설치" descr="C:\Users\user\Desktop\albaguard기술창업\docs\report_src\qr_app.png">    </p:cNvPr>
          <p:cNvPicPr>
            <a:picLocks noChangeAspect="1"/>
          </p:cNvPicPr>
          <p:nvPr/>
        </p:nvPicPr>
        <p:blipFill>
          <a:blip r:embed="rId1"/>
          <a:stretch>
            <a:fillRect/>
          </a:stretch>
        </p:blipFill>
        <p:spPr>
          <a:xfrm>
            <a:off x="5760720" y="1463040"/>
            <a:ext cx="1280160" cy="1280160"/>
          </a:xfrm>
          <a:prstGeom prst="rect">
            <a:avLst/>
          </a:prstGeom>
        </p:spPr>
      </p:pic>
      <p:sp>
        <p:nvSpPr>
          <p:cNvPr id="15" name="Text 12"/>
          <p:cNvSpPr txBox="1"/>
          <p:nvPr/>
        </p:nvSpPr>
        <p:spPr>
          <a:xfrm>
            <a:off x="5577840" y="2880360"/>
            <a:ext cx="1645920" cy="274320"/>
          </a:xfrm>
          <a:prstGeom prst="rect">
            <a:avLst/>
          </a:prstGeom>
          <a:noFill/>
          <a:ln/>
        </p:spPr>
        <p:txBody>
          <a:bodyPr wrap="square" lIns="0" tIns="0" rIns="0" bIns="0" rtlCol="0" anchor="ctr"/>
          <a:lstStyle/>
          <a:p>
            <a:pPr algn="ctr" indent="0" marL="0">
              <a:buNone/>
            </a:pPr>
            <a:r>
              <a:rPr lang="en-US" sz="1150" b="1" dirty="0">
                <a:solidFill>
                  <a:schemeClr val="bg1"/>
                </a:solidFill>
              </a:rPr>
              <a:t>앱 설치</a:t>
            </a:r>
            <a:endParaRPr lang="en-US" sz="1150" dirty="0"/>
          </a:p>
        </p:txBody>
      </p:sp>
      <p:sp>
        <p:nvSpPr>
          <p:cNvPr id="16" name="Text 13"/>
          <p:cNvSpPr txBox="1"/>
          <p:nvPr/>
        </p:nvSpPr>
        <p:spPr>
          <a:xfrm>
            <a:off x="5486400" y="3154680"/>
            <a:ext cx="1828800" cy="411480"/>
          </a:xfrm>
          <a:prstGeom prst="rect">
            <a:avLst/>
          </a:prstGeom>
          <a:noFill/>
          <a:ln/>
        </p:spPr>
        <p:txBody>
          <a:bodyPr wrap="square" lIns="0" tIns="0" rIns="0" bIns="0" rtlCol="0" anchor="t"/>
          <a:lstStyle/>
          <a:p>
            <a:pPr algn="ctr" indent="0" marL="0">
              <a:buNone/>
            </a:pPr>
            <a:r>
              <a:rPr lang="en-US" sz="900" dirty="0">
                <a:solidFill>
                  <a:schemeClr val="bg2"/>
                </a:solidFill>
              </a:rPr>
              <a:t>홈 화면에 추가</a:t>
            </a:r>
            <a:endParaRPr lang="en-US" sz="900" dirty="0"/>
          </a:p>
        </p:txBody>
      </p:sp>
      <p:sp>
        <p:nvSpPr>
          <p:cNvPr id="17" name="설문 3분 바탕"/>
          <p:cNvSpPr/>
          <p:nvPr/>
        </p:nvSpPr>
        <p:spPr>
          <a:xfrm>
            <a:off x="7287768" y="1389888"/>
            <a:ext cx="1426464" cy="1426464"/>
          </a:xfrm>
          <a:prstGeom prst="rect">
            <a:avLst/>
          </a:prstGeom>
          <a:solidFill>
            <a:srgbClr val="FFFFFF"/>
          </a:solidFill>
          <a:ln w="12700">
            <a:solidFill>
              <a:srgbClr val="FFFFFF"/>
            </a:solidFill>
            <a:prstDash val="solid"/>
          </a:ln>
        </p:spPr>
      </p:sp>
      <p:pic>
        <p:nvPicPr>
          <p:cNvPr id="18" name="설문 3분" descr="C:\Users\user\Desktop\albaguard기술창업\docs\report_src\qr_survey.png">    </p:cNvPr>
          <p:cNvPicPr>
            <a:picLocks noChangeAspect="1"/>
          </p:cNvPicPr>
          <p:nvPr/>
        </p:nvPicPr>
        <p:blipFill>
          <a:blip r:embed="rId2"/>
          <a:stretch>
            <a:fillRect/>
          </a:stretch>
        </p:blipFill>
        <p:spPr>
          <a:xfrm>
            <a:off x="7360920" y="1463040"/>
            <a:ext cx="1280160" cy="1280160"/>
          </a:xfrm>
          <a:prstGeom prst="rect">
            <a:avLst/>
          </a:prstGeom>
        </p:spPr>
      </p:pic>
      <p:sp>
        <p:nvSpPr>
          <p:cNvPr id="19" name="Text 15"/>
          <p:cNvSpPr txBox="1"/>
          <p:nvPr/>
        </p:nvSpPr>
        <p:spPr>
          <a:xfrm>
            <a:off x="7178040" y="2880360"/>
            <a:ext cx="1645920" cy="274320"/>
          </a:xfrm>
          <a:prstGeom prst="rect">
            <a:avLst/>
          </a:prstGeom>
          <a:noFill/>
          <a:ln/>
        </p:spPr>
        <p:txBody>
          <a:bodyPr wrap="square" lIns="0" tIns="0" rIns="0" bIns="0" rtlCol="0" anchor="ctr"/>
          <a:lstStyle/>
          <a:p>
            <a:pPr algn="ctr" indent="0" marL="0">
              <a:buNone/>
            </a:pPr>
            <a:r>
              <a:rPr lang="en-US" sz="1150" b="1" dirty="0">
                <a:solidFill>
                  <a:schemeClr val="bg1"/>
                </a:solidFill>
              </a:rPr>
              <a:t>설문 3분</a:t>
            </a:r>
            <a:endParaRPr lang="en-US" sz="1150" dirty="0"/>
          </a:p>
        </p:txBody>
      </p:sp>
      <p:sp>
        <p:nvSpPr>
          <p:cNvPr id="20" name="Text 16"/>
          <p:cNvSpPr txBox="1"/>
          <p:nvPr/>
        </p:nvSpPr>
        <p:spPr>
          <a:xfrm>
            <a:off x="7086600" y="3154680"/>
            <a:ext cx="1828800" cy="411480"/>
          </a:xfrm>
          <a:prstGeom prst="rect">
            <a:avLst/>
          </a:prstGeom>
          <a:noFill/>
          <a:ln/>
        </p:spPr>
        <p:txBody>
          <a:bodyPr wrap="square" lIns="0" tIns="0" rIns="0" bIns="0" rtlCol="0" anchor="t"/>
          <a:lstStyle/>
          <a:p>
            <a:pPr algn="ctr" indent="0" marL="0">
              <a:buNone/>
            </a:pPr>
            <a:r>
              <a:rPr lang="en-US" sz="900" dirty="0">
                <a:solidFill>
                  <a:schemeClr val="bg2"/>
                </a:solidFill>
              </a:rPr>
              <a:t>이름 · 연락처 없음</a:t>
            </a:r>
            <a:endParaRPr lang="en-US" sz="900" dirty="0"/>
          </a:p>
        </p:txBody>
      </p:sp>
      <p:sp>
        <p:nvSpPr>
          <p:cNvPr id="21" name="Text 17"/>
          <p:cNvSpPr txBox="1"/>
          <p:nvPr/>
        </p:nvSpPr>
        <p:spPr>
          <a:xfrm>
            <a:off x="548640" y="3977640"/>
            <a:ext cx="8046720" cy="365760"/>
          </a:xfrm>
          <a:prstGeom prst="rect">
            <a:avLst/>
          </a:prstGeom>
          <a:noFill/>
          <a:ln/>
        </p:spPr>
        <p:txBody>
          <a:bodyPr wrap="square" lIns="0" tIns="0" rIns="0" bIns="0" rtlCol="0" anchor="ctr"/>
          <a:lstStyle/>
          <a:p>
            <a:pPr indent="0" marL="0">
              <a:buNone/>
            </a:pPr>
            <a:r>
              <a:rPr lang="en-US" sz="1300" dirty="0">
                <a:solidFill>
                  <a:schemeClr val="bg2"/>
                </a:solidFill>
              </a:rPr>
              <a:t>지금 답해 주시면 기말 발표 때 결과로 보여 드립니다</a:t>
            </a:r>
            <a:endParaRPr lang="en-US" sz="1300" dirty="0"/>
          </a:p>
        </p:txBody>
      </p:sp>
      <p:sp>
        <p:nvSpPr>
          <p:cNvPr id="22" name="Text 18"/>
          <p:cNvSpPr txBox="1"/>
          <p:nvPr/>
        </p:nvSpPr>
        <p:spPr>
          <a:xfrm>
            <a:off x="548640" y="4343400"/>
            <a:ext cx="8046720" cy="365760"/>
          </a:xfrm>
          <a:prstGeom prst="rect">
            <a:avLst/>
          </a:prstGeom>
          <a:noFill/>
          <a:ln/>
        </p:spPr>
        <p:txBody>
          <a:bodyPr wrap="square" lIns="0" tIns="0" rIns="0" bIns="0" rtlCol="0" anchor="ctr"/>
          <a:lstStyle/>
          <a:p>
            <a:pPr indent="0" marL="0">
              <a:buNone/>
            </a:pPr>
            <a:r>
              <a:rPr lang="en-US" sz="1400" b="1" dirty="0">
                <a:solidFill>
                  <a:schemeClr val="bg1"/>
                </a:solidFill>
              </a:rPr>
              <a:t>감사합니다</a:t>
            </a:r>
            <a:endParaRPr lang="en-US" sz="1400" dirty="0"/>
          </a:p>
        </p:txBody>
      </p:sp>
    </p:spTree>
  </p:cSld>
  <p:clrMapOvr>
    <a:masterClrMapping/>
  </p:clrMapOvr>
</p:sld>
</file>

<file path=ppt/theme/theme1.xml><?xml version="1.0" encoding="utf-8"?>
<a:theme xmlns:a="http://schemas.openxmlformats.org/drawingml/2006/main" name="Albaguard">
  <a:themeElements>
    <a:clrScheme name="Albaguard">
      <a:dk1>
        <a:srgbClr val="15171A"/>
      </a:dk1>
      <a:lt1>
        <a:srgbClr val="FFFFFF"/>
      </a:lt1>
      <a:dk2>
        <a:srgbClr val="2A3193"/>
      </a:dk2>
      <a:lt2>
        <a:srgbClr val="F4F3EF"/>
      </a:lt2>
      <a:accent1>
        <a:srgbClr val="2A3193"/>
      </a:accent1>
      <a:accent2>
        <a:srgbClr val="0F7A55"/>
      </a:accent2>
      <a:accent3>
        <a:srgbClr val="C2331C"/>
      </a:accent3>
      <a:accent4>
        <a:srgbClr val="5A63E6"/>
      </a:accent4>
      <a:accent5>
        <a:srgbClr val="5D636D"/>
      </a:accent5>
      <a:accent6>
        <a:srgbClr val="DCD9D0"/>
      </a:accent6>
      <a:hlink>
        <a:srgbClr val="2A3193"/>
      </a:hlink>
      <a:folHlink>
        <a:srgbClr val="5A63E6"/>
      </a:folHlink>
    </a:clrScheme>
    <a:fontScheme name="Albaguard">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알바가드 중간발표</dc:title>
  <dc:subject>PptxGenJS Presentation</dc:subject>
  <dc:creator>4조</dc:creator>
  <cp:lastModifiedBy>4조</cp:lastModifiedBy>
  <cp:revision>1</cp:revision>
  <dcterms:created xsi:type="dcterms:W3CDTF">2026-10-26T05:00:41Z</dcterms:created>
  <dcterms:modified xsi:type="dcterms:W3CDTF">2026-10-26T05:00:41Z</dcterms:modified>
</cp:coreProperties>
</file>