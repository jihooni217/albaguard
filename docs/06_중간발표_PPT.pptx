
<file path=[Content_Types].xml><?xml version="1.0" encoding="utf-8"?>
<Types xmlns="http://schemas.openxmlformats.org/package/2006/content-types">
  <Default Extension="jpg" ContentType="image/jp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1A9D35B9-A985-D17C-B8B6-007CEA92870D}">
          <p14:sldIdLst>
            <p14:sldId id="256"/>
            <p14:sldId id="257"/>
          </p14:sldIdLst>
        </p14:section>
        <p14:section name="② 문제 정의" id="{3E2535C3-B866-B8C3-2453-5802419064C2}">
          <p14:sldIdLst>
            <p14:sldId id="258"/>
            <p14:sldId id="259"/>
          </p14:sldIdLst>
        </p14:section>
        <p14:section name="③ 솔루션·핵심 가치" id="{656FFE6B-08EE-451B-64AF-375C4FBF0F82}">
          <p14:sldIdLst>
            <p14:sldId id="260"/>
            <p14:sldId id="261"/>
          </p14:sldIdLst>
        </p14:section>
        <p14:section name="④ SW 기술 아키텍처" id="{0C897D08-2DF4-E7D2-00F4-DAB724A36756}">
          <p14:sldIdLst>
            <p14:sldId id="262"/>
            <p14:sldId id="263"/>
          </p14:sldIdLst>
        </p14:section>
        <p14:section name="⑤ 개발 현황·MVP 시연" id="{A8C64C2D-C1CB-D779-18B7-A64C7ADB2FAA}">
          <p14:sldIdLst>
            <p14:sldId id="264"/>
            <p14:sldId id="265"/>
            <p14:sldId id="266"/>
            <p14:sldId id="267"/>
          </p14:sldIdLst>
        </p14:section>
        <p14:section name="⑥ 시장 분석·비즈니스 모델" id="{94CE352D-9EF0-40A6-4EB7-4408BF35944D}">
          <p14:sldIdLst>
            <p14:sldId id="268"/>
            <p14:sldId id="269"/>
            <p14:sldId id="270"/>
          </p14:sldIdLst>
        </p14:section>
        <p14:section name="⑦ 초기 시장 검증" id="{B01D13A2-6358-03D1-11B2-FDCCCD8D1077}">
          <p14:sldIdLst>
            <p14:sldId id="271"/>
          </p14:sldIdLst>
        </p14:section>
        <p14:section name="⑧ 향후 계획·팀 역량" id="{267A8146-DB8D-A02E-F4B9-BE411B64343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10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spPr>
              <a:noFill/>
              <a:ln>
                <a:noFill/>
              </a:ln>
              <a:effectLst/>
            </c:spPr>
            <c:txPr>
              <a:bodyPr/>
              <a:lstStyle/>
              <a:p>
                <a:pPr>
                  <a:defRPr sz="1100" b="0" i="0" u="none" strike="noStrike">
                    <a:solidFill>
                      <a:srgbClr val="15171A"/>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2024</c:v>
                </c:pt>
                <c:pt idx="2">
                  <c:v>2025</c:v>
                </c:pt>
              </c:strCache>
            </c:strRef>
          </c:cat>
          <c:val>
            <c:numRef>
              <c:f>Sheet1!$B$2:$B$4</c:f>
              <c:numCache>
                <c:formatCode>General</c:formatCode>
                <c:ptCount val="3"/>
                <c:pt idx="0">
                  <c:v>17845</c:v>
                </c:pt>
                <c:pt idx="1">
                  <c:v>20448</c:v>
                </c:pt>
                <c:pt idx="2">
                  <c:v>20679</c:v>
                </c:pt>
              </c:numCache>
            </c:numRef>
          </c:val>
          <c:extLst>
            <c:ext xmlns:c16="http://schemas.microsoft.com/office/drawing/2014/chart" uri="{C3380CC4-5D6E-409C-BE32-E72D297353CC}">
              <c16:uniqueId val="{00000000-C599-4E45-A850-F8815EE27813}"/>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lblOffset val="100"/>
        <c:noMultiLvlLbl val="1"/>
      </c:catAx>
      <c:valAx>
        <c:axId val="2094734552"/>
        <c:scaling>
          <c:orientation val="minMax"/>
          <c:max val="24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952239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"화면의 269,352원은 앱 예시 데이터에서 두 달 동안 덜 받은 돈입니다. 통장 총액만 봐서는 보이지 않는 돈입니다. 알바비를 덜 받아도 모르고, 알아도 말을 못 하는 대학생을 위해, 기록 → 비교 → 요청까지 한 앱으로 잇는 알바가드입니다." 팀명은 앱 이름과 같은 알바가드입니다.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교수님께서 괜찮으시면 발표가 끝난 뒤 질의응답 시간에 답해 주셔도 됩니다. 역할은 개발 이지훈, 시장 · 수익 손유호, 검증 · 일정 박명진이고 발표도 그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 48.0%는 알아챈 사람만 센 숫자라, "알아채기 어렵다"의 근거로는 저희 설문에서 통장 총액만 본다는 12명 중 7명을 같이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 · 기록 번호 · 무작위 기기 번호뿐입니다. 기기 번호는 처음 기록을 등록할 때 앱이 만든 난수라 휴대전화 번호가 아닙니다. 다만 출근 · 퇴근을 누를 때 바로 등록되므로, 등록 시각을 보면 언제쯤 기록했는지는 서버에서도 짐작할 수 있습니다. 기기 번호는 무작위라 이름과 이어지지는 않습니다.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앱에서 출근 · 퇴근을 눌러, 설정의 등록 건수가 2건 늘어나는 것만 보여 줍니다. (전날 · 당일 준비는 팀원 요약의 팀장 체크리스트에)</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늘었으면 결과 페이지의 숫자로 "지금은 N명"이라고 덧붙입니다. 1행은 의향을 물은 것이라, 실제로 넣는지는 인터뷰 때 앱을 설치하게 하고 급여일 뒤에 따로 봅니다. 지인이라 호의적으로 답하기 쉬워서 "넣겠다"를 그대로 믿지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마무리(25초): "처음 보여 드린 269,352원처럼, 통장만 봐서는 안 보이던 돈을 기록으로 꺼내는 것이 알바가드입니다.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marL="0" indent="0">
              <a:buNone/>
            </a:pPr>
            <a:r>
              <a:rPr lang="en-US" sz="900" dirty="0">
                <a:solidFill>
                  <a:schemeClr val="accent5"/>
                </a:solidFill>
              </a:rPr>
              <a:t>알바가드 · SW기술창업 중간발표 · 4조</a:t>
            </a:r>
            <a:endParaRPr lang="en-US" sz="900" dirty="0"/>
          </a:p>
        </p:txBody>
      </p:sp>
      <p:sp>
        <p:nvSpPr>
          <p:cNvPr id="3" name="Text 1"/>
          <p:cNvSpPr>
            <a:spLocks noGrp="1"/>
          </p:cNvSpPr>
          <p:nvPr>
            <p:ph type="body" idx="101" hasCustomPrompt="1"/>
          </p:nvPr>
        </p:nvSpPr>
        <p:spPr>
          <a:xfrm>
            <a:off x="457200" y="274320"/>
            <a:ext cx="7772400" cy="256032"/>
          </a:xfrm>
          <a:prstGeom prst="rect">
            <a:avLst/>
          </a:prstGeom>
          <a:noFill/>
          <a:ln/>
        </p:spPr>
        <p:txBody>
          <a:bodyPr wrap="square" rtlCol="0"/>
          <a:lstStyle>
            <a:lvl1pPr marL="0" indent="0">
              <a:buNone/>
              <a:defRPr lang="en-US" sz="1050" b="1" dirty="0">
                <a:solidFill>
                  <a:schemeClr val="accent5"/>
                </a:solidFill>
              </a:defRPr>
            </a:lvl1pPr>
          </a:lstStyle>
          <a:p>
            <a:pPr marL="0" indent="0">
              <a:buNone/>
            </a:pPr>
            <a:endParaRPr lang="en-US" sz="1050" dirty="0"/>
          </a:p>
        </p:txBody>
      </p:sp>
      <p:sp>
        <p:nvSpPr>
          <p:cNvPr id="4" name="Text 1"/>
          <p:cNvSpPr>
            <a:spLocks noGrp="1"/>
          </p:cNvSpPr>
          <p:nvPr>
            <p:ph type="title" idx="102" hasCustomPrompt="1"/>
          </p:nvPr>
        </p:nvSpPr>
        <p:spPr>
          <a:xfrm>
            <a:off x="457200" y="502920"/>
            <a:ext cx="8229600" cy="566928"/>
          </a:xfrm>
          <a:prstGeom prst="rect">
            <a:avLst/>
          </a:prstGeom>
          <a:noFill/>
          <a:ln/>
        </p:spPr>
        <p:txBody>
          <a:bodyPr wrap="square" rtlCol="0"/>
          <a:lstStyle>
            <a:lvl1pPr marL="0" indent="0" algn="l">
              <a:buNone/>
              <a:defRPr lang="en-US" sz="2400" b="1" dirty="0">
                <a:solidFill>
                  <a:schemeClr val="tx2"/>
                </a:solidFill>
              </a:defRPr>
            </a:lvl1pPr>
          </a:lstStyle>
          <a:p>
            <a:pPr marL="0" indent="0" algn="l">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804672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image" Target="../media/image9.jpg"/><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icPr>
            <a:picLocks noChangeAspect="1"/>
          </p:cNvPicPr>
          <p:nvPr/>
        </p:nvPicPr>
        <p:blipFill>
          <a:blip r:embed="rId3"/>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marL="0" indent="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marL="0" indent="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marL="0" indent="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marL="0" indent="0" algn="r">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marL="0" indent="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marL="0" indent="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marL="0" indent="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marL="0" indent="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marL="0" indent="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marL="0" indent="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marL="0" indent="0">
              <a:spcAft>
                <a:spcPts val="200"/>
              </a:spcAft>
              <a:buNone/>
            </a:pPr>
            <a:r>
              <a:rPr lang="en-US" sz="1250" b="1" dirty="0">
                <a:solidFill>
                  <a:schemeClr val="bg1"/>
                </a:solidFill>
              </a:rPr>
              <a:t>팀장 이지훈</a:t>
            </a:r>
            <a:endParaRPr lang="en-US" sz="1250" dirty="0"/>
          </a:p>
          <a:p>
            <a:pPr marL="0" indent="0">
              <a:spcAft>
                <a:spcPts val="200"/>
              </a:spcAft>
              <a:buNone/>
            </a:pPr>
            <a:r>
              <a:rPr lang="en-US" sz="1000" dirty="0">
                <a:solidFill>
                  <a:schemeClr val="bg2"/>
                </a:solidFill>
              </a:rPr>
              <a:t>컴퓨터소프트웨어 22학번</a:t>
            </a:r>
            <a:endParaRPr lang="en-US" sz="1250" dirty="0"/>
          </a:p>
          <a:p>
            <a:pPr marL="0" indent="0">
              <a:spcAft>
                <a:spcPts val="200"/>
              </a:spcAft>
              <a:buNone/>
            </a:pPr>
            <a:r>
              <a:rPr lang="en-US" sz="1250" b="1" dirty="0">
                <a:solidFill>
                  <a:schemeClr val="bg1"/>
                </a:solidFill>
              </a:rPr>
              <a:t>손유호</a:t>
            </a:r>
            <a:endParaRPr lang="en-US" sz="1250" dirty="0"/>
          </a:p>
          <a:p>
            <a:pPr marL="0" indent="0">
              <a:spcAft>
                <a:spcPts val="200"/>
              </a:spcAft>
              <a:buNone/>
            </a:pPr>
            <a:r>
              <a:rPr lang="en-US" sz="1000" dirty="0">
                <a:solidFill>
                  <a:schemeClr val="bg2"/>
                </a:solidFill>
              </a:rPr>
              <a:t>컴퓨터소프트웨어 20학번</a:t>
            </a:r>
            <a:endParaRPr lang="en-US" sz="1250" dirty="0"/>
          </a:p>
          <a:p>
            <a:pPr marL="0" indent="0">
              <a:spcAft>
                <a:spcPts val="200"/>
              </a:spcAft>
              <a:buNone/>
            </a:pPr>
            <a:r>
              <a:rPr lang="en-US" sz="1250" b="1" dirty="0">
                <a:solidFill>
                  <a:schemeClr val="bg1"/>
                </a:solidFill>
              </a:rPr>
              <a:t>박명진</a:t>
            </a:r>
            <a:endParaRPr lang="en-US" sz="1250" dirty="0"/>
          </a:p>
          <a:p>
            <a:pPr marL="0" indent="0">
              <a:spcAft>
                <a:spcPts val="200"/>
              </a:spcAft>
              <a:buNone/>
            </a:pPr>
            <a:r>
              <a:rPr lang="en-US" sz="1000" dirty="0">
                <a:solidFill>
                  <a:schemeClr val="bg2"/>
                </a:solidFill>
              </a:rPr>
              <a:t>컴퓨터소프트웨어 18학번</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① 오늘 발표</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marL="0" indent="0">
              <a:buNone/>
            </a:pPr>
            <a:r>
              <a:rPr lang="en-US" sz="1300" b="1" dirty="0">
                <a:solidFill>
                  <a:schemeClr val="tx1"/>
                </a:solidFill>
              </a:rPr>
              <a:t>계획한 기능 8개 모두 동작</a:t>
            </a:r>
            <a:endParaRPr lang="en-US" sz="1300" dirty="0"/>
          </a:p>
          <a:p>
            <a:pPr marL="0" indent="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marL="0" indent="0" algn="r">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marL="0" indent="0">
              <a:buNone/>
            </a:pPr>
            <a:r>
              <a:rPr lang="en-US" sz="1300" b="1" dirty="0">
                <a:solidFill>
                  <a:schemeClr val="tx1"/>
                </a:solidFill>
              </a:rPr>
              <a:t>사용자 검증</a:t>
            </a:r>
            <a:endParaRPr lang="en-US" sz="1300" dirty="0"/>
          </a:p>
          <a:p>
            <a:pPr marL="0" indent="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marL="0" indent="0" algn="r">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marL="0" indent="0">
              <a:buNone/>
            </a:pPr>
            <a:r>
              <a:rPr lang="en-US" sz="1300" b="1" dirty="0">
                <a:solidFill>
                  <a:schemeClr val="tx1"/>
                </a:solidFill>
              </a:rPr>
              <a:t>역할: 개발 이지훈 · 시장 손유호 · 검증 박명진</a:t>
            </a:r>
            <a:endParaRPr lang="en-US" sz="1300" dirty="0"/>
          </a:p>
          <a:p>
            <a:pPr marL="0" indent="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marL="0" indent="0" algn="r">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marL="0" indent="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marL="0" indent="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marL="0" indent="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icPr>
            <a:picLocks noChangeAspect="1"/>
          </p:cNvPicPr>
          <p:nvPr/>
        </p:nvPicPr>
        <p:blipFill>
          <a:blip r:embed="rId3"/>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marL="0" indent="0" algn="ctr">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marL="0" indent="0" algn="ctr">
              <a:buNone/>
            </a:pPr>
            <a:r>
              <a:rPr lang="en-US" sz="900" dirty="0">
                <a:solidFill>
                  <a:schemeClr val="accent5"/>
                </a:solidFill>
              </a:rPr>
              <a:t>폰 브라우저로 열고</a:t>
            </a:r>
            <a:endParaRPr lang="en-US" sz="900" dirty="0"/>
          </a:p>
          <a:p>
            <a:pPr marL="0" indent="0" algn="ctr">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icPr>
            <a:picLocks noChangeAspect="1"/>
          </p:cNvPicPr>
          <p:nvPr/>
        </p:nvPicPr>
        <p:blipFill>
          <a:blip r:embed="rId4"/>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marL="0" indent="0" algn="ctr">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marL="0" indent="0" algn="ctr">
              <a:buNone/>
            </a:pPr>
            <a:r>
              <a:rPr lang="en-US" sz="900" dirty="0">
                <a:solidFill>
                  <a:schemeClr val="accent5"/>
                </a:solidFill>
              </a:rPr>
              <a:t>이름 · 연락처 없음</a:t>
            </a:r>
            <a:endParaRPr lang="en-US" sz="900" dirty="0"/>
          </a:p>
          <a:p>
            <a:pPr marL="0" indent="0" algn="ctr">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marL="0" indent="0" algn="ctr">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② 문제 정의 · 페인 포인트</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marL="0" indent="0">
              <a:buNone/>
            </a:pPr>
            <a:r>
              <a:rPr lang="en-US" sz="1150" b="1" dirty="0">
                <a:solidFill>
                  <a:schemeClr val="tx2"/>
                </a:solidFill>
              </a:rPr>
              <a:t>타깃  </a:t>
            </a: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marL="0" indent="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marL="0" indent="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marL="0" indent="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marL="0" indent="0">
              <a:buNone/>
            </a:pPr>
            <a:r>
              <a:rPr lang="en-US" sz="1400" b="1" dirty="0">
                <a:solidFill>
                  <a:schemeClr val="tx2"/>
                </a:solidFill>
              </a:rPr>
              <a:t>얼마를 받아야 하는지</a:t>
            </a:r>
            <a:endParaRPr lang="en-US" sz="1400" dirty="0"/>
          </a:p>
          <a:p>
            <a:pPr marL="0" indent="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marL="0" indent="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marL="0" indent="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marL="0" indent="0">
              <a:buNone/>
            </a:pPr>
            <a:r>
              <a:rPr lang="en-US" sz="850" dirty="0">
                <a:solidFill>
                  <a:schemeClr val="accent5"/>
                </a:solidFill>
              </a:rPr>
              <a:t>알바생 2,457명, 알바천국 2025.1</a:t>
            </a:r>
            <a:endParaRPr lang="en-US" sz="850" dirty="0"/>
          </a:p>
          <a:p>
            <a:pPr marL="0" indent="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marL="0" indent="0">
              <a:buNone/>
            </a:pPr>
            <a:r>
              <a:rPr lang="en-US" sz="1400" b="1" dirty="0">
                <a:solidFill>
                  <a:schemeClr val="tx2"/>
                </a:solidFill>
              </a:rPr>
              <a:t>덜 받아도</a:t>
            </a:r>
            <a:endParaRPr lang="en-US" sz="1400" dirty="0"/>
          </a:p>
          <a:p>
            <a:pPr marL="0" indent="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marL="0" indent="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marL="0" indent="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marL="0" indent="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marL="0" indent="0">
              <a:buNone/>
            </a:pPr>
            <a:r>
              <a:rPr lang="en-US" sz="1400" b="1" dirty="0">
                <a:solidFill>
                  <a:schemeClr val="tx2"/>
                </a:solidFill>
              </a:rPr>
              <a:t>알아도</a:t>
            </a:r>
            <a:endParaRPr lang="en-US" sz="1400" dirty="0"/>
          </a:p>
          <a:p>
            <a:pPr marL="0" indent="0">
              <a:buNone/>
            </a:pPr>
            <a:r>
              <a:rPr lang="en-US" sz="1400" b="1" dirty="0">
                <a:solidFill>
                  <a:schemeClr val="tx2"/>
                </a:solidFill>
              </a:rPr>
              <a:t>말을 꺼내기 어려움</a:t>
            </a:r>
            <a:endParaRPr lang="en-US" sz="1400" dirty="0"/>
          </a:p>
        </p:txBody>
      </p:sp>
      <p:sp>
        <p:nvSpPr>
          <p:cNvPr id="27"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② 문제 정의 · 기존 해결책의 한계</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tblGrid>
              <a:tr h="365760">
                <a:tc>
                  <a:txBody>
                    <a:bodyPr/>
                    <a:lstStyle/>
                    <a:p>
                      <a:pPr marL="0" indent="0" algn="l">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5D636D"/>
                          </a:solidFill>
                        </a:rPr>
                        <a:t>알바천국 ·</a:t>
                      </a:r>
                      <a:endParaRPr lang="en-US" sz="950" dirty="0"/>
                    </a:p>
                    <a:p>
                      <a:pPr marL="0" indent="0" algn="ctr">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5D636D"/>
                          </a:solidFill>
                        </a:rPr>
                        <a:t>진정24 ·</a:t>
                      </a:r>
                      <a:endParaRPr lang="en-US" sz="950" dirty="0"/>
                    </a:p>
                    <a:p>
                      <a:pPr marL="0" indent="0" algn="ctr">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lgn="ctr">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0"/>
                  </a:ext>
                </a:extLst>
              </a:tr>
              <a:tr h="384048">
                <a:tc>
                  <a:txBody>
                    <a:bodyPr/>
                    <a:lstStyle/>
                    <a:p>
                      <a:pPr marL="0" indent="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2"/>
                  </a:ext>
                </a:extLst>
              </a:tr>
              <a:tr h="384048">
                <a:tc>
                  <a:txBody>
                    <a:bodyPr/>
                    <a:lstStyle/>
                    <a:p>
                      <a:pPr marL="0" indent="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3"/>
                  </a:ext>
                </a:extLst>
              </a:tr>
              <a:tr h="384048">
                <a:tc>
                  <a:txBody>
                    <a:bodyPr/>
                    <a:lstStyle/>
                    <a:p>
                      <a:pPr marL="0" indent="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4"/>
                  </a:ext>
                </a:extLst>
              </a:tr>
              <a:tr h="384048">
                <a:tc>
                  <a:txBody>
                    <a:bodyPr/>
                    <a:lstStyle/>
                    <a:p>
                      <a:pPr marL="0" indent="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5D636D"/>
                          </a:solidFill>
                        </a:rPr>
                        <a:t>△</a:t>
                      </a: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5"/>
                  </a:ext>
                </a:extLst>
              </a:tr>
              <a:tr h="384048">
                <a:tc>
                  <a:txBody>
                    <a:bodyPr/>
                    <a:lstStyle/>
                    <a:p>
                      <a:pPr marL="0" indent="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lgn="ctr">
                        <a:buNone/>
                      </a:pPr>
                      <a:r>
                        <a:rPr lang="en-US" sz="1200" b="1" dirty="0">
                          <a:solidFill>
                            <a:srgbClr val="C2331C"/>
                          </a:solidFill>
                        </a:rPr>
                        <a:t>X</a:t>
                      </a: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6"/>
                  </a:ext>
                </a:extLst>
              </a:tr>
            </a:tbl>
          </a:graphicData>
        </a:graphic>
      </p:graphicFrame>
      <p:sp>
        <p:nvSpPr>
          <p:cNvPr id="4"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marL="0" indent="0">
              <a:buNone/>
            </a:pPr>
            <a:r>
              <a:rPr lang="en-US" sz="1150" b="1" dirty="0">
                <a:solidFill>
                  <a:schemeClr val="tx2"/>
                </a:solidFill>
              </a:rPr>
              <a:t>알바가드만 O  </a:t>
            </a: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marL="0" indent="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marL="0" indent="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icPr>
            <a:picLocks noChangeAspect="1"/>
          </p:cNvPicPr>
          <p:nvPr/>
        </p:nvPicPr>
        <p:blipFill>
          <a:blip r:embed="rId3"/>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marL="0" indent="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marL="0" indent="0">
              <a:buNone/>
            </a:pPr>
            <a:r>
              <a:rPr lang="en-US" sz="1050" dirty="0">
                <a:solidFill>
                  <a:schemeClr val="tx1"/>
                </a:solidFill>
              </a:rPr>
              <a:t>"받았어야 할 돈"(기본급 · 주휴 · 야간)과</a:t>
            </a:r>
            <a:endParaRPr lang="en-US" sz="1050" dirty="0"/>
          </a:p>
          <a:p>
            <a:pPr marL="0" indent="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icPr>
            <a:picLocks noChangeAspect="1"/>
          </p:cNvPicPr>
          <p:nvPr/>
        </p:nvPicPr>
        <p:blipFill>
          <a:blip r:embed="rId4"/>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marL="0" indent="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marL="0" indent="0">
              <a:buNone/>
            </a:pPr>
            <a:r>
              <a:rPr lang="en-US" sz="1050" dirty="0">
                <a:solidFill>
                  <a:schemeClr val="tx1"/>
                </a:solidFill>
              </a:rPr>
              <a:t>정중한 메시지 → 내용증명 → 진정 안내</a:t>
            </a:r>
            <a:endParaRPr lang="en-US" sz="1050" dirty="0"/>
          </a:p>
          <a:p>
            <a:pPr marL="0" indent="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icPr>
            <a:picLocks noChangeAspect="1"/>
          </p:cNvPicPr>
          <p:nvPr/>
        </p:nvPicPr>
        <p:blipFill>
          <a:blip r:embed="rId5"/>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③ 솔루션 · 차별화 포인트</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marL="0" indent="0">
              <a:buNone/>
            </a:pPr>
            <a:r>
              <a:rPr lang="en-US" sz="1350" b="1" dirty="0">
                <a:solidFill>
                  <a:schemeClr val="tx2"/>
                </a:solidFill>
              </a:rPr>
              <a:t>사장 연동 없이 혼자 씀</a:t>
            </a: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marL="0" indent="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marL="0" indent="0">
              <a:buNone/>
            </a:pPr>
            <a:r>
              <a:rPr lang="en-US" sz="1350" b="1" dirty="0">
                <a:solidFill>
                  <a:schemeClr val="tx2"/>
                </a:solidFill>
              </a:rPr>
              <a:t>입금액 비교 → 차액 → 요청 · 증빙까지</a:t>
            </a: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marL="0" indent="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marL="0" indent="0">
              <a:buNone/>
            </a:pPr>
            <a:r>
              <a:rPr lang="en-US" sz="1350" b="1" dirty="0">
                <a:solidFill>
                  <a:schemeClr val="tx2"/>
                </a:solidFill>
              </a:rPr>
              <a:t>기록 등록: 확인 번호 + 등록 시각</a:t>
            </a: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marL="0" indent="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marL="0" indent="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marL="0" indent="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marL="0" indent="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④ SW 기술 아키텍처 · 기술 스택</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3474720"/>
        </p:xfrm>
        <a:graphic>
          <a:graphicData uri="http://schemas.openxmlformats.org/drawingml/2006/table">
            <a:tbl>
              <a:tblPr/>
              <a:tblGrid>
                <a:gridCol w="160020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5D636D"/>
                          </a:solidFill>
                        </a:rPr>
                        <a:t>구분</a:t>
                      </a:r>
                      <a:endParaRPr lang="en-US" sz="110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buNone/>
                      </a:pPr>
                      <a:r>
                        <a:rPr lang="en-US" sz="1100" b="1" dirty="0">
                          <a:solidFill>
                            <a:srgbClr val="5D636D"/>
                          </a:solidFill>
                        </a:rPr>
                        <a:t>선택</a:t>
                      </a:r>
                      <a:endParaRPr lang="en-US" sz="110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buNone/>
                      </a:pPr>
                      <a:r>
                        <a:rPr lang="en-US" sz="1100" b="1" dirty="0">
                          <a:solidFill>
                            <a:srgbClr val="5D636D"/>
                          </a:solidFill>
                        </a:rPr>
                        <a:t>이유</a:t>
                      </a:r>
                      <a:endParaRPr lang="en-US" sz="110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0"/>
                  </a:ext>
                </a:extLst>
              </a:tr>
              <a:tr h="475488">
                <a:tc>
                  <a:txBody>
                    <a:bodyPr/>
                    <a:lstStyle/>
                    <a:p>
                      <a:pPr marL="0" indent="0">
                        <a:buNone/>
                      </a:pPr>
                      <a:r>
                        <a:rPr lang="en-US" sz="1150" b="1" dirty="0">
                          <a:solidFill>
                            <a:srgbClr val="15171A"/>
                          </a:solidFill>
                        </a:rPr>
                        <a:t>프런트엔드</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React + Vite, PWA (홈 화면에 추가, 오프라인 실행)</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스토어 없이 링크로 바로 배포</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150" b="1" dirty="0">
                          <a:solidFill>
                            <a:srgbClr val="15171A"/>
                          </a:solidFill>
                        </a:rPr>
                        <a:t>백엔드</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별도 서버 없음 + Supabase REST</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근무 내용은 폰 안에만</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50" b="1" dirty="0">
                          <a:solidFill>
                            <a:srgbClr val="15171A"/>
                          </a:solidFill>
                        </a:rPr>
                        <a:t>데이터베이스</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폰: localStorage(기록) · IndexedDB(사진)</a:t>
                      </a:r>
                      <a:endParaRPr lang="en-US" sz="1150" dirty="0"/>
                    </a:p>
                    <a:p>
                      <a:pPr marL="0" indent="0">
                        <a:buNone/>
                      </a:pPr>
                      <a:r>
                        <a:rPr lang="en-US" sz="1150" dirty="0">
                          <a:solidFill>
                            <a:srgbClr val="15171A"/>
                          </a:solidFill>
                        </a:rPr>
                        <a:t>서버: Supabase PostgreSQL (stamps · survey)</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공개키로는 넣기 · 읽기만</a:t>
                      </a:r>
                      <a:endParaRPr lang="en-US" sz="1150" dirty="0"/>
                    </a:p>
                    <a:p>
                      <a:pPr marL="0" indent="0">
                        <a:buNone/>
                      </a:pPr>
                      <a:r>
                        <a:rPr lang="en-US" sz="1150" dirty="0">
                          <a:solidFill>
                            <a:srgbClr val="15171A"/>
                          </a:solidFill>
                        </a:rPr>
                        <a:t>시각은 서버가 찍음</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150" b="1" dirty="0">
                          <a:solidFill>
                            <a:srgbClr val="15171A"/>
                          </a:solidFill>
                        </a:rPr>
                        <a:t>클라우드 · 인프라</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GitHub Pages + GitHub Actions</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올리면 자동 배포</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150" b="1" dirty="0">
                          <a:solidFill>
                            <a:srgbClr val="15171A"/>
                          </a:solidFill>
                        </a:rPr>
                        <a:t>AI</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Claude API (선택, 개발 환경에서만)</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기록을 밖으로 안 보내려고 기본은 끔</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150" b="1" dirty="0">
                          <a:solidFill>
                            <a:srgbClr val="15171A"/>
                          </a:solidFill>
                        </a:rPr>
                        <a:t>SaaS · 분석</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설문 페이지 + 자동 집계 페이지, 직접 인터뷰</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50" dirty="0">
                          <a:solidFill>
                            <a:srgbClr val="15171A"/>
                          </a:solidFill>
                        </a:rPr>
                        <a:t>로그인이 없어 설문 · 인터뷰로 측정</a:t>
                      </a:r>
                      <a:endParaRPr lang="en-US" sz="1150" dirty="0"/>
                    </a:p>
                  </a:txBody>
                  <a:tcPr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④ SW 기술 아키텍처 · 시스템 구성도와 데이터 흐름</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marL="0" indent="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marL="0" indent="0" algn="ctr">
              <a:buNone/>
            </a:pPr>
            <a:r>
              <a:rPr lang="en-US" sz="1100" b="1" dirty="0">
                <a:solidFill>
                  <a:schemeClr val="tx1"/>
                </a:solidFill>
              </a:rPr>
              <a:t>화면 (React)</a:t>
            </a:r>
            <a:endParaRPr lang="en-US" sz="1100" dirty="0"/>
          </a:p>
          <a:p>
            <a:pPr marL="0" indent="0" algn="ctr">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marL="0" indent="0" algn="ctr">
              <a:buNone/>
            </a:pPr>
            <a:r>
              <a:rPr lang="en-US" sz="1100" b="1" dirty="0">
                <a:solidFill>
                  <a:schemeClr val="tx1"/>
                </a:solidFill>
              </a:rPr>
              <a:t>계산 모듈</a:t>
            </a:r>
            <a:endParaRPr lang="en-US" sz="1100" dirty="0"/>
          </a:p>
          <a:p>
            <a:pPr marL="0" indent="0" algn="ctr">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marL="0" indent="0" algn="ctr">
              <a:buNone/>
            </a:pPr>
            <a:r>
              <a:rPr lang="en-US" sz="1100" b="1" dirty="0">
                <a:solidFill>
                  <a:schemeClr val="tx1"/>
                </a:solidFill>
              </a:rPr>
              <a:t>저장</a:t>
            </a:r>
            <a:endParaRPr lang="en-US" sz="1100" dirty="0"/>
          </a:p>
          <a:p>
            <a:pPr marL="0" indent="0" algn="ctr">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marL="0" indent="0" algn="ctr">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marL="0" indent="0" algn="ctr">
              <a:buNone/>
            </a:pPr>
            <a:r>
              <a:rPr lang="en-US" sz="950" b="1" dirty="0">
                <a:solidFill>
                  <a:schemeClr val="tx2"/>
                </a:solidFill>
              </a:rPr>
              <a:t>확인 번호 · 기록 번호</a:t>
            </a:r>
            <a:endParaRPr lang="en-US" sz="950" dirty="0"/>
          </a:p>
          <a:p>
            <a:pPr marL="0" indent="0" algn="ctr">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marL="0" indent="0" algn="ctr">
              <a:buNone/>
            </a:pPr>
            <a:r>
              <a:rPr lang="en-US" sz="950" dirty="0">
                <a:solidFill>
                  <a:schemeClr val="accent3"/>
                </a:solidFill>
              </a:rPr>
              <a:t>근무지 · 시각 · 금액은</a:t>
            </a:r>
            <a:endParaRPr lang="en-US" sz="950" dirty="0"/>
          </a:p>
          <a:p>
            <a:pPr marL="0" indent="0" algn="ctr">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marL="0" indent="0">
              <a:spcAft>
                <a:spcPts val="200"/>
              </a:spcAft>
              <a:buNone/>
            </a:pPr>
            <a:r>
              <a:rPr lang="en-US" sz="1250" b="1" dirty="0">
                <a:solidFill>
                  <a:schemeClr val="tx2"/>
                </a:solidFill>
              </a:rPr>
              <a:t>Supabase</a:t>
            </a:r>
            <a:endParaRPr lang="en-US" sz="1250" dirty="0"/>
          </a:p>
          <a:p>
            <a:pPr marL="0" indent="0">
              <a:spcAft>
                <a:spcPts val="200"/>
              </a:spcAft>
              <a:buNone/>
            </a:pPr>
            <a:r>
              <a:rPr lang="en-US" sz="1250" b="1" dirty="0">
                <a:solidFill>
                  <a:schemeClr val="tx1"/>
                </a:solidFill>
              </a:rPr>
              <a:t>stamps 표</a:t>
            </a:r>
            <a:endParaRPr lang="en-US" sz="1250" dirty="0"/>
          </a:p>
          <a:p>
            <a:pPr marL="0" indent="0">
              <a:spcAft>
                <a:spcPts val="200"/>
              </a:spcAft>
              <a:buNone/>
            </a:pPr>
            <a:r>
              <a:rPr lang="en-US" sz="1150" dirty="0">
                <a:solidFill>
                  <a:schemeClr val="accent5"/>
                </a:solidFill>
              </a:rPr>
              <a:t>확인 번호 · 등록 시각</a:t>
            </a:r>
            <a:endParaRPr lang="en-US" sz="1250" dirty="0"/>
          </a:p>
          <a:p>
            <a:pPr marL="0" indent="0">
              <a:spcAft>
                <a:spcPts val="200"/>
              </a:spcAft>
              <a:buNone/>
            </a:pPr>
            <a:r>
              <a:rPr lang="en-US" sz="1150" dirty="0">
                <a:solidFill>
                  <a:schemeClr val="accent5"/>
                </a:solidFill>
              </a:rPr>
              <a:t>시각은 서버가 찍음</a:t>
            </a:r>
            <a:endParaRPr lang="en-US" sz="1250" dirty="0"/>
          </a:p>
          <a:p>
            <a:pPr marL="0" indent="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marL="0" indent="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marL="0" indent="0">
              <a:buNone/>
            </a:pPr>
            <a:r>
              <a:rPr lang="en-US" sz="1100" b="1" dirty="0">
                <a:solidFill>
                  <a:schemeClr val="tx2"/>
                </a:solidFill>
              </a:rPr>
              <a:t>확인 페이지 (verify.html)</a:t>
            </a:r>
            <a:endParaRPr lang="en-US" sz="1100" dirty="0"/>
          </a:p>
          <a:p>
            <a:pPr marL="0" indent="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marL="0" indent="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marL="0" indent="0" algn="ctr">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marL="0" indent="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marL="0" indent="0" algn="ctr">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marL="0" indent="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marL="0" indent="0" algn="ctr">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marL="0" indent="0">
              <a:buNone/>
            </a:pPr>
            <a:r>
              <a:rPr lang="en-US" sz="1000" dirty="0">
                <a:solidFill>
                  <a:schemeClr val="tx1"/>
                </a:solidFill>
              </a:rPr>
              <a:t>끊기면 나중에 전송</a:t>
            </a:r>
            <a:endParaRPr lang="en-US" sz="1000" dirty="0"/>
          </a:p>
        </p:txBody>
      </p:sp>
      <p:sp>
        <p:nvSpPr>
          <p:cNvPr id="34"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icPr>
            <a:picLocks noChangeAspect="1"/>
          </p:cNvPicPr>
          <p:nvPr/>
        </p:nvPicPr>
        <p:blipFill>
          <a:blip r:embed="rId3"/>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marL="0" indent="0" algn="ctr">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marL="0" indent="0" algn="ctr">
              <a:buNone/>
            </a:pPr>
            <a:r>
              <a:rPr lang="en-US" sz="900" dirty="0">
                <a:solidFill>
                  <a:schemeClr val="accent5"/>
                </a:solidFill>
              </a:rPr>
              <a:t>예정과 다른 날만 글자로</a:t>
            </a:r>
            <a:endParaRPr lang="en-US" sz="900" dirty="0"/>
          </a:p>
          <a:p>
            <a:pPr marL="0" indent="0" algn="ctr">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icPr>
            <a:picLocks noChangeAspect="1"/>
          </p:cNvPicPr>
          <p:nvPr/>
        </p:nvPicPr>
        <p:blipFill>
          <a:blip r:embed="rId4"/>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marL="0" indent="0" algn="ctr">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marL="0" indent="0" algn="ctr">
              <a:buNone/>
            </a:pPr>
            <a:r>
              <a:rPr lang="en-US" sz="900" dirty="0">
                <a:solidFill>
                  <a:schemeClr val="accent5"/>
                </a:solidFill>
              </a:rPr>
              <a:t>기록 등록 건수 · 백업</a:t>
            </a:r>
            <a:endParaRPr lang="en-US" sz="900" dirty="0"/>
          </a:p>
          <a:p>
            <a:pPr marL="0" indent="0" algn="ctr">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icPr>
            <a:picLocks noChangeAspect="1"/>
          </p:cNvPicPr>
          <p:nvPr/>
        </p:nvPicPr>
        <p:blipFill>
          <a:blip r:embed="rId5"/>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marL="0" indent="0" algn="ctr">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marL="0" indent="0" algn="ctr">
              <a:buNone/>
            </a:pPr>
            <a:r>
              <a:rPr lang="en-US" sz="900" dirty="0">
                <a:solidFill>
                  <a:schemeClr val="accent5"/>
                </a:solidFill>
              </a:rPr>
              <a:t>기록 · 수정 이력 · 계산</a:t>
            </a:r>
            <a:endParaRPr lang="en-US" sz="900" dirty="0"/>
          </a:p>
          <a:p>
            <a:pPr marL="0" indent="0" algn="ctr">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icPr>
            <a:picLocks noChangeAspect="1"/>
          </p:cNvPicPr>
          <p:nvPr/>
        </p:nvPicPr>
        <p:blipFill>
          <a:blip r:embed="rId6"/>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marL="0" indent="0" algn="ctr">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marL="0" indent="0" algn="ctr">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⑤ MVP 시연</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marL="0" indent="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marL="0" indent="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marL="0" indent="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marL="0" indent="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marL="0" indent="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marL="0" indent="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marL="0" indent="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marL="0" indent="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9144000" cy="514350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⑤ 개발 현황 · 구현된 기능과 계획 대비 비율</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marL="0" indent="0" algn="ctr">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marL="0" indent="0" algn="ctr">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marL="0" indent="0" algn="ctr">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marL="0" indent="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marL="0" indent="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marL="0" indent="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marL="0" indent="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marL="0" indent="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marL="0" indent="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marL="0" indent="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marL="0" indent="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marL="0" indent="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marL="0" indent="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marL="0" indent="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marL="0" indent="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marL="0" indent="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marL="0" indent="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marL="0" indent="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marL="0" indent="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marL="0" indent="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marL="0" indent="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marL="0" indent="0">
              <a:buNone/>
            </a:pPr>
            <a:r>
              <a:rPr lang="en-US" sz="1050" b="1" dirty="0">
                <a:solidFill>
                  <a:schemeClr val="tx2"/>
                </a:solidFill>
              </a:rPr>
              <a:t>계획 기준  </a:t>
            </a:r>
            <a:r>
              <a:rPr lang="en-US" sz="1050" dirty="0">
                <a:solidFill>
                  <a:schemeClr val="tx1"/>
                </a:solidFill>
              </a:rPr>
              <a:t>정의서 기능 8개      </a:t>
            </a:r>
            <a:r>
              <a:rPr lang="en-US" sz="1050" b="1" dirty="0">
                <a:solidFill>
                  <a:schemeClr val="tx2"/>
                </a:solidFill>
              </a:rPr>
              <a:t>% 기준  </a:t>
            </a:r>
            <a:r>
              <a:rPr lang="en-US" sz="1050" dirty="0">
                <a:solidFill>
                  <a:schemeClr val="tx1"/>
                </a:solidFill>
              </a:rPr>
              <a:t>남은 일만큼 뺀 자체 평가</a:t>
            </a:r>
            <a:endParaRPr lang="en-US" sz="1050" dirty="0"/>
          </a:p>
        </p:txBody>
      </p:sp>
      <p:sp>
        <p:nvSpPr>
          <p:cNvPr id="81"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⑥ 시장 분석 · 시장 규모</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임금체불 2년 연속 2조 원, 30인 미만 사업장에 집중</a:t>
            </a:r>
            <a:endParaRPr lang="en-US" sz="2400" dirty="0"/>
          </a:p>
        </p:txBody>
      </p:sp>
      <p:graphicFrame>
        <p:nvGraphicFramePr>
          <p:cNvPr id="4" name="Chart 0"/>
          <p:cNvGraphicFramePr/>
          <p:nvPr/>
        </p:nvGraphicFramePr>
        <p:xfrm>
          <a:off x="457200" y="1234440"/>
          <a:ext cx="384048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marL="0" indent="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marL="0" indent="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marL="0" indent="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marL="0" indent="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marL="0" indent="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marL="0" indent="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marL="0" indent="0">
              <a:spcAft>
                <a:spcPts val="100"/>
              </a:spcAft>
              <a:buNone/>
            </a:pPr>
            <a:r>
              <a:rPr lang="en-US" sz="1050" b="1" dirty="0">
                <a:solidFill>
                  <a:schemeClr val="tx2"/>
                </a:solidFill>
              </a:rPr>
              <a:t>타깃 규모(어림)  </a:t>
            </a:r>
            <a:r>
              <a:rPr lang="en-US" sz="1050" dirty="0">
                <a:solidFill>
                  <a:schemeClr val="tx1"/>
                </a:solidFill>
              </a:rPr>
              <a:t>재적학생 307만 명 → 알바 경험 67~89% → 상한 약 210~270만 명</a:t>
            </a:r>
            <a:endParaRPr lang="en-US" sz="1050" dirty="0"/>
          </a:p>
          <a:p>
            <a:pPr marL="0" indent="0">
              <a:spcAft>
                <a:spcPts val="100"/>
              </a:spcAft>
              <a:buNone/>
            </a:pPr>
            <a:r>
              <a:rPr lang="en-US" sz="1050" b="1" dirty="0">
                <a:solidFill>
                  <a:schemeClr val="tx2"/>
                </a:solidFill>
              </a:rPr>
              <a:t>타이밍  </a:t>
            </a: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⑥ 시장 분석 · 경쟁사</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marL="0" indent="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marL="0" indent="0" algn="r">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marL="0" indent="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marL="0" indent="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marL="0" indent="0" algn="ctr">
              <a:buNone/>
            </a:pPr>
            <a:r>
              <a:rPr lang="en-US" sz="1050" b="1" dirty="0">
                <a:solidFill>
                  <a:schemeClr val="tx1"/>
                </a:solidFill>
              </a:rPr>
              <a:t>알바천국 · 알바몬 계산기</a:t>
            </a:r>
            <a:endParaRPr lang="en-US" sz="1050" dirty="0"/>
          </a:p>
          <a:p>
            <a:pPr marL="0" indent="0" algn="ctr">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marL="0" indent="0" algn="ctr">
              <a:buNone/>
            </a:pPr>
            <a:r>
              <a:rPr lang="en-US" sz="1050" b="1" dirty="0">
                <a:solidFill>
                  <a:schemeClr val="tx1"/>
                </a:solidFill>
              </a:rPr>
              <a:t>하우머치</a:t>
            </a:r>
            <a:endParaRPr lang="en-US" sz="1050" dirty="0"/>
          </a:p>
          <a:p>
            <a:pPr marL="0" indent="0" algn="ctr">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marL="0" indent="0" algn="ctr">
              <a:buNone/>
            </a:pPr>
            <a:r>
              <a:rPr lang="en-US" sz="1050" b="1" dirty="0">
                <a:solidFill>
                  <a:schemeClr val="tx1"/>
                </a:solidFill>
              </a:rPr>
              <a:t>기그</a:t>
            </a:r>
            <a:endParaRPr lang="en-US" sz="1050" dirty="0"/>
          </a:p>
          <a:p>
            <a:pPr marL="0" indent="0" algn="ctr">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marL="0" indent="0" algn="ctr">
              <a:buNone/>
            </a:pPr>
            <a:r>
              <a:rPr lang="en-US" sz="1050" b="1" dirty="0">
                <a:solidFill>
                  <a:schemeClr val="tx1"/>
                </a:solidFill>
              </a:rPr>
              <a:t>진정24 · 노동포털</a:t>
            </a:r>
            <a:endParaRPr lang="en-US" sz="1050" dirty="0"/>
          </a:p>
          <a:p>
            <a:pPr marL="0" indent="0" algn="ctr">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marL="0" indent="0" algn="ctr">
              <a:buNone/>
            </a:pPr>
            <a:r>
              <a:rPr lang="en-US" sz="1050" b="1" dirty="0">
                <a:solidFill>
                  <a:schemeClr val="bg1"/>
                </a:solidFill>
              </a:rPr>
              <a:t>알바가드</a:t>
            </a:r>
            <a:endParaRPr lang="en-US" sz="1050" dirty="0"/>
          </a:p>
          <a:p>
            <a:pPr marL="0" indent="0" algn="ctr">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marL="0" indent="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marL="0" indent="0">
              <a:buNone/>
            </a:pPr>
            <a:r>
              <a:rPr lang="en-US" sz="1200" dirty="0">
                <a:solidFill>
                  <a:schemeClr val="tx1"/>
                </a:solidFill>
              </a:rPr>
              <a:t>계산기는 계산에서 멈추고,</a:t>
            </a:r>
            <a:endParaRPr lang="en-US" sz="1200" dirty="0"/>
          </a:p>
          <a:p>
            <a:pPr marL="0" indent="0">
              <a:buNone/>
            </a:pPr>
            <a:r>
              <a:rPr lang="en-US" sz="1200" dirty="0">
                <a:solidFill>
                  <a:schemeClr val="tx1"/>
                </a:solidFill>
              </a:rPr>
              <a:t>기그는 사장이 가입해야,</a:t>
            </a:r>
            <a:endParaRPr lang="en-US" sz="1200" dirty="0"/>
          </a:p>
          <a:p>
            <a:pPr marL="0" indent="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⑥ 비즈니스 모델 · 유저 확보 전략</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marL="0" indent="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marL="0" indent="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marL="0" indent="0" algn="r">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marL="0" indent="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marL="0" indent="0" algn="r">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marL="0" indent="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marL="0" indent="0" algn="r">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marL="0" indent="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marL="0" indent="0" algn="r">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marL="0" indent="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marL="0" indent="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marL="0" indent="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marL="0" indent="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⑦ 초기 시장 검증 성과와 계획</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marL="0" indent="0">
              <a:buNone/>
            </a:pPr>
            <a:r>
              <a:rPr lang="en-US" sz="1100" b="1" dirty="0">
                <a:solidFill>
                  <a:schemeClr val="tx2"/>
                </a:solidFill>
              </a:rPr>
              <a:t>가설  </a:t>
            </a: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84048">
                <a:tc>
                  <a:txBody>
                    <a:bodyPr/>
                    <a:lstStyle/>
                    <a:p>
                      <a:pPr marL="0" indent="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marL="0" indent="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extLst>
                  <a:ext uri="{0D108BD9-81ED-4DB2-BD59-A6C34878D82A}">
                    <a16:rowId xmlns:a16="http://schemas.microsoft.com/office/drawing/2014/main" val="10000"/>
                  </a:ext>
                </a:extLst>
              </a:tr>
              <a:tr h="475488">
                <a:tc>
                  <a:txBody>
                    <a:bodyPr/>
                    <a:lstStyle/>
                    <a:p>
                      <a:pPr marL="0" indent="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5D636D"/>
                          </a:solidFill>
                        </a:rPr>
                        <a:t>가장 쓸모 0명</a:t>
                      </a:r>
                      <a:endParaRPr lang="en-US" sz="1100" dirty="0"/>
                    </a:p>
                    <a:p>
                      <a:pPr marL="0" indent="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5D636D"/>
                          </a:solidFill>
                        </a:rPr>
                        <a:t>가장 쓸모 0명</a:t>
                      </a:r>
                      <a:endParaRPr lang="en-US" sz="1100" dirty="0"/>
                    </a:p>
                    <a:p>
                      <a:pPr marL="0" indent="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marL="0" indent="0">
                        <a:buNone/>
                      </a:pPr>
                      <a:r>
                        <a:rPr lang="en-US" sz="1100" b="1" dirty="0">
                          <a:solidFill>
                            <a:srgbClr val="0F7A55"/>
                          </a:solidFill>
                        </a:rPr>
                        <a:t>"싫다" 4명</a:t>
                      </a:r>
                      <a:endParaRPr lang="en-US" sz="1100" dirty="0"/>
                    </a:p>
                    <a:p>
                      <a:pPr marL="0" indent="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marL="0" indent="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74320"/>
            <a:ext cx="7772400" cy="256032"/>
          </a:xfrm>
          <a:prstGeom prst="rect">
            <a:avLst/>
          </a:prstGeom>
          <a:noFill/>
          <a:ln/>
        </p:spPr>
        <p:txBody>
          <a:bodyPr wrap="square" lIns="0" tIns="0" rIns="0" bIns="0" rtlCol="0"/>
          <a:lstStyle/>
          <a:p>
            <a:pPr marL="0" indent="0">
              <a:buNone/>
            </a:pPr>
            <a:r>
              <a:rPr lang="en-US" sz="1050" b="1" dirty="0">
                <a:solidFill>
                  <a:schemeClr val="accent5"/>
                </a:solidFill>
              </a:rPr>
              <a:t>⑧ 향후 계획 · 간트 차트</a:t>
            </a:r>
            <a:endParaRPr lang="en-US" sz="1050" dirty="0"/>
          </a:p>
        </p:txBody>
      </p:sp>
      <p:sp>
        <p:nvSpPr>
          <p:cNvPr id="3" name="Text 1"/>
          <p:cNvSpPr>
            <a:spLocks noGrp="1"/>
          </p:cNvSpPr>
          <p:nvPr>
            <p:ph type="title" idx="102" hasCustomPrompt="1"/>
          </p:nvPr>
        </p:nvSpPr>
        <p:spPr>
          <a:xfrm>
            <a:off x="457200" y="502920"/>
            <a:ext cx="8229600" cy="566928"/>
          </a:xfrm>
          <a:prstGeom prst="rect">
            <a:avLst/>
          </a:prstGeom>
          <a:noFill/>
          <a:ln/>
        </p:spPr>
        <p:txBody>
          <a:bodyPr wrap="square" lIns="0" tIns="0" rIns="0" bIns="0" rtlCol="0" anchor="t"/>
          <a:lstStyle/>
          <a:p>
            <a:pPr marL="0" indent="0" algn="l">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marL="0" indent="0" algn="ctr">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marL="0" indent="0" algn="ctr">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marL="0" indent="0" algn="ctr">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marL="0" indent="0" algn="ctr">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marL="0" indent="0" algn="ctr">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marL="0" indent="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marL="0" indent="0" algn="ctr">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marL="0" indent="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marL="0" indent="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marL="0" indent="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marL="0" indent="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marL="0" indent="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marL="0" indent="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marL="0" indent="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marL="0" indent="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marL="0" indent="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marL="0" indent="0">
              <a:buNone/>
            </a:pPr>
            <a:r>
              <a:rPr lang="en-US" sz="950" dirty="0">
                <a:solidFill>
                  <a:schemeClr val="accent5"/>
                </a:solidFill>
              </a:rPr>
              <a:t>중간발표 10/27 (화) → 기말 발표 12/15 (화) 예정</a:t>
            </a:r>
            <a:endParaRPr lang="en-US" sz="950" dirty="0"/>
          </a:p>
        </p:txBody>
      </p:sp>
      <p:sp>
        <p:nvSpPr>
          <p:cNvPr id="103"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8046720" cy="731520"/>
          </a:xfrm>
          <a:prstGeom prst="rect">
            <a:avLst/>
          </a:prstGeom>
          <a:noFill/>
          <a:ln/>
        </p:spPr>
        <p:txBody>
          <a:bodyPr wrap="square" lIns="0" tIns="0" rIns="0" bIns="0" rtlCol="0" anchor="t"/>
          <a:lstStyle/>
          <a:p>
            <a:pPr marL="0" indent="0" algn="l">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marL="0" indent="0">
              <a:buNone/>
            </a:pPr>
            <a:r>
              <a:rPr lang="en-US" sz="1800" b="1" dirty="0">
                <a:solidFill>
                  <a:schemeClr val="bg1"/>
                </a:solidFill>
              </a:rPr>
              <a:t>이지훈</a:t>
            </a: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marL="0" indent="0">
              <a:buNone/>
            </a:pPr>
            <a:r>
              <a:rPr lang="en-US" sz="1800" b="1" dirty="0">
                <a:solidFill>
                  <a:schemeClr val="bg1"/>
                </a:solidFill>
              </a:rPr>
              <a:t>손유호</a:t>
            </a: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marL="0" indent="0">
              <a:buNone/>
            </a:pPr>
            <a:r>
              <a:rPr lang="en-US" sz="1800" b="1" dirty="0">
                <a:solidFill>
                  <a:schemeClr val="bg1"/>
                </a:solidFill>
              </a:rPr>
              <a:t>박명진</a:t>
            </a: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marL="0" indent="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8046720" cy="731520"/>
          </a:xfrm>
          <a:prstGeom prst="rect">
            <a:avLst/>
          </a:prstGeom>
          <a:noFill/>
          <a:ln/>
        </p:spPr>
        <p:txBody>
          <a:bodyPr wrap="square" lIns="0" tIns="0" rIns="0" bIns="0" rtlCol="0" anchor="t"/>
          <a:lstStyle/>
          <a:p>
            <a:pPr marL="0" indent="0" algn="l">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marL="0" indent="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marL="0" indent="0" algn="r">
              <a:buNone/>
            </a:pPr>
            <a:r>
              <a:rPr lang="en-US" sz="1100" dirty="0">
                <a:solidFill>
                  <a:schemeClr val="bg2"/>
                </a:solidFill>
              </a:rPr>
              <a:t>jihooni217.github.io/albaguard</a:t>
            </a:r>
            <a:endParaRPr lang="en-US" sz="1100" dirty="0"/>
          </a:p>
          <a:p>
            <a:pPr marL="0" indent="0" algn="r">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marL="0" indent="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marL="0" indent="0" algn="r">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marL="0" indent="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marL="0" indent="0" algn="r">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icPr>
            <a:picLocks noChangeAspect="1"/>
          </p:cNvPicPr>
          <p:nvPr/>
        </p:nvPicPr>
        <p:blipFill>
          <a:blip r:embed="rId3"/>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marL="0" indent="0" algn="ctr">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marL="0" indent="0" algn="ctr">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icPr>
            <a:picLocks noChangeAspect="1"/>
          </p:cNvPicPr>
          <p:nvPr/>
        </p:nvPicPr>
        <p:blipFill>
          <a:blip r:embed="rId4"/>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marL="0" indent="0" algn="ctr">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marL="0" indent="0" algn="ctr">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marL="0" indent="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marL="0" indent="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6043</Words>
  <Application>Microsoft Office PowerPoint</Application>
  <PresentationFormat>화면 슬라이드 쇼(16:9)</PresentationFormat>
  <Paragraphs>441</Paragraphs>
  <Slides>19</Slides>
  <Notes>19</Notes>
  <HiddenSlides>0</HiddenSlides>
  <MMClips>1</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19</vt:i4>
      </vt:variant>
    </vt:vector>
  </HeadingPairs>
  <TitlesOfParts>
    <vt:vector size="22" baseType="lpstr">
      <vt:lpstr>Malgun Gothic</vt:lpstr>
      <vt:lpstr>Arial</vt:lpstr>
      <vt:lpstr>Albaguard</vt:lpstr>
      <vt:lpstr>PowerPoint 프레젠테이션</vt:lpstr>
      <vt:lpstr>지금 상태: 앱은 배포, 설문 13명 응답, 인터뷰는 11월</vt:lpstr>
      <vt:lpstr>덜 받아도 모르고, 알아도 말하지 못함</vt:lpstr>
      <vt:lpstr>기존 서비스: 계산까지는 있지만, 비교와 대응은 없음</vt:lpstr>
      <vt:lpstr>기록 → 비교 → 요청, 신고 이전 단계를 채움</vt:lpstr>
      <vt:lpstr>차별점과 한계</vt:lpstr>
      <vt:lpstr>기술 스택: 앱은 폰에서, 서버는 확인 번호 · 설문에만</vt:lpstr>
      <vt:lpstr>근무 내용은 폰 안에, 서버에는 번호와 등록 시각만</vt:lpstr>
      <vt:lpstr>네 화면: 캘린더, 설정, 증빙 묶음 PDF, 확인 페이지</vt:lpstr>
      <vt:lpstr>시연 순서 (녹화 영상 1분 46초, 멈춰 설명하며 약 3분)</vt:lpstr>
      <vt:lpstr>PowerPoint 프레젠테이션</vt:lpstr>
      <vt:lpstr>MVP 기능 8개 모두 동작, 완성도 평균 약 80%</vt:lpstr>
      <vt:lpstr>임금체불 2년 연속 2조 원, 30인 미만 사업장에 집중</vt:lpstr>
      <vt:lpstr>경쟁 서비스 위치</vt:lpstr>
      <vt:lpstr>핵심 화면은 무료, 수익은 게임 화면에서</vt:lpstr>
      <vt:lpstr>검증: 설문 13명 중간 결과, 11월에 다섯 가지 확인</vt:lpstr>
      <vt:lpstr>기말(12/15)까지 일정</vt:lpstr>
      <vt:lpstr>⑧ 팀원별 R&amp;R</vt:lpstr>
      <vt:lpstr>못 받은 알바비, 기록으로 찾는 앱</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지훈 이</cp:lastModifiedBy>
  <cp:revision>2</cp:revision>
  <dcterms:created xsi:type="dcterms:W3CDTF">2026-10-26T09:47:59Z</dcterms:created>
  <dcterms:modified xsi:type="dcterms:W3CDTF">2026-10-26T10:23:22Z</dcterms:modified>
</cp:coreProperties>
</file>