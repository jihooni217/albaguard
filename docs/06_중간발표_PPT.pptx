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eb75fa1b-3721-1f07-a474-da2fe20549a5}">
          <p14:sldIdLst>
            <p14:sldId id="256"/>
            <p14:sldId id="257"/>
          </p14:sldIdLst>
        </p14:section>
        <p14:section name="② 문제 정의" id="{54b529e6-8cc0-6b0f-e4b6-03000e2f0fa2}">
          <p14:sldIdLst>
            <p14:sldId id="258"/>
            <p14:sldId id="259"/>
          </p14:sldIdLst>
        </p14:section>
        <p14:section name="③ 솔루션·핵심 가치" id="{5e51028d-93e7-81f7-c3b4-2b38cb88354c}">
          <p14:sldIdLst>
            <p14:sldId id="260"/>
            <p14:sldId id="261"/>
          </p14:sldIdLst>
        </p14:section>
        <p14:section name="④ SW 기술 아키텍처" id="{c0bac677-fb73-7f94-a54a-7c0d6e7664ae}">
          <p14:sldIdLst>
            <p14:sldId id="262"/>
            <p14:sldId id="263"/>
          </p14:sldIdLst>
        </p14:section>
        <p14:section name="⑤ 개발 현황·MVP 시연" id="{f994ea5c-0e63-bcd1-78f1-e887574929da}">
          <p14:sldIdLst>
            <p14:sldId id="264"/>
            <p14:sldId id="265"/>
            <p14:sldId id="266"/>
            <p14:sldId id="267"/>
          </p14:sldIdLst>
        </p14:section>
        <p14:section name="⑥ 시장 분석·비즈니스 모델" id="{51917078-0173-124e-4514-14506addc5bd}">
          <p14:sldIdLst>
            <p14:sldId id="268"/>
            <p14:sldId id="269"/>
            <p14:sldId id="270"/>
          </p14:sldIdLst>
        </p14:section>
        <p14:section name="⑦ 초기 시장 검증" id="{0b5605f0-2dd4-8c79-d392-f7283535115d}">
          <p14:sldIdLst>
            <p14:sldId id="271"/>
          </p14:sldIdLst>
        </p14:section>
        <p14:section name="⑧ 향후 계획·팀 역량" id="{5c654936-18f5-060e-a1cb-0fcd21689da7}">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혹시 지난달 알바비, 정확히 얼마를 받아야 했는지 아시나요? 아마 정확히 아는 분은 많지 않으실 겁니다.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오늘은 문제, 해결 방법, 기술과 시연, 시장과 수익, 검증과 일정 순서로 말씀드리겠습니다.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화면의 큰 숫자 세 개는 알바천국 설문 결과인데요. 먼저, 얼마를 받아야 하는지부터 어렵습니다. 노동절에 일한 알바생 셋 중 한 명은 수당을 받는지조차 몰랐습니다. 다음은 덜 받아도 잘 모른다는 점입니다. 저희 설문에서도 12명 중 7명이 통장에 들어온 총액만 본다고 했습니다. 마지막으로, 알아도 말을 못 합니다. 최저시급보다 덜 받은 사람 중 절반 가까이가 아무 대응도 하지 않았습니다. 기록이 없으면 "나중에 지어낸 거 아니냐"는 한마디에 할 말이 없어지니까요. (멈춤) 결국 세 문제의 원인은 하나입니다.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앱보단 메모장이나 카톡이라서 맨 앞 열에 같이 넣었습니다. 표를 다 보실 필요는 없고, 실제 받은 돈과 비교하기, 요청 문구와 증빙 만들기, 수정 이력과 등록 시각, 이 가운데 세 줄만 봐 주시면 됩니다. 이 세 줄은 알바가드에만 O가 있습니다. 다른 서비스는 대부분 예상 급여 계산에서 멈추거나, 사장님이 가입해야 하거나, 증거가 이미 있어야 시작할 수 있습니다. 진정서를 대신 써 주거나 접수하는 건 노무사 같은 전문가가 할 일이라, 저희는 그 앞 단계인 기록, 비교, 요청에 집중하고 진정은 1350과 노동포털로 연결해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연결했습니다. 출근과 퇴근은 버튼 하나로 기록하고, 나중에 그 시각을 고치면 원래 시각과 고친 이유가 함께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사용자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크게 세 가지입니다. 첫 번째로, 기그와 다르게 사장님 가입 없이 혼자 쓸 수 있습니다. 두 번째로, 실제로 받은 돈과 비교해서 요청 문구와 증빙까지 이어집니다. 세 번째로, 기록할 때마다 확인 번호와 서버 등록 시각이 남습니다. 사유 없이는 기록을 고칠 수 없고, 지워도 흔적이 남고, 고치면 다시 등록됩니다. 이 부분은 다른 앱이 쉽게 따라 하기 어렵다고 생각합니다. (멈춤) 한마디로,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설득력이 생기고, 최종적인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앱은 폰 안에서 돌아가고, 서버는 꼭 필요한 곳에만 씁니다. 앱은 React(리액트)와 Vite(비트)로 만든 웹앱이라 앱스토어 없이 링크로 바로 설치하고, 홈 화면에 추가하면 인터넷이 없어도 열립니다. 저희가 직접 운영하는 서버는 없고, 외부 서비스인 Supabase(수파베이스)를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2000년이라는 가짜 시각을 넣어 보내 봤는데, 서버는 그 시각을 무시하고 받은 순간의 시각으로 저장했습니다. 등록된 기록을 고치거나 지우려고 해도 서버가 막았습니다. 다만 운영자 권한으로는 고칠 수 있어서, 지금 막을 수 있는 건 사용자가 나중에 기록을 고쳐 쓰는 것까지입니다. (멈춤) 다시 말해, 근무 내용은 폰 밖으로 나가지 않고, 서버에는 번호 세 개와 서버가 찍은 등록 시각만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이 중 캘린더는 영상에 나오지 않아서 먼저 말씀드리면, 예정과 다르게 일한 날, 예를 들어 연장이나 대타를 글자로 따로 표시합니다. 나머지 설정, 증빙 묶음 PDF, 확인 페이지는 잠시 뒤 영상에서 실제로 쓰는 모습으로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이어서 보실 영상은 배포된 앱을 직접 눌러 보면서 녹화한 것입니다. 순서는 화면의 네 단계 그대로이고, 영상 안에 단계마다 자막이 있어서 멈추지 않고 그대로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(영상은 멈추지 않고 끝까지 틉니다)
(영상이 끝나면) 이렇게 출근 기록부터 사장님께 보낼 메시지, 확인 페이지까지 앱 하나로 모두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번째 칸인 컴퓨터에서 동작하는 것까지만 확인했고, 나머지 두 칸은 11월에 진행할 예정입니다. 그래서 완성도를 평균 80% 정도로 잡았습니다. 지금까지 문제와 해결 방법, 그리고 실제로 동작하는 모습을 보셨습니다.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작년 체불액만 보면 67.8%가 30인 미만 사업장에서 나왔는데요, 알바생이 많이 일하는 카페, 편의점, 음식점이 대부분 이 규모입니다. 저희 타깃 규모는 대학 재적생 307만 명 중 알바 경험이 있는 사람으로 어림해서, 많아야 210만에서 270만 명 정도로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가로는 사장님 없이 혼자 쓸 수 있는지, 세로는 계산에서 멈추는지 대응까지 가는지입니다. 앞에서 본 서비스들을 이 위에 놓아 보면, 혼자 쓰면서 대응까지 가는 왼쪽 위 칸에는 알바가드만 있습니다. 가장 가까운 건 혼자 기록할 수 있는 하우머치인데, 하우머치가 비교 기능을 넣으면 따라올 수 있습니다. 그래서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앞으로도 광고를 넣지 않습니다. 사용자가 믿고 써야 하는 화면이기 때문입니다. 1차 수익 가설은 쉬는 틈 게임 화면의 광고입니다. 출퇴근 버튼은 일하는 날마다 누르지만, 돈을 확인하는 건 급여일 한 번뿐입니다. 그래서 그 사이에도 앱을 열 이유로, 출퇴근길 같은 쉬는 틈에 가볍게 할 수 있는 게임을 넣었습니다. 이 게임 화면을 광고 자리로 보고 있습니다. 2차 후보는 폰을 바꿔도 기록이 남는 동기화와 자동 백업 구독입니다. 반대로 정산 문구나 증빙 문서를 돈을 받고 만들어 주면 변호사법이나 공인노무사법 문제가 생길 수 있어서 유료화하지 않습니다. 사용자는 에브리타임, 학과 단톡방, 알바 커뮤니티, 그리고 유튜브 쇼츠나 인스타 릴스 같은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이렇습니다. "근무 기록을 근거로 한 요청 문구가 있으면, 알바생이 사장님께 말을 꺼낼 수 있다고 느끼고 실제로 쓸 것이다." 11월에 설문 30명과 인터뷰 5명으로, 이 가설을 표의 다섯 가지로 나눠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13명 중 11명이었고, 게임 화면 광고가 싫다는 사람은 13명 중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마일스톤인데, 크게 세 단계로 보시면 됩니다. 11월 초에는 인터뷰와 설문으로 검증하고, 11월 말까지 그 결과를 반영해 다시 배포하면서 실제 폰에서도 확인합니다. 그동안 팀장은 앞에서 말씀드린 기록 등록 보강, 그러니까 기록 내용으로 확인 번호를 다시 맞춰 보는 기능을 만듭니다. 12월 7일부터는 기능을 더 고치지 않고 보고서와 발표 준비에 집중할 예정입니다.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보시는 것처럼 앞으로 맡을 일은 오늘 각자 발표한 부분과 같습니다. 이지훈 팀장은 개발, 손유호 팀원은 시장과 수익, 저는 검증과 일정을 맡습니다. 그럼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주려고 만든 앱입니다. 화면의 QR로 설문에 답해 주시면, 기말 발표 결과에 큰 도움이 될 것 같습니다. 이상으로 4조 발표를 마치겠습니다. 들어 주셔서 감사합니다. 질문 받겠습니다.
영상 속 장면 (질문이 나오면): ① 출근 · 퇴근 뒤 출근 시각을 고치면서 사유를 쓰자 수정 이력이 남고, 서버에 3건 등록(출근 · 퇴근 · 수정) ② 받은 금액을 넣으니 덜 받은 돈이 빨간 숫자로 ③ 방금 넣은 9월까지 더해 덜 받은 석 달을 합친 메시지, 3단계 진정 안내는 1350 · 노동포털 연결만, 증빙 PDF 7번 표에 방금 등록한 확인 번호 ④ 확인 페이지에 번호를 넣으면 서버가 찍은 등록 시각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타깃 210만~270만 명은 어디서? → 교육부 2026 교육기본통계의 고등교육기관 재적학생 307만 명에 알바 경험 설문 두 개의 비율(동국대 200명 67.5%, 알바몬 대학생 1,193명 88.9%)을 곱한 상한 어림값. 재적생에는 전문대 · 대학원 · 휴학생도 들어 있어 "많아야"로 말함. 실제 타깃인 지금 알바 중이면서 주 15시간 이상인 학생은 공식 통계가 없어 설문으로 확인 중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부족하다고 보시면 인터뷰를 늘린다.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원인은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64208"/>
            <a:ext cx="2651760" cy="566928"/>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pic>
        <p:nvPicPr>
          <p:cNvPr id="8" name="기록 화면" descr="C:\Users\user\Desktop\albaguard기술창업\docs\screenshots\phone\1-home.png">    </p:cNvPr>
          <p:cNvPicPr>
            <a:picLocks noChangeAspect="1"/>
          </p:cNvPicPr>
          <p:nvPr/>
        </p:nvPicPr>
        <p:blipFill>
          <a:blip r:embed="rId1"/>
          <a:stretch>
            <a:fillRect/>
          </a:stretch>
        </p:blipFill>
        <p:spPr>
          <a:xfrm>
            <a:off x="1193458" y="2240280"/>
            <a:ext cx="1179244" cy="2542032"/>
          </a:xfrm>
          <a:prstGeom prst="rect">
            <a:avLst/>
          </a:prstGeom>
        </p:spPr>
      </p:pic>
      <p:sp>
        <p:nvSpPr>
          <p:cNvPr id="9" name="Shape 6"/>
          <p:cNvSpPr/>
          <p:nvPr/>
        </p:nvSpPr>
        <p:spPr>
          <a:xfrm>
            <a:off x="3127248" y="1417320"/>
            <a:ext cx="100584" cy="0"/>
          </a:xfrm>
          <a:prstGeom prst="line">
            <a:avLst/>
          </a:prstGeom>
          <a:noFill/>
          <a:ln w="25400">
            <a:solidFill>
              <a:srgbClr val="DCD9D0"/>
            </a:solidFill>
            <a:prstDash val="solid"/>
            <a:tailEnd type="triangle"/>
          </a:ln>
        </p:spPr>
      </p:sp>
      <p:sp>
        <p:nvSpPr>
          <p:cNvPr id="10"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1" name="Text 8"/>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2" name="Text 9"/>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3" name="Text 10"/>
          <p:cNvSpPr txBox="1"/>
          <p:nvPr/>
        </p:nvSpPr>
        <p:spPr>
          <a:xfrm>
            <a:off x="3246120" y="1664208"/>
            <a:ext cx="2651760" cy="566928"/>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pic>
        <p:nvPicPr>
          <p:cNvPr id="14" name="비교 화면" descr="C:\Users\user\Desktop\albaguard기술창업\docs\screenshots\phone\3-pay.png">    </p:cNvPr>
          <p:cNvPicPr>
            <a:picLocks noChangeAspect="1"/>
          </p:cNvPicPr>
          <p:nvPr/>
        </p:nvPicPr>
        <p:blipFill>
          <a:blip r:embed="rId2"/>
          <a:stretch>
            <a:fillRect/>
          </a:stretch>
        </p:blipFill>
        <p:spPr>
          <a:xfrm>
            <a:off x="3982378" y="2240280"/>
            <a:ext cx="1179244" cy="2542032"/>
          </a:xfrm>
          <a:prstGeom prst="rect">
            <a:avLst/>
          </a:prstGeom>
        </p:spPr>
      </p:pic>
      <p:sp>
        <p:nvSpPr>
          <p:cNvPr id="15" name="Shape 11"/>
          <p:cNvSpPr/>
          <p:nvPr/>
        </p:nvSpPr>
        <p:spPr>
          <a:xfrm>
            <a:off x="5916168" y="1417320"/>
            <a:ext cx="100584" cy="0"/>
          </a:xfrm>
          <a:prstGeom prst="line">
            <a:avLst/>
          </a:prstGeom>
          <a:noFill/>
          <a:ln w="25400">
            <a:solidFill>
              <a:srgbClr val="DCD9D0"/>
            </a:solidFill>
            <a:prstDash val="solid"/>
            <a:tailEnd type="triangle"/>
          </a:ln>
        </p:spPr>
      </p:sp>
      <p:sp>
        <p:nvSpPr>
          <p:cNvPr id="16"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7" name="Text 13"/>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8" name="Text 14"/>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19" name="Text 15"/>
          <p:cNvSpPr txBox="1"/>
          <p:nvPr/>
        </p:nvSpPr>
        <p:spPr>
          <a:xfrm>
            <a:off x="6035040" y="1664208"/>
            <a:ext cx="2651760" cy="566928"/>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pic>
        <p:nvPicPr>
          <p:cNvPr id="20" name="요청 화면" descr="C:\Users\user\Desktop\albaguard기술창업\docs\screenshots\phone\4-request.png">    </p:cNvPr>
          <p:cNvPicPr>
            <a:picLocks noChangeAspect="1"/>
          </p:cNvPicPr>
          <p:nvPr/>
        </p:nvPicPr>
        <p:blipFill>
          <a:blip r:embed="rId3"/>
          <a:stretch>
            <a:fillRect/>
          </a:stretch>
        </p:blipFill>
        <p:spPr>
          <a:xfrm>
            <a:off x="6771298" y="2240280"/>
            <a:ext cx="1179244" cy="2542032"/>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2026.10.27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pic>
        <p:nvPicPr>
          <p:cNvPr id="4" name="캘린더" descr="C:\Users\user\Desktop\albaguard기술창업\docs\screenshots\phone\2-calendar.png">    </p:cNvPr>
          <p:cNvPicPr>
            <a:picLocks noChangeAspect="1"/>
          </p:cNvPicPr>
          <p:nvPr/>
        </p:nvPicPr>
        <p:blipFill>
          <a:blip r:embed="rId1"/>
          <a:stretch>
            <a:fillRect/>
          </a:stretch>
        </p:blipFill>
        <p:spPr>
          <a:xfrm>
            <a:off x="457200" y="1170432"/>
            <a:ext cx="1399822" cy="3017520"/>
          </a:xfrm>
          <a:prstGeom prst="rect">
            <a:avLst/>
          </a:prstGeom>
        </p:spPr>
      </p:pic>
      <p:sp>
        <p:nvSpPr>
          <p:cNvPr id="5" name="Text 2"/>
          <p:cNvSpPr txBox="1"/>
          <p:nvPr/>
        </p:nvSpPr>
        <p:spPr>
          <a:xfrm>
            <a:off x="274320" y="4206240"/>
            <a:ext cx="176558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6" name="Text 3"/>
          <p:cNvSpPr txBox="1"/>
          <p:nvPr/>
        </p:nvSpPr>
        <p:spPr>
          <a:xfrm>
            <a:off x="228600" y="4462272"/>
            <a:ext cx="1857022" cy="365760"/>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pic>
        <p:nvPicPr>
          <p:cNvPr id="7" name="설정" descr="C:\Users\user\Desktop\albaguard기술창업\docs\screenshots\phone\10-settings.png">    </p:cNvPr>
          <p:cNvPicPr>
            <a:picLocks noChangeAspect="1"/>
          </p:cNvPicPr>
          <p:nvPr/>
        </p:nvPicPr>
        <p:blipFill>
          <a:blip r:embed="rId2"/>
          <a:stretch>
            <a:fillRect/>
          </a:stretch>
        </p:blipFill>
        <p:spPr>
          <a:xfrm>
            <a:off x="2733793" y="1170432"/>
            <a:ext cx="1399822" cy="3017520"/>
          </a:xfrm>
          <a:prstGeom prst="rect">
            <a:avLst/>
          </a:prstGeom>
        </p:spPr>
      </p:pic>
      <p:sp>
        <p:nvSpPr>
          <p:cNvPr id="8" name="Text 4"/>
          <p:cNvSpPr txBox="1"/>
          <p:nvPr/>
        </p:nvSpPr>
        <p:spPr>
          <a:xfrm>
            <a:off x="2550913" y="4206240"/>
            <a:ext cx="176558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9" name="Text 5"/>
          <p:cNvSpPr txBox="1"/>
          <p:nvPr/>
        </p:nvSpPr>
        <p:spPr>
          <a:xfrm>
            <a:off x="2505193" y="4462272"/>
            <a:ext cx="1857022" cy="365760"/>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pic>
        <p:nvPicPr>
          <p:cNvPr id="10" name="증빙 묶음 PDF" descr="C:\Users\user\Desktop\albaguard기술창업\docs\screenshots\phone\8-evidence.png">    </p:cNvPr>
          <p:cNvPicPr>
            <a:picLocks noChangeAspect="1"/>
          </p:cNvPicPr>
          <p:nvPr/>
        </p:nvPicPr>
        <p:blipFill>
          <a:blip r:embed="rId3"/>
          <a:stretch>
            <a:fillRect/>
          </a:stretch>
        </p:blipFill>
        <p:spPr>
          <a:xfrm>
            <a:off x="5010385" y="1170432"/>
            <a:ext cx="1399822" cy="3017520"/>
          </a:xfrm>
          <a:prstGeom prst="rect">
            <a:avLst/>
          </a:prstGeom>
        </p:spPr>
      </p:pic>
      <p:sp>
        <p:nvSpPr>
          <p:cNvPr id="11" name="Text 6"/>
          <p:cNvSpPr txBox="1"/>
          <p:nvPr/>
        </p:nvSpPr>
        <p:spPr>
          <a:xfrm>
            <a:off x="4827505" y="4206240"/>
            <a:ext cx="176558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2" name="Text 7"/>
          <p:cNvSpPr txBox="1"/>
          <p:nvPr/>
        </p:nvSpPr>
        <p:spPr>
          <a:xfrm>
            <a:off x="4781785" y="4462272"/>
            <a:ext cx="1857022" cy="365760"/>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pic>
        <p:nvPicPr>
          <p:cNvPr id="13" name="확인 페이지" descr="C:\Users\user\Desktop\albaguard기술창업\docs\screenshots\phone\9-verify.png">    </p:cNvPr>
          <p:cNvPicPr>
            <a:picLocks noChangeAspect="1"/>
          </p:cNvPicPr>
          <p:nvPr/>
        </p:nvPicPr>
        <p:blipFill>
          <a:blip r:embed="rId4"/>
          <a:stretch>
            <a:fillRect/>
          </a:stretch>
        </p:blipFill>
        <p:spPr>
          <a:xfrm>
            <a:off x="7286978" y="1170432"/>
            <a:ext cx="1399822" cy="3017520"/>
          </a:xfrm>
          <a:prstGeom prst="rect">
            <a:avLst/>
          </a:prstGeom>
        </p:spPr>
      </p:pic>
      <p:sp>
        <p:nvSpPr>
          <p:cNvPr id="14" name="Text 8"/>
          <p:cNvSpPr txBox="1"/>
          <p:nvPr/>
        </p:nvSpPr>
        <p:spPr>
          <a:xfrm>
            <a:off x="7104098" y="4206240"/>
            <a:ext cx="176558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5" name="Text 9"/>
          <p:cNvSpPr txBox="1"/>
          <p:nvPr/>
        </p:nvSpPr>
        <p:spPr>
          <a:xfrm>
            <a:off x="7058378" y="4462272"/>
            <a:ext cx="1857022" cy="365760"/>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배포된 앱을 녹화한 영상</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 사유를 써서 수정 → 설정에서 "3건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기록하거나 고칠 때마다 서버에 확인 번호가 남음. 예시 데이터는 등록되지 않아 시연 중 남긴 3건만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(3개월 합계) → 진정 안내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진정은 1350 · 노동포털로 연결만.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혼자 쓰면서 대응까지 가는 서비스는 알바가드뿐</a:t>
            </a:r>
            <a:endParaRPr lang="en-US" sz="2400" dirty="0"/>
          </a:p>
        </p:txBody>
      </p:sp>
      <p:sp>
        <p:nvSpPr>
          <p:cNvPr id="4" name="포지션 바탕"/>
          <p:cNvSpPr/>
          <p:nvPr/>
        </p:nvSpPr>
        <p:spPr>
          <a:xfrm>
            <a:off x="914400" y="1298448"/>
            <a:ext cx="4846320" cy="3063240"/>
          </a:xfrm>
          <a:prstGeom prst="rect">
            <a:avLst/>
          </a:prstGeom>
          <a:solidFill>
            <a:schemeClr val="bg2"/>
          </a:solidFill>
          <a:ln w="12700">
            <a:solidFill>
              <a:schemeClr val="bg2"/>
            </a:solidFill>
            <a:prstDash val="solid"/>
          </a:ln>
        </p:spPr>
      </p:sp>
      <p:sp>
        <p:nvSpPr>
          <p:cNvPr id="5" name="알바가드 칸"/>
          <p:cNvSpPr/>
          <p:nvPr/>
        </p:nvSpPr>
        <p:spPr>
          <a:xfrm>
            <a:off x="914400" y="1298448"/>
            <a:ext cx="2423160" cy="1531620"/>
          </a:xfrm>
          <a:prstGeom prst="rect">
            <a:avLst/>
          </a:prstGeom>
          <a:solidFill>
            <a:schemeClr val="accent1">
              <a:alpha val="12000"/>
            </a:schemeClr>
          </a:solidFill>
          <a:ln w="12700">
            <a:solidFill>
              <a:schemeClr val="accent1"/>
            </a:solidFill>
            <a:prstDash val="solid"/>
          </a:ln>
        </p:spPr>
      </p:sp>
      <p:sp>
        <p:nvSpPr>
          <p:cNvPr id="6" name="Shape 4"/>
          <p:cNvSpPr/>
          <p:nvPr/>
        </p:nvSpPr>
        <p:spPr>
          <a:xfrm>
            <a:off x="3337560" y="1298448"/>
            <a:ext cx="0" cy="3063240"/>
          </a:xfrm>
          <a:prstGeom prst="line">
            <a:avLst/>
          </a:prstGeom>
          <a:noFill/>
          <a:ln w="12700">
            <a:solidFill>
              <a:srgbClr val="DCD9D0"/>
            </a:solidFill>
            <a:prstDash val="solid"/>
          </a:ln>
        </p:spPr>
      </p:sp>
      <p:sp>
        <p:nvSpPr>
          <p:cNvPr id="7" name="Shape 5"/>
          <p:cNvSpPr/>
          <p:nvPr/>
        </p:nvSpPr>
        <p:spPr>
          <a:xfrm>
            <a:off x="914400" y="2830068"/>
            <a:ext cx="4846320" cy="0"/>
          </a:xfrm>
          <a:prstGeom prst="line">
            <a:avLst/>
          </a:prstGeom>
          <a:noFill/>
          <a:ln w="12700">
            <a:solidFill>
              <a:srgbClr val="DCD9D0"/>
            </a:solidFill>
            <a:prstDash val="solid"/>
          </a:ln>
        </p:spPr>
      </p:sp>
      <p:sp>
        <p:nvSpPr>
          <p:cNvPr id="8" name="Text 6"/>
          <p:cNvSpPr txBox="1"/>
          <p:nvPr/>
        </p:nvSpPr>
        <p:spPr>
          <a:xfrm>
            <a:off x="914400" y="4416552"/>
            <a:ext cx="2194560" cy="256032"/>
          </a:xfrm>
          <a:prstGeom prst="rect">
            <a:avLst/>
          </a:prstGeom>
          <a:noFill/>
          <a:ln/>
        </p:spPr>
        <p:txBody>
          <a:bodyPr wrap="square" lIns="0" tIns="0" rIns="0" bIns="0" rtlCol="0" anchor="ctr"/>
          <a:lstStyle/>
          <a:p>
            <a:pPr indent="0" marL="0">
              <a:buNone/>
            </a:pPr>
            <a:r>
              <a:rPr lang="en-US" sz="1000" b="1" dirty="0">
                <a:solidFill>
                  <a:schemeClr val="accent5"/>
                </a:solidFill>
              </a:rPr>
              <a:t>← 혼자 씀</a:t>
            </a:r>
            <a:endParaRPr lang="en-US" sz="1000" dirty="0"/>
          </a:p>
        </p:txBody>
      </p:sp>
      <p:sp>
        <p:nvSpPr>
          <p:cNvPr id="9" name="Text 7"/>
          <p:cNvSpPr txBox="1"/>
          <p:nvPr/>
        </p:nvSpPr>
        <p:spPr>
          <a:xfrm>
            <a:off x="3383280" y="4416552"/>
            <a:ext cx="2377440" cy="256032"/>
          </a:xfrm>
          <a:prstGeom prst="rect">
            <a:avLst/>
          </a:prstGeom>
          <a:noFill/>
          <a:ln/>
        </p:spPr>
        <p:txBody>
          <a:bodyPr wrap="square" lIns="0" tIns="0" rIns="0" bIns="0" rtlCol="0" anchor="ctr"/>
          <a:lstStyle/>
          <a:p>
            <a:pPr algn="r" indent="0" marL="0">
              <a:buNone/>
            </a:pPr>
            <a:r>
              <a:rPr lang="en-US" sz="1000" b="1" dirty="0">
                <a:solidFill>
                  <a:schemeClr val="accent5"/>
                </a:solidFill>
              </a:rPr>
              <a:t>사장 가입 · 증거가 먼저 →</a:t>
            </a:r>
            <a:endParaRPr lang="en-US" sz="1000" dirty="0"/>
          </a:p>
        </p:txBody>
      </p:sp>
      <p:sp>
        <p:nvSpPr>
          <p:cNvPr id="10" name="Text 8"/>
          <p:cNvSpPr txBox="1"/>
          <p:nvPr/>
        </p:nvSpPr>
        <p:spPr>
          <a:xfrm rot="16200000">
            <a:off x="45720" y="1865376"/>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대응까지</a:t>
            </a:r>
            <a:endParaRPr lang="en-US" sz="1000" dirty="0"/>
          </a:p>
        </p:txBody>
      </p:sp>
      <p:sp>
        <p:nvSpPr>
          <p:cNvPr id="11" name="Text 9"/>
          <p:cNvSpPr txBox="1"/>
          <p:nvPr/>
        </p:nvSpPr>
        <p:spPr>
          <a:xfrm rot="16200000">
            <a:off x="45720" y="3520440"/>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계산까지</a:t>
            </a:r>
            <a:endParaRPr lang="en-US" sz="1000" dirty="0"/>
          </a:p>
        </p:txBody>
      </p:sp>
      <p:sp>
        <p:nvSpPr>
          <p:cNvPr id="12" name="알바가드 칩"/>
          <p:cNvSpPr/>
          <p:nvPr/>
        </p:nvSpPr>
        <p:spPr>
          <a:xfrm>
            <a:off x="1234440" y="1682496"/>
            <a:ext cx="1783080" cy="585216"/>
          </a:xfrm>
          <a:prstGeom prst="roundRect">
            <a:avLst>
              <a:gd name="adj" fmla="val 12500"/>
            </a:avLst>
          </a:prstGeom>
          <a:solidFill>
            <a:schemeClr val="accent1"/>
          </a:solidFill>
          <a:ln w="12700">
            <a:solidFill>
              <a:schemeClr val="accent1"/>
            </a:solidFill>
            <a:prstDash val="solid"/>
          </a:ln>
        </p:spPr>
      </p:sp>
      <p:sp>
        <p:nvSpPr>
          <p:cNvPr id="13" name="Text 11"/>
          <p:cNvSpPr txBox="1"/>
          <p:nvPr/>
        </p:nvSpPr>
        <p:spPr>
          <a:xfrm>
            <a:off x="1307592" y="1682496"/>
            <a:ext cx="1636776" cy="585216"/>
          </a:xfrm>
          <a:prstGeom prst="rect">
            <a:avLst/>
          </a:prstGeom>
          <a:noFill/>
          <a:ln/>
        </p:spPr>
        <p:txBody>
          <a:bodyPr wrap="square" lIns="0" tIns="0" rIns="0" bIns="0" rtlCol="0" anchor="ctr"/>
          <a:lstStyle/>
          <a:p>
            <a:pPr algn="ctr" indent="0" marL="0">
              <a:buNone/>
            </a:pPr>
            <a:r>
              <a:rPr lang="en-US" sz="1200" b="1" dirty="0">
                <a:solidFill>
                  <a:schemeClr val="bg1"/>
                </a:solidFill>
              </a:rPr>
              <a:t>알바가드</a:t>
            </a:r>
            <a:endParaRPr lang="en-US" sz="1200" dirty="0"/>
          </a:p>
          <a:p>
            <a:pPr algn="ctr" indent="0" marL="0">
              <a:buNone/>
            </a:pPr>
            <a:r>
              <a:rPr lang="en-US" sz="900" dirty="0">
                <a:solidFill>
                  <a:schemeClr val="bg2"/>
                </a:solidFill>
              </a:rPr>
              <a:t>기록 → 비교 → 요청 → 증빙</a:t>
            </a:r>
            <a:endParaRPr lang="en-US" sz="1200" dirty="0"/>
          </a:p>
        </p:txBody>
      </p:sp>
      <p:sp>
        <p:nvSpPr>
          <p:cNvPr id="14" name="진정24 · 노동포털 칩"/>
          <p:cNvSpPr/>
          <p:nvPr/>
        </p:nvSpPr>
        <p:spPr>
          <a:xfrm>
            <a:off x="3703320" y="1682496"/>
            <a:ext cx="1737360" cy="585216"/>
          </a:xfrm>
          <a:prstGeom prst="roundRect">
            <a:avLst>
              <a:gd name="adj" fmla="val 12500"/>
            </a:avLst>
          </a:prstGeom>
          <a:solidFill>
            <a:schemeClr val="bg1"/>
          </a:solidFill>
          <a:ln w="12700">
            <a:solidFill>
              <a:srgbClr val="DCD9D0"/>
            </a:solidFill>
            <a:prstDash val="solid"/>
          </a:ln>
        </p:spPr>
      </p:sp>
      <p:sp>
        <p:nvSpPr>
          <p:cNvPr id="15" name="Text 13"/>
          <p:cNvSpPr txBox="1"/>
          <p:nvPr/>
        </p:nvSpPr>
        <p:spPr>
          <a:xfrm>
            <a:off x="3776472" y="1682496"/>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900" dirty="0">
                <a:solidFill>
                  <a:schemeClr val="accent5"/>
                </a:solidFill>
              </a:rPr>
              <a:t>증거가 있어야 시작</a:t>
            </a:r>
            <a:endParaRPr lang="en-US" sz="1050" dirty="0"/>
          </a:p>
        </p:txBody>
      </p:sp>
      <p:sp>
        <p:nvSpPr>
          <p:cNvPr id="16" name="하우머치 칩"/>
          <p:cNvSpPr/>
          <p:nvPr/>
        </p:nvSpPr>
        <p:spPr>
          <a:xfrm>
            <a:off x="1234440" y="2990088"/>
            <a:ext cx="1783080" cy="585216"/>
          </a:xfrm>
          <a:prstGeom prst="roundRect">
            <a:avLst>
              <a:gd name="adj" fmla="val 12500"/>
            </a:avLst>
          </a:prstGeom>
          <a:solidFill>
            <a:schemeClr val="bg1"/>
          </a:solidFill>
          <a:ln w="12700">
            <a:solidFill>
              <a:srgbClr val="DCD9D0"/>
            </a:solidFill>
            <a:prstDash val="solid"/>
          </a:ln>
        </p:spPr>
      </p:sp>
      <p:sp>
        <p:nvSpPr>
          <p:cNvPr id="17" name="Text 15"/>
          <p:cNvSpPr txBox="1"/>
          <p:nvPr/>
        </p:nvSpPr>
        <p:spPr>
          <a:xfrm>
            <a:off x="1307592" y="2990088"/>
            <a:ext cx="1636776" cy="585216"/>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900" dirty="0">
                <a:solidFill>
                  <a:schemeClr val="accent5"/>
                </a:solidFill>
              </a:rPr>
              <a:t>혼자 기록, 예상 급여까지</a:t>
            </a:r>
            <a:endParaRPr lang="en-US" sz="1050" dirty="0"/>
          </a:p>
        </p:txBody>
      </p:sp>
      <p:sp>
        <p:nvSpPr>
          <p:cNvPr id="18" name="기그 칩"/>
          <p:cNvSpPr/>
          <p:nvPr/>
        </p:nvSpPr>
        <p:spPr>
          <a:xfrm>
            <a:off x="3703320" y="3310128"/>
            <a:ext cx="1737360" cy="585216"/>
          </a:xfrm>
          <a:prstGeom prst="roundRect">
            <a:avLst>
              <a:gd name="adj" fmla="val 12500"/>
            </a:avLst>
          </a:prstGeom>
          <a:solidFill>
            <a:schemeClr val="bg1"/>
          </a:solidFill>
          <a:ln w="12700">
            <a:solidFill>
              <a:srgbClr val="DCD9D0"/>
            </a:solidFill>
            <a:prstDash val="solid"/>
          </a:ln>
        </p:spPr>
      </p:sp>
      <p:sp>
        <p:nvSpPr>
          <p:cNvPr id="19" name="Text 17"/>
          <p:cNvSpPr txBox="1"/>
          <p:nvPr/>
        </p:nvSpPr>
        <p:spPr>
          <a:xfrm>
            <a:off x="3776472" y="3310128"/>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900" dirty="0">
                <a:solidFill>
                  <a:schemeClr val="accent5"/>
                </a:solidFill>
              </a:rPr>
              <a:t>사장 연동 필요</a:t>
            </a:r>
            <a:endParaRPr lang="en-US" sz="1050" dirty="0"/>
          </a:p>
        </p:txBody>
      </p:sp>
      <p:sp>
        <p:nvSpPr>
          <p:cNvPr id="20" name="알바천국 · 알바몬 계산기 칩"/>
          <p:cNvSpPr/>
          <p:nvPr/>
        </p:nvSpPr>
        <p:spPr>
          <a:xfrm>
            <a:off x="1188720" y="3657600"/>
            <a:ext cx="1874520" cy="585216"/>
          </a:xfrm>
          <a:prstGeom prst="roundRect">
            <a:avLst>
              <a:gd name="adj" fmla="val 12500"/>
            </a:avLst>
          </a:prstGeom>
          <a:solidFill>
            <a:schemeClr val="bg1"/>
          </a:solidFill>
          <a:ln w="12700">
            <a:solidFill>
              <a:srgbClr val="DCD9D0"/>
            </a:solidFill>
            <a:prstDash val="solid"/>
          </a:ln>
        </p:spPr>
      </p:sp>
      <p:sp>
        <p:nvSpPr>
          <p:cNvPr id="21" name="Text 19"/>
          <p:cNvSpPr txBox="1"/>
          <p:nvPr/>
        </p:nvSpPr>
        <p:spPr>
          <a:xfrm>
            <a:off x="1261872" y="3657600"/>
            <a:ext cx="1728216" cy="585216"/>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900" dirty="0">
                <a:solidFill>
                  <a:schemeClr val="accent5"/>
                </a:solidFill>
              </a:rPr>
              <a:t>일회성 계산, 기록 없음</a:t>
            </a:r>
            <a:endParaRPr lang="en-US" sz="1050" dirty="0"/>
          </a:p>
        </p:txBody>
      </p:sp>
      <p:sp>
        <p:nvSpPr>
          <p:cNvPr id="22" name="따라올 길"/>
          <p:cNvSpPr/>
          <p:nvPr/>
        </p:nvSpPr>
        <p:spPr>
          <a:xfrm flipV="1">
            <a:off x="2121408" y="2304288"/>
            <a:ext cx="0" cy="658368"/>
          </a:xfrm>
          <a:prstGeom prst="line">
            <a:avLst/>
          </a:prstGeom>
          <a:noFill/>
          <a:ln w="19050">
            <a:solidFill>
              <a:srgbClr val="0F7A55"/>
            </a:solidFill>
            <a:prstDash val="dash"/>
            <a:tailEnd type="triangle"/>
          </a:ln>
        </p:spPr>
      </p:sp>
      <p:sp>
        <p:nvSpPr>
          <p:cNvPr id="23" name="Text 21"/>
          <p:cNvSpPr txBox="1"/>
          <p:nvPr/>
        </p:nvSpPr>
        <p:spPr>
          <a:xfrm>
            <a:off x="2212848" y="2468880"/>
            <a:ext cx="1188720" cy="274320"/>
          </a:xfrm>
          <a:prstGeom prst="rect">
            <a:avLst/>
          </a:prstGeom>
          <a:noFill/>
          <a:ln/>
        </p:spPr>
        <p:txBody>
          <a:bodyPr wrap="square" lIns="0" tIns="0" rIns="0" bIns="0" rtlCol="0" anchor="ctr"/>
          <a:lstStyle/>
          <a:p>
            <a:pPr indent="0" marL="0">
              <a:buNone/>
            </a:pPr>
            <a:r>
              <a:rPr lang="en-US" sz="900" b="1" dirty="0">
                <a:solidFill>
                  <a:schemeClr val="accent2"/>
                </a:solidFill>
              </a:rPr>
              <a:t>비교 기능을 넣으면?</a:t>
            </a:r>
            <a:endParaRPr lang="en-US" sz="900" dirty="0"/>
          </a:p>
        </p:txBody>
      </p:sp>
      <p:sp>
        <p:nvSpPr>
          <p:cNvPr id="24" name="Text 22"/>
          <p:cNvSpPr txBox="1"/>
          <p:nvPr/>
        </p:nvSpPr>
        <p:spPr>
          <a:xfrm>
            <a:off x="6263640" y="1325880"/>
            <a:ext cx="2560320" cy="274320"/>
          </a:xfrm>
          <a:prstGeom prst="rect">
            <a:avLst/>
          </a:prstGeom>
          <a:noFill/>
          <a:ln/>
        </p:spPr>
        <p:txBody>
          <a:bodyPr wrap="square" lIns="0" tIns="0" rIns="0" bIns="0" rtlCol="0" anchor="ctr"/>
          <a:lstStyle/>
          <a:p>
            <a:pPr indent="0" marL="0">
              <a:buNone/>
            </a:pPr>
            <a:r>
              <a:rPr lang="en-US" sz="1000" b="1" dirty="0">
                <a:solidFill>
                  <a:schemeClr val="accent5"/>
                </a:solidFill>
              </a:rPr>
              <a:t>가장 가까운 경쟁자</a:t>
            </a:r>
            <a:endParaRPr lang="en-US" sz="1000" dirty="0"/>
          </a:p>
        </p:txBody>
      </p:sp>
      <p:sp>
        <p:nvSpPr>
          <p:cNvPr id="25" name="Text 23"/>
          <p:cNvSpPr txBox="1"/>
          <p:nvPr/>
        </p:nvSpPr>
        <p:spPr>
          <a:xfrm>
            <a:off x="6263640" y="1600200"/>
            <a:ext cx="2560320" cy="457200"/>
          </a:xfrm>
          <a:prstGeom prst="rect">
            <a:avLst/>
          </a:prstGeom>
          <a:noFill/>
          <a:ln/>
        </p:spPr>
        <p:txBody>
          <a:bodyPr wrap="square" lIns="0" tIns="0" rIns="0" bIns="0" rtlCol="0" anchor="ctr"/>
          <a:lstStyle/>
          <a:p>
            <a:pPr indent="0" marL="0">
              <a:buNone/>
            </a:pPr>
            <a:r>
              <a:rPr lang="en-US" sz="2000" b="1" dirty="0">
                <a:solidFill>
                  <a:schemeClr val="tx1"/>
                </a:solidFill>
              </a:rPr>
              <a:t>하우머치</a:t>
            </a:r>
            <a:endParaRPr lang="en-US" sz="2000" dirty="0"/>
          </a:p>
        </p:txBody>
      </p:sp>
      <p:sp>
        <p:nvSpPr>
          <p:cNvPr id="26" name="Shape 24"/>
          <p:cNvSpPr/>
          <p:nvPr/>
        </p:nvSpPr>
        <p:spPr>
          <a:xfrm>
            <a:off x="6263640" y="2148840"/>
            <a:ext cx="2468880" cy="0"/>
          </a:xfrm>
          <a:prstGeom prst="line">
            <a:avLst/>
          </a:prstGeom>
          <a:noFill/>
          <a:ln w="12700">
            <a:solidFill>
              <a:srgbClr val="DCD9D0"/>
            </a:solidFill>
            <a:prstDash val="solid"/>
          </a:ln>
        </p:spPr>
      </p:sp>
      <p:sp>
        <p:nvSpPr>
          <p:cNvPr id="27" name="Text 25"/>
          <p:cNvSpPr txBox="1"/>
          <p:nvPr/>
        </p:nvSpPr>
        <p:spPr>
          <a:xfrm>
            <a:off x="6263640" y="2240280"/>
            <a:ext cx="2514600" cy="91440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혼자 기록하고 예상 급여까지 보여 줌</a:t>
            </a:r>
            <a:endParaRPr lang="en-US" sz="1100" dirty="0"/>
          </a:p>
          <a:p>
            <a:pPr indent="0" marL="0">
              <a:spcAft>
                <a:spcPts val="600"/>
              </a:spcAft>
              <a:buNone/>
            </a:pPr>
            <a:r>
              <a:rPr lang="en-US" sz="1100" dirty="0">
                <a:solidFill>
                  <a:schemeClr val="tx1"/>
                </a:solidFill>
              </a:rPr>
              <a:t>실제 받은 돈 비교 칸만 넣으면</a:t>
            </a:r>
            <a:endParaRPr lang="en-US" sz="1100" dirty="0"/>
          </a:p>
          <a:p>
            <a:pPr indent="0" marL="0">
              <a:spcAft>
                <a:spcPts val="600"/>
              </a:spcAft>
              <a:buNone/>
            </a:pPr>
            <a:r>
              <a:rPr lang="en-US" sz="1100" dirty="0">
                <a:solidFill>
                  <a:schemeClr val="tx1"/>
                </a:solidFill>
              </a:rPr>
              <a:t>따라올 수 있음</a:t>
            </a:r>
            <a:endParaRPr lang="en-US" sz="1100" dirty="0"/>
          </a:p>
        </p:txBody>
      </p:sp>
      <p:sp>
        <p:nvSpPr>
          <p:cNvPr id="28" name="Shape 26"/>
          <p:cNvSpPr/>
          <p:nvPr/>
        </p:nvSpPr>
        <p:spPr>
          <a:xfrm>
            <a:off x="6263640" y="3246120"/>
            <a:ext cx="54864" cy="731520"/>
          </a:xfrm>
          <a:prstGeom prst="rect">
            <a:avLst/>
          </a:prstGeom>
          <a:solidFill>
            <a:schemeClr val="accent1"/>
          </a:solidFill>
          <a:ln w="12700">
            <a:solidFill>
              <a:schemeClr val="accent1"/>
            </a:solidFill>
            <a:prstDash val="solid"/>
          </a:ln>
        </p:spPr>
      </p:sp>
      <p:sp>
        <p:nvSpPr>
          <p:cNvPr id="29" name="Text 27"/>
          <p:cNvSpPr txBox="1"/>
          <p:nvPr/>
        </p:nvSpPr>
        <p:spPr>
          <a:xfrm>
            <a:off x="6428232" y="3246120"/>
            <a:ext cx="2377440" cy="822960"/>
          </a:xfrm>
          <a:prstGeom prst="rect">
            <a:avLst/>
          </a:prstGeom>
          <a:noFill/>
          <a:ln/>
        </p:spPr>
        <p:txBody>
          <a:bodyPr wrap="square" lIns="0" tIns="0" rIns="0" bIns="0" rtlCol="0" anchor="t"/>
          <a:lstStyle/>
          <a:p>
            <a:pPr indent="0" marL="0">
              <a:buNone/>
            </a:pPr>
            <a:r>
              <a:rPr lang="en-US" sz="1100" b="1" dirty="0">
                <a:solidFill>
                  <a:schemeClr val="accent1"/>
                </a:solidFill>
              </a:rPr>
              <a:t>그래서 키우는 것</a:t>
            </a:r>
            <a:endParaRPr lang="en-US" sz="1100" dirty="0"/>
          </a:p>
          <a:p>
            <a:pPr indent="0" marL="0">
              <a:buNone/>
            </a:pPr>
            <a:r>
              <a:rPr lang="en-US" sz="1100" dirty="0">
                <a:solidFill>
                  <a:schemeClr val="tx1"/>
                </a:solidFill>
              </a:rPr>
              <a:t>따라 하기 어려운 기록 등록</a:t>
            </a:r>
            <a:endParaRPr lang="en-US" sz="1100" dirty="0"/>
          </a:p>
          <a:p>
            <a:pPr indent="0" marL="0">
              <a:buNone/>
            </a:pPr>
            <a:r>
              <a:rPr lang="en-US" sz="1100" dirty="0">
                <a:solidFill>
                  <a:schemeClr val="tx1"/>
                </a:solidFill>
              </a:rPr>
              <a:t>(확인 번호 · 등록 시각)</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쇼츠 · 릴스(짧은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앞으로 맡을 일은 오늘 각자 발표한 부분과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289ad066f1632c51</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설문에 답해 주시면 기말 발표에 큰 도움이 됩니다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2026-10-27T00:47:39Z</dcterms:created>
  <dcterms:modified xsi:type="dcterms:W3CDTF">2026-10-27T00:47:39Z</dcterms:modified>
</cp:coreProperties>
</file>