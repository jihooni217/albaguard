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① 표지·팀 소개" id="{781c8e59-d490-6652-c906-3ba1ee9c21d0}">
          <p14:sldIdLst>
            <p14:sldId id="256"/>
            <p14:sldId id="257"/>
          </p14:sldIdLst>
        </p14:section>
        <p14:section name="② 문제 정의" id="{4e557f76-1e2c-8ccc-a62d-0dd74e2cc0df}">
          <p14:sldIdLst>
            <p14:sldId id="258"/>
            <p14:sldId id="259"/>
          </p14:sldIdLst>
        </p14:section>
        <p14:section name="③ 솔루션·핵심 가치" id="{bc3ef163-756f-c190-da54-afa1dac11ebe}">
          <p14:sldIdLst>
            <p14:sldId id="260"/>
            <p14:sldId id="261"/>
          </p14:sldIdLst>
        </p14:section>
        <p14:section name="④ SW 기술 아키텍처" id="{b9a9c25d-6d08-9c11-baff-f65ec47adc9f}">
          <p14:sldIdLst>
            <p14:sldId id="262"/>
            <p14:sldId id="263"/>
          </p14:sldIdLst>
        </p14:section>
        <p14:section name="⑤ 개발 현황·MVP 시연" id="{0d944a03-8306-4067-dfdb-05feb598f3fe}">
          <p14:sldIdLst>
            <p14:sldId id="264"/>
            <p14:sldId id="265"/>
            <p14:sldId id="266"/>
            <p14:sldId id="267"/>
          </p14:sldIdLst>
        </p14:section>
        <p14:section name="⑥ 시장 분석·비즈니스 모델" id="{7c5c80f5-4684-7878-3748-65ca49654e32}">
          <p14:sldIdLst>
            <p14:sldId id="268"/>
            <p14:sldId id="269"/>
            <p14:sldId id="270"/>
          </p14:sldIdLst>
        </p14:section>
        <p14:section name="⑦ 초기 시장 검증" id="{a34ca05a-5ca6-702b-dec3-0c2e5f7d674b}">
          <p14:sldIdLst>
            <p14:sldId id="271"/>
          </p14:sldIdLst>
        </p14:section>
        <p14:section name="⑧ 향후 계획·팀 역량" id="{a1e3f33f-1816-47a5-b02c-902feb1a0a20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D636D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5D636D"/>
                </a:solidFill>
                <a:latin typeface="+mn-lt"/>
              </a:rPr>
              <a:t>임금체불액 (억 원, 고용노동부)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임금체불액 (억 원)</c:v>
                </c:pt>
              </c:strCache>
            </c:strRef>
          </c:tx>
          <c:spPr>
            <a:solidFill>
              <a:srgbClr val="2A31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17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17845</c:v>
                </c:pt>
                <c:pt idx="1">
                  <c:v>20448</c:v>
                </c:pt>
                <c:pt idx="2">
                  <c:v>20679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517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36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4조 발표를 맡은 팀장 이지훈입니다. 혹시 지난달 알바비, 정확히 얼마를 받아야 했는지 아시나요? 아마 정확히 아는 분은 많지 않으실 겁니다. 저희가 만든 앱은 알바가드입니다. 화면에 보이는 금액은 저희 앱 예시 데이터에서 두 달 동안 덜 받은 알바비인데요. 통장에 들어온 총액만 봐서는 잘 안 보이는 돈입니다. 알바가드는 이렇게 놓치기 쉬운 돈을 근무 기록으로 찾아 주는 앱입니다. 알바비를 덜 받아도 모르거나, 알아도 말을 꺼내기 어려운 대학생을 위해 기록, 비교, 요청을 한 앱에 담았습니다.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지금 상태부터 말씀드리겠습니다. 계획했던 기능 8개는 모두 동작하는 상태로 배포까지 했고, 완성도는 평균 80% 정도로 보고 있습니다. 설문은 지금까지 13명이 답해 줬고, 앱을 직접 써 보게 하는 인터뷰는 11월에 진행할 예정입니다. 오른쪽 QR을 찍으시면 앱과 설문을 바로 열 수 있습니다. 설문은 이름 없이 3분이면 끝나니까, 발표가 끝나고 한번 답해 주시면 정말 감사하겠습니다. 오늘은 문제, 해결 방법, 기술과 시연, 시장과 수익, 검증과 일정 순서로 말씀드리겠습니다. 발표는 저와 손유호, 박명진 세 명이 나눠서 진행하겠습니다.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저희가 주목한 문제는 세 가지입니다. 화면의 큰 숫자 세 개는 알바천국 설문 결과인데요. 먼저, 얼마를 받아야 하는지부터 어렵습니다. 노동절에 일한 알바생 셋 중 한 명은 수당을 받는지조차 몰랐습니다. 다음은 덜 받아도 잘 모른다는 점입니다. 저희 설문에서도 12명 중 7명이 통장에 들어온 총액만 본다고 했습니다. 마지막으로, 알아도 말을 못 합니다. 최저시급보다 덜 받은 사람 중 절반 가까이가 아무 대응도 하지 않았습니다. 기록이 없으면 "나중에 지어낸 거 아니냐"라는 한마디에 할 말이 없어지니까요. (멈춤) 결국 세 문제의 원인은 하나입니다. 근거가 될 기록이 없다는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그럼 기존 서비스들은 어떨까요? 알바생들이 실제로 제일 많이 쓰는 건 앱보단 메모장이나 카톡이라서 맨 앞 열에 같이 넣었습니다. 표를 다 보실 필요는 없고, 실제 받은 돈과 비교하기, 요청 문구와 증빙 만들기, 수정 이력과 등록 시각, 이 가운데 세 줄만 봐 주시면 됩니다. 이 세 줄은 알바가드에만 O가 있습니다. 다른 서비스는 대부분 예상 급여 계산에서 멈추거나, 사장님이 가입해야 하거나, 증거가 이미 있어야 시작할 수 있습니다. 진정서를 대신 써 주거나 접수하는 건 노무사 같은 전문가가 할 일이라, 저희는 그 앞 단계인 기록, 비교, 요청에 집중하고 진정은 1350과 노동포털로 연결해 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그래서 저희는 기록, 비교, 요청 세 단계를 앱 하나로 연결했습니다. 출근과 퇴근은 버튼 하나로 기록하고, 나중에 그 시각을 고치면 원래 시각과 고친 이유가 함께 남습니다. 그다음 받았어야 할 돈과 실제로 받은 돈의 차이를 보여 주고, 덜 받았다면 정중한 메시지부터 내용증명 초안, 진정 절차 안내까지 단계별로 도와줍니다. 사장님 연동이나 로그인은 필요 없고, 근무 내용은 사용자 폰 안에만 저장됩니다.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 차별점은 크게 세 가지입니다. 첫 번째로, 기그와 다르게 사장님 가입 없이 혼자 쓸 수 있습니다. 두 번째로, 실제로 받은 돈과 비교해서 요청 문구와 증빙까지 이어집니다. 세 번째로, 기록할 때마다 확인 번호와 서버 등록 시각이 남습니다. 사유 없이는 기록을 고칠 수 없고, 지워도 흔적이 남고, 고치면 다시 등록됩니다. 이 부분은 다른 앱이 쉽게 따라 하기 어렵다고 생각합니다. (멈춤) 한마디로, 다른 앱은 얼마를 받아야 하는지에서 멈추고, 알바가드는 덜 받았을 때 어떻게 받아내는지까지 갑니다. 물론 한계도 있습니다. 비교 기능 자체는 다른 앱도 충분히 따라올 수 있습니다. 그리고 이 기록이 법적 효력을 보장하지는 않습니다. 통장 내역이나 메시지와 같이 내야 설득력이 생기고, 최종적인 판단은 근로감독관과 법원이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기술 스택입니다. 앱은 폰 안에서 돌아가고, 서버는 꼭 필요한 곳에만 씁니다. React(리액트)와 Vite(비트)로 만든 웹앱이라 앱스토어 없이 링크로 바로 설치하고, 홈 화면에 추가하면 인터넷이 없어도 열립니다. 저희가 직접 운영하는 서버는 없고, 외부 서비스인 Supabase(수파베이스)를 확인 번호 등록과 설문 수집에만 씁니다. 이렇게 한 이유는 개인정보와 비용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이건 전체 구성도입니다. 계산과 저장은 모두 왼쪽 폰 안에서 끝납니다. 서버로 가는 건 확인 번호와 기록 번호, 무작위 기기 번호뿐이고, 근무지나 시각, 금액은 보내지 않습니다. 등록 시각은 서버가 직접 찍기 때문에 폰 시계를 바꿔도 소용이 없습니다. 실제로 2000년이라는 가짜 시각을 넣어 보내 봤는데, 서버는 그 시각을 무시하고 받은 순간의 시각으로 저장했습니다. 등록된 기록을 고치거나 지우려고 해도 서버가 막았습니다. 다만 운영자 권한으로는 고칠 수 있어서, 지금 막을 수 있는 건 사용자가 나중에 기록을 고쳐 쓰는 것까지입니다. (멈춤) 다시 말해, 근무 내용은 폰 밖으로 나가지 않고, 서버에는 번호 세 개와 서버가 찍은 등록 시각만 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앱 화면입니다. 이 중 캘린더는 영상에 나오지 않아서 먼저 말씀드리면, 예정과 다르게 일한 날, 예를 들어 연장이나 대타를 글자로 따로 표시합니다. 나머지 설정, 증빙 묶음 PDF, 확인 페이지는 잠시 뒤 영상에서 실제로 쓰는 모습으로 보여 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이어서 보실 영상은 배포된 앱을 직접 눌러 보면서 녹화한 것입니다. 순서는 화면의 네 단계 그대로이고, 영상 안에 단계마다 자막이 있어서 멈추지 않고 그대로 보여 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(재생 전) 마지막 장면에 나오는 등록 시각을 잘 봐 주세요. 지금도 서버에 그대로 남아 있는 값입니다.
(영상은 멈추지 않고 끝까지 틉니다)
(영상이 끝나면) 이렇게 출근 기록부터 사장님께 보낼 메시지, 확인 페이지까지 앱 하나로 모두 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방금 보신 기능을 포함해서, 계획한 8개 기능은 모두 동작합니다. 그래도 100%라고 쓰지는 않았습니다. 오른쪽 동그라미 세 칸은 각각 컴퓨터에서 동작, 실제 폰에서 확인, 사용자 검증인데요. 지금은 첫 번째 칸인 컴퓨터에서 동작하는 것까지만 확인했고, 나머지 두 칸은 11월에 진행할 예정입니다. 그래서 완성도를 평균 80% 정도로 잡았습니다. 지금까지 문제와 해결 방법, 그리고 실제로 동작하는 모습을 보셨습니다. 다음으로 시장과 수익 부분은 손유호 팀원이 이어서 발표하겠습니다.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시장과 수익 부분을 맡은 손유호입니다. 먼저 임금체불 규모를 보면, 2023년 1조 7천억 원대에서 2년 연속 2조 원을 넘었습니다. 작년 체불액만 보면 67.8%가 30인 미만 사업장에서 나왔는데요, 알바생이 많이 일하는 카페, 편의점, 음식점이 대부분 이 규모입니다. 저희 타깃 규모는 대학 재적생 307만 명 중 알바 경험이 있는 사람으로 어림해서, 많아야 210만에서 270만 명 정도로 봤습니다. 지금 알바 중인 사람이나 주 15시간 이상 일하는 사람은 공식 통계가 없어서 설문으로 확인하고 있습니다. 또 작년 9월 임금체불 근절 대책과 10월 개정 근로기준법으로 체불에 대한 제재도 더 강해졌습니다.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경쟁 서비스들의 위치입니다. 가로는 사장님 없이 혼자 쓸 수 있는지, 세로는 계산에서 멈추는지 대응까지 가는지입니다. 앞에서 본 서비스들을 이 위에 놓아 보면, 혼자 쓰면서 대응까지 가는 왼쪽 위 칸에는 알바가드만 있습니다. 가장 가까운 건 혼자 기록할 수 있는 하우머치인데, 하우머치가 비교 기능을 넣으면 따라올 수 있습니다. 그래서 저희는 따라 하기 어려운 기록 등록 쪽을 더 키우려고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비즈니스 모델입니다. 기록, 비교, 요청, 증빙 같은 핵심 화면은 무료이고, 앞으로도 광고를 넣지 않습니다. 사용자가 믿고 써야 하는 화면이기 때문입니다. 1차 수익 가설은 쉬는 틈 게임 화면의 광고입니다. 출퇴근 버튼은 일하는 날마다 누르지만, 돈을 확인하는 건 급여일 한 번뿐입니다. 그래서 그 사이에도 앱을 열 이유로, 출퇴근길 같은 쉬는 틈에 가볍게 할 수 있는 게임을 넣었습니다. 이 게임 화면을 광고 자리로 보고 있습니다. 2차 후보는 폰을 바꿔도 기록이 남는 동기화와 자동 백업 구독입니다. 반대로 정산 문구나 증빙 문서를 돈을 받고 만들어 주면 변호사법이나 공인노무사법 문제가 생길 수 있어서 유료화하지 않습니다. 사용자는 에브리타임, 학과 단톡방, 알바 커뮤니티, 그리고 유튜브 쇼츠나 인스타 릴스 같은 짧은 영상으로 모을 계획입니다. 주 15시간 이상 일하는 사람이 얼마나 되는지는 설문으로 확인하고 있고, 그 결과와 검증 계획은 박명진 팀원이 이어서 설명하겠습니다.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검증 부분을 맡은 박명진입니다. 저희 가설은 이렇습니다. "근무 기록을 근거로 한 요청 문구가 있으면, 알바생이 사장님께 말을 꺼낼 수 있다고 느끼고 실제로 쓸 것이다." 11월에 설문 30명과 인터뷰 5명으로, 이 가설을 표의 다섯 가지로 나눠 확인하려고 합니다. 기준도 정해 뒀습니다. 예를 들어 인터뷰 5명 중 3명이 실제로 보내겠다고 하면 통과이고, 못 미치면 문구와 단계를 다시 짭니다. 자세한 기준은 보고서에 있습니다. 오른쪽 끝 칸은 10월 26일까지 받은 설문 13명의 중간 결과입니다. 매달 받은 금액을 넣겠다는 사람이 13명 중 11명이었고, 게임 화면 광고가 싫다는 사람은 13명 중 4명이었습니다. 다만 아직 지인 위주라 정식 조사라고 보기는 어렵고, 지금 알바 중인 사람이 2명뿐이라 주 15시간 기준은 판단을 미뤘습니다. 저희한테 불리한 결과도 있었습니다. 정산 요청 메시지와 기록 등록을 가장 쓸모 있는 기능으로 고른 사람은 한 명도 없었고, 미니게임은 안 쓸 것 같은 기능 1위였습니다. (멈춤) 정리하면, 비교 기능은 원했지만 요청 기능의 가치는 아직 못 느꼈습니다. 11월 인터뷰에서는 요청 문구와 확인 번호를 직접 보여 주고, 바로 이 부분을 확인하겠습니다.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기말 발표인 12월 15일까지 7주 일정입니다. 빨간 마름모가 주요 마일스톤인데, 크게 세 단계로 보시면 됩니다. 11월 초에는 인터뷰와 설문으로 검증하고, 11월 말까지 그 결과를 반영해 다시 배포하면서 실제 폰에서도 확인합니다. 그동안 팀장은 앞에서 말씀드린 기록 등록 보강, 그러니까 기록 내용으로 확인 번호를 다시 맞춰 보는 기능을 만듭니다. 12월 7일부터는 기능을 더 고치지 않고 보고서와 발표 준비에 집중할 예정입니다. 인터뷰는 손유호 팀원이 3명, 제가 2명을 맡고, 갤럭시 폰 검증도 제가 맡았습니다.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팀원별 역할입니다. 보시는 것처럼 앞으로 맡을 일은 오늘 각자 발표한 부분과 같습니다. 이지훈 팀장은 개발, 손유호 팀원은 시장과 수익, 저는 검증과 일정을 맡습니다. 그럼 마무리는 이지훈 팀장이 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팀장 마무리: (멈춤) 다시 한번 말씀드리면, 다른 앱은 얼마를 받아야 하는지에서 멈추지만, 알바가드는 덜 받았을 때 어떻게 받아내는지까지 갑니다. 처음에 보여 드린 금액처럼, 통장만 봐서는 보이지 않던 돈을 기록으로 찾아 주려고 만든 앱입니다. 화면의 QR로 설문에 답해 주시면, 기말 발표 결과에 큰 도움이 될 것 같습니다. 이상으로 4조 발표를 마치겠습니다. 들어 주셔서 감사합니다. 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알바가드 · SW기술창업 중간발표 · 4조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50" b="1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05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A31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1-1.mp4"/><Relationship Id="rId2" Type="http://schemas.microsoft.com/office/2007/relationships/media" Target="../media/media-11-1.mp4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앱 아이콘" descr="C:\Users\user\Desktop\albaguard기술창업\public\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73152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371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알바가드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331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못 받은 알바비, 기록으로 찾는 앱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3108960"/>
            <a:ext cx="493776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1272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덜 받은 급여 · 2개월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657600" y="3127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A08F"/>
                </a:solidFill>
              </a:rPr>
              <a:t>269,352원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3602736"/>
            <a:ext cx="493776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6393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앱 첫 화면의 알림 줄 (예시 데이터)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SW기술창업 중간발표 · 4조 · 2026.10.27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팀명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알바가드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4조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26480" y="2651760"/>
            <a:ext cx="256032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2648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팀원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301752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bg1"/>
                </a:solidFill>
              </a:rPr>
              <a:t>팀장 이지훈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컴퓨터소프트웨어 22학번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bg1"/>
                </a:solidFill>
              </a:rPr>
              <a:t>손유호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컴퓨터소프트웨어 20학번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bg1"/>
                </a:solidFill>
              </a:rPr>
              <a:t>박명진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컴퓨터소프트웨어 18학번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0" type="title" hasCustomPrompt="1"/>
          </p:nvPr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① 오늘 발표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지금 상태: 앱은 배포, 설문 13명 응답, 인터뷰는 11월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3877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계획한 기능 8개 모두 동작</a:t>
            </a:r>
            <a:endParaRPr lang="en-US" sz="15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9월 기획서 4개 → 10/13 정의서 8개로 고정. 완성도 평균 약 80%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334256" y="1325880"/>
            <a:ext cx="969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8 / 8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484632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94560"/>
            <a:ext cx="3877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사용자 검증</a:t>
            </a:r>
            <a:endParaRPr lang="en-US" sz="15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링크 설문 30명 · 직접 인터뷰 5명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334256" y="2194560"/>
            <a:ext cx="969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설문 13명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484632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pic>
        <p:nvPicPr>
          <p:cNvPr id="10" name="앱 설치" descr="C:\Users\user\Desktop\albaguard기술창업\docs\report_src\qr_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325880"/>
            <a:ext cx="1417320" cy="1417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532120" y="2788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앱 설치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폰 브라우저로 열고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"홈 화면에 추가"</a:t>
            </a:r>
            <a:endParaRPr lang="en-US" sz="900" dirty="0"/>
          </a:p>
        </p:txBody>
      </p:sp>
      <p:pic>
        <p:nvPicPr>
          <p:cNvPr id="13" name="설문 3분" descr="C:\Users\user\Desktop\albaguard기술창업\docs\report_src\qr_surv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25880"/>
            <a:ext cx="1417320" cy="1417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78040" y="2788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설문 3분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086600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이름 · 연락처 없음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발표 뒤 답해도 됨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jihooni217.github.io/albaguard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② 문제 정의 · 페인 포인트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세 문제의 원인은 하나: 근거가 될 기록이 없음</a:t>
            </a:r>
            <a:endParaRPr lang="en-US" sz="2400" dirty="0"/>
          </a:p>
        </p:txBody>
      </p:sp>
      <p:sp>
        <p:nvSpPr>
          <p:cNvPr id="4" name="타깃 칸"/>
          <p:cNvSpPr/>
          <p:nvPr/>
        </p:nvSpPr>
        <p:spPr>
          <a:xfrm>
            <a:off x="457200" y="1188720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타깃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주 15시간 이상 · 만 19~26세 시급제 알바 대학생 · 계약서 없음 · 통장 총액만 확인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33.2%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614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노동절에 일하고도 수당을 받는지 "안내받지 못해 모르겠다"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00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노동절 근무 알바생 749명, 알바천국 2026.4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26517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0" name="번호 1"/>
          <p:cNvSpPr/>
          <p:nvPr/>
        </p:nvSpPr>
        <p:spPr>
          <a:xfrm>
            <a:off x="457200" y="37033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64845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얼마를 받아야 하는지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계산하기 어려움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2057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48.0%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27614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임금 관련 문제를 겪음 (수당 미지급 · 지연 37.3%)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3200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알바생 2,457명, 알바천국 2025.1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우리 설문: 통장 총액만 봄 12명 중 7명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46120" y="3520440"/>
            <a:ext cx="26517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7" name="번호 2"/>
          <p:cNvSpPr/>
          <p:nvPr/>
        </p:nvSpPr>
        <p:spPr>
          <a:xfrm>
            <a:off x="3246120" y="37033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4612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364845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덜 받아도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알아채기 어려움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2057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49.3%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7614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최저시급 미달인데 아무 대응도 안 함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3200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미달 경험자 기준 · 알바천국 2026.6 (1,804명)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5040" y="3520440"/>
            <a:ext cx="26517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24" name="번호 3"/>
          <p:cNvSpPr/>
          <p:nvPr/>
        </p:nvSpPr>
        <p:spPr>
          <a:xfrm>
            <a:off x="6035040" y="37033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3504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364845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알아도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말을 꺼내기 어려움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② 문제 정의 · 기존 해결책의 한계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기존 서비스: 계산까지는 있지만, 비교와 대응은 없음</a:t>
            </a:r>
            <a:endParaRPr lang="en-US" sz="2400" dirty="0"/>
          </a:p>
        </p:txBody>
      </p:sp>
      <p:graphicFrame>
        <p:nvGraphicFramePr>
          <p:cNvPr id="5" name="경쟁 서비스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51560"/>
                <a:gridCol w="1051560"/>
                <a:gridCol w="1051560"/>
                <a:gridCol w="1051560"/>
                <a:gridCol w="1051560"/>
                <a:gridCol w="10515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D636D"/>
                          </a:solidFill>
                        </a:rPr>
                        <a:t>메모 · 카톡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D636D"/>
                          </a:solidFill>
                        </a:rPr>
                        <a:t>하우머치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D636D"/>
                          </a:solidFill>
                        </a:rPr>
                        <a:t>기그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D636D"/>
                          </a:solidFill>
                        </a:rPr>
                        <a:t>알바천국 ·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D636D"/>
                          </a:solidFill>
                        </a:rPr>
                        <a:t>알바몬 계산기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D636D"/>
                          </a:solidFill>
                        </a:rPr>
                        <a:t>진정24 ·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D636D"/>
                          </a:solidFill>
                        </a:rPr>
                        <a:t>노동포털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3193"/>
                          </a:solidFill>
                        </a:rPr>
                        <a:t>알바가드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A"/>
                          </a:solidFill>
                        </a:rPr>
                        <a:t>사장 없이 혼자 기록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D636D"/>
                          </a:solidFill>
                        </a:rPr>
                        <a:t> 사장 가입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D636D"/>
                          </a:solidFill>
                        </a:rPr>
                        <a:t>해당 없음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A"/>
                          </a:solidFill>
                        </a:rPr>
                        <a:t>예상 급여 계산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D636D"/>
                          </a:solidFill>
                        </a:rPr>
                        <a:t> 일회성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D636D"/>
                          </a:solidFill>
                        </a:rPr>
                        <a:t> 주휴 · 야간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A"/>
                          </a:solidFill>
                        </a:rPr>
                        <a:t>실제 입금액과 비교 · 차액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A"/>
                          </a:solidFill>
                        </a:rPr>
                        <a:t>요청 문구 · 증빙 묶음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D636D"/>
                          </a:solidFill>
                        </a:rPr>
                        <a:t> 진정서만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A"/>
                          </a:solidFill>
                        </a:rPr>
                        <a:t>수정 이력 · 등록 시각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636D"/>
                          </a:solidFill>
                        </a:rPr>
                        <a:t>△</a:t>
                      </a:r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D636D"/>
                          </a:solidFill>
                        </a:rPr>
                        <a:t> 보낸 시각만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A"/>
                          </a:solidFill>
                        </a:rPr>
                        <a:t>진정 접수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D636D"/>
                          </a:solidFill>
                        </a:rPr>
                        <a:t> 연결만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</a:tbl>
          </a:graphicData>
        </a:graphic>
      </p:graphicFrame>
      <p:sp>
        <p:nvSpPr>
          <p:cNvPr id="5" name="결론 칸"/>
          <p:cNvSpPr/>
          <p:nvPr/>
        </p:nvSpPr>
        <p:spPr>
          <a:xfrm>
            <a:off x="457200" y="4005072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400507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알바가드만 O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가운데 세 줄(비교 · 요청 · 등록 시각)은 알바가드에만 있음. 진정 접수는 일부러 연결만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③ 솔루션 · 서비스 개요   ·   문제 1 · 2는 비교로, 문제 3은 요청으로. 기록이 그 바탕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기록 → 비교 → 요청, 신고 이전 단계를 채움</a:t>
            </a:r>
            <a:endParaRPr lang="en-US" sz="2400" dirty="0"/>
          </a:p>
        </p:txBody>
      </p:sp>
      <p:sp>
        <p:nvSpPr>
          <p:cNvPr id="4" name="번호 1"/>
          <p:cNvSpPr/>
          <p:nvPr/>
        </p:nvSpPr>
        <p:spPr>
          <a:xfrm>
            <a:off x="457200" y="126187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2161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기록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642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출근 · 퇴근 버튼 하나. 고치면 수정 전후와 사유가 남고, 삭제도 흔적이 남음</a:t>
            </a:r>
            <a:endParaRPr lang="en-US" sz="1050" dirty="0"/>
          </a:p>
        </p:txBody>
      </p:sp>
      <p:pic>
        <p:nvPicPr>
          <p:cNvPr id="8" name="기록 화면" descr="C:\Users\user\Desktop\albaguard기술창업\docs\screenshots\phone\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458" y="2240280"/>
            <a:ext cx="1179244" cy="2542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127248" y="1417320"/>
            <a:ext cx="100584" cy="0"/>
          </a:xfrm>
          <a:prstGeom prst="line">
            <a:avLst/>
          </a:prstGeom>
          <a:noFill/>
          <a:ln w="25400">
            <a:solidFill>
              <a:srgbClr val="DCD9D0"/>
            </a:solidFill>
            <a:prstDash val="solid"/>
            <a:tailEnd type="triangle"/>
          </a:ln>
        </p:spPr>
      </p:sp>
      <p:sp>
        <p:nvSpPr>
          <p:cNvPr id="10" name="번호 2"/>
          <p:cNvSpPr/>
          <p:nvPr/>
        </p:nvSpPr>
        <p:spPr>
          <a:xfrm>
            <a:off x="3246120" y="126187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46120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3657600" y="12161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비교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246120" y="16642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"받았어야 할 돈"(기본급 · 주휴 · 야간)과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실제 받은 돈의 차액 표시</a:t>
            </a:r>
            <a:endParaRPr lang="en-US" sz="1050" dirty="0"/>
          </a:p>
        </p:txBody>
      </p:sp>
      <p:pic>
        <p:nvPicPr>
          <p:cNvPr id="14" name="비교 화면" descr="C:\Users\user\Desktop\albaguard기술창업\docs\screenshots\phone\3-p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78" y="2240280"/>
            <a:ext cx="1179244" cy="254203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916168" y="1417320"/>
            <a:ext cx="100584" cy="0"/>
          </a:xfrm>
          <a:prstGeom prst="line">
            <a:avLst/>
          </a:prstGeom>
          <a:noFill/>
          <a:ln w="25400">
            <a:solidFill>
              <a:srgbClr val="DCD9D0"/>
            </a:solidFill>
            <a:prstDash val="solid"/>
            <a:tailEnd type="triangle"/>
          </a:ln>
        </p:spPr>
      </p:sp>
      <p:sp>
        <p:nvSpPr>
          <p:cNvPr id="16" name="번호 3"/>
          <p:cNvSpPr/>
          <p:nvPr/>
        </p:nvSpPr>
        <p:spPr>
          <a:xfrm>
            <a:off x="6035040" y="126187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035040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6446520" y="12161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요청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6035040" y="16642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정중한 메시지 → 내용증명 → 진정 안내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1350 · 노동포털 연결. 대화로 먼저 해결</a:t>
            </a:r>
            <a:endParaRPr lang="en-US" sz="1050" dirty="0"/>
          </a:p>
        </p:txBody>
      </p:sp>
      <p:pic>
        <p:nvPicPr>
          <p:cNvPr id="20" name="요청 화면" descr="C:\Users\user\Desktop\albaguard기술창업\docs\screenshots\phone\4-requ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298" y="2240280"/>
            <a:ext cx="1179244" cy="2542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③ 솔루션 · 차별화 포인트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다른 앱은 계산에서 멈추고, 알바가드는 받아내기까지</a:t>
            </a:r>
            <a:endParaRPr lang="en-US" sz="2400" dirty="0"/>
          </a:p>
        </p:txBody>
      </p:sp>
      <p:sp>
        <p:nvSpPr>
          <p:cNvPr id="4" name="번호 1"/>
          <p:cNvSpPr/>
          <p:nvPr/>
        </p:nvSpPr>
        <p:spPr>
          <a:xfrm>
            <a:off x="457200" y="132588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2801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사장 연동 없이 혼자 씀</a:t>
            </a:r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   사장 협조가 없어도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700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근무지만 직접 등록. 사장 가입 필요 없음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49377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9" name="번호 2"/>
          <p:cNvSpPr/>
          <p:nvPr/>
        </p:nvSpPr>
        <p:spPr>
          <a:xfrm>
            <a:off x="457200" y="235000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3042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입금액 비교 → 차액 → 요청 · 증빙까지</a:t>
            </a:r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   문제 1 · 2 · 3의 답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7249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실제 받은 돈과 비교해 요청 문구 · 증빙까지. 네 서비스 모두 없음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49377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4" name="번호 3"/>
          <p:cNvSpPr/>
          <p:nvPr/>
        </p:nvSpPr>
        <p:spPr>
          <a:xfrm>
            <a:off x="457200" y="337413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374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32841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기록 등록: 확인 번호 + 등록 시각</a:t>
            </a:r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   문제 3의 근거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749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기록할 때마다 확인 번호와 서버 등록 시각이 남음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315968"/>
            <a:ext cx="49377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9" name="약점 칸"/>
          <p:cNvSpPr/>
          <p:nvPr/>
        </p:nvSpPr>
        <p:spPr>
          <a:xfrm>
            <a:off x="5852160" y="1280160"/>
            <a:ext cx="28346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8076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한계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17830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비교 기능은 하우머치가 칸 하나로 따라올 수 있음. 3번은 기록 구조 자체라 따라오기 어려움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2651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통장 내역 · 메시지와 함께 내야 힘이 생김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④ SW 기술 아키텍처 · 기술 스택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기술 스택: 앱은 폰에서, 서버는 확인 번호 · 설문에만</a:t>
            </a:r>
            <a:endParaRPr lang="en-US" sz="2400" dirty="0"/>
          </a:p>
        </p:txBody>
      </p:sp>
      <p:graphicFrame>
        <p:nvGraphicFramePr>
          <p:cNvPr id="8" name="기술 스택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36D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36D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프런트엔드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71A"/>
                          </a:solidFill>
                        </a:rPr>
                        <a:t>React + Vite, PWA (홈 화면에 추가, 오프라인 실행)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백엔드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71A"/>
                          </a:solidFill>
                        </a:rPr>
                        <a:t>별도 서버 없음 + Supabase REST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데이터베이스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71A"/>
                          </a:solidFill>
                        </a:rPr>
                        <a:t>폰: localStorage(기록) · IndexedDB(사진)</a:t>
                      </a:r>
                      <a:endParaRPr lang="en-US" sz="1250" dirty="0"/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71A"/>
                          </a:solidFill>
                        </a:rPr>
                        <a:t>서버: Supabase PostgreSQL (stamps · survey)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클라우드 · 인프라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71A"/>
                          </a:solidFill>
                        </a:rPr>
                        <a:t>GitHub Pages + GitHub Actions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AI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71A"/>
                          </a:solidFill>
                        </a:rPr>
                        <a:t>Claude API (선택, 개발 환경에서만)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SaaS · 분석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71A"/>
                          </a:solidFill>
                        </a:rPr>
                        <a:t>설문 페이지 + 자동 집계 페이지, 직접 인터뷰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④ SW 기술 아키텍처 · 시스템 구성도와 데이터 흐름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근무 내용은 폰 안에, 서버에는 번호와 등록 시각만</a:t>
            </a:r>
            <a:endParaRPr lang="en-US" sz="2400" dirty="0"/>
          </a:p>
        </p:txBody>
      </p:sp>
      <p:sp>
        <p:nvSpPr>
          <p:cNvPr id="4" name="폰 영역"/>
          <p:cNvSpPr/>
          <p:nvPr/>
        </p:nvSpPr>
        <p:spPr>
          <a:xfrm>
            <a:off x="457200" y="1280160"/>
            <a:ext cx="3108960" cy="31546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폰 (PWA, 홈 화면에 추가)</a:t>
            </a:r>
            <a:endParaRPr lang="en-US" sz="1100" dirty="0"/>
          </a:p>
        </p:txBody>
      </p:sp>
      <p:sp>
        <p:nvSpPr>
          <p:cNvPr id="6" name="화면 상자"/>
          <p:cNvSpPr/>
          <p:nvPr/>
        </p:nvSpPr>
        <p:spPr>
          <a:xfrm>
            <a:off x="640080" y="1737360"/>
            <a:ext cx="274320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CD9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화면 (React)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기록 · 캘린더 · 비교 · 요청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2286000"/>
            <a:ext cx="0" cy="201168"/>
          </a:xfrm>
          <a:prstGeom prst="line">
            <a:avLst/>
          </a:prstGeom>
          <a:noFill/>
          <a:ln w="12700">
            <a:solidFill>
              <a:srgbClr val="5D636D"/>
            </a:solidFill>
            <a:prstDash val="solid"/>
            <a:tailEnd type="triangle"/>
          </a:ln>
        </p:spPr>
      </p:sp>
      <p:sp>
        <p:nvSpPr>
          <p:cNvPr id="9" name="계산 상자"/>
          <p:cNvSpPr/>
          <p:nvPr/>
        </p:nvSpPr>
        <p:spPr>
          <a:xfrm>
            <a:off x="640080" y="2487168"/>
            <a:ext cx="274320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rgbClr val="DCD9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48716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계산 모듈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급여 · 요청 문구 · PDF · 확인 번호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0" y="3127248"/>
            <a:ext cx="0" cy="201168"/>
          </a:xfrm>
          <a:prstGeom prst="line">
            <a:avLst/>
          </a:prstGeom>
          <a:noFill/>
          <a:ln w="12700">
            <a:solidFill>
              <a:srgbClr val="5D636D"/>
            </a:solidFill>
            <a:prstDash val="solid"/>
            <a:tailEnd type="triangle"/>
          </a:ln>
        </p:spPr>
      </p:sp>
      <p:sp>
        <p:nvSpPr>
          <p:cNvPr id="12" name="저장 상자"/>
          <p:cNvSpPr/>
          <p:nvPr/>
        </p:nvSpPr>
        <p:spPr>
          <a:xfrm>
            <a:off x="640080" y="3328416"/>
            <a:ext cx="274320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CD9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3284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저장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localStorage · IndexedDB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로그인 없음 · 근무 내용은 여기에만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11880" y="2331720"/>
            <a:ext cx="1463040" cy="0"/>
          </a:xfrm>
          <a:prstGeom prst="line">
            <a:avLst/>
          </a:prstGeom>
          <a:noFill/>
          <a:ln w="22225">
            <a:solidFill>
              <a:srgbClr val="2A3193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611880" y="1783080"/>
            <a:ext cx="1417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확인 번호 · 기록 번호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· 무작위 기기 번호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23774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근무지 · 시각 · 금액은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가지 않음</a:t>
            </a:r>
            <a:endParaRPr lang="en-US" sz="950" dirty="0"/>
          </a:p>
        </p:txBody>
      </p:sp>
      <p:sp>
        <p:nvSpPr>
          <p:cNvPr id="18" name="Supabase 상자"/>
          <p:cNvSpPr/>
          <p:nvPr/>
        </p:nvSpPr>
        <p:spPr>
          <a:xfrm>
            <a:off x="5074920" y="1280160"/>
            <a:ext cx="1965960" cy="219456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9050">
            <a:solidFill>
              <a:srgbClr val="2A31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93792" y="1371600"/>
            <a:ext cx="1737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tx2"/>
                </a:solidFill>
              </a:rPr>
              <a:t>Supabase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stamps 표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5"/>
                </a:solidFill>
              </a:rPr>
              <a:t>확인 번호 · 등록 시각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5"/>
                </a:solidFill>
              </a:rPr>
              <a:t>시각은 서버가 찍음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chemeClr val="accent2"/>
                </a:solidFill>
              </a:rPr>
              <a:t>앱에서 수정 · 삭제 안 됨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 flipV="1">
            <a:off x="6053328" y="3493008"/>
            <a:ext cx="0" cy="164592"/>
          </a:xfrm>
          <a:prstGeom prst="line">
            <a:avLst/>
          </a:prstGeom>
          <a:noFill/>
          <a:ln w="15875">
            <a:solidFill>
              <a:srgbClr val="2A3193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144768" y="3429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등록 시각 조회</a:t>
            </a:r>
            <a:endParaRPr lang="en-US" sz="900" dirty="0"/>
          </a:p>
        </p:txBody>
      </p:sp>
      <p:sp>
        <p:nvSpPr>
          <p:cNvPr id="22" name="확인 페이지 상자"/>
          <p:cNvSpPr/>
          <p:nvPr/>
        </p:nvSpPr>
        <p:spPr>
          <a:xfrm>
            <a:off x="5074920" y="3657600"/>
            <a:ext cx="196596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93792" y="370332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확인 페이지 (verify.html)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누구나 번호로 등록 시각 확인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1280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기록 하나가 남을 때</a:t>
            </a:r>
            <a:endParaRPr lang="en-US" sz="1050" dirty="0"/>
          </a:p>
        </p:txBody>
      </p:sp>
      <p:sp>
        <p:nvSpPr>
          <p:cNvPr id="25" name="번호 1"/>
          <p:cNvSpPr/>
          <p:nvPr/>
        </p:nvSpPr>
        <p:spPr>
          <a:xfrm>
            <a:off x="7223760" y="166420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23760" y="1664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1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516368" y="1609344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출근 · 퇴근마다 등록</a:t>
            </a:r>
            <a:endParaRPr lang="en-US" sz="1000" dirty="0"/>
          </a:p>
        </p:txBody>
      </p:sp>
      <p:sp>
        <p:nvSpPr>
          <p:cNvPr id="28" name="번호 2"/>
          <p:cNvSpPr/>
          <p:nvPr/>
        </p:nvSpPr>
        <p:spPr>
          <a:xfrm>
            <a:off x="7223760" y="253288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23760" y="2532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2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516368" y="2478024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고치면 다시 등록</a:t>
            </a:r>
            <a:endParaRPr lang="en-US" sz="1000" dirty="0"/>
          </a:p>
        </p:txBody>
      </p:sp>
      <p:sp>
        <p:nvSpPr>
          <p:cNvPr id="31" name="번호 3"/>
          <p:cNvSpPr/>
          <p:nvPr/>
        </p:nvSpPr>
        <p:spPr>
          <a:xfrm>
            <a:off x="7223760" y="340156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23760" y="3401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3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516368" y="3346704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끊기면 나중에 전송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⑤ 개발 현황 · MVP 화면   ·   예시 데이터, 2026.10.27 기준. 모두 배포 주소에서 바로 열림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네 화면: 캘린더, 설정, 증빙 묶음 PDF, 확인 페이지</a:t>
            </a:r>
            <a:endParaRPr lang="en-US" sz="2400" dirty="0"/>
          </a:p>
        </p:txBody>
      </p:sp>
      <p:pic>
        <p:nvPicPr>
          <p:cNvPr id="4" name="캘린더" descr="C:\Users\user\Desktop\albaguard기술창업\docs\screenshots\phone\2-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70432"/>
            <a:ext cx="1399822" cy="3017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74320" y="4206240"/>
            <a:ext cx="1765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캘린더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228600" y="4462272"/>
            <a:ext cx="18570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예정과 다른 날만 글자로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(연장 · 대타 · 단축)</a:t>
            </a:r>
            <a:endParaRPr lang="en-US" sz="900" dirty="0"/>
          </a:p>
        </p:txBody>
      </p:sp>
      <p:pic>
        <p:nvPicPr>
          <p:cNvPr id="7" name="설정" descr="C:\Users\user\Desktop\albaguard기술창업\docs\screenshots\phone\10-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793" y="1170432"/>
            <a:ext cx="1399822" cy="3017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50913" y="4206240"/>
            <a:ext cx="1765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설정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2505193" y="4462272"/>
            <a:ext cx="18570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기록 등록 건수 · 백업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무엇이 서버로 가는지</a:t>
            </a:r>
            <a:endParaRPr lang="en-US" sz="900" dirty="0"/>
          </a:p>
        </p:txBody>
      </p:sp>
      <p:pic>
        <p:nvPicPr>
          <p:cNvPr id="10" name="증빙 묶음 PDF" descr="C:\Users\user\Desktop\albaguard기술창업\docs\screenshots\phone\8-evide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385" y="1170432"/>
            <a:ext cx="1399822" cy="30175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27505" y="4206240"/>
            <a:ext cx="1765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증빙 묶음 PDF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4781785" y="4462272"/>
            <a:ext cx="18570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기록 · 수정 이력 · 계산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입금 · 사진 · 등록 확인</a:t>
            </a:r>
            <a:endParaRPr lang="en-US" sz="900" dirty="0"/>
          </a:p>
        </p:txBody>
      </p:sp>
      <p:pic>
        <p:nvPicPr>
          <p:cNvPr id="13" name="확인 페이지" descr="C:\Users\user\Desktop\albaguard기술창업\docs\screenshots\phone\9-verif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978" y="1170432"/>
            <a:ext cx="1399822" cy="30175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104098" y="4206240"/>
            <a:ext cx="1765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확인 페이지</a:t>
            </a:r>
            <a:endParaRPr lang="en-US" sz="1150" dirty="0"/>
          </a:p>
        </p:txBody>
      </p:sp>
      <p:sp>
        <p:nvSpPr>
          <p:cNvPr id="15" name="Text 9"/>
          <p:cNvSpPr txBox="1"/>
          <p:nvPr/>
        </p:nvSpPr>
        <p:spPr>
          <a:xfrm>
            <a:off x="7058378" y="4462272"/>
            <a:ext cx="18570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확인 번호 → 서버 등록 시각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⑤ MVP 시연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시연 순서: 배포된 앱을 녹화한 영상</a:t>
            </a:r>
            <a:endParaRPr lang="en-US" sz="2400" dirty="0"/>
          </a:p>
        </p:txBody>
      </p:sp>
      <p:sp>
        <p:nvSpPr>
          <p:cNvPr id="4" name="번호 1"/>
          <p:cNvSpPr/>
          <p:nvPr/>
        </p:nvSpPr>
        <p:spPr>
          <a:xfrm>
            <a:off x="457200" y="138074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80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3258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출근 · 퇴근 → 사유를 써서 수정 → 설정에서 "3건 등록됨"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91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기록하거나 고칠 때마다 서버에 확인 번호가 남음. 예시 데이터는 등록되지 않아 시연 중 남긴 3건만 보임</a:t>
            </a:r>
            <a:endParaRPr lang="en-US" sz="1000" dirty="0"/>
          </a:p>
        </p:txBody>
      </p:sp>
      <p:sp>
        <p:nvSpPr>
          <p:cNvPr id="8" name="번호 2"/>
          <p:cNvSpPr/>
          <p:nvPr/>
        </p:nvSpPr>
        <p:spPr>
          <a:xfrm>
            <a:off x="457200" y="216712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11226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첫 화면 "9월 급여 받으셨나요?" → 받은 금액 입력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47802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덜 받은 돈이 빨간 숫자로 바뀜</a:t>
            </a:r>
            <a:endParaRPr lang="en-US" sz="1000" dirty="0"/>
          </a:p>
        </p:txBody>
      </p:sp>
      <p:sp>
        <p:nvSpPr>
          <p:cNvPr id="12" name="번호 3"/>
          <p:cNvSpPr/>
          <p:nvPr/>
        </p:nvSpPr>
        <p:spPr>
          <a:xfrm>
            <a:off x="457200" y="295351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53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8986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요청 메시지 (3개월 합계) → 진정 안내 → 증빙 묶음 PDF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2644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날짜별 기록과 계산 근거가 들어간 정중한 문구. 진정은 1350 · 노동포털로 연결만. PDF 7번 표에 확인 번호</a:t>
            </a:r>
            <a:endParaRPr lang="en-US" sz="1000" dirty="0"/>
          </a:p>
        </p:txBody>
      </p:sp>
      <p:sp>
        <p:nvSpPr>
          <p:cNvPr id="16" name="번호 4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39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68503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확인 페이지에 확인 번호 → 서버 등록 시각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4050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앱 밖의 별도 페이지. 제3자도 열 수 있음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시연 영상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⑤ 개발 현황 · 구현된 기능과 계획 대비 비율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MVP 기능 8개 모두 동작, 완성도 평균 약 80%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788152" y="1024128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동작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080760" y="1024128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폰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373368" y="1024128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사용자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102412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남은 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984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근무 기록 (수정 이력 · 퇴근 누락 보호)</a:t>
            </a:r>
            <a:endParaRPr lang="en-US" sz="1150" dirty="0"/>
          </a:p>
        </p:txBody>
      </p:sp>
      <p:sp>
        <p:nvSpPr>
          <p:cNvPr id="9" name="근무 기록 (수정 이력 · 퇴근 누락 보호) 바탕"/>
          <p:cNvSpPr/>
          <p:nvPr/>
        </p:nvSpPr>
        <p:spPr>
          <a:xfrm>
            <a:off x="3931920" y="1426464"/>
            <a:ext cx="137160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근무 기록 (수정 이력 · 퇴근 누락 보호) 진행"/>
          <p:cNvSpPr/>
          <p:nvPr/>
        </p:nvSpPr>
        <p:spPr>
          <a:xfrm>
            <a:off x="3931920" y="1426464"/>
            <a:ext cx="123444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58384" y="12984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90%</a:t>
            </a:r>
            <a:endParaRPr lang="en-US" sz="1100" dirty="0"/>
          </a:p>
        </p:txBody>
      </p:sp>
      <p:sp>
        <p:nvSpPr>
          <p:cNvPr id="12" name="근무 기록 (수정 이력 · 퇴근 누락 보호) 확인 0"/>
          <p:cNvSpPr/>
          <p:nvPr/>
        </p:nvSpPr>
        <p:spPr>
          <a:xfrm>
            <a:off x="5998464" y="1399032"/>
            <a:ext cx="182880" cy="1828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근무 기록 (수정 이력 · 퇴근 누락 보호) 확인 1"/>
          <p:cNvSpPr/>
          <p:nvPr/>
        </p:nvSpPr>
        <p:spPr>
          <a:xfrm>
            <a:off x="6291072" y="1399032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14" name="근무 기록 (수정 이력 · 퇴근 누락 보호) 확인 2"/>
          <p:cNvSpPr/>
          <p:nvPr/>
        </p:nvSpPr>
        <p:spPr>
          <a:xfrm>
            <a:off x="6583680" y="1399032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12984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실제 폰 장기 사용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1682496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16824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캘린더 (예정 vs 실제, 연장 · 대타)</a:t>
            </a:r>
            <a:endParaRPr lang="en-US" sz="1150" dirty="0"/>
          </a:p>
        </p:txBody>
      </p:sp>
      <p:sp>
        <p:nvSpPr>
          <p:cNvPr id="18" name="캘린더 (예정 vs 실제, 연장 · 대타) 바탕"/>
          <p:cNvSpPr/>
          <p:nvPr/>
        </p:nvSpPr>
        <p:spPr>
          <a:xfrm>
            <a:off x="3931920" y="1810512"/>
            <a:ext cx="137160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캘린더 (예정 vs 실제, 연장 · 대타) 진행"/>
          <p:cNvSpPr/>
          <p:nvPr/>
        </p:nvSpPr>
        <p:spPr>
          <a:xfrm>
            <a:off x="3931920" y="1810512"/>
            <a:ext cx="116586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58384" y="16824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85%</a:t>
            </a:r>
            <a:endParaRPr lang="en-US" sz="1100" dirty="0"/>
          </a:p>
        </p:txBody>
      </p:sp>
      <p:sp>
        <p:nvSpPr>
          <p:cNvPr id="21" name="캘린더 (예정 vs 실제, 연장 · 대타) 확인 0"/>
          <p:cNvSpPr/>
          <p:nvPr/>
        </p:nvSpPr>
        <p:spPr>
          <a:xfrm>
            <a:off x="5998464" y="1783080"/>
            <a:ext cx="182880" cy="1828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캘린더 (예정 vs 실제, 연장 · 대타) 확인 1"/>
          <p:cNvSpPr/>
          <p:nvPr/>
        </p:nvSpPr>
        <p:spPr>
          <a:xfrm>
            <a:off x="6291072" y="1783080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23" name="캘린더 (예정 vs 실제, 연장 · 대타) 확인 2"/>
          <p:cNvSpPr/>
          <p:nvPr/>
        </p:nvSpPr>
        <p:spPr>
          <a:xfrm>
            <a:off x="6583680" y="1783080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03720" y="168249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반복 스케줄 입력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2066544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206654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급여 계산 (주휴 · 야간 · 최저임금)</a:t>
            </a:r>
            <a:endParaRPr lang="en-US" sz="1150" dirty="0"/>
          </a:p>
        </p:txBody>
      </p:sp>
      <p:sp>
        <p:nvSpPr>
          <p:cNvPr id="27" name="급여 계산 (주휴 · 야간 · 최저임금) 바탕"/>
          <p:cNvSpPr/>
          <p:nvPr/>
        </p:nvSpPr>
        <p:spPr>
          <a:xfrm>
            <a:off x="3931920" y="2194560"/>
            <a:ext cx="137160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급여 계산 (주휴 · 야간 · 최저임금) 진행"/>
          <p:cNvSpPr/>
          <p:nvPr/>
        </p:nvSpPr>
        <p:spPr>
          <a:xfrm>
            <a:off x="3931920" y="2194560"/>
            <a:ext cx="116586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58384" y="20665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85%</a:t>
            </a:r>
            <a:endParaRPr lang="en-US" sz="1100" dirty="0"/>
          </a:p>
        </p:txBody>
      </p:sp>
      <p:sp>
        <p:nvSpPr>
          <p:cNvPr id="30" name="급여 계산 (주휴 · 야간 · 최저임금) 확인 0"/>
          <p:cNvSpPr/>
          <p:nvPr/>
        </p:nvSpPr>
        <p:spPr>
          <a:xfrm>
            <a:off x="5998464" y="2167128"/>
            <a:ext cx="182880" cy="1828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1" name="급여 계산 (주휴 · 야간 · 최저임금) 확인 1"/>
          <p:cNvSpPr/>
          <p:nvPr/>
        </p:nvSpPr>
        <p:spPr>
          <a:xfrm>
            <a:off x="6291072" y="2167128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32" name="급여 계산 (주휴 · 야간 · 최저임금) 확인 2"/>
          <p:cNvSpPr/>
          <p:nvPr/>
        </p:nvSpPr>
        <p:spPr>
          <a:xfrm>
            <a:off x="6583680" y="2167128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03720" y="206654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연장근로 가산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2450592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24505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입금액 비교 · 차액 알림</a:t>
            </a:r>
            <a:endParaRPr lang="en-US" sz="1150" dirty="0"/>
          </a:p>
        </p:txBody>
      </p:sp>
      <p:sp>
        <p:nvSpPr>
          <p:cNvPr id="36" name="입금액 비교 · 차액 알림 바탕"/>
          <p:cNvSpPr/>
          <p:nvPr/>
        </p:nvSpPr>
        <p:spPr>
          <a:xfrm>
            <a:off x="3931920" y="2578608"/>
            <a:ext cx="137160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입금액 비교 · 차액 알림 진행"/>
          <p:cNvSpPr/>
          <p:nvPr/>
        </p:nvSpPr>
        <p:spPr>
          <a:xfrm>
            <a:off x="3931920" y="2578608"/>
            <a:ext cx="109728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58384" y="24505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80%</a:t>
            </a:r>
            <a:endParaRPr lang="en-US" sz="1100" dirty="0"/>
          </a:p>
        </p:txBody>
      </p:sp>
      <p:sp>
        <p:nvSpPr>
          <p:cNvPr id="39" name="입금액 비교 · 차액 알림 확인 0"/>
          <p:cNvSpPr/>
          <p:nvPr/>
        </p:nvSpPr>
        <p:spPr>
          <a:xfrm>
            <a:off x="5998464" y="2551176"/>
            <a:ext cx="182880" cy="1828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0" name="입금액 비교 · 차액 알림 확인 1"/>
          <p:cNvSpPr/>
          <p:nvPr/>
        </p:nvSpPr>
        <p:spPr>
          <a:xfrm>
            <a:off x="6291072" y="2551176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41" name="입금액 비교 · 차액 알림 확인 2"/>
          <p:cNvSpPr/>
          <p:nvPr/>
        </p:nvSpPr>
        <p:spPr>
          <a:xfrm>
            <a:off x="6583680" y="2551176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903720" y="24505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매달 넣을지 검증(16장 1행)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2834640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7200" y="28346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단계별 정산 요청</a:t>
            </a:r>
            <a:endParaRPr lang="en-US" sz="1150" dirty="0"/>
          </a:p>
        </p:txBody>
      </p:sp>
      <p:sp>
        <p:nvSpPr>
          <p:cNvPr id="45" name="단계별 정산 요청 바탕"/>
          <p:cNvSpPr/>
          <p:nvPr/>
        </p:nvSpPr>
        <p:spPr>
          <a:xfrm>
            <a:off x="3931920" y="2962656"/>
            <a:ext cx="137160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6" name="단계별 정산 요청 진행"/>
          <p:cNvSpPr/>
          <p:nvPr/>
        </p:nvSpPr>
        <p:spPr>
          <a:xfrm>
            <a:off x="3931920" y="2962656"/>
            <a:ext cx="102870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358384" y="28346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75%</a:t>
            </a:r>
            <a:endParaRPr lang="en-US" sz="1100" dirty="0"/>
          </a:p>
        </p:txBody>
      </p:sp>
      <p:sp>
        <p:nvSpPr>
          <p:cNvPr id="48" name="단계별 정산 요청 확인 0"/>
          <p:cNvSpPr/>
          <p:nvPr/>
        </p:nvSpPr>
        <p:spPr>
          <a:xfrm>
            <a:off x="5998464" y="2935224"/>
            <a:ext cx="182880" cy="1828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9" name="단계별 정산 요청 확인 1"/>
          <p:cNvSpPr/>
          <p:nvPr/>
        </p:nvSpPr>
        <p:spPr>
          <a:xfrm>
            <a:off x="6291072" y="2935224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50" name="단계별 정산 요청 확인 2"/>
          <p:cNvSpPr/>
          <p:nvPr/>
        </p:nvSpPr>
        <p:spPr>
          <a:xfrm>
            <a:off x="6583680" y="2935224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903720" y="28346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문구 톤 사용자 검증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57200" y="3218688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57200" y="32186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증빙 묶음 PDF</a:t>
            </a:r>
            <a:endParaRPr lang="en-US" sz="1150" dirty="0"/>
          </a:p>
        </p:txBody>
      </p:sp>
      <p:sp>
        <p:nvSpPr>
          <p:cNvPr id="54" name="증빙 묶음 PDF 바탕"/>
          <p:cNvSpPr/>
          <p:nvPr/>
        </p:nvSpPr>
        <p:spPr>
          <a:xfrm>
            <a:off x="3931920" y="3346704"/>
            <a:ext cx="137160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5" name="증빙 묶음 PDF 진행"/>
          <p:cNvSpPr/>
          <p:nvPr/>
        </p:nvSpPr>
        <p:spPr>
          <a:xfrm>
            <a:off x="3931920" y="3346704"/>
            <a:ext cx="109728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358384" y="32186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80%</a:t>
            </a:r>
            <a:endParaRPr lang="en-US" sz="1100" dirty="0"/>
          </a:p>
        </p:txBody>
      </p:sp>
      <p:sp>
        <p:nvSpPr>
          <p:cNvPr id="57" name="증빙 묶음 PDF 확인 0"/>
          <p:cNvSpPr/>
          <p:nvPr/>
        </p:nvSpPr>
        <p:spPr>
          <a:xfrm>
            <a:off x="5998464" y="3319272"/>
            <a:ext cx="182880" cy="1828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8" name="증빙 묶음 PDF 확인 1"/>
          <p:cNvSpPr/>
          <p:nvPr/>
        </p:nvSpPr>
        <p:spPr>
          <a:xfrm>
            <a:off x="6291072" y="3319272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59" name="증빙 묶음 PDF 확인 2"/>
          <p:cNvSpPr/>
          <p:nvPr/>
        </p:nvSpPr>
        <p:spPr>
          <a:xfrm>
            <a:off x="6583680" y="3319272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903720" y="321868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폰에서 PDF 저장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57200" y="3602736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57200" y="360273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기록 등록 (확인 번호 · 등록 시각)</a:t>
            </a:r>
            <a:endParaRPr lang="en-US" sz="1150" dirty="0"/>
          </a:p>
        </p:txBody>
      </p:sp>
      <p:sp>
        <p:nvSpPr>
          <p:cNvPr id="63" name="기록 등록 (확인 번호 · 등록 시각) 바탕"/>
          <p:cNvSpPr/>
          <p:nvPr/>
        </p:nvSpPr>
        <p:spPr>
          <a:xfrm>
            <a:off x="3931920" y="3730752"/>
            <a:ext cx="137160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4" name="기록 등록 (확인 번호 · 등록 시각) 진행"/>
          <p:cNvSpPr/>
          <p:nvPr/>
        </p:nvSpPr>
        <p:spPr>
          <a:xfrm>
            <a:off x="3931920" y="3730752"/>
            <a:ext cx="96012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358384" y="36027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70%</a:t>
            </a:r>
            <a:endParaRPr lang="en-US" sz="1100" dirty="0"/>
          </a:p>
        </p:txBody>
      </p:sp>
      <p:sp>
        <p:nvSpPr>
          <p:cNvPr id="66" name="기록 등록 (확인 번호 · 등록 시각) 확인 0"/>
          <p:cNvSpPr/>
          <p:nvPr/>
        </p:nvSpPr>
        <p:spPr>
          <a:xfrm>
            <a:off x="5998464" y="3703320"/>
            <a:ext cx="182880" cy="1828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7" name="기록 등록 (확인 번호 · 등록 시각) 확인 1"/>
          <p:cNvSpPr/>
          <p:nvPr/>
        </p:nvSpPr>
        <p:spPr>
          <a:xfrm>
            <a:off x="6291072" y="3703320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68" name="기록 등록 (확인 번호 · 등록 시각) 확인 2"/>
          <p:cNvSpPr/>
          <p:nvPr/>
        </p:nvSpPr>
        <p:spPr>
          <a:xfrm>
            <a:off x="6583680" y="3703320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903720" y="36027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내용으로 번호 다시 계산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7200" y="3986784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57200" y="398678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기록 백업 · 불러오기</a:t>
            </a:r>
            <a:endParaRPr lang="en-US" sz="1150" dirty="0"/>
          </a:p>
        </p:txBody>
      </p:sp>
      <p:sp>
        <p:nvSpPr>
          <p:cNvPr id="72" name="기록 백업 · 불러오기 바탕"/>
          <p:cNvSpPr/>
          <p:nvPr/>
        </p:nvSpPr>
        <p:spPr>
          <a:xfrm>
            <a:off x="3931920" y="4114800"/>
            <a:ext cx="137160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3" name="기록 백업 · 불러오기 진행"/>
          <p:cNvSpPr/>
          <p:nvPr/>
        </p:nvSpPr>
        <p:spPr>
          <a:xfrm>
            <a:off x="3931920" y="4114800"/>
            <a:ext cx="109728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358384" y="39867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80%</a:t>
            </a:r>
            <a:endParaRPr lang="en-US" sz="1100" dirty="0"/>
          </a:p>
        </p:txBody>
      </p:sp>
      <p:sp>
        <p:nvSpPr>
          <p:cNvPr id="75" name="기록 백업 · 불러오기 확인 0"/>
          <p:cNvSpPr/>
          <p:nvPr/>
        </p:nvSpPr>
        <p:spPr>
          <a:xfrm>
            <a:off x="5998464" y="4087368"/>
            <a:ext cx="182880" cy="1828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6" name="기록 백업 · 불러오기 확인 1"/>
          <p:cNvSpPr/>
          <p:nvPr/>
        </p:nvSpPr>
        <p:spPr>
          <a:xfrm>
            <a:off x="6291072" y="4087368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77" name="기록 백업 · 불러오기 확인 2"/>
          <p:cNvSpPr/>
          <p:nvPr/>
        </p:nvSpPr>
        <p:spPr>
          <a:xfrm>
            <a:off x="6583680" y="4087368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903720" y="398678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폰에서 파일 저장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57200" y="4434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계획 기준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정의서 기능 8개      </a:t>
            </a:r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% 기준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남은 일만큼 뺀 자체 평가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⑥ 시장 분석 · 시장 규모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임금체불 2년 연속 2조 원, 30인 미만 사업장에 집중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384048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663440" y="1234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26만 2,304명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6916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2025년 체불 피해 노동자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663440" y="2148840"/>
            <a:ext cx="40233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63440" y="22219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67.8%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26791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2025년 체불액 중 30인 미만 사업장 (1조 4,012억 원). 카페 · 편의점 · 음식점은 대개 여기 속함. 알바생 몫은 따로 알 수 없음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3136392"/>
            <a:ext cx="40233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32095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31.9%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366674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알바 경험자 중 최저시급 미달 경험 (알바천국, 1,804명, 2026.6)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4123944"/>
            <a:ext cx="40233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2245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chemeClr val="tx2"/>
                </a:solidFill>
              </a:rPr>
              <a:t>타깃 규모(어림)  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재적학생 307만 명 → 알바 경험 67~89% → 상한 약 210~270만 명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chemeClr val="tx2"/>
                </a:solidFill>
              </a:rPr>
              <a:t>타이밍  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2025.9 근절 대책 · 2025.10.23 개정 근로기준법 시행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⑥ 시장 분석 · 경쟁사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혼자 쓰면서 대응까지 가는 서비스는 알바가드뿐</a:t>
            </a:r>
            <a:endParaRPr lang="en-US" sz="2400" dirty="0"/>
          </a:p>
        </p:txBody>
      </p:sp>
      <p:sp>
        <p:nvSpPr>
          <p:cNvPr id="4" name="포지션 바탕"/>
          <p:cNvSpPr/>
          <p:nvPr/>
        </p:nvSpPr>
        <p:spPr>
          <a:xfrm>
            <a:off x="914400" y="1298448"/>
            <a:ext cx="4846320" cy="3063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알바가드 칸"/>
          <p:cNvSpPr/>
          <p:nvPr/>
        </p:nvSpPr>
        <p:spPr>
          <a:xfrm>
            <a:off x="914400" y="1298448"/>
            <a:ext cx="2423160" cy="153162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37560" y="1298448"/>
            <a:ext cx="0" cy="3063240"/>
          </a:xfrm>
          <a:prstGeom prst="line">
            <a:avLst/>
          </a:prstGeom>
          <a:noFill/>
          <a:ln w="12700">
            <a:solidFill>
              <a:srgbClr val="DCD9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830068"/>
            <a:ext cx="4846320" cy="0"/>
          </a:xfrm>
          <a:prstGeom prst="line">
            <a:avLst/>
          </a:prstGeom>
          <a:noFill/>
          <a:ln w="12700">
            <a:solidFill>
              <a:srgbClr val="DCD9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416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← 혼자 씀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44165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사장 가입 · 증거가 먼저 →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 rot="16200000">
            <a:off x="45720" y="18653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대응까지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 rot="16200000">
            <a:off x="4572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계산까지</a:t>
            </a:r>
            <a:endParaRPr lang="en-US" sz="1000" dirty="0"/>
          </a:p>
        </p:txBody>
      </p:sp>
      <p:sp>
        <p:nvSpPr>
          <p:cNvPr id="12" name="알바가드 칩"/>
          <p:cNvSpPr/>
          <p:nvPr/>
        </p:nvSpPr>
        <p:spPr>
          <a:xfrm>
            <a:off x="1234440" y="1682496"/>
            <a:ext cx="1783080" cy="585216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07592" y="1682496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알바가드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기록 → 비교 → 요청 → 증빙</a:t>
            </a:r>
            <a:endParaRPr lang="en-US" sz="1200" dirty="0"/>
          </a:p>
        </p:txBody>
      </p:sp>
      <p:sp>
        <p:nvSpPr>
          <p:cNvPr id="14" name="진정24 · 노동포털 칩"/>
          <p:cNvSpPr/>
          <p:nvPr/>
        </p:nvSpPr>
        <p:spPr>
          <a:xfrm>
            <a:off x="3703320" y="1682496"/>
            <a:ext cx="1737360" cy="585216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rgbClr val="DCD9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76472" y="1682496"/>
            <a:ext cx="1591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진정24 · 노동포털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증거가 있어야 시작</a:t>
            </a:r>
            <a:endParaRPr lang="en-US" sz="1050" dirty="0"/>
          </a:p>
        </p:txBody>
      </p:sp>
      <p:sp>
        <p:nvSpPr>
          <p:cNvPr id="16" name="하우머치 칩"/>
          <p:cNvSpPr/>
          <p:nvPr/>
        </p:nvSpPr>
        <p:spPr>
          <a:xfrm>
            <a:off x="1234440" y="2990088"/>
            <a:ext cx="1783080" cy="585216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rgbClr val="DCD9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07592" y="2990088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하우머치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혼자 기록, 예상 급여까지</a:t>
            </a:r>
            <a:endParaRPr lang="en-US" sz="1050" dirty="0"/>
          </a:p>
        </p:txBody>
      </p:sp>
      <p:sp>
        <p:nvSpPr>
          <p:cNvPr id="18" name="기그 칩"/>
          <p:cNvSpPr/>
          <p:nvPr/>
        </p:nvSpPr>
        <p:spPr>
          <a:xfrm>
            <a:off x="3703320" y="3310128"/>
            <a:ext cx="1737360" cy="585216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rgbClr val="DCD9D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76472" y="3310128"/>
            <a:ext cx="1591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기그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사장 연동 필요</a:t>
            </a:r>
            <a:endParaRPr lang="en-US" sz="1050" dirty="0"/>
          </a:p>
        </p:txBody>
      </p:sp>
      <p:sp>
        <p:nvSpPr>
          <p:cNvPr id="20" name="알바천국 · 알바몬 계산기 칩"/>
          <p:cNvSpPr/>
          <p:nvPr/>
        </p:nvSpPr>
        <p:spPr>
          <a:xfrm>
            <a:off x="1188720" y="3657600"/>
            <a:ext cx="1874520" cy="585216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rgbClr val="DCD9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61872" y="3657600"/>
            <a:ext cx="1728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알바천국 · 알바몬 계산기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일회성 계산, 기록 없음</a:t>
            </a:r>
            <a:endParaRPr lang="en-US" sz="1050" dirty="0"/>
          </a:p>
        </p:txBody>
      </p:sp>
      <p:sp>
        <p:nvSpPr>
          <p:cNvPr id="22" name="따라올 길"/>
          <p:cNvSpPr/>
          <p:nvPr/>
        </p:nvSpPr>
        <p:spPr>
          <a:xfrm flipV="1">
            <a:off x="2121408" y="2304288"/>
            <a:ext cx="0" cy="658368"/>
          </a:xfrm>
          <a:prstGeom prst="line">
            <a:avLst/>
          </a:prstGeom>
          <a:noFill/>
          <a:ln w="19050">
            <a:solidFill>
              <a:srgbClr val="0F7A55"/>
            </a:solidFill>
            <a:prstDash val="dash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2212848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비교 기능을 넣으면?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가장 가까운 경쟁자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하우머치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263640" y="2148840"/>
            <a:ext cx="2468880" cy="0"/>
          </a:xfrm>
          <a:prstGeom prst="line">
            <a:avLst/>
          </a:prstGeom>
          <a:noFill/>
          <a:ln w="12700">
            <a:solidFill>
              <a:srgbClr val="DCD9D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63640" y="2240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혼자 기록하고 예상 급여까지 보여 줌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실제 받은 돈 비교 칸만 넣으면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따라올 수 있음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3246120"/>
            <a:ext cx="54864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28232" y="3246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그래서 키우는 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따라 하기 어려운 기록 등록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(확인 번호 · 등록 시각)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⑥ 비즈니스 모델 · 유저 확보 전략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핵심 화면은 무료, 수익은 게임 화면에서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출퇴근은 일하는 날마다, 돈 확인은 급여일에 한 번. 그 사이 열 이유로 게임 = 광고 자리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핵심 화면: 기록 · 비교 · 요청 · 증빙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150876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무료 · 광고 없음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20824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20824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1차 (가설): 쉬는 틈 게임 화면 광고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202082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게임 화면만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532888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2차 (후보): 동기화 · 자동 백업 구독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53288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구독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44952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하지 않는 것: 정산 문구 · 내용증명 · 증빙 묶음 유료화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04495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유료화 안 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57016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94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유저 확보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379476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에브리타임 · 학과 단톡 · 알바 커뮤니티에 링크, 쇼츠 · 릴스(짧은 영상)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06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지표 (앞으로)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42062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홈 화면 추가 → 첫 기록 → 받은 금액 입력 → 차액 발견 → 요청 보냄 → 실제로 받음 (인터뷰)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⑦ 초기 시장 검증 성과와 계획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검증: 설문 13명 중간 결과, 11월에 다섯 가지 확인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가설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알바생은 자신의 근무 기록을 근거로 한 정산 요청 문구가 있으면, 사장에게 말을 꺼낼 수 있다고 느끼고 쓸 것</a:t>
            </a:r>
            <a:endParaRPr lang="en-US" sz="1100" dirty="0"/>
          </a:p>
        </p:txBody>
      </p:sp>
      <p:graphicFrame>
        <p:nvGraphicFramePr>
          <p:cNvPr id="17" name="검증 계획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36D"/>
                          </a:solidFill>
                        </a:rPr>
                        <a:t>11월에 확인할 것 (설문 30명 · 인터뷰 5명)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36D"/>
                          </a:solidFill>
                        </a:rPr>
                        <a:t>중간 결과 (설문 13명)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매달 받은 금액을 직접 넣음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A55"/>
                          </a:solidFill>
                        </a:rPr>
                        <a:t>11명 "넣겠다"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요청 문구를 실제로 보낼 수 있음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36D"/>
                          </a:solidFill>
                        </a:rPr>
                        <a:t>가장 쓸모 0명</a:t>
                      </a:r>
                      <a:endParaRPr lang="en-US" sz="1250" dirty="0"/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36D"/>
                          </a:solidFill>
                        </a:rPr>
                        <a:t>11월 인터뷰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확인 번호 설명이 이해됨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36D"/>
                          </a:solidFill>
                        </a:rPr>
                        <a:t>가장 쓸모 0명</a:t>
                      </a:r>
                      <a:endParaRPr lang="en-US" sz="1250" dirty="0"/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36D"/>
                          </a:solidFill>
                        </a:rPr>
                        <a:t>11월 인터뷰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타깃 중 주 15시간 이상이 다수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36D"/>
                          </a:solidFill>
                        </a:rPr>
                        <a:t>알바 중 2명, 보류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게임 화면 광고를 받아들임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A55"/>
                          </a:solidFill>
                        </a:rPr>
                        <a:t>"싫다" 4명</a:t>
                      </a:r>
                      <a:endParaRPr lang="en-US" sz="1250" dirty="0"/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A55"/>
                          </a:solidFill>
                        </a:rPr>
                        <a:t>안 쓸 기능 1위(6명)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10/26 기준 · 지금 알바 중 2 · 예전에 했음 10 · 한 적 없음 1 · 지인 중심이라 정식 조사 아님 · 사람 수로만 표기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⑧ 향후 계획 · 간트 차트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기말(12/15)까지 일정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343400" y="1682496"/>
            <a:ext cx="4343400" cy="0"/>
          </a:xfrm>
          <a:prstGeom prst="line">
            <a:avLst/>
          </a:prstGeom>
          <a:noFill/>
          <a:ln w="6350">
            <a:solidFill>
              <a:srgbClr val="DCD9D0"/>
            </a:solidFill>
            <a:prstDash val="dash"/>
          </a:ln>
        </p:spPr>
      </p:sp>
      <p:sp>
        <p:nvSpPr>
          <p:cNvPr id="5" name="마일스톤 1"/>
          <p:cNvSpPr/>
          <p:nvPr/>
        </p:nvSpPr>
        <p:spPr>
          <a:xfrm>
            <a:off x="5520363" y="1618488"/>
            <a:ext cx="128016" cy="128016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98571" y="1746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11/9 인터뷰 · 설문 1차</a:t>
            </a:r>
            <a:endParaRPr lang="en-US" sz="900" dirty="0"/>
          </a:p>
        </p:txBody>
      </p:sp>
      <p:sp>
        <p:nvSpPr>
          <p:cNvPr id="7" name="마일스톤 2"/>
          <p:cNvSpPr/>
          <p:nvPr/>
        </p:nvSpPr>
        <p:spPr>
          <a:xfrm>
            <a:off x="6761335" y="1618488"/>
            <a:ext cx="128016" cy="128016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39543" y="1920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11/23 반영 배포</a:t>
            </a:r>
            <a:endParaRPr lang="en-US" sz="900" dirty="0"/>
          </a:p>
        </p:txBody>
      </p:sp>
      <p:sp>
        <p:nvSpPr>
          <p:cNvPr id="9" name="마일스톤 3"/>
          <p:cNvSpPr/>
          <p:nvPr/>
        </p:nvSpPr>
        <p:spPr>
          <a:xfrm>
            <a:off x="7381821" y="1618488"/>
            <a:ext cx="128016" cy="128016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0029" y="1746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11/30 폰 검증</a:t>
            </a:r>
            <a:endParaRPr lang="en-US" sz="900" dirty="0"/>
          </a:p>
        </p:txBody>
      </p:sp>
      <p:sp>
        <p:nvSpPr>
          <p:cNvPr id="11" name="마일스톤 4"/>
          <p:cNvSpPr/>
          <p:nvPr/>
        </p:nvSpPr>
        <p:spPr>
          <a:xfrm>
            <a:off x="8002306" y="1618488"/>
            <a:ext cx="128016" cy="128016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80514" y="1920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12/7 동결</a:t>
            </a:r>
            <a:endParaRPr lang="en-US" sz="900" dirty="0"/>
          </a:p>
        </p:txBody>
      </p:sp>
      <p:sp>
        <p:nvSpPr>
          <p:cNvPr id="13" name="마일스톤 5"/>
          <p:cNvSpPr/>
          <p:nvPr/>
        </p:nvSpPr>
        <p:spPr>
          <a:xfrm>
            <a:off x="8622792" y="1618488"/>
            <a:ext cx="128016" cy="128016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0" y="1746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12/15 기말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5727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3"/>
                </a:solidFill>
              </a:rPr>
              <a:t>마일스톤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1234440"/>
            <a:ext cx="620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10/27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963886" y="1234440"/>
            <a:ext cx="620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11/3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584371" y="1234440"/>
            <a:ext cx="620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11/10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204857" y="1234440"/>
            <a:ext cx="620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11/17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825343" y="1234440"/>
            <a:ext cx="620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11/24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445829" y="1234440"/>
            <a:ext cx="620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12/1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066314" y="1234440"/>
            <a:ext cx="620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12/8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담당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1527048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21031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설문 30명 수집 · 집계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200400" y="21031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손유호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43400" y="210312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63886" y="210312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84371" y="210312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04857" y="210312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25343" y="210312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45829" y="210312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66314" y="210312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34" name="설문 30명 수집 · 집계 막대"/>
          <p:cNvSpPr/>
          <p:nvPr/>
        </p:nvSpPr>
        <p:spPr>
          <a:xfrm>
            <a:off x="4389120" y="2212848"/>
            <a:ext cx="1770017" cy="128016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2450592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24505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직접 인터뷰 5명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200400" y="24505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손유호 3 · 박명진 2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343400" y="245059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63886" y="245059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84371" y="245059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04857" y="245059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25343" y="245059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45829" y="245059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66314" y="245059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45" name="직접 인터뷰 5명 막대"/>
          <p:cNvSpPr/>
          <p:nvPr/>
        </p:nvSpPr>
        <p:spPr>
          <a:xfrm>
            <a:off x="5009606" y="2560320"/>
            <a:ext cx="529046" cy="128016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2798064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57200" y="279806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피드백 반영 1차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3200400" y="27980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이지훈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343400" y="2798064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63886" y="2798064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84371" y="2798064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04857" y="2798064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25343" y="2798064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45829" y="2798064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66314" y="2798064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56" name="피드백 반영 1차 막대"/>
          <p:cNvSpPr/>
          <p:nvPr/>
        </p:nvSpPr>
        <p:spPr>
          <a:xfrm>
            <a:off x="5630091" y="2907792"/>
            <a:ext cx="1149531" cy="128016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3145536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57200" y="314553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실제 폰 검증 (아이폰 · 갤럭시)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3200400" y="31455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이지훈 · 박명진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343400" y="3145536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963886" y="3145536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84371" y="3145536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04857" y="3145536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825343" y="3145536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445829" y="3145536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066314" y="3145536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67" name="실제 폰 검증 (아이폰 · 갤럭시) 막대"/>
          <p:cNvSpPr/>
          <p:nvPr/>
        </p:nvSpPr>
        <p:spPr>
          <a:xfrm>
            <a:off x="5630091" y="3255264"/>
            <a:ext cx="1770017" cy="128016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7200" y="3493008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57200" y="34930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기록 등록 보강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3200400" y="34930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이지훈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343400" y="3493008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963886" y="3493008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584371" y="3493008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04857" y="3493008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825343" y="3493008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445829" y="3493008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066314" y="3493008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78" name="기록 등록 보강 막대"/>
          <p:cNvSpPr/>
          <p:nvPr/>
        </p:nvSpPr>
        <p:spPr>
          <a:xfrm>
            <a:off x="6250577" y="3602736"/>
            <a:ext cx="1770017" cy="128016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7200" y="3840480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57200" y="38404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광고 실험 또는 새 게임 (11/23 결정)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3200400" y="38404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손유호 · 이지훈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343400" y="384048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963886" y="384048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584371" y="384048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204857" y="384048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825343" y="384048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445829" y="384048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066314" y="384048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89" name="광고 실험 또는 새 게임 (11/23 결정) 막대"/>
          <p:cNvSpPr/>
          <p:nvPr/>
        </p:nvSpPr>
        <p:spPr>
          <a:xfrm>
            <a:off x="6871063" y="3950208"/>
            <a:ext cx="1149531" cy="128016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57200" y="4187952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457200" y="418795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최종 보고서 · 발표 준비</a:t>
            </a:r>
            <a:endParaRPr lang="en-US" sz="1100" dirty="0"/>
          </a:p>
        </p:txBody>
      </p:sp>
      <p:sp>
        <p:nvSpPr>
          <p:cNvPr id="92" name="Text 90"/>
          <p:cNvSpPr txBox="1"/>
          <p:nvPr/>
        </p:nvSpPr>
        <p:spPr>
          <a:xfrm>
            <a:off x="3200400" y="41879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전원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343400" y="418795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963886" y="418795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584371" y="418795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204857" y="418795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825343" y="418795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45829" y="418795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066314" y="418795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100" name="최종 보고서 · 발표 준비 막대"/>
          <p:cNvSpPr/>
          <p:nvPr/>
        </p:nvSpPr>
        <p:spPr>
          <a:xfrm>
            <a:off x="7491549" y="4297680"/>
            <a:ext cx="1149531" cy="128016"/>
          </a:xfrm>
          <a:prstGeom prst="roundRect">
            <a:avLst>
              <a:gd name="adj" fmla="val 428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57200" y="4535424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457200" y="45537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중간발표 10/27 (화) → 기말 발표 12/15 (화) 예정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⑧ 팀원별 R&amp;R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이지훈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  팀장 · 개발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기획 · 개발 · 배포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기록 등록 보강, 아이폰 검증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기술 · 법적 효력 질의응답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108960" y="1417320"/>
            <a:ext cx="0" cy="173736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9184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손유호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  시장 · 수익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8745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설문 30명 · 집계, 인터뷰 3명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비즈니스 모델, 광고 승인 신청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시장 · 경쟁사 조사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852160" y="1417320"/>
            <a:ext cx="0" cy="173736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박명진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  검증 · 일정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8745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인터뷰 2명, 갤럭시 설치 · 테스트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일정 관리, 마일스톤 점검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보고서 편집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앞으로 맡을 일은 오늘 각자 발표한 부분과 같음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못 받은 알바비, 기록으로 찾는 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7548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배포됨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jihooni217.github.io/albaguard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시연 기록 확인 번호 289ad066f1632c51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47548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671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기능 8 / 8 동작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1671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완성도 평균 약 80% · 설문 13명 응답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79776"/>
            <a:ext cx="47548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8254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11월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82549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링크 설문 30명 + 직접 인터뷰 5명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47548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앱 설치 바탕"/>
          <p:cNvSpPr/>
          <p:nvPr/>
        </p:nvSpPr>
        <p:spPr>
          <a:xfrm>
            <a:off x="5687568" y="1389888"/>
            <a:ext cx="1426464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앱 설치" descr="C:\Users\user\Desktop\albaguard기술창업\docs\report_src\qr_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463040"/>
            <a:ext cx="1280160" cy="128016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57784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앱 설치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홈 화면에 추가</a:t>
            </a:r>
            <a:endParaRPr lang="en-US" sz="900" dirty="0"/>
          </a:p>
        </p:txBody>
      </p:sp>
      <p:sp>
        <p:nvSpPr>
          <p:cNvPr id="17" name="설문 3분 바탕"/>
          <p:cNvSpPr/>
          <p:nvPr/>
        </p:nvSpPr>
        <p:spPr>
          <a:xfrm>
            <a:off x="7287768" y="1389888"/>
            <a:ext cx="1426464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설문 3분" descr="C:\Users\user\Desktop\albaguard기술창업\docs\report_src\qr_surv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463040"/>
            <a:ext cx="1280160" cy="12801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17804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설문 3분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708660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이름 · 연락처 없음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설문에 답해 주시면 기말 발표에 큰 도움이 됩니다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감사합니다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baguard">
  <a:themeElements>
    <a:clrScheme name="Albaguard">
      <a:dk1>
        <a:srgbClr val="15171A"/>
      </a:dk1>
      <a:lt1>
        <a:srgbClr val="FFFFFF"/>
      </a:lt1>
      <a:dk2>
        <a:srgbClr val="2A3193"/>
      </a:dk2>
      <a:lt2>
        <a:srgbClr val="F4F3EF"/>
      </a:lt2>
      <a:accent1>
        <a:srgbClr val="2A3193"/>
      </a:accent1>
      <a:accent2>
        <a:srgbClr val="0F7A55"/>
      </a:accent2>
      <a:accent3>
        <a:srgbClr val="C2331C"/>
      </a:accent3>
      <a:accent4>
        <a:srgbClr val="5A63E6"/>
      </a:accent4>
      <a:accent5>
        <a:srgbClr val="5D636D"/>
      </a:accent5>
      <a:accent6>
        <a:srgbClr val="DCD9D0"/>
      </a:accent6>
      <a:hlink>
        <a:srgbClr val="2A3193"/>
      </a:hlink>
      <a:folHlink>
        <a:srgbClr val="5A63E6"/>
      </a:folHlink>
    </a:clrScheme>
    <a:fontScheme name="Albaguard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알바가드 중간발표</dc:title>
  <dc:subject>PptxGenJS Presentation</dc:subject>
  <dc:creator>4조</dc:creator>
  <cp:lastModifiedBy>4조</cp:lastModifiedBy>
  <cp:revision>1</cp:revision>
  <dcterms:created xsi:type="dcterms:W3CDTF">2026-10-27T01:03:30Z</dcterms:created>
  <dcterms:modified xsi:type="dcterms:W3CDTF">2026-10-27T01:03:30Z</dcterms:modified>
</cp:coreProperties>
</file>